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E75185-D61D-4EDB-B9B7-7499D802E39C}" v="1" dt="2026-10-09T15:29:12.5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Rathnayake" userId="74f6288d55dc6935" providerId="LiveId" clId="{D44EBF66-A5FA-42F0-9E07-08F7C76FAF1E}"/>
    <pc:docChg chg="modSld">
      <pc:chgData name="Amanda Rathnayake" userId="74f6288d55dc6935" providerId="LiveId" clId="{D44EBF66-A5FA-42F0-9E07-08F7C76FAF1E}" dt="2026-10-09T15:34:20.364" v="35" actId="1076"/>
      <pc:docMkLst>
        <pc:docMk/>
      </pc:docMkLst>
      <pc:sldChg chg="modSp mod">
        <pc:chgData name="Amanda Rathnayake" userId="74f6288d55dc6935" providerId="LiveId" clId="{D44EBF66-A5FA-42F0-9E07-08F7C76FAF1E}" dt="2026-10-09T15:29:18.592" v="2" actId="20577"/>
        <pc:sldMkLst>
          <pc:docMk/>
          <pc:sldMk cId="0" sldId="258"/>
        </pc:sldMkLst>
        <pc:spChg chg="mod">
          <ac:chgData name="Amanda Rathnayake" userId="74f6288d55dc6935" providerId="LiveId" clId="{D44EBF66-A5FA-42F0-9E07-08F7C76FAF1E}" dt="2026-10-09T15:29:18.592" v="2" actId="20577"/>
          <ac:spMkLst>
            <pc:docMk/>
            <pc:sldMk cId="0" sldId="258"/>
            <ac:spMk id="23" creationId="{00000000-0000-0000-0000-000000000000}"/>
          </ac:spMkLst>
        </pc:spChg>
      </pc:sldChg>
      <pc:sldChg chg="modSp mod">
        <pc:chgData name="Amanda Rathnayake" userId="74f6288d55dc6935" providerId="LiveId" clId="{D44EBF66-A5FA-42F0-9E07-08F7C76FAF1E}" dt="2026-10-09T15:34:20.364" v="35" actId="1076"/>
        <pc:sldMkLst>
          <pc:docMk/>
          <pc:sldMk cId="0" sldId="261"/>
        </pc:sldMkLst>
        <pc:spChg chg="mod">
          <ac:chgData name="Amanda Rathnayake" userId="74f6288d55dc6935" providerId="LiveId" clId="{D44EBF66-A5FA-42F0-9E07-08F7C76FAF1E}" dt="2026-10-09T15:34:20.364" v="35" actId="1076"/>
          <ac:spMkLst>
            <pc:docMk/>
            <pc:sldMk cId="0" sldId="261"/>
            <ac:spMk id="6" creationId="{00000000-0000-0000-0000-000000000000}"/>
          </ac:spMkLst>
        </pc:spChg>
        <pc:spChg chg="mod">
          <ac:chgData name="Amanda Rathnayake" userId="74f6288d55dc6935" providerId="LiveId" clId="{D44EBF66-A5FA-42F0-9E07-08F7C76FAF1E}" dt="2026-10-09T15:34:11.299" v="33" actId="14100"/>
          <ac:spMkLst>
            <pc:docMk/>
            <pc:sldMk cId="0" sldId="261"/>
            <ac:spMk id="11" creationId="{00000000-0000-0000-0000-000000000000}"/>
          </ac:spMkLst>
        </pc:spChg>
      </pc:sldChg>
      <pc:sldChg chg="modSp mod">
        <pc:chgData name="Amanda Rathnayake" userId="74f6288d55dc6935" providerId="LiveId" clId="{D44EBF66-A5FA-42F0-9E07-08F7C76FAF1E}" dt="2026-10-09T15:34:01.115" v="32" actId="1076"/>
        <pc:sldMkLst>
          <pc:docMk/>
          <pc:sldMk cId="0" sldId="262"/>
        </pc:sldMkLst>
        <pc:spChg chg="mod">
          <ac:chgData name="Amanda Rathnayake" userId="74f6288d55dc6935" providerId="LiveId" clId="{D44EBF66-A5FA-42F0-9E07-08F7C76FAF1E}" dt="2026-10-09T15:33:56.370" v="31" actId="1076"/>
          <ac:spMkLst>
            <pc:docMk/>
            <pc:sldMk cId="0" sldId="262"/>
            <ac:spMk id="6" creationId="{00000000-0000-0000-0000-000000000000}"/>
          </ac:spMkLst>
        </pc:spChg>
        <pc:spChg chg="mod">
          <ac:chgData name="Amanda Rathnayake" userId="74f6288d55dc6935" providerId="LiveId" clId="{D44EBF66-A5FA-42F0-9E07-08F7C76FAF1E}" dt="2026-10-09T15:34:01.115" v="32" actId="1076"/>
          <ac:spMkLst>
            <pc:docMk/>
            <pc:sldMk cId="0" sldId="262"/>
            <ac:spMk id="11" creationId="{00000000-0000-0000-0000-000000000000}"/>
          </ac:spMkLst>
        </pc:spChg>
      </pc:sldChg>
      <pc:sldChg chg="modSp mod">
        <pc:chgData name="Amanda Rathnayake" userId="74f6288d55dc6935" providerId="LiveId" clId="{D44EBF66-A5FA-42F0-9E07-08F7C76FAF1E}" dt="2026-10-09T15:29:52.483" v="4" actId="14100"/>
        <pc:sldMkLst>
          <pc:docMk/>
          <pc:sldMk cId="0" sldId="264"/>
        </pc:sldMkLst>
        <pc:spChg chg="mod">
          <ac:chgData name="Amanda Rathnayake" userId="74f6288d55dc6935" providerId="LiveId" clId="{D44EBF66-A5FA-42F0-9E07-08F7C76FAF1E}" dt="2026-10-09T15:29:48.514" v="3" actId="14100"/>
          <ac:spMkLst>
            <pc:docMk/>
            <pc:sldMk cId="0" sldId="264"/>
            <ac:spMk id="17" creationId="{00000000-0000-0000-0000-000000000000}"/>
          </ac:spMkLst>
        </pc:spChg>
        <pc:spChg chg="mod">
          <ac:chgData name="Amanda Rathnayake" userId="74f6288d55dc6935" providerId="LiveId" clId="{D44EBF66-A5FA-42F0-9E07-08F7C76FAF1E}" dt="2026-10-09T15:29:52.483" v="4" actId="14100"/>
          <ac:spMkLst>
            <pc:docMk/>
            <pc:sldMk cId="0" sldId="264"/>
            <ac:spMk id="18" creationId="{00000000-0000-0000-0000-000000000000}"/>
          </ac:spMkLst>
        </pc:spChg>
      </pc:sldChg>
      <pc:sldChg chg="modSp mod">
        <pc:chgData name="Amanda Rathnayake" userId="74f6288d55dc6935" providerId="LiveId" clId="{D44EBF66-A5FA-42F0-9E07-08F7C76FAF1E}" dt="2026-10-09T15:33:31.882" v="28" actId="1076"/>
        <pc:sldMkLst>
          <pc:docMk/>
          <pc:sldMk cId="0" sldId="265"/>
        </pc:sldMkLst>
        <pc:spChg chg="mod">
          <ac:chgData name="Amanda Rathnayake" userId="74f6288d55dc6935" providerId="LiveId" clId="{D44EBF66-A5FA-42F0-9E07-08F7C76FAF1E}" dt="2026-10-09T15:33:31.882" v="28" actId="1076"/>
          <ac:spMkLst>
            <pc:docMk/>
            <pc:sldMk cId="0" sldId="265"/>
            <ac:spMk id="17" creationId="{00000000-0000-0000-0000-000000000000}"/>
          </ac:spMkLst>
        </pc:spChg>
        <pc:spChg chg="mod">
          <ac:chgData name="Amanda Rathnayake" userId="74f6288d55dc6935" providerId="LiveId" clId="{D44EBF66-A5FA-42F0-9E07-08F7C76FAF1E}" dt="2026-10-09T15:33:26.067" v="27" actId="1076"/>
          <ac:spMkLst>
            <pc:docMk/>
            <pc:sldMk cId="0" sldId="265"/>
            <ac:spMk id="18" creationId="{00000000-0000-0000-0000-000000000000}"/>
          </ac:spMkLst>
        </pc:spChg>
      </pc:sldChg>
      <pc:sldChg chg="modSp mod">
        <pc:chgData name="Amanda Rathnayake" userId="74f6288d55dc6935" providerId="LiveId" clId="{D44EBF66-A5FA-42F0-9E07-08F7C76FAF1E}" dt="2026-10-09T15:32:47.712" v="24" actId="1076"/>
        <pc:sldMkLst>
          <pc:docMk/>
          <pc:sldMk cId="0" sldId="267"/>
        </pc:sldMkLst>
        <pc:spChg chg="mod">
          <ac:chgData name="Amanda Rathnayake" userId="74f6288d55dc6935" providerId="LiveId" clId="{D44EBF66-A5FA-42F0-9E07-08F7C76FAF1E}" dt="2026-10-09T15:32:47.712" v="24" actId="1076"/>
          <ac:spMkLst>
            <pc:docMk/>
            <pc:sldMk cId="0" sldId="267"/>
            <ac:spMk id="19" creationId="{00000000-0000-0000-0000-000000000000}"/>
          </ac:spMkLst>
        </pc:spChg>
        <pc:spChg chg="mod">
          <ac:chgData name="Amanda Rathnayake" userId="74f6288d55dc6935" providerId="LiveId" clId="{D44EBF66-A5FA-42F0-9E07-08F7C76FAF1E}" dt="2026-10-09T15:30:26.189" v="8" actId="14100"/>
          <ac:spMkLst>
            <pc:docMk/>
            <pc:sldMk cId="0" sldId="267"/>
            <ac:spMk id="20" creationId="{00000000-0000-0000-0000-000000000000}"/>
          </ac:spMkLst>
        </pc:spChg>
      </pc:sldChg>
      <pc:sldChg chg="modSp mod">
        <pc:chgData name="Amanda Rathnayake" userId="74f6288d55dc6935" providerId="LiveId" clId="{D44EBF66-A5FA-42F0-9E07-08F7C76FAF1E}" dt="2026-10-09T15:33:09.184" v="26" actId="1076"/>
        <pc:sldMkLst>
          <pc:docMk/>
          <pc:sldMk cId="0" sldId="268"/>
        </pc:sldMkLst>
        <pc:spChg chg="mod">
          <ac:chgData name="Amanda Rathnayake" userId="74f6288d55dc6935" providerId="LiveId" clId="{D44EBF66-A5FA-42F0-9E07-08F7C76FAF1E}" dt="2026-10-09T15:32:59.351" v="25" actId="1076"/>
          <ac:spMkLst>
            <pc:docMk/>
            <pc:sldMk cId="0" sldId="268"/>
            <ac:spMk id="19" creationId="{00000000-0000-0000-0000-000000000000}"/>
          </ac:spMkLst>
        </pc:spChg>
        <pc:spChg chg="mod">
          <ac:chgData name="Amanda Rathnayake" userId="74f6288d55dc6935" providerId="LiveId" clId="{D44EBF66-A5FA-42F0-9E07-08F7C76FAF1E}" dt="2026-10-09T15:33:09.184" v="26" actId="1076"/>
          <ac:spMkLst>
            <pc:docMk/>
            <pc:sldMk cId="0" sldId="268"/>
            <ac:spMk id="20" creationId="{00000000-0000-0000-0000-000000000000}"/>
          </ac:spMkLst>
        </pc:spChg>
      </pc:sldChg>
      <pc:sldChg chg="modSp mod">
        <pc:chgData name="Amanda Rathnayake" userId="74f6288d55dc6935" providerId="LiveId" clId="{D44EBF66-A5FA-42F0-9E07-08F7C76FAF1E}" dt="2026-10-09T15:32:29.350" v="23" actId="1076"/>
        <pc:sldMkLst>
          <pc:docMk/>
          <pc:sldMk cId="0" sldId="270"/>
        </pc:sldMkLst>
        <pc:spChg chg="mod">
          <ac:chgData name="Amanda Rathnayake" userId="74f6288d55dc6935" providerId="LiveId" clId="{D44EBF66-A5FA-42F0-9E07-08F7C76FAF1E}" dt="2026-10-09T15:32:29.350" v="23" actId="1076"/>
          <ac:spMkLst>
            <pc:docMk/>
            <pc:sldMk cId="0" sldId="270"/>
            <ac:spMk id="19" creationId="{00000000-0000-0000-0000-000000000000}"/>
          </ac:spMkLst>
        </pc:spChg>
      </pc:sldChg>
      <pc:sldChg chg="modSp mod">
        <pc:chgData name="Amanda Rathnayake" userId="74f6288d55dc6935" providerId="LiveId" clId="{D44EBF66-A5FA-42F0-9E07-08F7C76FAF1E}" dt="2026-10-09T15:31:04.223" v="12" actId="14100"/>
        <pc:sldMkLst>
          <pc:docMk/>
          <pc:sldMk cId="0" sldId="271"/>
        </pc:sldMkLst>
        <pc:spChg chg="mod">
          <ac:chgData name="Amanda Rathnayake" userId="74f6288d55dc6935" providerId="LiveId" clId="{D44EBF66-A5FA-42F0-9E07-08F7C76FAF1E}" dt="2026-10-09T15:31:04.223" v="12" actId="14100"/>
          <ac:spMkLst>
            <pc:docMk/>
            <pc:sldMk cId="0" sldId="271"/>
            <ac:spMk id="18" creationId="{00000000-0000-0000-0000-000000000000}"/>
          </ac:spMkLst>
        </pc:spChg>
      </pc:sldChg>
      <pc:sldChg chg="modSp mod">
        <pc:chgData name="Amanda Rathnayake" userId="74f6288d55dc6935" providerId="LiveId" clId="{D44EBF66-A5FA-42F0-9E07-08F7C76FAF1E}" dt="2026-10-09T15:32:10.875" v="22" actId="1076"/>
        <pc:sldMkLst>
          <pc:docMk/>
          <pc:sldMk cId="0" sldId="272"/>
        </pc:sldMkLst>
        <pc:spChg chg="mod">
          <ac:chgData name="Amanda Rathnayake" userId="74f6288d55dc6935" providerId="LiveId" clId="{D44EBF66-A5FA-42F0-9E07-08F7C76FAF1E}" dt="2026-10-09T15:32:10.875" v="22" actId="1076"/>
          <ac:spMkLst>
            <pc:docMk/>
            <pc:sldMk cId="0" sldId="272"/>
            <ac:spMk id="17" creationId="{00000000-0000-0000-0000-000000000000}"/>
          </ac:spMkLst>
        </pc:spChg>
        <pc:spChg chg="mod">
          <ac:chgData name="Amanda Rathnayake" userId="74f6288d55dc6935" providerId="LiveId" clId="{D44EBF66-A5FA-42F0-9E07-08F7C76FAF1E}" dt="2026-10-09T15:31:37.100" v="18" actId="14100"/>
          <ac:spMkLst>
            <pc:docMk/>
            <pc:sldMk cId="0" sldId="272"/>
            <ac:spMk id="19" creationId="{00000000-0000-0000-0000-000000000000}"/>
          </ac:spMkLst>
        </pc:spChg>
        <pc:spChg chg="mod">
          <ac:chgData name="Amanda Rathnayake" userId="74f6288d55dc6935" providerId="LiveId" clId="{D44EBF66-A5FA-42F0-9E07-08F7C76FAF1E}" dt="2026-10-09T15:32:00.126" v="21" actId="14100"/>
          <ac:spMkLst>
            <pc:docMk/>
            <pc:sldMk cId="0" sldId="272"/>
            <ac:spMk id="21"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jpe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5.svg"/><Relationship Id="rId7"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7.png"/><Relationship Id="rId4" Type="http://schemas.openxmlformats.org/officeDocument/2006/relationships/image" Target="../media/image6.sv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9.jpe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9.jpe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5.svg"/><Relationship Id="rId7"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7.png"/><Relationship Id="rId4" Type="http://schemas.openxmlformats.org/officeDocument/2006/relationships/image" Target="../media/image6.sv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9.jpe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9.jpe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5.svg"/><Relationship Id="rId7"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2.png"/><Relationship Id="rId4" Type="http://schemas.openxmlformats.org/officeDocument/2006/relationships/image" Target="../media/image6.sv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9.jpe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9.jpe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5.svg"/><Relationship Id="rId7"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7.png"/><Relationship Id="rId4" Type="http://schemas.openxmlformats.org/officeDocument/2006/relationships/image" Target="../media/image6.svg"/><Relationship Id="rId9"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9.jpe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9.jpe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9.jpe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grpSp>
        <p:nvGrpSpPr>
          <p:cNvPr id="4" name="Group 4"/>
          <p:cNvGrpSpPr/>
          <p:nvPr/>
        </p:nvGrpSpPr>
        <p:grpSpPr>
          <a:xfrm rot="-842280">
            <a:off x="10911430" y="82467"/>
            <a:ext cx="6002464" cy="8123749"/>
            <a:chOff x="0" y="0"/>
            <a:chExt cx="8003286" cy="10831665"/>
          </a:xfrm>
        </p:grpSpPr>
        <p:sp>
          <p:nvSpPr>
            <p:cNvPr id="5" name="Freeform 5"/>
            <p:cNvSpPr/>
            <p:nvPr/>
          </p:nvSpPr>
          <p:spPr>
            <a:xfrm flipH="1">
              <a:off x="0" y="0"/>
              <a:ext cx="8003286" cy="10831703"/>
            </a:xfrm>
            <a:custGeom>
              <a:avLst/>
              <a:gdLst/>
              <a:ahLst/>
              <a:cxnLst/>
              <a:rect l="l" t="t" r="r" b="b"/>
              <a:pathLst>
                <a:path w="8003286" h="10831703">
                  <a:moveTo>
                    <a:pt x="8003286" y="0"/>
                  </a:moveTo>
                  <a:lnTo>
                    <a:pt x="0" y="0"/>
                  </a:lnTo>
                  <a:lnTo>
                    <a:pt x="0" y="10831703"/>
                  </a:lnTo>
                  <a:lnTo>
                    <a:pt x="8003286" y="10831703"/>
                  </a:lnTo>
                  <a:lnTo>
                    <a:pt x="8003286" y="0"/>
                  </a:lnTo>
                  <a:close/>
                </a:path>
              </a:pathLst>
            </a:custGeom>
            <a:blipFill>
              <a:blip r:embed="rId3"/>
              <a:stretch>
                <a:fillRect t="-914" b="-913"/>
              </a:stretch>
            </a:blipFill>
          </p:spPr>
          <p:txBody>
            <a:bodyPr/>
            <a:lstStyle/>
            <a:p>
              <a:endParaRPr lang="en-US"/>
            </a:p>
          </p:txBody>
        </p:sp>
      </p:grpSp>
      <p:grpSp>
        <p:nvGrpSpPr>
          <p:cNvPr id="6" name="Group 6"/>
          <p:cNvGrpSpPr/>
          <p:nvPr/>
        </p:nvGrpSpPr>
        <p:grpSpPr>
          <a:xfrm>
            <a:off x="2724176" y="6642529"/>
            <a:ext cx="7822032" cy="1965171"/>
            <a:chOff x="0" y="0"/>
            <a:chExt cx="8193968" cy="2058614"/>
          </a:xfrm>
        </p:grpSpPr>
        <p:sp>
          <p:nvSpPr>
            <p:cNvPr id="7" name="Freeform 7"/>
            <p:cNvSpPr/>
            <p:nvPr/>
          </p:nvSpPr>
          <p:spPr>
            <a:xfrm>
              <a:off x="0" y="0"/>
              <a:ext cx="8193921" cy="2058677"/>
            </a:xfrm>
            <a:custGeom>
              <a:avLst/>
              <a:gdLst/>
              <a:ahLst/>
              <a:cxnLst/>
              <a:rect l="l" t="t" r="r" b="b"/>
              <a:pathLst>
                <a:path w="8193921" h="2058677">
                  <a:moveTo>
                    <a:pt x="380848" y="0"/>
                  </a:moveTo>
                  <a:lnTo>
                    <a:pt x="7813190" y="0"/>
                  </a:lnTo>
                  <a:cubicBezTo>
                    <a:pt x="8023495" y="0"/>
                    <a:pt x="8193921" y="306259"/>
                    <a:pt x="8193921" y="683923"/>
                  </a:cubicBezTo>
                  <a:lnTo>
                    <a:pt x="8193921" y="1374797"/>
                  </a:lnTo>
                  <a:cubicBezTo>
                    <a:pt x="8193921" y="1752460"/>
                    <a:pt x="8023495" y="2058677"/>
                    <a:pt x="7813190" y="2058677"/>
                  </a:cubicBezTo>
                  <a:lnTo>
                    <a:pt x="380848" y="2058677"/>
                  </a:lnTo>
                  <a:cubicBezTo>
                    <a:pt x="170543" y="2058677"/>
                    <a:pt x="0" y="1752460"/>
                    <a:pt x="0" y="1374796"/>
                  </a:cubicBezTo>
                  <a:lnTo>
                    <a:pt x="0" y="683923"/>
                  </a:lnTo>
                  <a:cubicBezTo>
                    <a:pt x="0" y="306259"/>
                    <a:pt x="170543" y="0"/>
                    <a:pt x="380848" y="0"/>
                  </a:cubicBezTo>
                  <a:close/>
                </a:path>
              </a:pathLst>
            </a:custGeom>
            <a:solidFill>
              <a:srgbClr val="508EAD"/>
            </a:solidFill>
          </p:spPr>
          <p:txBody>
            <a:bodyPr/>
            <a:lstStyle/>
            <a:p>
              <a:endParaRPr lang="en-US"/>
            </a:p>
          </p:txBody>
        </p:sp>
      </p:grpSp>
      <p:grpSp>
        <p:nvGrpSpPr>
          <p:cNvPr id="8" name="Group 8"/>
          <p:cNvGrpSpPr/>
          <p:nvPr/>
        </p:nvGrpSpPr>
        <p:grpSpPr>
          <a:xfrm>
            <a:off x="3308138" y="6826058"/>
            <a:ext cx="6654108" cy="1560555"/>
            <a:chOff x="0" y="0"/>
            <a:chExt cx="8872144" cy="2080740"/>
          </a:xfrm>
        </p:grpSpPr>
        <p:sp>
          <p:nvSpPr>
            <p:cNvPr id="9" name="Freeform 9"/>
            <p:cNvSpPr/>
            <p:nvPr/>
          </p:nvSpPr>
          <p:spPr>
            <a:xfrm>
              <a:off x="0" y="0"/>
              <a:ext cx="8872145" cy="2080741"/>
            </a:xfrm>
            <a:custGeom>
              <a:avLst/>
              <a:gdLst/>
              <a:ahLst/>
              <a:cxnLst/>
              <a:rect l="l" t="t" r="r" b="b"/>
              <a:pathLst>
                <a:path w="8872145" h="2080741">
                  <a:moveTo>
                    <a:pt x="0" y="0"/>
                  </a:moveTo>
                  <a:lnTo>
                    <a:pt x="8872145" y="0"/>
                  </a:lnTo>
                  <a:lnTo>
                    <a:pt x="8872145" y="2080741"/>
                  </a:lnTo>
                  <a:lnTo>
                    <a:pt x="0" y="2080741"/>
                  </a:lnTo>
                  <a:close/>
                </a:path>
              </a:pathLst>
            </a:custGeom>
            <a:blipFill>
              <a:blip r:embed="rId4">
                <a:alphaModFix amt="0"/>
              </a:blip>
              <a:stretch>
                <a:fillRect t="-42827" b="-23338"/>
              </a:stretch>
            </a:blipFill>
          </p:spPr>
          <p:txBody>
            <a:bodyPr/>
            <a:lstStyle/>
            <a:p>
              <a:endParaRPr lang="en-US"/>
            </a:p>
          </p:txBody>
        </p:sp>
        <p:sp>
          <p:nvSpPr>
            <p:cNvPr id="10" name="TextBox 10"/>
            <p:cNvSpPr txBox="1"/>
            <p:nvPr/>
          </p:nvSpPr>
          <p:spPr>
            <a:xfrm>
              <a:off x="0" y="-85725"/>
              <a:ext cx="8872144" cy="2166465"/>
            </a:xfrm>
            <a:prstGeom prst="rect">
              <a:avLst/>
            </a:prstGeom>
          </p:spPr>
          <p:txBody>
            <a:bodyPr lIns="0" tIns="0" rIns="0" bIns="0" rtlCol="0" anchor="ctr"/>
            <a:lstStyle/>
            <a:p>
              <a:pPr algn="ctr">
                <a:lnSpc>
                  <a:spcPts val="6018"/>
                </a:lnSpc>
              </a:pPr>
              <a:r>
                <a:rPr lang="en-US" sz="4299" b="1" spc="-167">
                  <a:solidFill>
                    <a:srgbClr val="FFFFFF"/>
                  </a:solidFill>
                  <a:latin typeface="Open Sauce Bold"/>
                  <a:ea typeface="Open Sauce Bold"/>
                  <a:cs typeface="Open Sauce Bold"/>
                  <a:sym typeface="Open Sauce Bold"/>
                </a:rPr>
                <a:t>R26-IT-005</a:t>
              </a:r>
            </a:p>
            <a:p>
              <a:pPr algn="ctr">
                <a:lnSpc>
                  <a:spcPts val="6018"/>
                </a:lnSpc>
              </a:pPr>
              <a:r>
                <a:rPr lang="en-US" sz="4299" b="1" spc="-171">
                  <a:solidFill>
                    <a:srgbClr val="FFFFFF"/>
                  </a:solidFill>
                  <a:latin typeface="Open Sauce Bold"/>
                  <a:ea typeface="Open Sauce Bold"/>
                  <a:cs typeface="Open Sauce Bold"/>
                  <a:sym typeface="Open Sauce Bold"/>
                </a:rPr>
                <a:t>Progress Presentation 1</a:t>
              </a:r>
            </a:p>
          </p:txBody>
        </p:sp>
      </p:grpSp>
      <p:grpSp>
        <p:nvGrpSpPr>
          <p:cNvPr id="11" name="Group 11"/>
          <p:cNvGrpSpPr/>
          <p:nvPr/>
        </p:nvGrpSpPr>
        <p:grpSpPr>
          <a:xfrm rot="1031400">
            <a:off x="9509169" y="7186660"/>
            <a:ext cx="3244110" cy="5318217"/>
            <a:chOff x="0" y="0"/>
            <a:chExt cx="4325480" cy="7090956"/>
          </a:xfrm>
        </p:grpSpPr>
        <p:sp>
          <p:nvSpPr>
            <p:cNvPr id="12" name="Freeform 12"/>
            <p:cNvSpPr/>
            <p:nvPr/>
          </p:nvSpPr>
          <p:spPr>
            <a:xfrm flipH="1">
              <a:off x="0" y="0"/>
              <a:ext cx="4325493" cy="7090918"/>
            </a:xfrm>
            <a:custGeom>
              <a:avLst/>
              <a:gdLst/>
              <a:ahLst/>
              <a:cxnLst/>
              <a:rect l="l" t="t" r="r" b="b"/>
              <a:pathLst>
                <a:path w="4325493" h="7090918">
                  <a:moveTo>
                    <a:pt x="4325493" y="0"/>
                  </a:moveTo>
                  <a:lnTo>
                    <a:pt x="0" y="0"/>
                  </a:lnTo>
                  <a:lnTo>
                    <a:pt x="0" y="7090918"/>
                  </a:lnTo>
                  <a:lnTo>
                    <a:pt x="4325493" y="7090918"/>
                  </a:lnTo>
                  <a:lnTo>
                    <a:pt x="4325493" y="0"/>
                  </a:lnTo>
                  <a:close/>
                </a:path>
              </a:pathLst>
            </a:custGeom>
            <a:blipFill>
              <a:blip r:embed="rId5"/>
              <a:stretch>
                <a:fillRect l="-17" r="-17"/>
              </a:stretch>
            </a:blipFill>
          </p:spPr>
          <p:txBody>
            <a:bodyPr/>
            <a:lstStyle/>
            <a:p>
              <a:endParaRPr lang="en-US"/>
            </a:p>
          </p:txBody>
        </p:sp>
      </p:grpSp>
      <p:sp>
        <p:nvSpPr>
          <p:cNvPr id="13" name="Freeform 13"/>
          <p:cNvSpPr/>
          <p:nvPr/>
        </p:nvSpPr>
        <p:spPr>
          <a:xfrm rot="577740">
            <a:off x="15945526" y="8364388"/>
            <a:ext cx="486623" cy="486623"/>
          </a:xfrm>
          <a:custGeom>
            <a:avLst/>
            <a:gdLst/>
            <a:ahLst/>
            <a:cxnLst/>
            <a:rect l="l" t="t" r="r" b="b"/>
            <a:pathLst>
              <a:path w="486623" h="486623">
                <a:moveTo>
                  <a:pt x="0" y="0"/>
                </a:moveTo>
                <a:lnTo>
                  <a:pt x="486623" y="0"/>
                </a:lnTo>
                <a:lnTo>
                  <a:pt x="486623" y="486623"/>
                </a:lnTo>
                <a:lnTo>
                  <a:pt x="0" y="486623"/>
                </a:lnTo>
                <a:lnTo>
                  <a:pt x="0" y="0"/>
                </a:lnTo>
                <a:close/>
              </a:path>
            </a:pathLst>
          </a:custGeom>
          <a:blipFill>
            <a:blip>
              <a:alphaModFix amt="50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4" name="Freeform 14"/>
          <p:cNvSpPr/>
          <p:nvPr/>
        </p:nvSpPr>
        <p:spPr>
          <a:xfrm rot="248760">
            <a:off x="7179612" y="1292847"/>
            <a:ext cx="486623" cy="486623"/>
          </a:xfrm>
          <a:custGeom>
            <a:avLst/>
            <a:gdLst/>
            <a:ahLst/>
            <a:cxnLst/>
            <a:rect l="l" t="t" r="r" b="b"/>
            <a:pathLst>
              <a:path w="486623" h="486623">
                <a:moveTo>
                  <a:pt x="0" y="0"/>
                </a:moveTo>
                <a:lnTo>
                  <a:pt x="486622" y="0"/>
                </a:lnTo>
                <a:lnTo>
                  <a:pt x="486622" y="486623"/>
                </a:lnTo>
                <a:lnTo>
                  <a:pt x="0" y="486623"/>
                </a:lnTo>
                <a:lnTo>
                  <a:pt x="0" y="0"/>
                </a:lnTo>
                <a:close/>
              </a:path>
            </a:pathLst>
          </a:custGeom>
          <a:blipFill>
            <a:blip>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5" name="Freeform 15"/>
          <p:cNvSpPr/>
          <p:nvPr/>
        </p:nvSpPr>
        <p:spPr>
          <a:xfrm rot="-409800">
            <a:off x="1913159" y="7318305"/>
            <a:ext cx="486623" cy="486623"/>
          </a:xfrm>
          <a:custGeom>
            <a:avLst/>
            <a:gdLst/>
            <a:ahLst/>
            <a:cxnLst/>
            <a:rect l="l" t="t" r="r" b="b"/>
            <a:pathLst>
              <a:path w="486623" h="486623">
                <a:moveTo>
                  <a:pt x="0" y="0"/>
                </a:moveTo>
                <a:lnTo>
                  <a:pt x="486623" y="0"/>
                </a:lnTo>
                <a:lnTo>
                  <a:pt x="486623" y="486623"/>
                </a:lnTo>
                <a:lnTo>
                  <a:pt x="0" y="486623"/>
                </a:lnTo>
                <a:lnTo>
                  <a:pt x="0" y="0"/>
                </a:lnTo>
                <a:close/>
              </a:path>
            </a:pathLst>
          </a:custGeom>
          <a:blipFill>
            <a:blip>
              <a:alphaModFix amt="50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6" name="TextBox 16"/>
          <p:cNvSpPr txBox="1"/>
          <p:nvPr/>
        </p:nvSpPr>
        <p:spPr>
          <a:xfrm>
            <a:off x="348720" y="3619924"/>
            <a:ext cx="14148406" cy="2770927"/>
          </a:xfrm>
          <a:prstGeom prst="rect">
            <a:avLst/>
          </a:prstGeom>
        </p:spPr>
        <p:txBody>
          <a:bodyPr lIns="0" tIns="0" rIns="0" bIns="0" rtlCol="0" anchor="t">
            <a:spAutoFit/>
          </a:bodyPr>
          <a:lstStyle/>
          <a:p>
            <a:pPr algn="l">
              <a:lnSpc>
                <a:spcPts val="20418"/>
              </a:lnSpc>
            </a:pPr>
            <a:r>
              <a:rPr lang="en-US" sz="14583" b="1">
                <a:solidFill>
                  <a:srgbClr val="1B3957"/>
                </a:solidFill>
                <a:latin typeface="Garet Bold"/>
                <a:ea typeface="Garet Bold"/>
                <a:cs typeface="Garet Bold"/>
                <a:sym typeface="Garet Bold"/>
              </a:rPr>
              <a:t>PURIFICATION</a:t>
            </a:r>
          </a:p>
        </p:txBody>
      </p:sp>
      <p:sp>
        <p:nvSpPr>
          <p:cNvPr id="17" name="TextBox 17"/>
          <p:cNvSpPr txBox="1"/>
          <p:nvPr/>
        </p:nvSpPr>
        <p:spPr>
          <a:xfrm>
            <a:off x="602256" y="1780481"/>
            <a:ext cx="8541744" cy="2770927"/>
          </a:xfrm>
          <a:prstGeom prst="rect">
            <a:avLst/>
          </a:prstGeom>
        </p:spPr>
        <p:txBody>
          <a:bodyPr lIns="0" tIns="0" rIns="0" bIns="0" rtlCol="0" anchor="t">
            <a:spAutoFit/>
          </a:bodyPr>
          <a:lstStyle/>
          <a:p>
            <a:pPr algn="l">
              <a:lnSpc>
                <a:spcPts val="20418"/>
              </a:lnSpc>
            </a:pPr>
            <a:r>
              <a:rPr lang="en-US" sz="14583" b="1">
                <a:solidFill>
                  <a:srgbClr val="06728A"/>
                </a:solidFill>
                <a:latin typeface="Garet Bold"/>
                <a:ea typeface="Garet Bold"/>
                <a:cs typeface="Garet Bold"/>
                <a:sym typeface="Garet Bold"/>
              </a:rPr>
              <a:t>WATER</a:t>
            </a:r>
          </a:p>
        </p:txBody>
      </p:sp>
      <p:grpSp>
        <p:nvGrpSpPr>
          <p:cNvPr id="18" name="Group 18"/>
          <p:cNvGrpSpPr/>
          <p:nvPr/>
        </p:nvGrpSpPr>
        <p:grpSpPr>
          <a:xfrm>
            <a:off x="0" y="9559957"/>
            <a:ext cx="3771900" cy="735425"/>
            <a:chOff x="0" y="0"/>
            <a:chExt cx="5029200" cy="980567"/>
          </a:xfrm>
        </p:grpSpPr>
        <p:sp>
          <p:nvSpPr>
            <p:cNvPr id="19" name="Freeform 19"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8"/>
              <a:stretch>
                <a:fillRect t="-94249" b="-94249"/>
              </a:stretch>
            </a:blipFill>
          </p:spPr>
          <p:txBody>
            <a:bodyPr/>
            <a:lstStyle/>
            <a:p>
              <a:endParaRPr lang="en-US"/>
            </a:p>
          </p:txBody>
        </p:sp>
      </p:grpSp>
      <p:sp>
        <p:nvSpPr>
          <p:cNvPr id="20" name="TextBox 20"/>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grpSp>
        <p:nvGrpSpPr>
          <p:cNvPr id="21" name="Group 21"/>
          <p:cNvGrpSpPr/>
          <p:nvPr/>
        </p:nvGrpSpPr>
        <p:grpSpPr>
          <a:xfrm>
            <a:off x="0" y="9551575"/>
            <a:ext cx="3771900" cy="735425"/>
            <a:chOff x="0" y="0"/>
            <a:chExt cx="5029200" cy="980567"/>
          </a:xfrm>
        </p:grpSpPr>
        <p:sp>
          <p:nvSpPr>
            <p:cNvPr id="22" name="Freeform 22"/>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9"/>
              <a:stretch>
                <a:fillRect t="-128" b="-128"/>
              </a:stretch>
            </a:blipFill>
          </p:spPr>
          <p:txBody>
            <a:bodyP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sp>
        <p:nvSpPr>
          <p:cNvPr id="4" name="Freeform 4"/>
          <p:cNvSpPr/>
          <p:nvPr/>
        </p:nvSpPr>
        <p:spPr>
          <a:xfrm rot="-557640">
            <a:off x="505976" y="703599"/>
            <a:ext cx="486623" cy="486623"/>
          </a:xfrm>
          <a:custGeom>
            <a:avLst/>
            <a:gdLst/>
            <a:ahLst/>
            <a:cxnLst/>
            <a:rect l="l" t="t" r="r" b="b"/>
            <a:pathLst>
              <a:path w="486623" h="486623">
                <a:moveTo>
                  <a:pt x="0" y="0"/>
                </a:moveTo>
                <a:lnTo>
                  <a:pt x="486623" y="0"/>
                </a:lnTo>
                <a:lnTo>
                  <a:pt x="486623" y="486622"/>
                </a:lnTo>
                <a:lnTo>
                  <a:pt x="0" y="486622"/>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248760">
            <a:off x="17501487" y="9415710"/>
            <a:ext cx="486623" cy="486623"/>
          </a:xfrm>
          <a:custGeom>
            <a:avLst/>
            <a:gdLst/>
            <a:ahLst/>
            <a:cxnLst/>
            <a:rect l="l" t="t" r="r" b="b"/>
            <a:pathLst>
              <a:path w="486623" h="486623">
                <a:moveTo>
                  <a:pt x="0" y="0"/>
                </a:moveTo>
                <a:lnTo>
                  <a:pt x="486623" y="0"/>
                </a:lnTo>
                <a:lnTo>
                  <a:pt x="486623" y="486623"/>
                </a:lnTo>
                <a:lnTo>
                  <a:pt x="0" y="486623"/>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graphicFrame>
        <p:nvGraphicFramePr>
          <p:cNvPr id="6" name="Table 6"/>
          <p:cNvGraphicFramePr>
            <a:graphicFrameLocks noGrp="1"/>
          </p:cNvGraphicFramePr>
          <p:nvPr/>
        </p:nvGraphicFramePr>
        <p:xfrm>
          <a:off x="282936" y="1845949"/>
          <a:ext cx="17722128" cy="7412351"/>
        </p:xfrm>
        <a:graphic>
          <a:graphicData uri="http://schemas.openxmlformats.org/drawingml/2006/table">
            <a:tbl>
              <a:tblPr/>
              <a:tblGrid>
                <a:gridCol w="2797571">
                  <a:extLst>
                    <a:ext uri="{9D8B030D-6E8A-4147-A177-3AD203B41FA5}">
                      <a16:colId xmlns:a16="http://schemas.microsoft.com/office/drawing/2014/main" val="20000"/>
                    </a:ext>
                  </a:extLst>
                </a:gridCol>
                <a:gridCol w="4555012">
                  <a:extLst>
                    <a:ext uri="{9D8B030D-6E8A-4147-A177-3AD203B41FA5}">
                      <a16:colId xmlns:a16="http://schemas.microsoft.com/office/drawing/2014/main" val="20001"/>
                    </a:ext>
                  </a:extLst>
                </a:gridCol>
                <a:gridCol w="10369545">
                  <a:extLst>
                    <a:ext uri="{9D8B030D-6E8A-4147-A177-3AD203B41FA5}">
                      <a16:colId xmlns:a16="http://schemas.microsoft.com/office/drawing/2014/main" val="20002"/>
                    </a:ext>
                  </a:extLst>
                </a:gridCol>
              </a:tblGrid>
              <a:tr h="712787">
                <a:tc>
                  <a:txBody>
                    <a:bodyPr/>
                    <a:lstStyle/>
                    <a:p>
                      <a:pPr algn="ctr">
                        <a:lnSpc>
                          <a:spcPts val="2238"/>
                        </a:lnSpc>
                        <a:defRPr/>
                      </a:pPr>
                      <a:r>
                        <a:rPr lang="en-US" sz="1599" b="1">
                          <a:solidFill>
                            <a:srgbClr val="FFFFFF"/>
                          </a:solidFill>
                          <a:latin typeface="Arimo Bold"/>
                          <a:ea typeface="Arimo Bold"/>
                          <a:cs typeface="Arimo Bold"/>
                          <a:sym typeface="Arimo Bold"/>
                        </a:rPr>
                        <a:t>STUDENT’S NAME &amp; ID</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06728A"/>
                    </a:solidFill>
                  </a:tcPr>
                </a:tc>
                <a:tc>
                  <a:txBody>
                    <a:bodyPr/>
                    <a:lstStyle/>
                    <a:p>
                      <a:pPr algn="ctr">
                        <a:lnSpc>
                          <a:spcPts val="2238"/>
                        </a:lnSpc>
                        <a:defRPr/>
                      </a:pPr>
                      <a:r>
                        <a:rPr lang="en-US" sz="1599" b="1">
                          <a:solidFill>
                            <a:srgbClr val="FFFFFF"/>
                          </a:solidFill>
                          <a:latin typeface="Arimo Bold"/>
                          <a:ea typeface="Arimo Bold"/>
                          <a:cs typeface="Arimo Bold"/>
                          <a:sym typeface="Arimo Bold"/>
                        </a:rPr>
                        <a:t>COMMENTS FOR THE PROPOSAL</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06728A"/>
                    </a:solidFill>
                  </a:tcPr>
                </a:tc>
                <a:tc>
                  <a:txBody>
                    <a:bodyPr/>
                    <a:lstStyle/>
                    <a:p>
                      <a:pPr algn="ctr">
                        <a:lnSpc>
                          <a:spcPts val="2238"/>
                        </a:lnSpc>
                        <a:defRPr/>
                      </a:pPr>
                      <a:r>
                        <a:rPr lang="en-US" sz="1599" b="1">
                          <a:solidFill>
                            <a:srgbClr val="FFFFFF"/>
                          </a:solidFill>
                          <a:latin typeface="Arimo Bold"/>
                          <a:ea typeface="Arimo Bold"/>
                          <a:cs typeface="Arimo Bold"/>
                          <a:sym typeface="Arimo Bold"/>
                        </a:rPr>
                        <a:t>HOW YOU/TEAM ADDRESSED THEM</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06728A"/>
                    </a:solidFill>
                  </a:tcPr>
                </a:tc>
                <a:extLst>
                  <a:ext uri="{0D108BD9-81ED-4DB2-BD59-A6C34878D82A}">
                    <a16:rowId xmlns:a16="http://schemas.microsoft.com/office/drawing/2014/main" val="10000"/>
                  </a:ext>
                </a:extLst>
              </a:tr>
              <a:tr h="2085975">
                <a:tc>
                  <a:txBody>
                    <a:bodyPr/>
                    <a:lstStyle/>
                    <a:p>
                      <a:pPr algn="ctr">
                        <a:lnSpc>
                          <a:spcPts val="2238"/>
                        </a:lnSpc>
                        <a:defRPr/>
                      </a:pPr>
                      <a:r>
                        <a:rPr lang="en-US" sz="1599" b="1">
                          <a:solidFill>
                            <a:srgbClr val="000000"/>
                          </a:solidFill>
                          <a:latin typeface="Arimo Bold"/>
                          <a:ea typeface="Arimo Bold"/>
                          <a:cs typeface="Arimo Bold"/>
                          <a:sym typeface="Arimo Bold"/>
                        </a:rPr>
                        <a:t>R.M.N.A. RATHNAYAKE</a:t>
                      </a:r>
                      <a:endParaRPr lang="en-US" sz="1100"/>
                    </a:p>
                    <a:p>
                      <a:pPr algn="ctr">
                        <a:lnSpc>
                          <a:spcPts val="2238"/>
                        </a:lnSpc>
                      </a:pPr>
                      <a:r>
                        <a:rPr lang="en-US" sz="1599" b="1">
                          <a:solidFill>
                            <a:srgbClr val="000000"/>
                          </a:solidFill>
                          <a:latin typeface="Arimo Bold"/>
                          <a:ea typeface="Arimo Bold"/>
                          <a:cs typeface="Arimo Bold"/>
                          <a:sym typeface="Arimo Bold"/>
                        </a:rPr>
                        <a:t>IT22193940</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tc>
                  <a:txBody>
                    <a:bodyPr/>
                    <a:lstStyle/>
                    <a:p>
                      <a:pPr marL="345439" lvl="1" indent="-172720" algn="l">
                        <a:lnSpc>
                          <a:spcPts val="2239"/>
                        </a:lnSpc>
                        <a:buFont typeface="Arial"/>
                        <a:buChar char="•"/>
                        <a:defRPr/>
                      </a:pPr>
                      <a:r>
                        <a:rPr lang="en-US" sz="1599" b="1">
                          <a:solidFill>
                            <a:srgbClr val="000000"/>
                          </a:solidFill>
                          <a:latin typeface="Arimo Bold"/>
                          <a:ea typeface="Arimo Bold"/>
                          <a:cs typeface="Arimo Bold"/>
                          <a:sym typeface="Arimo Bold"/>
                        </a:rPr>
                        <a:t>Propose to test the quality of the water using sensor data from the water collected using water sources</a:t>
                      </a:r>
                      <a:endParaRPr lang="en-US" sz="1100"/>
                    </a:p>
                    <a:p>
                      <a:pPr marL="345439" lvl="1" indent="-172720" algn="l">
                        <a:lnSpc>
                          <a:spcPts val="2239"/>
                        </a:lnSpc>
                        <a:buFont typeface="Arial"/>
                        <a:buChar char="•"/>
                      </a:pPr>
                      <a:r>
                        <a:rPr lang="en-US" sz="1599" b="1">
                          <a:solidFill>
                            <a:srgbClr val="000000"/>
                          </a:solidFill>
                          <a:latin typeface="Arimo Bold"/>
                          <a:ea typeface="Arimo Bold"/>
                          <a:cs typeface="Arimo Bold"/>
                          <a:sym typeface="Arimo Bold"/>
                        </a:rPr>
                        <a:t>The member 2's component can be incoperated with the same component</a:t>
                      </a:r>
                    </a:p>
                    <a:p>
                      <a:pPr algn="ctr">
                        <a:lnSpc>
                          <a:spcPts val="2240"/>
                        </a:lnSpc>
                      </a:pPr>
                      <a:endParaRPr lang="en-US" sz="1599" b="1">
                        <a:solidFill>
                          <a:srgbClr val="000000"/>
                        </a:solidFill>
                        <a:latin typeface="Arimo Bold"/>
                        <a:ea typeface="Arimo Bold"/>
                        <a:cs typeface="Arimo Bold"/>
                        <a:sym typeface="Arimo Bold"/>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tc>
                  <a:txBody>
                    <a:bodyPr/>
                    <a:lstStyle/>
                    <a:p>
                      <a:pPr marL="345439" lvl="1" indent="-172720" algn="just">
                        <a:lnSpc>
                          <a:spcPts val="2240"/>
                        </a:lnSpc>
                        <a:buFont typeface="Arial"/>
                        <a:buChar char="•"/>
                        <a:defRPr/>
                      </a:pPr>
                      <a:r>
                        <a:rPr lang="en-US" sz="1599" b="1">
                          <a:solidFill>
                            <a:srgbClr val="000000"/>
                          </a:solidFill>
                          <a:latin typeface="Arimo Bold"/>
                          <a:ea typeface="Arimo Bold"/>
                          <a:cs typeface="Arimo Bold"/>
                          <a:sym typeface="Arimo Bold"/>
                        </a:rPr>
                        <a:t>The component scope was refined to focus on intelligent water purification and monitoring.The system was designed to automatically adjust mineral composition based on sensor feedback. IoT-enabled monitoring ensures real-time control of pH levels and mineral concentration, enabling consistent alkaline water output.</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extLst>
                  <a:ext uri="{0D108BD9-81ED-4DB2-BD59-A6C34878D82A}">
                    <a16:rowId xmlns:a16="http://schemas.microsoft.com/office/drawing/2014/main" val="10001"/>
                  </a:ext>
                </a:extLst>
              </a:tr>
              <a:tr h="1814791">
                <a:tc>
                  <a:txBody>
                    <a:bodyPr/>
                    <a:lstStyle/>
                    <a:p>
                      <a:pPr algn="ctr">
                        <a:lnSpc>
                          <a:spcPts val="2239"/>
                        </a:lnSpc>
                        <a:defRPr/>
                      </a:pPr>
                      <a:r>
                        <a:rPr lang="en-US" sz="1599" b="1">
                          <a:solidFill>
                            <a:srgbClr val="000000"/>
                          </a:solidFill>
                          <a:latin typeface="Arimo Bold"/>
                          <a:ea typeface="Arimo Bold"/>
                          <a:cs typeface="Arimo Bold"/>
                          <a:sym typeface="Arimo Bold"/>
                        </a:rPr>
                        <a:t>W.N.N. DE SILVA</a:t>
                      </a:r>
                      <a:endParaRPr lang="en-US" sz="1100"/>
                    </a:p>
                    <a:p>
                      <a:pPr algn="ctr">
                        <a:lnSpc>
                          <a:spcPts val="2240"/>
                        </a:lnSpc>
                      </a:pPr>
                      <a:r>
                        <a:rPr lang="en-US" sz="1599" b="1">
                          <a:solidFill>
                            <a:srgbClr val="000000"/>
                          </a:solidFill>
                          <a:latin typeface="Arimo Bold"/>
                          <a:ea typeface="Arimo Bold"/>
                          <a:cs typeface="Arimo Bold"/>
                          <a:sym typeface="Arimo Bold"/>
                        </a:rPr>
                        <a:t>IT22211750</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tc>
                  <a:txBody>
                    <a:bodyPr/>
                    <a:lstStyle/>
                    <a:p>
                      <a:pPr marL="345439" lvl="1" indent="-172720" algn="l">
                        <a:lnSpc>
                          <a:spcPts val="2239"/>
                        </a:lnSpc>
                        <a:buFont typeface="Arial"/>
                        <a:buChar char="•"/>
                        <a:defRPr/>
                      </a:pPr>
                      <a:r>
                        <a:rPr lang="en-US" sz="1599" b="1">
                          <a:solidFill>
                            <a:srgbClr val="000000"/>
                          </a:solidFill>
                          <a:latin typeface="Arimo Bold"/>
                          <a:ea typeface="Arimo Bold"/>
                          <a:cs typeface="Arimo Bold"/>
                          <a:sym typeface="Arimo Bold"/>
                        </a:rPr>
                        <a:t>Propose to classify water types using sensors</a:t>
                      </a:r>
                      <a:endParaRPr lang="en-US" sz="1100"/>
                    </a:p>
                    <a:p>
                      <a:pPr marL="345439" lvl="1" indent="-172720" algn="l">
                        <a:lnSpc>
                          <a:spcPts val="2240"/>
                        </a:lnSpc>
                        <a:buFont typeface="Arial"/>
                        <a:buChar char="•"/>
                      </a:pPr>
                      <a:r>
                        <a:rPr lang="en-US" sz="1599" b="1">
                          <a:solidFill>
                            <a:srgbClr val="000000"/>
                          </a:solidFill>
                          <a:latin typeface="Arimo Bold"/>
                          <a:ea typeface="Arimo Bold"/>
                          <a:cs typeface="Arimo Bold"/>
                          <a:sym typeface="Arimo Bold"/>
                        </a:rPr>
                        <a:t>Scope needs to be defined properly, could be incopeated with Member 1's component</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tc>
                  <a:txBody>
                    <a:bodyPr/>
                    <a:lstStyle/>
                    <a:p>
                      <a:pPr marL="345439" lvl="1" indent="-172720" algn="l">
                        <a:lnSpc>
                          <a:spcPts val="2240"/>
                        </a:lnSpc>
                        <a:buFont typeface="Arial"/>
                        <a:buChar char="•"/>
                        <a:defRPr/>
                      </a:pPr>
                      <a:r>
                        <a:rPr lang="en-US" sz="1599" b="1">
                          <a:solidFill>
                            <a:srgbClr val="000000"/>
                          </a:solidFill>
                          <a:latin typeface="Arimo Bold"/>
                          <a:ea typeface="Arimo Bold"/>
                          <a:cs typeface="Arimo Bold"/>
                          <a:sym typeface="Arimo Bold"/>
                        </a:rPr>
                        <a:t>A machine learning model was implemented to classify water types using sensor data such as pH, TDS, turbidity, conductivity, and temperature. Training and testing were done using collected datasets to improve classification accuracy for different water categories (safe, unsafe, distilled, alkaline, etc.)</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extLst>
                  <a:ext uri="{0D108BD9-81ED-4DB2-BD59-A6C34878D82A}">
                    <a16:rowId xmlns:a16="http://schemas.microsoft.com/office/drawing/2014/main" val="10002"/>
                  </a:ext>
                </a:extLst>
              </a:tr>
              <a:tr h="1265273">
                <a:tc>
                  <a:txBody>
                    <a:bodyPr/>
                    <a:lstStyle/>
                    <a:p>
                      <a:pPr algn="ctr">
                        <a:lnSpc>
                          <a:spcPts val="2239"/>
                        </a:lnSpc>
                        <a:defRPr/>
                      </a:pPr>
                      <a:r>
                        <a:rPr lang="en-US" sz="1599" b="1">
                          <a:solidFill>
                            <a:srgbClr val="000000"/>
                          </a:solidFill>
                          <a:latin typeface="Arimo Bold"/>
                          <a:ea typeface="Arimo Bold"/>
                          <a:cs typeface="Arimo Bold"/>
                          <a:sym typeface="Arimo Bold"/>
                        </a:rPr>
                        <a:t>D. DODANWELA </a:t>
                      </a:r>
                      <a:endParaRPr lang="en-US" sz="1100"/>
                    </a:p>
                    <a:p>
                      <a:pPr algn="ctr">
                        <a:lnSpc>
                          <a:spcPts val="2240"/>
                        </a:lnSpc>
                      </a:pPr>
                      <a:r>
                        <a:rPr lang="en-US" sz="1599" b="1">
                          <a:solidFill>
                            <a:srgbClr val="000000"/>
                          </a:solidFill>
                          <a:latin typeface="Arimo Bold"/>
                          <a:ea typeface="Arimo Bold"/>
                          <a:cs typeface="Arimo Bold"/>
                          <a:sym typeface="Arimo Bold"/>
                        </a:rPr>
                        <a:t>IT22212122</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tc>
                  <a:txBody>
                    <a:bodyPr/>
                    <a:lstStyle/>
                    <a:p>
                      <a:pPr marL="345439" lvl="1" indent="-172720" algn="l">
                        <a:lnSpc>
                          <a:spcPts val="2239"/>
                        </a:lnSpc>
                        <a:buFont typeface="Arial"/>
                        <a:buChar char="•"/>
                        <a:defRPr/>
                      </a:pPr>
                      <a:r>
                        <a:rPr lang="en-US" sz="1599" b="1">
                          <a:solidFill>
                            <a:srgbClr val="000000"/>
                          </a:solidFill>
                          <a:latin typeface="Arimo Bold"/>
                          <a:ea typeface="Arimo Bold"/>
                          <a:cs typeface="Arimo Bold"/>
                          <a:sym typeface="Arimo Bold"/>
                        </a:rPr>
                        <a:t>Propose to develop an IoT device</a:t>
                      </a:r>
                      <a:endParaRPr lang="en-US" sz="1100"/>
                    </a:p>
                    <a:p>
                      <a:pPr marL="345439" lvl="1" indent="-172720" algn="l">
                        <a:lnSpc>
                          <a:spcPts val="2239"/>
                        </a:lnSpc>
                        <a:buFont typeface="Arial"/>
                        <a:buChar char="•"/>
                      </a:pPr>
                      <a:r>
                        <a:rPr lang="en-US" sz="1599" b="1">
                          <a:solidFill>
                            <a:srgbClr val="000000"/>
                          </a:solidFill>
                          <a:latin typeface="Arimo Bold"/>
                          <a:ea typeface="Arimo Bold"/>
                          <a:cs typeface="Arimo Bold"/>
                          <a:sym typeface="Arimo Bold"/>
                        </a:rPr>
                        <a:t>Check with portability of the device</a:t>
                      </a:r>
                    </a:p>
                    <a:p>
                      <a:pPr algn="ctr">
                        <a:lnSpc>
                          <a:spcPts val="2240"/>
                        </a:lnSpc>
                      </a:pPr>
                      <a:endParaRPr lang="en-US" sz="1599" b="1">
                        <a:solidFill>
                          <a:srgbClr val="000000"/>
                        </a:solidFill>
                        <a:latin typeface="Arimo Bold"/>
                        <a:ea typeface="Arimo Bold"/>
                        <a:cs typeface="Arimo Bold"/>
                        <a:sym typeface="Arimo Bold"/>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tc>
                  <a:txBody>
                    <a:bodyPr/>
                    <a:lstStyle/>
                    <a:p>
                      <a:pPr marL="345226" lvl="1" indent="-172613" algn="just">
                        <a:lnSpc>
                          <a:spcPts val="2238"/>
                        </a:lnSpc>
                        <a:buFont typeface="Arial"/>
                        <a:buChar char="•"/>
                        <a:defRPr/>
                      </a:pPr>
                      <a:r>
                        <a:rPr lang="en-US" sz="1599" b="1">
                          <a:solidFill>
                            <a:srgbClr val="000000"/>
                          </a:solidFill>
                          <a:latin typeface="Arimo Bold"/>
                          <a:ea typeface="Arimo Bold"/>
                          <a:cs typeface="Arimo Bold"/>
                          <a:sym typeface="Arimo Bold"/>
                        </a:rPr>
                        <a:t>The system design was refined to ensure the IoT device is compact, portable, and suitable for household use cases. The device integrates a water purification and boiling mechanism that produces clean, safe drinking water.</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extLst>
                  <a:ext uri="{0D108BD9-81ED-4DB2-BD59-A6C34878D82A}">
                    <a16:rowId xmlns:a16="http://schemas.microsoft.com/office/drawing/2014/main" val="10003"/>
                  </a:ext>
                </a:extLst>
              </a:tr>
              <a:tr h="1533525">
                <a:tc>
                  <a:txBody>
                    <a:bodyPr/>
                    <a:lstStyle/>
                    <a:p>
                      <a:pPr algn="ctr">
                        <a:lnSpc>
                          <a:spcPts val="2239"/>
                        </a:lnSpc>
                        <a:defRPr/>
                      </a:pPr>
                      <a:r>
                        <a:rPr lang="en-US" sz="1599" b="1">
                          <a:solidFill>
                            <a:srgbClr val="000000"/>
                          </a:solidFill>
                          <a:latin typeface="Arimo Bold"/>
                          <a:ea typeface="Arimo Bold"/>
                          <a:cs typeface="Arimo Bold"/>
                          <a:sym typeface="Arimo Bold"/>
                        </a:rPr>
                        <a:t>W.A.S.P.D. WIJESINGHA </a:t>
                      </a:r>
                      <a:endParaRPr lang="en-US" sz="1100"/>
                    </a:p>
                    <a:p>
                      <a:pPr algn="ctr">
                        <a:lnSpc>
                          <a:spcPts val="2239"/>
                        </a:lnSpc>
                      </a:pPr>
                      <a:r>
                        <a:rPr lang="en-US" sz="1599" b="1">
                          <a:solidFill>
                            <a:srgbClr val="000000"/>
                          </a:solidFill>
                          <a:latin typeface="Arimo Bold"/>
                          <a:ea typeface="Arimo Bold"/>
                          <a:cs typeface="Arimo Bold"/>
                          <a:sym typeface="Arimo Bold"/>
                        </a:rPr>
                        <a:t>IT22295460</a:t>
                      </a:r>
                    </a:p>
                    <a:p>
                      <a:pPr algn="ctr">
                        <a:lnSpc>
                          <a:spcPts val="2240"/>
                        </a:lnSpc>
                      </a:pPr>
                      <a:endParaRPr lang="en-US" sz="1599" b="1">
                        <a:solidFill>
                          <a:srgbClr val="000000"/>
                        </a:solidFill>
                        <a:latin typeface="Arimo Bold"/>
                        <a:ea typeface="Arimo Bold"/>
                        <a:cs typeface="Arimo Bold"/>
                        <a:sym typeface="Arimo Bold"/>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tc>
                  <a:txBody>
                    <a:bodyPr/>
                    <a:lstStyle/>
                    <a:p>
                      <a:pPr marL="345439" lvl="1" indent="-172720" algn="l">
                        <a:lnSpc>
                          <a:spcPts val="2239"/>
                        </a:lnSpc>
                        <a:buFont typeface="Arial"/>
                        <a:buChar char="•"/>
                        <a:defRPr/>
                      </a:pPr>
                      <a:r>
                        <a:rPr lang="en-US" sz="1599" b="1">
                          <a:solidFill>
                            <a:srgbClr val="000000"/>
                          </a:solidFill>
                          <a:latin typeface="Arimo Bold"/>
                          <a:ea typeface="Arimo Bold"/>
                          <a:cs typeface="Arimo Bold"/>
                          <a:sym typeface="Arimo Bold"/>
                        </a:rPr>
                        <a:t>Check with the feasibility of the component</a:t>
                      </a:r>
                      <a:endParaRPr lang="en-US" sz="1100"/>
                    </a:p>
                    <a:p>
                      <a:pPr marL="345439" lvl="1" indent="-172720" algn="l">
                        <a:lnSpc>
                          <a:spcPts val="2239"/>
                        </a:lnSpc>
                        <a:buFont typeface="Arial"/>
                        <a:buChar char="•"/>
                      </a:pPr>
                      <a:r>
                        <a:rPr lang="en-US" sz="1599" b="1">
                          <a:solidFill>
                            <a:srgbClr val="000000"/>
                          </a:solidFill>
                          <a:latin typeface="Arimo Bold"/>
                          <a:ea typeface="Arimo Bold"/>
                          <a:cs typeface="Arimo Bold"/>
                          <a:sym typeface="Arimo Bold"/>
                        </a:rPr>
                        <a:t>Propose to develop an IoT device</a:t>
                      </a:r>
                    </a:p>
                    <a:p>
                      <a:pPr algn="ctr">
                        <a:lnSpc>
                          <a:spcPts val="2240"/>
                        </a:lnSpc>
                      </a:pPr>
                      <a:endParaRPr lang="en-US" sz="1599" b="1">
                        <a:solidFill>
                          <a:srgbClr val="000000"/>
                        </a:solidFill>
                        <a:latin typeface="Arimo Bold"/>
                        <a:ea typeface="Arimo Bold"/>
                        <a:cs typeface="Arimo Bold"/>
                        <a:sym typeface="Arimo Bold"/>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tc>
                  <a:txBody>
                    <a:bodyPr/>
                    <a:lstStyle/>
                    <a:p>
                      <a:pPr marL="345226" lvl="1" indent="-172613" algn="just">
                        <a:lnSpc>
                          <a:spcPts val="2238"/>
                        </a:lnSpc>
                        <a:buFont typeface="Arial"/>
                        <a:buChar char="•"/>
                        <a:defRPr/>
                      </a:pPr>
                      <a:r>
                        <a:rPr lang="en-US" sz="1599" b="1">
                          <a:solidFill>
                            <a:srgbClr val="000000"/>
                          </a:solidFill>
                          <a:latin typeface="Arimo Bold"/>
                          <a:ea typeface="Arimo Bold"/>
                          <a:cs typeface="Arimo Bold"/>
                          <a:sym typeface="Arimo Bold"/>
                        </a:rPr>
                        <a:t>The system incorporates an atmospheric water generation mechanism, where moisture from air is collected and condensed into liquid water, making the overall solution practical for real-world implementation and sustainable water production.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extLst>
                  <a:ext uri="{0D108BD9-81ED-4DB2-BD59-A6C34878D82A}">
                    <a16:rowId xmlns:a16="http://schemas.microsoft.com/office/drawing/2014/main" val="10004"/>
                  </a:ext>
                </a:extLst>
              </a:tr>
            </a:tbl>
          </a:graphicData>
        </a:graphic>
      </p:graphicFrame>
      <p:grpSp>
        <p:nvGrpSpPr>
          <p:cNvPr id="7" name="Group 7"/>
          <p:cNvGrpSpPr/>
          <p:nvPr/>
        </p:nvGrpSpPr>
        <p:grpSpPr>
          <a:xfrm>
            <a:off x="0" y="9551575"/>
            <a:ext cx="3771900" cy="735425"/>
            <a:chOff x="0" y="0"/>
            <a:chExt cx="5029200" cy="980567"/>
          </a:xfrm>
        </p:grpSpPr>
        <p:sp>
          <p:nvSpPr>
            <p:cNvPr id="8" name="Freeform 8"/>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128" b="-128"/>
              </a:stretch>
            </a:blipFill>
          </p:spPr>
          <p:txBody>
            <a:bodyPr/>
            <a:lstStyle/>
            <a:p>
              <a:endParaRPr lang="en-US"/>
            </a:p>
          </p:txBody>
        </p:sp>
      </p:grpSp>
      <p:grpSp>
        <p:nvGrpSpPr>
          <p:cNvPr id="9" name="Group 9"/>
          <p:cNvGrpSpPr/>
          <p:nvPr/>
        </p:nvGrpSpPr>
        <p:grpSpPr>
          <a:xfrm>
            <a:off x="3948655" y="9739312"/>
            <a:ext cx="10224545" cy="547688"/>
            <a:chOff x="0" y="0"/>
            <a:chExt cx="13632726" cy="730250"/>
          </a:xfrm>
        </p:grpSpPr>
        <p:sp>
          <p:nvSpPr>
            <p:cNvPr id="10" name="Freeform 10"/>
            <p:cNvSpPr/>
            <p:nvPr/>
          </p:nvSpPr>
          <p:spPr>
            <a:xfrm>
              <a:off x="0" y="0"/>
              <a:ext cx="13632687" cy="730250"/>
            </a:xfrm>
            <a:custGeom>
              <a:avLst/>
              <a:gdLst/>
              <a:ahLst/>
              <a:cxnLst/>
              <a:rect l="l" t="t" r="r" b="b"/>
              <a:pathLst>
                <a:path w="13632687" h="730250">
                  <a:moveTo>
                    <a:pt x="0" y="0"/>
                  </a:moveTo>
                  <a:lnTo>
                    <a:pt x="13632687" y="0"/>
                  </a:lnTo>
                  <a:lnTo>
                    <a:pt x="13632687" y="730250"/>
                  </a:lnTo>
                  <a:lnTo>
                    <a:pt x="0" y="730250"/>
                  </a:lnTo>
                  <a:close/>
                </a:path>
              </a:pathLst>
            </a:custGeom>
            <a:blipFill>
              <a:blip r:embed="rId6">
                <a:alphaModFix amt="0"/>
              </a:blip>
              <a:stretch>
                <a:fillRect t="-313504" b="-313506"/>
              </a:stretch>
            </a:blipFill>
          </p:spPr>
          <p:txBody>
            <a:bodyPr/>
            <a:lstStyle/>
            <a:p>
              <a:endParaRPr lang="en-US"/>
            </a:p>
          </p:txBody>
        </p:sp>
      </p:grpSp>
      <p:grpSp>
        <p:nvGrpSpPr>
          <p:cNvPr id="11" name="Group 11"/>
          <p:cNvGrpSpPr/>
          <p:nvPr/>
        </p:nvGrpSpPr>
        <p:grpSpPr>
          <a:xfrm>
            <a:off x="3948655" y="9725025"/>
            <a:ext cx="10224545" cy="561975"/>
            <a:chOff x="0" y="0"/>
            <a:chExt cx="13632726" cy="749300"/>
          </a:xfrm>
        </p:grpSpPr>
        <p:sp>
          <p:nvSpPr>
            <p:cNvPr id="12" name="Freeform 12"/>
            <p:cNvSpPr/>
            <p:nvPr/>
          </p:nvSpPr>
          <p:spPr>
            <a:xfrm>
              <a:off x="0" y="0"/>
              <a:ext cx="13632726" cy="749301"/>
            </a:xfrm>
            <a:custGeom>
              <a:avLst/>
              <a:gdLst/>
              <a:ahLst/>
              <a:cxnLst/>
              <a:rect l="l" t="t" r="r" b="b"/>
              <a:pathLst>
                <a:path w="13632726" h="749301">
                  <a:moveTo>
                    <a:pt x="0" y="0"/>
                  </a:moveTo>
                  <a:lnTo>
                    <a:pt x="13632726" y="0"/>
                  </a:lnTo>
                  <a:lnTo>
                    <a:pt x="13632726" y="749301"/>
                  </a:lnTo>
                  <a:lnTo>
                    <a:pt x="0" y="749301"/>
                  </a:lnTo>
                  <a:close/>
                </a:path>
              </a:pathLst>
            </a:custGeom>
            <a:blipFill>
              <a:blip r:embed="rId7">
                <a:alphaModFix amt="0"/>
              </a:blip>
              <a:stretch>
                <a:fillRect t="-304509" b="-304509"/>
              </a:stretch>
            </a:blipFill>
          </p:spPr>
          <p:txBody>
            <a:bodyPr/>
            <a:lstStyle/>
            <a:p>
              <a:endParaRPr lang="en-US"/>
            </a:p>
          </p:txBody>
        </p:sp>
        <p:sp>
          <p:nvSpPr>
            <p:cNvPr id="13" name="TextBox 13"/>
            <p:cNvSpPr txBox="1"/>
            <p:nvPr/>
          </p:nvSpPr>
          <p:spPr>
            <a:xfrm>
              <a:off x="0" y="-19050"/>
              <a:ext cx="13632726" cy="768350"/>
            </a:xfrm>
            <a:prstGeom prst="rect">
              <a:avLst/>
            </a:prstGeom>
          </p:spPr>
          <p:txBody>
            <a:bodyPr lIns="0" tIns="0" rIns="0" bIns="0" rtlCol="0" anchor="ctr"/>
            <a:lstStyle/>
            <a:p>
              <a:pPr algn="ctr">
                <a:lnSpc>
                  <a:spcPts val="3240"/>
                </a:lnSpc>
              </a:pPr>
              <a:r>
                <a:rPr lang="en-US" sz="2700">
                  <a:solidFill>
                    <a:srgbClr val="000000"/>
                  </a:solidFill>
                  <a:latin typeface="Cambria"/>
                  <a:ea typeface="Cambria"/>
                  <a:cs typeface="Cambria"/>
                  <a:sym typeface="Cambria"/>
                </a:rPr>
                <a:t>R26-IT-005</a:t>
              </a:r>
            </a:p>
          </p:txBody>
        </p:sp>
      </p:grpSp>
      <p:sp>
        <p:nvSpPr>
          <p:cNvPr id="14" name="TextBox 14"/>
          <p:cNvSpPr txBox="1"/>
          <p:nvPr/>
        </p:nvSpPr>
        <p:spPr>
          <a:xfrm>
            <a:off x="1029543" y="1066800"/>
            <a:ext cx="16228914" cy="1675130"/>
          </a:xfrm>
          <a:prstGeom prst="rect">
            <a:avLst/>
          </a:prstGeom>
        </p:spPr>
        <p:txBody>
          <a:bodyPr lIns="0" tIns="0" rIns="0" bIns="0" rtlCol="0" anchor="t">
            <a:spAutoFit/>
          </a:bodyPr>
          <a:lstStyle/>
          <a:p>
            <a:pPr algn="ctr">
              <a:lnSpc>
                <a:spcPts val="4180"/>
              </a:lnSpc>
            </a:pPr>
            <a:r>
              <a:rPr lang="en-US" sz="3800" b="1">
                <a:solidFill>
                  <a:srgbClr val="06728A"/>
                </a:solidFill>
                <a:latin typeface="Garet Bold"/>
                <a:ea typeface="Garet Bold"/>
                <a:cs typeface="Garet Bold"/>
                <a:sym typeface="Garet Bold"/>
              </a:rPr>
              <a:t>Comments for the Proposal and how you/team addressed them</a:t>
            </a:r>
          </a:p>
          <a:p>
            <a:pPr algn="ctr">
              <a:lnSpc>
                <a:spcPts val="8800"/>
              </a:lnSpc>
            </a:pPr>
            <a:endParaRPr lang="en-US" sz="3800" b="1">
              <a:solidFill>
                <a:srgbClr val="06728A"/>
              </a:solidFill>
              <a:latin typeface="Garet Bold"/>
              <a:ea typeface="Garet Bold"/>
              <a:cs typeface="Garet Bold"/>
              <a:sym typeface="Garet Bold"/>
            </a:endParaRPr>
          </a:p>
        </p:txBody>
      </p:sp>
      <p:sp>
        <p:nvSpPr>
          <p:cNvPr id="15" name="TextBox 15"/>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sp>
        <p:nvSpPr>
          <p:cNvPr id="16" name="TextBox 16"/>
          <p:cNvSpPr txBox="1"/>
          <p:nvPr/>
        </p:nvSpPr>
        <p:spPr>
          <a:xfrm>
            <a:off x="14591976" y="542277"/>
            <a:ext cx="3195447" cy="269491"/>
          </a:xfrm>
          <a:prstGeom prst="rect">
            <a:avLst/>
          </a:prstGeom>
        </p:spPr>
        <p:txBody>
          <a:bodyPr lIns="0" tIns="0" rIns="0" bIns="0" rtlCol="0" anchor="t">
            <a:spAutoFit/>
          </a:bodyPr>
          <a:lstStyle/>
          <a:p>
            <a:pPr algn="ctr">
              <a:lnSpc>
                <a:spcPts val="2200"/>
              </a:lnSpc>
            </a:pPr>
            <a:r>
              <a:rPr lang="en-US" sz="2000" b="1">
                <a:solidFill>
                  <a:srgbClr val="06728A"/>
                </a:solidFill>
                <a:latin typeface="Garet Bold"/>
                <a:ea typeface="Garet Bold"/>
                <a:cs typeface="Garet Bold"/>
                <a:sym typeface="Garet Bold"/>
              </a:rPr>
              <a:t>WATER PURIFICATION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grpSp>
        <p:nvGrpSpPr>
          <p:cNvPr id="4" name="Group 4"/>
          <p:cNvGrpSpPr/>
          <p:nvPr/>
        </p:nvGrpSpPr>
        <p:grpSpPr>
          <a:xfrm rot="9551400">
            <a:off x="16020509" y="272414"/>
            <a:ext cx="3982803" cy="5390340"/>
            <a:chOff x="0" y="0"/>
            <a:chExt cx="5310403" cy="7187120"/>
          </a:xfrm>
        </p:grpSpPr>
        <p:sp>
          <p:nvSpPr>
            <p:cNvPr id="5" name="Freeform 5"/>
            <p:cNvSpPr/>
            <p:nvPr/>
          </p:nvSpPr>
          <p:spPr>
            <a:xfrm flipH="1">
              <a:off x="0" y="0"/>
              <a:ext cx="5310378" cy="7187057"/>
            </a:xfrm>
            <a:custGeom>
              <a:avLst/>
              <a:gdLst/>
              <a:ahLst/>
              <a:cxnLst/>
              <a:rect l="l" t="t" r="r" b="b"/>
              <a:pathLst>
                <a:path w="5310378" h="7187057">
                  <a:moveTo>
                    <a:pt x="5310378" y="0"/>
                  </a:moveTo>
                  <a:lnTo>
                    <a:pt x="0" y="0"/>
                  </a:lnTo>
                  <a:lnTo>
                    <a:pt x="0" y="7187057"/>
                  </a:lnTo>
                  <a:lnTo>
                    <a:pt x="5310378" y="7187057"/>
                  </a:lnTo>
                  <a:lnTo>
                    <a:pt x="5310378" y="0"/>
                  </a:lnTo>
                  <a:close/>
                </a:path>
              </a:pathLst>
            </a:custGeom>
            <a:blipFill>
              <a:blip r:embed="rId3"/>
              <a:stretch>
                <a:fillRect t="-914" b="-915"/>
              </a:stretch>
            </a:blipFill>
          </p:spPr>
          <p:txBody>
            <a:bodyPr/>
            <a:lstStyle/>
            <a:p>
              <a:endParaRPr lang="en-US"/>
            </a:p>
          </p:txBody>
        </p:sp>
      </p:grpSp>
      <p:grpSp>
        <p:nvGrpSpPr>
          <p:cNvPr id="6" name="Group 6"/>
          <p:cNvGrpSpPr/>
          <p:nvPr/>
        </p:nvGrpSpPr>
        <p:grpSpPr>
          <a:xfrm>
            <a:off x="3948655" y="9739312"/>
            <a:ext cx="10224545" cy="547688"/>
            <a:chOff x="0" y="0"/>
            <a:chExt cx="13632726" cy="730250"/>
          </a:xfrm>
        </p:grpSpPr>
        <p:sp>
          <p:nvSpPr>
            <p:cNvPr id="7" name="Freeform 7"/>
            <p:cNvSpPr/>
            <p:nvPr/>
          </p:nvSpPr>
          <p:spPr>
            <a:xfrm>
              <a:off x="0" y="0"/>
              <a:ext cx="13632687" cy="730250"/>
            </a:xfrm>
            <a:custGeom>
              <a:avLst/>
              <a:gdLst/>
              <a:ahLst/>
              <a:cxnLst/>
              <a:rect l="l" t="t" r="r" b="b"/>
              <a:pathLst>
                <a:path w="13632687" h="730250">
                  <a:moveTo>
                    <a:pt x="0" y="0"/>
                  </a:moveTo>
                  <a:lnTo>
                    <a:pt x="13632687" y="0"/>
                  </a:lnTo>
                  <a:lnTo>
                    <a:pt x="13632687" y="730250"/>
                  </a:lnTo>
                  <a:lnTo>
                    <a:pt x="0" y="730250"/>
                  </a:lnTo>
                  <a:close/>
                </a:path>
              </a:pathLst>
            </a:custGeom>
            <a:blipFill>
              <a:blip r:embed="rId4">
                <a:alphaModFix amt="0"/>
              </a:blip>
              <a:stretch>
                <a:fillRect t="-313504" b="-313506"/>
              </a:stretch>
            </a:blipFill>
          </p:spPr>
          <p:txBody>
            <a:bodyPr/>
            <a:lstStyle/>
            <a:p>
              <a:endParaRPr lang="en-US"/>
            </a:p>
          </p:txBody>
        </p:sp>
      </p:grpSp>
      <p:grpSp>
        <p:nvGrpSpPr>
          <p:cNvPr id="8" name="Group 8"/>
          <p:cNvGrpSpPr/>
          <p:nvPr/>
        </p:nvGrpSpPr>
        <p:grpSpPr>
          <a:xfrm>
            <a:off x="3948655" y="9725025"/>
            <a:ext cx="10224545" cy="561975"/>
            <a:chOff x="0" y="0"/>
            <a:chExt cx="13632726" cy="749300"/>
          </a:xfrm>
        </p:grpSpPr>
        <p:sp>
          <p:nvSpPr>
            <p:cNvPr id="9" name="Freeform 9"/>
            <p:cNvSpPr/>
            <p:nvPr/>
          </p:nvSpPr>
          <p:spPr>
            <a:xfrm>
              <a:off x="0" y="0"/>
              <a:ext cx="13632726" cy="749301"/>
            </a:xfrm>
            <a:custGeom>
              <a:avLst/>
              <a:gdLst/>
              <a:ahLst/>
              <a:cxnLst/>
              <a:rect l="l" t="t" r="r" b="b"/>
              <a:pathLst>
                <a:path w="13632726" h="749301">
                  <a:moveTo>
                    <a:pt x="0" y="0"/>
                  </a:moveTo>
                  <a:lnTo>
                    <a:pt x="13632726" y="0"/>
                  </a:lnTo>
                  <a:lnTo>
                    <a:pt x="13632726" y="749301"/>
                  </a:lnTo>
                  <a:lnTo>
                    <a:pt x="0" y="749301"/>
                  </a:lnTo>
                  <a:close/>
                </a:path>
              </a:pathLst>
            </a:custGeom>
            <a:blipFill>
              <a:blip r:embed="rId5">
                <a:alphaModFix amt="0"/>
              </a:blip>
              <a:stretch>
                <a:fillRect t="-304509" b="-304509"/>
              </a:stretch>
            </a:blipFill>
          </p:spPr>
          <p:txBody>
            <a:bodyPr/>
            <a:lstStyle/>
            <a:p>
              <a:endParaRPr lang="en-US"/>
            </a:p>
          </p:txBody>
        </p:sp>
        <p:sp>
          <p:nvSpPr>
            <p:cNvPr id="10" name="TextBox 10"/>
            <p:cNvSpPr txBox="1"/>
            <p:nvPr/>
          </p:nvSpPr>
          <p:spPr>
            <a:xfrm>
              <a:off x="0" y="-19050"/>
              <a:ext cx="13632726" cy="768350"/>
            </a:xfrm>
            <a:prstGeom prst="rect">
              <a:avLst/>
            </a:prstGeom>
          </p:spPr>
          <p:txBody>
            <a:bodyPr lIns="0" tIns="0" rIns="0" bIns="0" rtlCol="0" anchor="ctr"/>
            <a:lstStyle/>
            <a:p>
              <a:pPr algn="ctr">
                <a:lnSpc>
                  <a:spcPts val="3240"/>
                </a:lnSpc>
              </a:pPr>
              <a:r>
                <a:rPr lang="en-US" sz="2700">
                  <a:solidFill>
                    <a:srgbClr val="000000"/>
                  </a:solidFill>
                  <a:latin typeface="Cambria"/>
                  <a:ea typeface="Cambria"/>
                  <a:cs typeface="Cambria"/>
                  <a:sym typeface="Cambria"/>
                </a:rPr>
                <a:t>R26-IT-005</a:t>
              </a:r>
            </a:p>
          </p:txBody>
        </p:sp>
      </p:grpSp>
      <p:grpSp>
        <p:nvGrpSpPr>
          <p:cNvPr id="11" name="Group 11"/>
          <p:cNvGrpSpPr/>
          <p:nvPr/>
        </p:nvGrpSpPr>
        <p:grpSpPr>
          <a:xfrm>
            <a:off x="0" y="9559957"/>
            <a:ext cx="3771900" cy="735425"/>
            <a:chOff x="0" y="0"/>
            <a:chExt cx="5029200" cy="980567"/>
          </a:xfrm>
        </p:grpSpPr>
        <p:sp>
          <p:nvSpPr>
            <p:cNvPr id="12" name="Freeform 12"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6"/>
              <a:stretch>
                <a:fillRect t="-94249" b="-94249"/>
              </a:stretch>
            </a:blipFill>
          </p:spPr>
          <p:txBody>
            <a:bodyPr/>
            <a:lstStyle/>
            <a:p>
              <a:endParaRPr lang="en-US"/>
            </a:p>
          </p:txBody>
        </p:sp>
      </p:grpSp>
      <p:sp>
        <p:nvSpPr>
          <p:cNvPr id="13" name="TextBox 13"/>
          <p:cNvSpPr txBox="1"/>
          <p:nvPr/>
        </p:nvSpPr>
        <p:spPr>
          <a:xfrm>
            <a:off x="3362659" y="6328258"/>
            <a:ext cx="11562681" cy="2930042"/>
          </a:xfrm>
          <a:prstGeom prst="rect">
            <a:avLst/>
          </a:prstGeom>
        </p:spPr>
        <p:txBody>
          <a:bodyPr lIns="0" tIns="0" rIns="0" bIns="0" rtlCol="0" anchor="t">
            <a:spAutoFit/>
          </a:bodyPr>
          <a:lstStyle/>
          <a:p>
            <a:pPr algn="just">
              <a:lnSpc>
                <a:spcPts val="3357"/>
              </a:lnSpc>
            </a:pPr>
            <a:r>
              <a:rPr lang="en-US" sz="2400" b="1">
                <a:solidFill>
                  <a:srgbClr val="06728A"/>
                </a:solidFill>
                <a:latin typeface="Arimo Bold"/>
                <a:ea typeface="Arimo Bold"/>
                <a:cs typeface="Arimo Bold"/>
                <a:sym typeface="Arimo Bold"/>
              </a:rPr>
              <a:t>DESIGN EXCELLENCE </a:t>
            </a:r>
          </a:p>
          <a:p>
            <a:pPr marL="518160" lvl="1" indent="-259080" algn="l">
              <a:lnSpc>
                <a:spcPts val="3357"/>
              </a:lnSpc>
              <a:buFont typeface="Arial"/>
              <a:buChar char="•"/>
            </a:pPr>
            <a:r>
              <a:rPr lang="en-US" sz="2400" b="1">
                <a:solidFill>
                  <a:srgbClr val="1B3957"/>
                </a:solidFill>
                <a:latin typeface="Arimo Bold"/>
                <a:ea typeface="Arimo Bold"/>
                <a:cs typeface="Arimo Bold"/>
                <a:sym typeface="Arimo Bold"/>
              </a:rPr>
              <a:t>The proposed system integrates IoT sensors, machine learning, automated purification, alkaline optimization, and real-time monitoring into a unified smart water ecosystem. </a:t>
            </a:r>
          </a:p>
          <a:p>
            <a:pPr marL="518160" lvl="1" indent="-259080" algn="l">
              <a:lnSpc>
                <a:spcPts val="3359"/>
              </a:lnSpc>
              <a:buFont typeface="Arial"/>
              <a:buChar char="•"/>
            </a:pPr>
            <a:r>
              <a:rPr lang="en-US" sz="2400" b="1">
                <a:solidFill>
                  <a:srgbClr val="1B3957"/>
                </a:solidFill>
                <a:latin typeface="Arimo Bold"/>
                <a:ea typeface="Arimo Bold"/>
                <a:cs typeface="Arimo Bold"/>
                <a:sym typeface="Arimo Bold"/>
              </a:rPr>
              <a:t>The system improves water quality analysis, reduces manual intervention, enhances purification efficiency, and provides intelligent decision-making based on live sensor readings.</a:t>
            </a:r>
          </a:p>
        </p:txBody>
      </p:sp>
      <p:grpSp>
        <p:nvGrpSpPr>
          <p:cNvPr id="14" name="Group 14"/>
          <p:cNvGrpSpPr/>
          <p:nvPr/>
        </p:nvGrpSpPr>
        <p:grpSpPr>
          <a:xfrm>
            <a:off x="0" y="9551575"/>
            <a:ext cx="3771900" cy="735425"/>
            <a:chOff x="0" y="0"/>
            <a:chExt cx="5029200" cy="980567"/>
          </a:xfrm>
        </p:grpSpPr>
        <p:sp>
          <p:nvSpPr>
            <p:cNvPr id="15" name="Freeform 15"/>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7"/>
              <a:stretch>
                <a:fillRect t="-128" b="-128"/>
              </a:stretch>
            </a:blipFill>
          </p:spPr>
          <p:txBody>
            <a:bodyPr/>
            <a:lstStyle/>
            <a:p>
              <a:endParaRPr lang="en-US"/>
            </a:p>
          </p:txBody>
        </p:sp>
      </p:grpSp>
      <p:grpSp>
        <p:nvGrpSpPr>
          <p:cNvPr id="16" name="Group 16"/>
          <p:cNvGrpSpPr/>
          <p:nvPr/>
        </p:nvGrpSpPr>
        <p:grpSpPr>
          <a:xfrm>
            <a:off x="7982615" y="3600450"/>
            <a:ext cx="1543050" cy="1543050"/>
            <a:chOff x="0" y="0"/>
            <a:chExt cx="812800" cy="812800"/>
          </a:xfrm>
        </p:grpSpPr>
        <p:sp>
          <p:nvSpPr>
            <p:cNvPr id="17" name="Freeform 17"/>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6728A"/>
            </a:solidFill>
          </p:spPr>
          <p:txBody>
            <a:bodyPr/>
            <a:lstStyle/>
            <a:p>
              <a:endParaRPr lang="en-US"/>
            </a:p>
          </p:txBody>
        </p:sp>
        <p:sp>
          <p:nvSpPr>
            <p:cNvPr id="18" name="TextBox 18"/>
            <p:cNvSpPr txBox="1"/>
            <p:nvPr/>
          </p:nvSpPr>
          <p:spPr>
            <a:xfrm>
              <a:off x="0" y="193675"/>
              <a:ext cx="711200" cy="415925"/>
            </a:xfrm>
            <a:prstGeom prst="rect">
              <a:avLst/>
            </a:prstGeom>
          </p:spPr>
          <p:txBody>
            <a:bodyPr lIns="50800" tIns="50800" rIns="50800" bIns="50800" rtlCol="0" anchor="ctr"/>
            <a:lstStyle/>
            <a:p>
              <a:pPr algn="ctr">
                <a:lnSpc>
                  <a:spcPts val="2160"/>
                </a:lnSpc>
              </a:pPr>
              <a:endParaRPr/>
            </a:p>
          </p:txBody>
        </p:sp>
      </p:grpSp>
      <p:sp>
        <p:nvSpPr>
          <p:cNvPr id="19" name="TextBox 19"/>
          <p:cNvSpPr txBox="1"/>
          <p:nvPr/>
        </p:nvSpPr>
        <p:spPr>
          <a:xfrm>
            <a:off x="1028700" y="878443"/>
            <a:ext cx="11700281" cy="993927"/>
          </a:xfrm>
          <a:prstGeom prst="rect">
            <a:avLst/>
          </a:prstGeom>
        </p:spPr>
        <p:txBody>
          <a:bodyPr lIns="0" tIns="0" rIns="0" bIns="0" rtlCol="0" anchor="t">
            <a:spAutoFit/>
          </a:bodyPr>
          <a:lstStyle/>
          <a:p>
            <a:pPr algn="ctr">
              <a:lnSpc>
                <a:spcPts val="7712"/>
              </a:lnSpc>
            </a:pPr>
            <a:r>
              <a:rPr lang="en-US" sz="7011" b="1">
                <a:solidFill>
                  <a:srgbClr val="06728A"/>
                </a:solidFill>
                <a:latin typeface="Garet Bold"/>
                <a:ea typeface="Garet Bold"/>
                <a:cs typeface="Garet Bold"/>
                <a:sym typeface="Garet Bold"/>
              </a:rPr>
              <a:t>WATER PURIFICATION </a:t>
            </a:r>
          </a:p>
        </p:txBody>
      </p:sp>
      <p:sp>
        <p:nvSpPr>
          <p:cNvPr id="20" name="TextBox 20"/>
          <p:cNvSpPr txBox="1"/>
          <p:nvPr/>
        </p:nvSpPr>
        <p:spPr>
          <a:xfrm>
            <a:off x="594818" y="2426174"/>
            <a:ext cx="6973147" cy="3768242"/>
          </a:xfrm>
          <a:prstGeom prst="rect">
            <a:avLst/>
          </a:prstGeom>
        </p:spPr>
        <p:txBody>
          <a:bodyPr lIns="0" tIns="0" rIns="0" bIns="0" rtlCol="0" anchor="t">
            <a:spAutoFit/>
          </a:bodyPr>
          <a:lstStyle/>
          <a:p>
            <a:pPr algn="just">
              <a:lnSpc>
                <a:spcPts val="3357"/>
              </a:lnSpc>
            </a:pPr>
            <a:r>
              <a:rPr lang="en-US" sz="2400" b="1">
                <a:solidFill>
                  <a:srgbClr val="06728A"/>
                </a:solidFill>
                <a:latin typeface="Arimo Bold"/>
                <a:ea typeface="Arimo Bold"/>
                <a:cs typeface="Arimo Bold"/>
                <a:sym typeface="Arimo Bold"/>
              </a:rPr>
              <a:t>PROBLEM</a:t>
            </a:r>
            <a:r>
              <a:rPr lang="en-US" sz="2400" b="1">
                <a:solidFill>
                  <a:srgbClr val="1B3957"/>
                </a:solidFill>
                <a:latin typeface="Arimo Bold"/>
                <a:ea typeface="Arimo Bold"/>
                <a:cs typeface="Arimo Bold"/>
                <a:sym typeface="Arimo Bold"/>
              </a:rPr>
              <a:t/>
            </a:r>
          </a:p>
          <a:p>
            <a:pPr marL="518160" lvl="1" indent="-259080" algn="just">
              <a:lnSpc>
                <a:spcPts val="3359"/>
              </a:lnSpc>
              <a:buFont typeface="Arial"/>
              <a:buChar char="•"/>
            </a:pPr>
            <a:r>
              <a:rPr lang="en-US" sz="2400" b="1">
                <a:solidFill>
                  <a:srgbClr val="1B3957"/>
                </a:solidFill>
                <a:latin typeface="Arimo Bold"/>
                <a:ea typeface="Arimo Bold"/>
                <a:cs typeface="Arimo Bold"/>
                <a:sym typeface="Arimo Bold"/>
              </a:rPr>
              <a:t>Traditional water purification and monitoring methods rely on manual testing, fixed purification settings, and separate monitoring systems. Existing systems cannot intelligently identify different water types or automatically optimize purification and mineral balancing based on real-time sensor data.</a:t>
            </a:r>
          </a:p>
        </p:txBody>
      </p:sp>
      <p:sp>
        <p:nvSpPr>
          <p:cNvPr id="21" name="TextBox 21"/>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sp>
        <p:nvSpPr>
          <p:cNvPr id="22" name="TextBox 22"/>
          <p:cNvSpPr txBox="1"/>
          <p:nvPr/>
        </p:nvSpPr>
        <p:spPr>
          <a:xfrm>
            <a:off x="14591976" y="542277"/>
            <a:ext cx="3195447" cy="269491"/>
          </a:xfrm>
          <a:prstGeom prst="rect">
            <a:avLst/>
          </a:prstGeom>
        </p:spPr>
        <p:txBody>
          <a:bodyPr lIns="0" tIns="0" rIns="0" bIns="0" rtlCol="0" anchor="t">
            <a:spAutoFit/>
          </a:bodyPr>
          <a:lstStyle/>
          <a:p>
            <a:pPr algn="ctr">
              <a:lnSpc>
                <a:spcPts val="2200"/>
              </a:lnSpc>
            </a:pPr>
            <a:r>
              <a:rPr lang="en-US" sz="2000" b="1">
                <a:solidFill>
                  <a:srgbClr val="06728A"/>
                </a:solidFill>
                <a:latin typeface="Garet Bold"/>
                <a:ea typeface="Garet Bold"/>
                <a:cs typeface="Garet Bold"/>
                <a:sym typeface="Garet Bold"/>
              </a:rPr>
              <a:t>WATER PURIFICATION </a:t>
            </a:r>
          </a:p>
        </p:txBody>
      </p:sp>
      <p:sp>
        <p:nvSpPr>
          <p:cNvPr id="23" name="TextBox 23"/>
          <p:cNvSpPr txBox="1"/>
          <p:nvPr/>
        </p:nvSpPr>
        <p:spPr>
          <a:xfrm>
            <a:off x="9525665" y="2426174"/>
            <a:ext cx="7114844" cy="3450625"/>
          </a:xfrm>
          <a:prstGeom prst="rect">
            <a:avLst/>
          </a:prstGeom>
        </p:spPr>
        <p:txBody>
          <a:bodyPr lIns="0" tIns="0" rIns="0" bIns="0" rtlCol="0" anchor="t">
            <a:spAutoFit/>
          </a:bodyPr>
          <a:lstStyle/>
          <a:p>
            <a:pPr algn="just">
              <a:lnSpc>
                <a:spcPts val="3425"/>
              </a:lnSpc>
            </a:pPr>
            <a:r>
              <a:rPr lang="en-US" sz="2448" b="1" dirty="0">
                <a:solidFill>
                  <a:srgbClr val="06728A"/>
                </a:solidFill>
                <a:latin typeface="Arimo Bold"/>
                <a:ea typeface="Arimo Bold"/>
                <a:cs typeface="Arimo Bold"/>
                <a:sym typeface="Arimo Bold"/>
              </a:rPr>
              <a:t>IMPACT</a:t>
            </a:r>
          </a:p>
          <a:p>
            <a:pPr marL="528689" lvl="1" indent="-264345" algn="just">
              <a:lnSpc>
                <a:spcPts val="3428"/>
              </a:lnSpc>
              <a:buFont typeface="Arial"/>
              <a:buChar char="•"/>
            </a:pPr>
            <a:r>
              <a:rPr lang="en-US" sz="2448" b="1" dirty="0">
                <a:solidFill>
                  <a:srgbClr val="1B3957"/>
                </a:solidFill>
                <a:latin typeface="Arimo Bold"/>
                <a:ea typeface="Arimo Bold"/>
                <a:cs typeface="Arimo Bold"/>
                <a:sym typeface="Arimo Bold"/>
              </a:rPr>
              <a:t>Develop an ai and </a:t>
            </a:r>
            <a:r>
              <a:rPr lang="en-US" sz="2448" b="1" dirty="0" err="1">
                <a:solidFill>
                  <a:srgbClr val="1B3957"/>
                </a:solidFill>
                <a:latin typeface="Arimo Bold"/>
                <a:ea typeface="Arimo Bold"/>
                <a:cs typeface="Arimo Bold"/>
                <a:sym typeface="Arimo Bold"/>
              </a:rPr>
              <a:t>iot</a:t>
            </a:r>
            <a:r>
              <a:rPr lang="en-US" sz="2448" b="1" dirty="0">
                <a:solidFill>
                  <a:srgbClr val="1B3957"/>
                </a:solidFill>
                <a:latin typeface="Arimo Bold"/>
                <a:ea typeface="Arimo Bold"/>
                <a:cs typeface="Arimo Bold"/>
                <a:sym typeface="Arimo Bold"/>
              </a:rPr>
              <a:t>-based smart water management system capable of automatically identifying water types using multi-sensor data, optimizing purification processes, monitoring water quality in real time, and supporting intelligent mineral balancing and alkaline water adjustment.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sp>
        <p:nvSpPr>
          <p:cNvPr id="4" name="Freeform 4"/>
          <p:cNvSpPr/>
          <p:nvPr/>
        </p:nvSpPr>
        <p:spPr>
          <a:xfrm rot="577740">
            <a:off x="1065971" y="2839431"/>
            <a:ext cx="486623" cy="486623"/>
          </a:xfrm>
          <a:custGeom>
            <a:avLst/>
            <a:gdLst/>
            <a:ahLst/>
            <a:cxnLst/>
            <a:rect l="l" t="t" r="r" b="b"/>
            <a:pathLst>
              <a:path w="486623" h="486623">
                <a:moveTo>
                  <a:pt x="0" y="0"/>
                </a:moveTo>
                <a:lnTo>
                  <a:pt x="486623" y="0"/>
                </a:lnTo>
                <a:lnTo>
                  <a:pt x="486623" y="486623"/>
                </a:lnTo>
                <a:lnTo>
                  <a:pt x="0" y="486623"/>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557640">
            <a:off x="16175422" y="1675371"/>
            <a:ext cx="486623" cy="486623"/>
          </a:xfrm>
          <a:custGeom>
            <a:avLst/>
            <a:gdLst/>
            <a:ahLst/>
            <a:cxnLst/>
            <a:rect l="l" t="t" r="r" b="b"/>
            <a:pathLst>
              <a:path w="486623" h="486623">
                <a:moveTo>
                  <a:pt x="0" y="0"/>
                </a:moveTo>
                <a:lnTo>
                  <a:pt x="486622" y="0"/>
                </a:lnTo>
                <a:lnTo>
                  <a:pt x="486622" y="486623"/>
                </a:lnTo>
                <a:lnTo>
                  <a:pt x="0" y="486623"/>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rot="248760">
            <a:off x="16755723" y="8524989"/>
            <a:ext cx="486623" cy="486623"/>
          </a:xfrm>
          <a:custGeom>
            <a:avLst/>
            <a:gdLst/>
            <a:ahLst/>
            <a:cxnLst/>
            <a:rect l="l" t="t" r="r" b="b"/>
            <a:pathLst>
              <a:path w="486623" h="486623">
                <a:moveTo>
                  <a:pt x="0" y="0"/>
                </a:moveTo>
                <a:lnTo>
                  <a:pt x="486623" y="0"/>
                </a:lnTo>
                <a:lnTo>
                  <a:pt x="486623" y="486623"/>
                </a:lnTo>
                <a:lnTo>
                  <a:pt x="0" y="486623"/>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0" y="9559957"/>
            <a:ext cx="3771900" cy="735425"/>
            <a:chOff x="0" y="0"/>
            <a:chExt cx="5029200" cy="980567"/>
          </a:xfrm>
        </p:grpSpPr>
        <p:sp>
          <p:nvSpPr>
            <p:cNvPr id="8" name="Freeform 8"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4249" b="-94249"/>
              </a:stretch>
            </a:blipFill>
          </p:spPr>
          <p:txBody>
            <a:bodyPr/>
            <a:lstStyle/>
            <a:p>
              <a:endParaRPr lang="en-US"/>
            </a:p>
          </p:txBody>
        </p:sp>
      </p:grpSp>
      <p:grpSp>
        <p:nvGrpSpPr>
          <p:cNvPr id="9" name="Group 9"/>
          <p:cNvGrpSpPr/>
          <p:nvPr/>
        </p:nvGrpSpPr>
        <p:grpSpPr>
          <a:xfrm>
            <a:off x="15447397" y="0"/>
            <a:ext cx="2840603" cy="4645400"/>
            <a:chOff x="0" y="0"/>
            <a:chExt cx="3787470" cy="6193866"/>
          </a:xfrm>
        </p:grpSpPr>
        <p:sp>
          <p:nvSpPr>
            <p:cNvPr id="10" name="Freeform 10"/>
            <p:cNvSpPr/>
            <p:nvPr/>
          </p:nvSpPr>
          <p:spPr>
            <a:xfrm>
              <a:off x="0" y="0"/>
              <a:ext cx="3787521" cy="6193917"/>
            </a:xfrm>
            <a:custGeom>
              <a:avLst/>
              <a:gdLst/>
              <a:ahLst/>
              <a:cxnLst/>
              <a:rect l="l" t="t" r="r" b="b"/>
              <a:pathLst>
                <a:path w="3787521" h="6193917">
                  <a:moveTo>
                    <a:pt x="0" y="0"/>
                  </a:moveTo>
                  <a:lnTo>
                    <a:pt x="3787521" y="0"/>
                  </a:lnTo>
                  <a:lnTo>
                    <a:pt x="3787521" y="6193917"/>
                  </a:lnTo>
                  <a:lnTo>
                    <a:pt x="0" y="6193917"/>
                  </a:lnTo>
                  <a:lnTo>
                    <a:pt x="0" y="0"/>
                  </a:lnTo>
                  <a:close/>
                </a:path>
              </a:pathLst>
            </a:custGeom>
            <a:blipFill>
              <a:blip r:embed="rId6"/>
              <a:stretch>
                <a:fillRect l="-26" r="-25"/>
              </a:stretch>
            </a:blipFill>
          </p:spPr>
          <p:txBody>
            <a:bodyPr/>
            <a:lstStyle/>
            <a:p>
              <a:endParaRPr lang="en-US"/>
            </a:p>
          </p:txBody>
        </p:sp>
      </p:grpSp>
      <p:sp>
        <p:nvSpPr>
          <p:cNvPr id="11" name="TextBox 11"/>
          <p:cNvSpPr txBox="1"/>
          <p:nvPr/>
        </p:nvSpPr>
        <p:spPr>
          <a:xfrm>
            <a:off x="3594226" y="1057275"/>
            <a:ext cx="10406261" cy="605750"/>
          </a:xfrm>
          <a:prstGeom prst="rect">
            <a:avLst/>
          </a:prstGeom>
        </p:spPr>
        <p:txBody>
          <a:bodyPr lIns="0" tIns="0" rIns="0" bIns="0" rtlCol="0" anchor="t">
            <a:spAutoFit/>
          </a:bodyPr>
          <a:lstStyle/>
          <a:p>
            <a:pPr algn="l">
              <a:lnSpc>
                <a:spcPts val="4620"/>
              </a:lnSpc>
            </a:pPr>
            <a:r>
              <a:rPr lang="en-US" sz="4200" b="1">
                <a:solidFill>
                  <a:srgbClr val="06728A"/>
                </a:solidFill>
                <a:latin typeface="Garet Bold"/>
                <a:ea typeface="Garet Bold"/>
                <a:cs typeface="Garet Bold"/>
                <a:sym typeface="Garet Bold"/>
              </a:rPr>
              <a:t>IT22295460  | W.A.S.P.D. WIJESINGHA </a:t>
            </a:r>
          </a:p>
        </p:txBody>
      </p:sp>
      <p:sp>
        <p:nvSpPr>
          <p:cNvPr id="12" name="TextBox 12"/>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sp>
        <p:nvSpPr>
          <p:cNvPr id="13" name="TextBox 13"/>
          <p:cNvSpPr txBox="1"/>
          <p:nvPr/>
        </p:nvSpPr>
        <p:spPr>
          <a:xfrm>
            <a:off x="2072773" y="3069330"/>
            <a:ext cx="13449167" cy="1576070"/>
          </a:xfrm>
          <a:prstGeom prst="rect">
            <a:avLst/>
          </a:prstGeom>
        </p:spPr>
        <p:txBody>
          <a:bodyPr lIns="0" tIns="0" rIns="0" bIns="0" rtlCol="0" anchor="t">
            <a:spAutoFit/>
          </a:bodyPr>
          <a:lstStyle/>
          <a:p>
            <a:pPr algn="ctr">
              <a:lnSpc>
                <a:spcPts val="6159"/>
              </a:lnSpc>
            </a:pPr>
            <a:r>
              <a:rPr lang="en-US" sz="5599" b="1">
                <a:solidFill>
                  <a:srgbClr val="06728A"/>
                </a:solidFill>
                <a:latin typeface="Garet Bold"/>
                <a:ea typeface="Garet Bold"/>
                <a:cs typeface="Garet Bold"/>
                <a:sym typeface="Garet Bold"/>
              </a:rPr>
              <a:t>ATMOSPHERIC WATER GENERATION </a:t>
            </a:r>
          </a:p>
          <a:p>
            <a:pPr algn="ctr">
              <a:lnSpc>
                <a:spcPts val="6159"/>
              </a:lnSpc>
            </a:pPr>
            <a:r>
              <a:rPr lang="en-US" sz="5599" b="1">
                <a:solidFill>
                  <a:srgbClr val="06728A"/>
                </a:solidFill>
                <a:latin typeface="Garet Bold"/>
                <a:ea typeface="Garet Bold"/>
                <a:cs typeface="Garet Bold"/>
                <a:sym typeface="Garet Bold"/>
              </a:rPr>
              <a:t>(IoT-BASED)</a:t>
            </a:r>
          </a:p>
        </p:txBody>
      </p:sp>
      <p:grpSp>
        <p:nvGrpSpPr>
          <p:cNvPr id="14" name="Group 14"/>
          <p:cNvGrpSpPr/>
          <p:nvPr/>
        </p:nvGrpSpPr>
        <p:grpSpPr>
          <a:xfrm>
            <a:off x="4781845" y="8768305"/>
            <a:ext cx="10224545" cy="1980248"/>
            <a:chOff x="0" y="0"/>
            <a:chExt cx="13632726" cy="2640330"/>
          </a:xfrm>
        </p:grpSpPr>
        <p:sp>
          <p:nvSpPr>
            <p:cNvPr id="15" name="Freeform 15"/>
            <p:cNvSpPr/>
            <p:nvPr/>
          </p:nvSpPr>
          <p:spPr>
            <a:xfrm>
              <a:off x="0" y="0"/>
              <a:ext cx="13632687" cy="2640330"/>
            </a:xfrm>
            <a:custGeom>
              <a:avLst/>
              <a:gdLst/>
              <a:ahLst/>
              <a:cxnLst/>
              <a:rect l="l" t="t" r="r" b="b"/>
              <a:pathLst>
                <a:path w="13632687" h="2640330">
                  <a:moveTo>
                    <a:pt x="0" y="0"/>
                  </a:moveTo>
                  <a:lnTo>
                    <a:pt x="13632687" y="0"/>
                  </a:lnTo>
                  <a:lnTo>
                    <a:pt x="13632687" y="2640330"/>
                  </a:lnTo>
                  <a:lnTo>
                    <a:pt x="0" y="2640330"/>
                  </a:lnTo>
                  <a:close/>
                </a:path>
              </a:pathLst>
            </a:custGeom>
            <a:blipFill>
              <a:blip r:embed="rId7">
                <a:alphaModFix amt="0"/>
              </a:blip>
              <a:stretch>
                <a:fillRect t="-50536" b="-50536"/>
              </a:stretch>
            </a:blipFill>
          </p:spPr>
          <p:txBody>
            <a:bodyPr/>
            <a:lstStyle/>
            <a:p>
              <a:endParaRPr lang="en-US"/>
            </a:p>
          </p:txBody>
        </p:sp>
      </p:grpSp>
      <p:grpSp>
        <p:nvGrpSpPr>
          <p:cNvPr id="16" name="Group 16"/>
          <p:cNvGrpSpPr/>
          <p:nvPr/>
        </p:nvGrpSpPr>
        <p:grpSpPr>
          <a:xfrm>
            <a:off x="4781845" y="8754018"/>
            <a:ext cx="10224545" cy="1994535"/>
            <a:chOff x="0" y="0"/>
            <a:chExt cx="13632726" cy="2659380"/>
          </a:xfrm>
        </p:grpSpPr>
        <p:sp>
          <p:nvSpPr>
            <p:cNvPr id="17" name="Freeform 17"/>
            <p:cNvSpPr/>
            <p:nvPr/>
          </p:nvSpPr>
          <p:spPr>
            <a:xfrm>
              <a:off x="0" y="0"/>
              <a:ext cx="13632726" cy="2659385"/>
            </a:xfrm>
            <a:custGeom>
              <a:avLst/>
              <a:gdLst/>
              <a:ahLst/>
              <a:cxnLst/>
              <a:rect l="l" t="t" r="r" b="b"/>
              <a:pathLst>
                <a:path w="13632726" h="2659385">
                  <a:moveTo>
                    <a:pt x="0" y="0"/>
                  </a:moveTo>
                  <a:lnTo>
                    <a:pt x="13632726" y="0"/>
                  </a:lnTo>
                  <a:lnTo>
                    <a:pt x="13632726" y="2659385"/>
                  </a:lnTo>
                  <a:lnTo>
                    <a:pt x="0" y="2659385"/>
                  </a:lnTo>
                  <a:close/>
                </a:path>
              </a:pathLst>
            </a:custGeom>
            <a:blipFill>
              <a:blip r:embed="rId8">
                <a:alphaModFix amt="0"/>
              </a:blip>
              <a:stretch>
                <a:fillRect t="-49885" b="-49885"/>
              </a:stretch>
            </a:blipFill>
          </p:spPr>
          <p:txBody>
            <a:bodyPr/>
            <a:lstStyle/>
            <a:p>
              <a:endParaRPr lang="en-US"/>
            </a:p>
          </p:txBody>
        </p:sp>
        <p:sp>
          <p:nvSpPr>
            <p:cNvPr id="18" name="TextBox 18"/>
            <p:cNvSpPr txBox="1"/>
            <p:nvPr/>
          </p:nvSpPr>
          <p:spPr>
            <a:xfrm>
              <a:off x="0" y="-19050"/>
              <a:ext cx="13632726" cy="267843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IT22295460</a:t>
              </a:r>
              <a:r>
                <a:rPr lang="en-US" sz="2700">
                  <a:solidFill>
                    <a:srgbClr val="000000"/>
                  </a:solidFill>
                  <a:latin typeface="Cambria"/>
                  <a:ea typeface="Cambria"/>
                  <a:cs typeface="Cambria"/>
                  <a:sym typeface="Cambria"/>
                </a:rPr>
                <a:t>   |   W.A.S.P.D. WIJESINGHA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grpSp>
        <p:nvGrpSpPr>
          <p:cNvPr id="19" name="Group 19"/>
          <p:cNvGrpSpPr/>
          <p:nvPr/>
        </p:nvGrpSpPr>
        <p:grpSpPr>
          <a:xfrm>
            <a:off x="0" y="9559957"/>
            <a:ext cx="3771900" cy="735425"/>
            <a:chOff x="0" y="0"/>
            <a:chExt cx="5029200" cy="980567"/>
          </a:xfrm>
        </p:grpSpPr>
        <p:sp>
          <p:nvSpPr>
            <p:cNvPr id="20" name="Freeform 20"/>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9"/>
              <a:stretch>
                <a:fillRect t="-128" b="-128"/>
              </a:stretch>
            </a:blipFill>
          </p:spPr>
          <p:txBody>
            <a:bodyPr/>
            <a:lstStyle/>
            <a:p>
              <a:endParaRPr lang="en-US"/>
            </a:p>
          </p:txBody>
        </p:sp>
      </p:grpSp>
      <p:sp>
        <p:nvSpPr>
          <p:cNvPr id="21" name="TextBox 21"/>
          <p:cNvSpPr txBox="1"/>
          <p:nvPr/>
        </p:nvSpPr>
        <p:spPr>
          <a:xfrm>
            <a:off x="2419417" y="5602245"/>
            <a:ext cx="13449167" cy="605790"/>
          </a:xfrm>
          <a:prstGeom prst="rect">
            <a:avLst/>
          </a:prstGeom>
        </p:spPr>
        <p:txBody>
          <a:bodyPr lIns="0" tIns="0" rIns="0" bIns="0" rtlCol="0" anchor="t">
            <a:spAutoFit/>
          </a:bodyPr>
          <a:lstStyle/>
          <a:p>
            <a:pPr algn="ctr">
              <a:lnSpc>
                <a:spcPts val="4620"/>
              </a:lnSpc>
            </a:pPr>
            <a:r>
              <a:rPr lang="en-US" sz="4200" b="1">
                <a:solidFill>
                  <a:srgbClr val="06728A"/>
                </a:solidFill>
                <a:latin typeface="Garet Bold"/>
                <a:ea typeface="Garet Bold"/>
                <a:cs typeface="Garet Bold"/>
                <a:sym typeface="Garet Bold"/>
              </a:rPr>
              <a:t> Specialization : Information Technology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grpSp>
        <p:nvGrpSpPr>
          <p:cNvPr id="4" name="Group 4"/>
          <p:cNvGrpSpPr/>
          <p:nvPr/>
        </p:nvGrpSpPr>
        <p:grpSpPr>
          <a:xfrm rot="9551400">
            <a:off x="15235457" y="1087660"/>
            <a:ext cx="3982803" cy="5390340"/>
            <a:chOff x="0" y="0"/>
            <a:chExt cx="5310403" cy="7187120"/>
          </a:xfrm>
        </p:grpSpPr>
        <p:sp>
          <p:nvSpPr>
            <p:cNvPr id="5" name="Freeform 5"/>
            <p:cNvSpPr/>
            <p:nvPr/>
          </p:nvSpPr>
          <p:spPr>
            <a:xfrm flipH="1">
              <a:off x="0" y="0"/>
              <a:ext cx="5310378" cy="7187057"/>
            </a:xfrm>
            <a:custGeom>
              <a:avLst/>
              <a:gdLst/>
              <a:ahLst/>
              <a:cxnLst/>
              <a:rect l="l" t="t" r="r" b="b"/>
              <a:pathLst>
                <a:path w="5310378" h="7187057">
                  <a:moveTo>
                    <a:pt x="5310378" y="0"/>
                  </a:moveTo>
                  <a:lnTo>
                    <a:pt x="0" y="0"/>
                  </a:lnTo>
                  <a:lnTo>
                    <a:pt x="0" y="7187057"/>
                  </a:lnTo>
                  <a:lnTo>
                    <a:pt x="5310378" y="7187057"/>
                  </a:lnTo>
                  <a:lnTo>
                    <a:pt x="5310378" y="0"/>
                  </a:lnTo>
                  <a:close/>
                </a:path>
              </a:pathLst>
            </a:custGeom>
            <a:blipFill>
              <a:blip r:embed="rId3"/>
              <a:stretch>
                <a:fillRect t="-914" b="-915"/>
              </a:stretch>
            </a:blipFill>
          </p:spPr>
          <p:txBody>
            <a:bodyPr/>
            <a:lstStyle/>
            <a:p>
              <a:endParaRPr lang="en-US"/>
            </a:p>
          </p:txBody>
        </p:sp>
      </p:grpSp>
      <p:sp>
        <p:nvSpPr>
          <p:cNvPr id="6" name="TextBox 6"/>
          <p:cNvSpPr txBox="1"/>
          <p:nvPr/>
        </p:nvSpPr>
        <p:spPr>
          <a:xfrm>
            <a:off x="1532387" y="1240298"/>
            <a:ext cx="11283203" cy="128625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How the Solution Addresses the Sub-Problem</a:t>
            </a:r>
          </a:p>
          <a:p>
            <a:pPr algn="l">
              <a:lnSpc>
                <a:spcPts val="6600"/>
              </a:lnSpc>
            </a:pPr>
            <a:endParaRPr lang="en-US" sz="3600" b="1" dirty="0">
              <a:solidFill>
                <a:srgbClr val="06728A"/>
              </a:solidFill>
              <a:latin typeface="Garet Bold"/>
              <a:ea typeface="Garet Bold"/>
              <a:cs typeface="Garet Bold"/>
              <a:sym typeface="Garet Bold"/>
            </a:endParaRPr>
          </a:p>
        </p:txBody>
      </p:sp>
      <p:sp>
        <p:nvSpPr>
          <p:cNvPr id="7" name="TextBox 7"/>
          <p:cNvSpPr txBox="1"/>
          <p:nvPr/>
        </p:nvSpPr>
        <p:spPr>
          <a:xfrm>
            <a:off x="1656812" y="1980328"/>
            <a:ext cx="12709084" cy="2566614"/>
          </a:xfrm>
          <a:prstGeom prst="rect">
            <a:avLst/>
          </a:prstGeom>
        </p:spPr>
        <p:txBody>
          <a:bodyPr lIns="0" tIns="0" rIns="0" bIns="0" rtlCol="0" anchor="t">
            <a:spAutoFit/>
          </a:bodyPr>
          <a:lstStyle/>
          <a:p>
            <a:pPr marL="529174" lvl="1" indent="-264587" algn="l">
              <a:lnSpc>
                <a:spcPts val="3431"/>
              </a:lnSpc>
              <a:buFont typeface="Arial"/>
              <a:buChar char="•"/>
            </a:pPr>
            <a:r>
              <a:rPr lang="en-US" sz="2451" b="1">
                <a:solidFill>
                  <a:srgbClr val="1B3957"/>
                </a:solidFill>
                <a:latin typeface="Arimo Bold"/>
                <a:ea typeface="Arimo Bold"/>
                <a:cs typeface="Arimo Bold"/>
                <a:sym typeface="Arimo Bold"/>
              </a:rPr>
              <a:t>Solves clean water scarcity using moisture from air</a:t>
            </a:r>
          </a:p>
          <a:p>
            <a:pPr marL="529174" lvl="1" indent="-264587" algn="l">
              <a:lnSpc>
                <a:spcPts val="3431"/>
              </a:lnSpc>
              <a:buFont typeface="Arial"/>
              <a:buChar char="•"/>
            </a:pPr>
            <a:r>
              <a:rPr lang="en-US" sz="2451" b="1">
                <a:solidFill>
                  <a:srgbClr val="1B3957"/>
                </a:solidFill>
                <a:latin typeface="Arimo Bold"/>
                <a:ea typeface="Arimo Bold"/>
                <a:cs typeface="Arimo Bold"/>
                <a:sym typeface="Arimo Bold"/>
              </a:rPr>
              <a:t>IoT-based smart atmospheric water generator</a:t>
            </a:r>
          </a:p>
          <a:p>
            <a:pPr marL="529174" lvl="1" indent="-264587" algn="l">
              <a:lnSpc>
                <a:spcPts val="3431"/>
              </a:lnSpc>
              <a:buFont typeface="Arial"/>
              <a:buChar char="•"/>
            </a:pPr>
            <a:r>
              <a:rPr lang="en-US" sz="2451" b="1">
                <a:solidFill>
                  <a:srgbClr val="1B3957"/>
                </a:solidFill>
                <a:latin typeface="Arimo Bold"/>
                <a:ea typeface="Arimo Bold"/>
                <a:cs typeface="Arimo Bold"/>
                <a:sym typeface="Arimo Bold"/>
              </a:rPr>
              <a:t>Optimizes cooling and condensation cycles</a:t>
            </a:r>
          </a:p>
          <a:p>
            <a:pPr marL="529174" lvl="1" indent="-264587" algn="l">
              <a:lnSpc>
                <a:spcPts val="3431"/>
              </a:lnSpc>
              <a:buFont typeface="Arial"/>
              <a:buChar char="•"/>
            </a:pPr>
            <a:r>
              <a:rPr lang="en-US" sz="2451" b="1">
                <a:solidFill>
                  <a:srgbClr val="1B3957"/>
                </a:solidFill>
                <a:latin typeface="Arimo Bold"/>
                <a:ea typeface="Arimo Bold"/>
                <a:cs typeface="Arimo Bold"/>
                <a:sym typeface="Arimo Bold"/>
              </a:rPr>
              <a:t>Supports low-power and energy-efficient operation</a:t>
            </a:r>
          </a:p>
          <a:p>
            <a:pPr marL="529174" lvl="1" indent="-264587" algn="l">
              <a:lnSpc>
                <a:spcPts val="3431"/>
              </a:lnSpc>
              <a:buFont typeface="Arial"/>
              <a:buChar char="•"/>
            </a:pPr>
            <a:r>
              <a:rPr lang="en-US" sz="2451" b="1">
                <a:solidFill>
                  <a:srgbClr val="1B3957"/>
                </a:solidFill>
                <a:latin typeface="Arimo Bold"/>
                <a:ea typeface="Arimo Bold"/>
                <a:cs typeface="Arimo Bold"/>
                <a:sym typeface="Arimo Bold"/>
              </a:rPr>
              <a:t>Enables automated water generation and collection</a:t>
            </a:r>
          </a:p>
          <a:p>
            <a:pPr marL="529174" lvl="1" indent="-264587" algn="l">
              <a:lnSpc>
                <a:spcPts val="3431"/>
              </a:lnSpc>
              <a:buFont typeface="Arial"/>
              <a:buChar char="•"/>
            </a:pPr>
            <a:r>
              <a:rPr lang="en-US" sz="2451" b="1">
                <a:solidFill>
                  <a:srgbClr val="1B3957"/>
                </a:solidFill>
                <a:latin typeface="Arimo Bold"/>
                <a:ea typeface="Arimo Bold"/>
                <a:cs typeface="Arimo Bold"/>
                <a:sym typeface="Arimo Bold"/>
              </a:rPr>
              <a:t>Integrates with purification and AI-based water testing modules</a:t>
            </a:r>
          </a:p>
        </p:txBody>
      </p:sp>
      <p:grpSp>
        <p:nvGrpSpPr>
          <p:cNvPr id="8" name="Group 8"/>
          <p:cNvGrpSpPr/>
          <p:nvPr/>
        </p:nvGrpSpPr>
        <p:grpSpPr>
          <a:xfrm>
            <a:off x="0" y="9559957"/>
            <a:ext cx="3771900" cy="735425"/>
            <a:chOff x="0" y="0"/>
            <a:chExt cx="5029200" cy="980567"/>
          </a:xfrm>
        </p:grpSpPr>
        <p:sp>
          <p:nvSpPr>
            <p:cNvPr id="9" name="Freeform 9"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4249" b="-94249"/>
              </a:stretch>
            </a:blipFill>
          </p:spPr>
          <p:txBody>
            <a:bodyPr/>
            <a:lstStyle/>
            <a:p>
              <a:endParaRPr lang="en-US"/>
            </a:p>
          </p:txBody>
        </p:sp>
      </p:grpSp>
      <p:sp>
        <p:nvSpPr>
          <p:cNvPr id="10" name="TextBox 10"/>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sp>
        <p:nvSpPr>
          <p:cNvPr id="11" name="TextBox 11"/>
          <p:cNvSpPr txBox="1"/>
          <p:nvPr/>
        </p:nvSpPr>
        <p:spPr>
          <a:xfrm>
            <a:off x="1532387" y="4919934"/>
            <a:ext cx="11726413" cy="128625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User Requirements Addressed by the Solution</a:t>
            </a:r>
          </a:p>
          <a:p>
            <a:pPr algn="l">
              <a:lnSpc>
                <a:spcPts val="6600"/>
              </a:lnSpc>
            </a:pPr>
            <a:endParaRPr lang="en-US" sz="3600" b="1" dirty="0">
              <a:solidFill>
                <a:srgbClr val="06728A"/>
              </a:solidFill>
              <a:latin typeface="Garet Bold"/>
              <a:ea typeface="Garet Bold"/>
              <a:cs typeface="Garet Bold"/>
              <a:sym typeface="Garet Bold"/>
            </a:endParaRPr>
          </a:p>
        </p:txBody>
      </p:sp>
      <p:sp>
        <p:nvSpPr>
          <p:cNvPr id="12" name="TextBox 12"/>
          <p:cNvSpPr txBox="1"/>
          <p:nvPr/>
        </p:nvSpPr>
        <p:spPr>
          <a:xfrm>
            <a:off x="1656812" y="5531439"/>
            <a:ext cx="14191669" cy="2995254"/>
          </a:xfrm>
          <a:prstGeom prst="rect">
            <a:avLst/>
          </a:prstGeom>
        </p:spPr>
        <p:txBody>
          <a:bodyPr lIns="0" tIns="0" rIns="0" bIns="0" rtlCol="0" anchor="t">
            <a:spAutoFit/>
          </a:bodyPr>
          <a:lstStyle/>
          <a:p>
            <a:pPr marL="528956" lvl="1" indent="-264478" algn="l">
              <a:lnSpc>
                <a:spcPts val="3430"/>
              </a:lnSpc>
              <a:buFont typeface="Arial"/>
              <a:buChar char="•"/>
            </a:pPr>
            <a:r>
              <a:rPr lang="en-US" sz="2450" b="1">
                <a:solidFill>
                  <a:srgbClr val="1B3957"/>
                </a:solidFill>
                <a:latin typeface="Arimo Bold"/>
                <a:ea typeface="Arimo Bold"/>
                <a:cs typeface="Arimo Bold"/>
                <a:sym typeface="Arimo Bold"/>
              </a:rPr>
              <a:t>Can be use to provide clean water in remote or dry areas</a:t>
            </a:r>
          </a:p>
          <a:p>
            <a:pPr marL="528956" lvl="1" indent="-264478" algn="l">
              <a:lnSpc>
                <a:spcPts val="3430"/>
              </a:lnSpc>
              <a:buFont typeface="Arial"/>
              <a:buChar char="•"/>
            </a:pPr>
            <a:r>
              <a:rPr lang="en-US" sz="2450" b="1">
                <a:solidFill>
                  <a:srgbClr val="1B3957"/>
                </a:solidFill>
                <a:latin typeface="Arimo Bold"/>
                <a:ea typeface="Arimo Bold"/>
                <a:cs typeface="Arimo Bold"/>
                <a:sym typeface="Arimo Bold"/>
              </a:rPr>
              <a:t>Enables real-time monitoring through IoT Supports:</a:t>
            </a:r>
          </a:p>
          <a:p>
            <a:pPr algn="l">
              <a:lnSpc>
                <a:spcPts val="3430"/>
              </a:lnSpc>
            </a:pPr>
            <a:r>
              <a:rPr lang="en-US" sz="2450">
                <a:solidFill>
                  <a:srgbClr val="1B3957"/>
                </a:solidFill>
                <a:latin typeface="Arimo"/>
                <a:ea typeface="Arimo"/>
                <a:cs typeface="Arimo"/>
                <a:sym typeface="Arimo"/>
              </a:rPr>
              <a:t>                     - </a:t>
            </a:r>
            <a:r>
              <a:rPr lang="en-US" sz="2450" b="1">
                <a:solidFill>
                  <a:srgbClr val="1B3957"/>
                </a:solidFill>
                <a:latin typeface="Arimo Bold"/>
                <a:ea typeface="Arimo Bold"/>
                <a:cs typeface="Arimo Bold"/>
                <a:sym typeface="Arimo Bold"/>
              </a:rPr>
              <a:t>Automatic system control</a:t>
            </a:r>
          </a:p>
          <a:p>
            <a:pPr algn="just">
              <a:lnSpc>
                <a:spcPts val="3430"/>
              </a:lnSpc>
            </a:pPr>
            <a:r>
              <a:rPr lang="en-US" sz="2450">
                <a:solidFill>
                  <a:srgbClr val="1B3957"/>
                </a:solidFill>
                <a:latin typeface="Arimo"/>
                <a:ea typeface="Arimo"/>
                <a:cs typeface="Arimo"/>
                <a:sym typeface="Arimo"/>
              </a:rPr>
              <a:t>                     - </a:t>
            </a:r>
            <a:r>
              <a:rPr lang="en-US" sz="2450" b="1">
                <a:solidFill>
                  <a:srgbClr val="1B3957"/>
                </a:solidFill>
                <a:latin typeface="Arimo Bold"/>
                <a:ea typeface="Arimo Bold"/>
                <a:cs typeface="Arimo Bold"/>
                <a:sym typeface="Arimo Bold"/>
              </a:rPr>
              <a:t>Smart energy optimization</a:t>
            </a:r>
          </a:p>
          <a:p>
            <a:pPr algn="just">
              <a:lnSpc>
                <a:spcPts val="3430"/>
              </a:lnSpc>
            </a:pPr>
            <a:r>
              <a:rPr lang="en-US" sz="2450">
                <a:solidFill>
                  <a:srgbClr val="1B3957"/>
                </a:solidFill>
                <a:latin typeface="Arimo"/>
                <a:ea typeface="Arimo"/>
                <a:cs typeface="Arimo"/>
                <a:sym typeface="Arimo"/>
              </a:rPr>
              <a:t>                     - </a:t>
            </a:r>
            <a:r>
              <a:rPr lang="en-US" sz="2450" b="1">
                <a:solidFill>
                  <a:srgbClr val="1B3957"/>
                </a:solidFill>
                <a:latin typeface="Arimo Bold"/>
                <a:ea typeface="Arimo Bold"/>
                <a:cs typeface="Arimo Bold"/>
                <a:sym typeface="Arimo Bold"/>
              </a:rPr>
              <a:t>Reduces dependency on traditional water sources</a:t>
            </a:r>
          </a:p>
          <a:p>
            <a:pPr algn="just">
              <a:lnSpc>
                <a:spcPts val="3430"/>
              </a:lnSpc>
            </a:pPr>
            <a:r>
              <a:rPr lang="en-US" sz="2450">
                <a:solidFill>
                  <a:srgbClr val="1B3957"/>
                </a:solidFill>
                <a:latin typeface="Arimo"/>
                <a:ea typeface="Arimo"/>
                <a:cs typeface="Arimo"/>
                <a:sym typeface="Arimo"/>
              </a:rPr>
              <a:t>                     - </a:t>
            </a:r>
            <a:r>
              <a:rPr lang="en-US" sz="2450" b="1">
                <a:solidFill>
                  <a:srgbClr val="1B3957"/>
                </a:solidFill>
                <a:latin typeface="Arimo Bold"/>
                <a:ea typeface="Arimo Bold"/>
                <a:cs typeface="Arimo Bold"/>
                <a:sym typeface="Arimo Bold"/>
              </a:rPr>
              <a:t>Supports sustainable and smart water generation</a:t>
            </a:r>
          </a:p>
          <a:p>
            <a:pPr algn="just">
              <a:lnSpc>
                <a:spcPts val="3430"/>
              </a:lnSpc>
            </a:pPr>
            <a:r>
              <a:rPr lang="en-US" sz="2450">
                <a:solidFill>
                  <a:srgbClr val="1B3957"/>
                </a:solidFill>
                <a:latin typeface="Arimo"/>
                <a:ea typeface="Arimo"/>
                <a:cs typeface="Arimo"/>
                <a:sym typeface="Arimo"/>
              </a:rPr>
              <a:t>                     - </a:t>
            </a:r>
            <a:r>
              <a:rPr lang="en-US" sz="2450" b="1">
                <a:solidFill>
                  <a:srgbClr val="1B3957"/>
                </a:solidFill>
                <a:latin typeface="Arimo Bold"/>
                <a:ea typeface="Arimo Bold"/>
                <a:cs typeface="Arimo Bold"/>
                <a:sym typeface="Arimo Bold"/>
              </a:rPr>
              <a:t>Easily integrates with the smart water ecosystem</a:t>
            </a:r>
          </a:p>
        </p:txBody>
      </p:sp>
      <p:grpSp>
        <p:nvGrpSpPr>
          <p:cNvPr id="13" name="Group 13"/>
          <p:cNvGrpSpPr/>
          <p:nvPr/>
        </p:nvGrpSpPr>
        <p:grpSpPr>
          <a:xfrm>
            <a:off x="4781845" y="8768305"/>
            <a:ext cx="10224545" cy="1980248"/>
            <a:chOff x="0" y="0"/>
            <a:chExt cx="13632726" cy="2640330"/>
          </a:xfrm>
        </p:grpSpPr>
        <p:sp>
          <p:nvSpPr>
            <p:cNvPr id="14" name="Freeform 14"/>
            <p:cNvSpPr/>
            <p:nvPr/>
          </p:nvSpPr>
          <p:spPr>
            <a:xfrm>
              <a:off x="0" y="0"/>
              <a:ext cx="13632687" cy="2640330"/>
            </a:xfrm>
            <a:custGeom>
              <a:avLst/>
              <a:gdLst/>
              <a:ahLst/>
              <a:cxnLst/>
              <a:rect l="l" t="t" r="r" b="b"/>
              <a:pathLst>
                <a:path w="13632687" h="2640330">
                  <a:moveTo>
                    <a:pt x="0" y="0"/>
                  </a:moveTo>
                  <a:lnTo>
                    <a:pt x="13632687" y="0"/>
                  </a:lnTo>
                  <a:lnTo>
                    <a:pt x="13632687" y="2640330"/>
                  </a:lnTo>
                  <a:lnTo>
                    <a:pt x="0" y="2640330"/>
                  </a:lnTo>
                  <a:close/>
                </a:path>
              </a:pathLst>
            </a:custGeom>
            <a:blipFill>
              <a:blip r:embed="rId5">
                <a:alphaModFix amt="0"/>
              </a:blip>
              <a:stretch>
                <a:fillRect t="-50536" b="-50536"/>
              </a:stretch>
            </a:blipFill>
          </p:spPr>
          <p:txBody>
            <a:bodyPr/>
            <a:lstStyle/>
            <a:p>
              <a:endParaRPr lang="en-US"/>
            </a:p>
          </p:txBody>
        </p:sp>
      </p:grpSp>
      <p:grpSp>
        <p:nvGrpSpPr>
          <p:cNvPr id="15" name="Group 15"/>
          <p:cNvGrpSpPr/>
          <p:nvPr/>
        </p:nvGrpSpPr>
        <p:grpSpPr>
          <a:xfrm>
            <a:off x="4781845" y="8754018"/>
            <a:ext cx="10224545" cy="1994535"/>
            <a:chOff x="0" y="0"/>
            <a:chExt cx="13632726" cy="2659380"/>
          </a:xfrm>
        </p:grpSpPr>
        <p:sp>
          <p:nvSpPr>
            <p:cNvPr id="16" name="Freeform 16"/>
            <p:cNvSpPr/>
            <p:nvPr/>
          </p:nvSpPr>
          <p:spPr>
            <a:xfrm>
              <a:off x="0" y="0"/>
              <a:ext cx="13632726" cy="2659385"/>
            </a:xfrm>
            <a:custGeom>
              <a:avLst/>
              <a:gdLst/>
              <a:ahLst/>
              <a:cxnLst/>
              <a:rect l="l" t="t" r="r" b="b"/>
              <a:pathLst>
                <a:path w="13632726" h="2659385">
                  <a:moveTo>
                    <a:pt x="0" y="0"/>
                  </a:moveTo>
                  <a:lnTo>
                    <a:pt x="13632726" y="0"/>
                  </a:lnTo>
                  <a:lnTo>
                    <a:pt x="13632726" y="2659385"/>
                  </a:lnTo>
                  <a:lnTo>
                    <a:pt x="0" y="2659385"/>
                  </a:lnTo>
                  <a:close/>
                </a:path>
              </a:pathLst>
            </a:custGeom>
            <a:blipFill>
              <a:blip r:embed="rId6">
                <a:alphaModFix amt="0"/>
              </a:blip>
              <a:stretch>
                <a:fillRect t="-49885" b="-49885"/>
              </a:stretch>
            </a:blipFill>
          </p:spPr>
          <p:txBody>
            <a:bodyPr/>
            <a:lstStyle/>
            <a:p>
              <a:endParaRPr lang="en-US"/>
            </a:p>
          </p:txBody>
        </p:sp>
        <p:sp>
          <p:nvSpPr>
            <p:cNvPr id="17" name="TextBox 17"/>
            <p:cNvSpPr txBox="1"/>
            <p:nvPr/>
          </p:nvSpPr>
          <p:spPr>
            <a:xfrm>
              <a:off x="0" y="-19050"/>
              <a:ext cx="13632726" cy="267843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IT22295460</a:t>
              </a:r>
              <a:r>
                <a:rPr lang="en-US" sz="2700">
                  <a:solidFill>
                    <a:srgbClr val="000000"/>
                  </a:solidFill>
                  <a:latin typeface="Cambria"/>
                  <a:ea typeface="Cambria"/>
                  <a:cs typeface="Cambria"/>
                  <a:sym typeface="Cambria"/>
                </a:rPr>
                <a:t>   |   W.A.S.P.D. WIJESINGHA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8" name="TextBox 18"/>
          <p:cNvSpPr txBox="1"/>
          <p:nvPr/>
        </p:nvSpPr>
        <p:spPr>
          <a:xfrm>
            <a:off x="10443791" y="488947"/>
            <a:ext cx="7844209" cy="282575"/>
          </a:xfrm>
          <a:prstGeom prst="rect">
            <a:avLst/>
          </a:prstGeom>
        </p:spPr>
        <p:txBody>
          <a:bodyPr lIns="0" tIns="0" rIns="0" bIns="0" rtlCol="0" anchor="t">
            <a:spAutoFit/>
          </a:bodyPr>
          <a:lstStyle/>
          <a:p>
            <a:pPr algn="ctr">
              <a:lnSpc>
                <a:spcPts val="2200"/>
              </a:lnSpc>
            </a:pPr>
            <a:r>
              <a:rPr lang="en-US" sz="2000" b="1">
                <a:solidFill>
                  <a:srgbClr val="06728A"/>
                </a:solidFill>
                <a:latin typeface="Garet Bold"/>
                <a:ea typeface="Garet Bold"/>
                <a:cs typeface="Garet Bold"/>
                <a:sym typeface="Garet Bold"/>
              </a:rPr>
              <a:t>ATMOSPHERIC WATER GENERATION (IoT-BASED)</a:t>
            </a:r>
          </a:p>
        </p:txBody>
      </p:sp>
      <p:grpSp>
        <p:nvGrpSpPr>
          <p:cNvPr id="19" name="Group 19"/>
          <p:cNvGrpSpPr/>
          <p:nvPr/>
        </p:nvGrpSpPr>
        <p:grpSpPr>
          <a:xfrm>
            <a:off x="0" y="9551575"/>
            <a:ext cx="3771900" cy="735425"/>
            <a:chOff x="0" y="0"/>
            <a:chExt cx="5029200" cy="980567"/>
          </a:xfrm>
        </p:grpSpPr>
        <p:sp>
          <p:nvSpPr>
            <p:cNvPr id="20" name="Freeform 20"/>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7"/>
              <a:stretch>
                <a:fillRect t="-128" b="-128"/>
              </a:stretch>
            </a:blipFill>
          </p:spPr>
          <p:txBody>
            <a:bodyPr/>
            <a:lstStyle/>
            <a:p>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grpSp>
        <p:nvGrpSpPr>
          <p:cNvPr id="4" name="Group 4"/>
          <p:cNvGrpSpPr/>
          <p:nvPr/>
        </p:nvGrpSpPr>
        <p:grpSpPr>
          <a:xfrm rot="9551400">
            <a:off x="15235457" y="1087660"/>
            <a:ext cx="3982803" cy="5390340"/>
            <a:chOff x="0" y="0"/>
            <a:chExt cx="5310403" cy="7187120"/>
          </a:xfrm>
        </p:grpSpPr>
        <p:sp>
          <p:nvSpPr>
            <p:cNvPr id="5" name="Freeform 5"/>
            <p:cNvSpPr/>
            <p:nvPr/>
          </p:nvSpPr>
          <p:spPr>
            <a:xfrm flipH="1">
              <a:off x="0" y="0"/>
              <a:ext cx="5310378" cy="7187057"/>
            </a:xfrm>
            <a:custGeom>
              <a:avLst/>
              <a:gdLst/>
              <a:ahLst/>
              <a:cxnLst/>
              <a:rect l="l" t="t" r="r" b="b"/>
              <a:pathLst>
                <a:path w="5310378" h="7187057">
                  <a:moveTo>
                    <a:pt x="5310378" y="0"/>
                  </a:moveTo>
                  <a:lnTo>
                    <a:pt x="0" y="0"/>
                  </a:lnTo>
                  <a:lnTo>
                    <a:pt x="0" y="7187057"/>
                  </a:lnTo>
                  <a:lnTo>
                    <a:pt x="5310378" y="7187057"/>
                  </a:lnTo>
                  <a:lnTo>
                    <a:pt x="5310378" y="0"/>
                  </a:lnTo>
                  <a:close/>
                </a:path>
              </a:pathLst>
            </a:custGeom>
            <a:blipFill>
              <a:blip r:embed="rId3"/>
              <a:stretch>
                <a:fillRect t="-914" b="-915"/>
              </a:stretch>
            </a:blipFill>
          </p:spPr>
          <p:txBody>
            <a:bodyPr/>
            <a:lstStyle/>
            <a:p>
              <a:endParaRPr lang="en-US"/>
            </a:p>
          </p:txBody>
        </p:sp>
      </p:grpSp>
      <p:sp>
        <p:nvSpPr>
          <p:cNvPr id="6" name="TextBox 6"/>
          <p:cNvSpPr txBox="1"/>
          <p:nvPr/>
        </p:nvSpPr>
        <p:spPr>
          <a:xfrm>
            <a:off x="1274592" y="1260853"/>
            <a:ext cx="8180995" cy="128625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Design Excellence / Contribution</a:t>
            </a:r>
          </a:p>
          <a:p>
            <a:pPr algn="l">
              <a:lnSpc>
                <a:spcPts val="6600"/>
              </a:lnSpc>
            </a:pPr>
            <a:endParaRPr lang="en-US" sz="3600" b="1" dirty="0">
              <a:solidFill>
                <a:srgbClr val="06728A"/>
              </a:solidFill>
              <a:latin typeface="Garet Bold"/>
              <a:ea typeface="Garet Bold"/>
              <a:cs typeface="Garet Bold"/>
              <a:sym typeface="Garet Bold"/>
            </a:endParaRPr>
          </a:p>
        </p:txBody>
      </p:sp>
      <p:sp>
        <p:nvSpPr>
          <p:cNvPr id="7" name="TextBox 7"/>
          <p:cNvSpPr txBox="1"/>
          <p:nvPr/>
        </p:nvSpPr>
        <p:spPr>
          <a:xfrm>
            <a:off x="1028700" y="2148009"/>
            <a:ext cx="14287864" cy="3424116"/>
          </a:xfrm>
          <a:prstGeom prst="rect">
            <a:avLst/>
          </a:prstGeom>
        </p:spPr>
        <p:txBody>
          <a:bodyPr lIns="0" tIns="0" rIns="0" bIns="0" rtlCol="0" anchor="t">
            <a:spAutoFit/>
          </a:bodyPr>
          <a:lstStyle/>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Smart atmospheric water generation approach: IoT-based environmental monitoring,  temperature monitoring, humidity detection, and water level measurement.</a:t>
            </a:r>
          </a:p>
          <a:p>
            <a:pPr algn="just">
              <a:lnSpc>
                <a:spcPts val="3427"/>
              </a:lnSpc>
            </a:pPr>
            <a:endParaRPr lang="en-US" sz="2450" b="1">
              <a:solidFill>
                <a:srgbClr val="1B3957"/>
              </a:solidFill>
              <a:latin typeface="Arimo Bold"/>
              <a:ea typeface="Arimo Bold"/>
              <a:cs typeface="Arimo Bold"/>
              <a:sym typeface="Arimo Bold"/>
            </a:endParaRPr>
          </a:p>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Energy-efficient condensation and cooling control with modular system design for easy integration. </a:t>
            </a:r>
          </a:p>
          <a:p>
            <a:pPr algn="just">
              <a:lnSpc>
                <a:spcPts val="3427"/>
              </a:lnSpc>
            </a:pPr>
            <a:endParaRPr lang="en-US" sz="2450" b="1">
              <a:solidFill>
                <a:srgbClr val="1B3957"/>
              </a:solidFill>
              <a:latin typeface="Arimo Bold"/>
              <a:ea typeface="Arimo Bold"/>
              <a:cs typeface="Arimo Bold"/>
              <a:sym typeface="Arimo Bold"/>
            </a:endParaRPr>
          </a:p>
          <a:p>
            <a:pPr marL="528956" lvl="1" indent="-264478" algn="just">
              <a:lnSpc>
                <a:spcPts val="3429"/>
              </a:lnSpc>
              <a:buFont typeface="Arial"/>
              <a:buChar char="•"/>
            </a:pPr>
            <a:r>
              <a:rPr lang="en-US" sz="2450" b="1">
                <a:solidFill>
                  <a:srgbClr val="1B3957"/>
                </a:solidFill>
                <a:latin typeface="Arimo Bold"/>
                <a:ea typeface="Arimo Bold"/>
                <a:cs typeface="Arimo Bold"/>
                <a:sym typeface="Arimo Bold"/>
              </a:rPr>
              <a:t>Supports integration with water purification modules, AI-based water quality analysis, and smart monitoring dashboards with real-time monitoring and remote access capability.</a:t>
            </a:r>
          </a:p>
        </p:txBody>
      </p:sp>
      <p:grpSp>
        <p:nvGrpSpPr>
          <p:cNvPr id="8" name="Group 8"/>
          <p:cNvGrpSpPr/>
          <p:nvPr/>
        </p:nvGrpSpPr>
        <p:grpSpPr>
          <a:xfrm>
            <a:off x="0" y="9559957"/>
            <a:ext cx="3771900" cy="735425"/>
            <a:chOff x="0" y="0"/>
            <a:chExt cx="5029200" cy="980567"/>
          </a:xfrm>
        </p:grpSpPr>
        <p:sp>
          <p:nvSpPr>
            <p:cNvPr id="9" name="Freeform 9"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4249" b="-94249"/>
              </a:stretch>
            </a:blipFill>
          </p:spPr>
          <p:txBody>
            <a:bodyPr/>
            <a:lstStyle/>
            <a:p>
              <a:endParaRPr lang="en-US"/>
            </a:p>
          </p:txBody>
        </p:sp>
      </p:grpSp>
      <p:sp>
        <p:nvSpPr>
          <p:cNvPr id="10" name="TextBox 10"/>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sp>
        <p:nvSpPr>
          <p:cNvPr id="11" name="TextBox 11"/>
          <p:cNvSpPr txBox="1"/>
          <p:nvPr/>
        </p:nvSpPr>
        <p:spPr>
          <a:xfrm>
            <a:off x="1274592" y="6118469"/>
            <a:ext cx="7249540" cy="1036181"/>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User Feedback on Prototype</a:t>
            </a:r>
          </a:p>
          <a:p>
            <a:pPr algn="l">
              <a:lnSpc>
                <a:spcPts val="3960"/>
              </a:lnSpc>
            </a:pPr>
            <a:endParaRPr lang="en-US" sz="3600" b="1" dirty="0">
              <a:solidFill>
                <a:srgbClr val="06728A"/>
              </a:solidFill>
              <a:latin typeface="Garet Bold"/>
              <a:ea typeface="Garet Bold"/>
              <a:cs typeface="Garet Bold"/>
              <a:sym typeface="Garet Bold"/>
            </a:endParaRPr>
          </a:p>
        </p:txBody>
      </p:sp>
      <p:sp>
        <p:nvSpPr>
          <p:cNvPr id="12" name="TextBox 12"/>
          <p:cNvSpPr txBox="1"/>
          <p:nvPr/>
        </p:nvSpPr>
        <p:spPr>
          <a:xfrm>
            <a:off x="1274592" y="6847738"/>
            <a:ext cx="16116300" cy="1709389"/>
          </a:xfrm>
          <a:prstGeom prst="rect">
            <a:avLst/>
          </a:prstGeom>
        </p:spPr>
        <p:txBody>
          <a:bodyPr lIns="0" tIns="0" rIns="0" bIns="0" rtlCol="0" anchor="t">
            <a:spAutoFit/>
          </a:bodyPr>
          <a:lstStyle/>
          <a:p>
            <a:pPr marL="528956" lvl="1" indent="-264478" algn="just">
              <a:lnSpc>
                <a:spcPts val="3430"/>
              </a:lnSpc>
              <a:buFont typeface="Arial"/>
              <a:buChar char="•"/>
            </a:pPr>
            <a:r>
              <a:rPr lang="en-US" sz="2450" b="1">
                <a:solidFill>
                  <a:srgbClr val="1B3957"/>
                </a:solidFill>
                <a:latin typeface="Arimo Bold"/>
                <a:ea typeface="Arimo Bold"/>
                <a:cs typeface="Arimo Bold"/>
                <a:sym typeface="Arimo Bold"/>
              </a:rPr>
              <a:t>Users found the system innovative and useful for water-scarce areas</a:t>
            </a:r>
          </a:p>
          <a:p>
            <a:pPr marL="528956" lvl="1" indent="-264478" algn="just">
              <a:lnSpc>
                <a:spcPts val="3430"/>
              </a:lnSpc>
              <a:buFont typeface="Arial"/>
              <a:buChar char="•"/>
            </a:pPr>
            <a:r>
              <a:rPr lang="en-US" sz="2450" b="1">
                <a:solidFill>
                  <a:srgbClr val="1B3957"/>
                </a:solidFill>
                <a:latin typeface="Arimo Bold"/>
                <a:ea typeface="Arimo Bold"/>
                <a:cs typeface="Arimo Bold"/>
                <a:sym typeface="Arimo Bold"/>
              </a:rPr>
              <a:t>Real-time IoT monitoring improved user confidence and usability</a:t>
            </a:r>
          </a:p>
          <a:p>
            <a:pPr marL="528956" lvl="1" indent="-264478" algn="just">
              <a:lnSpc>
                <a:spcPts val="3430"/>
              </a:lnSpc>
              <a:buFont typeface="Arial"/>
              <a:buChar char="•"/>
            </a:pPr>
            <a:r>
              <a:rPr lang="en-US" sz="2450" b="1">
                <a:solidFill>
                  <a:srgbClr val="1B3957"/>
                </a:solidFill>
                <a:latin typeface="Arimo Bold"/>
                <a:ea typeface="Arimo Bold"/>
                <a:cs typeface="Arimo Bold"/>
                <a:sym typeface="Arimo Bold"/>
              </a:rPr>
              <a:t>Users appreciated the automatic water generation and collection process</a:t>
            </a:r>
          </a:p>
          <a:p>
            <a:pPr algn="just">
              <a:lnSpc>
                <a:spcPts val="3430"/>
              </a:lnSpc>
            </a:pPr>
            <a:endParaRPr lang="en-US" sz="2450" b="1">
              <a:solidFill>
                <a:srgbClr val="1B3957"/>
              </a:solidFill>
              <a:latin typeface="Arimo Bold"/>
              <a:ea typeface="Arimo Bold"/>
              <a:cs typeface="Arimo Bold"/>
              <a:sym typeface="Arimo Bold"/>
            </a:endParaRPr>
          </a:p>
        </p:txBody>
      </p:sp>
      <p:grpSp>
        <p:nvGrpSpPr>
          <p:cNvPr id="13" name="Group 13"/>
          <p:cNvGrpSpPr/>
          <p:nvPr/>
        </p:nvGrpSpPr>
        <p:grpSpPr>
          <a:xfrm>
            <a:off x="4781845" y="8768305"/>
            <a:ext cx="10224545" cy="1980248"/>
            <a:chOff x="0" y="0"/>
            <a:chExt cx="13632726" cy="2640330"/>
          </a:xfrm>
        </p:grpSpPr>
        <p:sp>
          <p:nvSpPr>
            <p:cNvPr id="14" name="Freeform 14"/>
            <p:cNvSpPr/>
            <p:nvPr/>
          </p:nvSpPr>
          <p:spPr>
            <a:xfrm>
              <a:off x="0" y="0"/>
              <a:ext cx="13632687" cy="2640330"/>
            </a:xfrm>
            <a:custGeom>
              <a:avLst/>
              <a:gdLst/>
              <a:ahLst/>
              <a:cxnLst/>
              <a:rect l="l" t="t" r="r" b="b"/>
              <a:pathLst>
                <a:path w="13632687" h="2640330">
                  <a:moveTo>
                    <a:pt x="0" y="0"/>
                  </a:moveTo>
                  <a:lnTo>
                    <a:pt x="13632687" y="0"/>
                  </a:lnTo>
                  <a:lnTo>
                    <a:pt x="13632687" y="2640330"/>
                  </a:lnTo>
                  <a:lnTo>
                    <a:pt x="0" y="2640330"/>
                  </a:lnTo>
                  <a:close/>
                </a:path>
              </a:pathLst>
            </a:custGeom>
            <a:blipFill>
              <a:blip r:embed="rId5">
                <a:alphaModFix amt="0"/>
              </a:blip>
              <a:stretch>
                <a:fillRect t="-50536" b="-50536"/>
              </a:stretch>
            </a:blipFill>
          </p:spPr>
          <p:txBody>
            <a:bodyPr/>
            <a:lstStyle/>
            <a:p>
              <a:endParaRPr lang="en-US"/>
            </a:p>
          </p:txBody>
        </p:sp>
      </p:grpSp>
      <p:grpSp>
        <p:nvGrpSpPr>
          <p:cNvPr id="15" name="Group 15"/>
          <p:cNvGrpSpPr/>
          <p:nvPr/>
        </p:nvGrpSpPr>
        <p:grpSpPr>
          <a:xfrm>
            <a:off x="4781845" y="8754018"/>
            <a:ext cx="10224545" cy="1994535"/>
            <a:chOff x="0" y="0"/>
            <a:chExt cx="13632726" cy="2659380"/>
          </a:xfrm>
        </p:grpSpPr>
        <p:sp>
          <p:nvSpPr>
            <p:cNvPr id="16" name="Freeform 16"/>
            <p:cNvSpPr/>
            <p:nvPr/>
          </p:nvSpPr>
          <p:spPr>
            <a:xfrm>
              <a:off x="0" y="0"/>
              <a:ext cx="13632726" cy="2659385"/>
            </a:xfrm>
            <a:custGeom>
              <a:avLst/>
              <a:gdLst/>
              <a:ahLst/>
              <a:cxnLst/>
              <a:rect l="l" t="t" r="r" b="b"/>
              <a:pathLst>
                <a:path w="13632726" h="2659385">
                  <a:moveTo>
                    <a:pt x="0" y="0"/>
                  </a:moveTo>
                  <a:lnTo>
                    <a:pt x="13632726" y="0"/>
                  </a:lnTo>
                  <a:lnTo>
                    <a:pt x="13632726" y="2659385"/>
                  </a:lnTo>
                  <a:lnTo>
                    <a:pt x="0" y="2659385"/>
                  </a:lnTo>
                  <a:close/>
                </a:path>
              </a:pathLst>
            </a:custGeom>
            <a:blipFill>
              <a:blip r:embed="rId6">
                <a:alphaModFix amt="0"/>
              </a:blip>
              <a:stretch>
                <a:fillRect t="-49885" b="-49885"/>
              </a:stretch>
            </a:blipFill>
          </p:spPr>
          <p:txBody>
            <a:bodyPr/>
            <a:lstStyle/>
            <a:p>
              <a:endParaRPr lang="en-US"/>
            </a:p>
          </p:txBody>
        </p:sp>
        <p:sp>
          <p:nvSpPr>
            <p:cNvPr id="17" name="TextBox 17"/>
            <p:cNvSpPr txBox="1"/>
            <p:nvPr/>
          </p:nvSpPr>
          <p:spPr>
            <a:xfrm>
              <a:off x="0" y="-19050"/>
              <a:ext cx="13632726" cy="267843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IT22295460</a:t>
              </a:r>
              <a:r>
                <a:rPr lang="en-US" sz="2700">
                  <a:solidFill>
                    <a:srgbClr val="000000"/>
                  </a:solidFill>
                  <a:latin typeface="Cambria"/>
                  <a:ea typeface="Cambria"/>
                  <a:cs typeface="Cambria"/>
                  <a:sym typeface="Cambria"/>
                </a:rPr>
                <a:t>   |   W.A.S.P.D. WIJESINGHA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8" name="TextBox 18"/>
          <p:cNvSpPr txBox="1"/>
          <p:nvPr/>
        </p:nvSpPr>
        <p:spPr>
          <a:xfrm>
            <a:off x="10443791" y="488947"/>
            <a:ext cx="7844209" cy="282575"/>
          </a:xfrm>
          <a:prstGeom prst="rect">
            <a:avLst/>
          </a:prstGeom>
        </p:spPr>
        <p:txBody>
          <a:bodyPr lIns="0" tIns="0" rIns="0" bIns="0" rtlCol="0" anchor="t">
            <a:spAutoFit/>
          </a:bodyPr>
          <a:lstStyle/>
          <a:p>
            <a:pPr algn="ctr">
              <a:lnSpc>
                <a:spcPts val="2200"/>
              </a:lnSpc>
            </a:pPr>
            <a:r>
              <a:rPr lang="en-US" sz="2000" b="1">
                <a:solidFill>
                  <a:srgbClr val="06728A"/>
                </a:solidFill>
                <a:latin typeface="Garet Bold"/>
                <a:ea typeface="Garet Bold"/>
                <a:cs typeface="Garet Bold"/>
                <a:sym typeface="Garet Bold"/>
              </a:rPr>
              <a:t>ATMOSPHERIC WATER GENERATION (IoT-BASED)</a:t>
            </a:r>
          </a:p>
        </p:txBody>
      </p:sp>
      <p:grpSp>
        <p:nvGrpSpPr>
          <p:cNvPr id="19" name="Group 19"/>
          <p:cNvGrpSpPr/>
          <p:nvPr/>
        </p:nvGrpSpPr>
        <p:grpSpPr>
          <a:xfrm>
            <a:off x="0" y="9551575"/>
            <a:ext cx="3771900" cy="735425"/>
            <a:chOff x="0" y="0"/>
            <a:chExt cx="5029200" cy="980567"/>
          </a:xfrm>
        </p:grpSpPr>
        <p:sp>
          <p:nvSpPr>
            <p:cNvPr id="20" name="Freeform 20"/>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7"/>
              <a:stretch>
                <a:fillRect t="-128" b="-128"/>
              </a:stretch>
            </a:blipFill>
          </p:spPr>
          <p:txBody>
            <a:bodyP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sp>
        <p:nvSpPr>
          <p:cNvPr id="4" name="Freeform 4"/>
          <p:cNvSpPr/>
          <p:nvPr/>
        </p:nvSpPr>
        <p:spPr>
          <a:xfrm rot="577740">
            <a:off x="1065971" y="2839431"/>
            <a:ext cx="486623" cy="486623"/>
          </a:xfrm>
          <a:custGeom>
            <a:avLst/>
            <a:gdLst/>
            <a:ahLst/>
            <a:cxnLst/>
            <a:rect l="l" t="t" r="r" b="b"/>
            <a:pathLst>
              <a:path w="486623" h="486623">
                <a:moveTo>
                  <a:pt x="0" y="0"/>
                </a:moveTo>
                <a:lnTo>
                  <a:pt x="486623" y="0"/>
                </a:lnTo>
                <a:lnTo>
                  <a:pt x="486623" y="486623"/>
                </a:lnTo>
                <a:lnTo>
                  <a:pt x="0" y="486623"/>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557640">
            <a:off x="16175422" y="1675371"/>
            <a:ext cx="486623" cy="486623"/>
          </a:xfrm>
          <a:custGeom>
            <a:avLst/>
            <a:gdLst/>
            <a:ahLst/>
            <a:cxnLst/>
            <a:rect l="l" t="t" r="r" b="b"/>
            <a:pathLst>
              <a:path w="486623" h="486623">
                <a:moveTo>
                  <a:pt x="0" y="0"/>
                </a:moveTo>
                <a:lnTo>
                  <a:pt x="486622" y="0"/>
                </a:lnTo>
                <a:lnTo>
                  <a:pt x="486622" y="486623"/>
                </a:lnTo>
                <a:lnTo>
                  <a:pt x="0" y="486623"/>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rot="248760">
            <a:off x="17015988" y="8640197"/>
            <a:ext cx="486623" cy="486623"/>
          </a:xfrm>
          <a:custGeom>
            <a:avLst/>
            <a:gdLst/>
            <a:ahLst/>
            <a:cxnLst/>
            <a:rect l="l" t="t" r="r" b="b"/>
            <a:pathLst>
              <a:path w="486623" h="486623">
                <a:moveTo>
                  <a:pt x="0" y="0"/>
                </a:moveTo>
                <a:lnTo>
                  <a:pt x="486623" y="0"/>
                </a:lnTo>
                <a:lnTo>
                  <a:pt x="486623" y="486623"/>
                </a:lnTo>
                <a:lnTo>
                  <a:pt x="0" y="486623"/>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0" y="9559957"/>
            <a:ext cx="3771900" cy="735425"/>
            <a:chOff x="0" y="0"/>
            <a:chExt cx="5029200" cy="980567"/>
          </a:xfrm>
        </p:grpSpPr>
        <p:sp>
          <p:nvSpPr>
            <p:cNvPr id="8" name="Freeform 8"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4249" b="-94249"/>
              </a:stretch>
            </a:blipFill>
          </p:spPr>
          <p:txBody>
            <a:bodyPr/>
            <a:lstStyle/>
            <a:p>
              <a:endParaRPr lang="en-US"/>
            </a:p>
          </p:txBody>
        </p:sp>
      </p:grpSp>
      <p:grpSp>
        <p:nvGrpSpPr>
          <p:cNvPr id="9" name="Group 9"/>
          <p:cNvGrpSpPr/>
          <p:nvPr/>
        </p:nvGrpSpPr>
        <p:grpSpPr>
          <a:xfrm>
            <a:off x="4781845" y="8768305"/>
            <a:ext cx="10224545" cy="1980248"/>
            <a:chOff x="0" y="0"/>
            <a:chExt cx="13632726" cy="2640330"/>
          </a:xfrm>
        </p:grpSpPr>
        <p:sp>
          <p:nvSpPr>
            <p:cNvPr id="10" name="Freeform 10"/>
            <p:cNvSpPr/>
            <p:nvPr/>
          </p:nvSpPr>
          <p:spPr>
            <a:xfrm>
              <a:off x="0" y="0"/>
              <a:ext cx="13632687" cy="2640330"/>
            </a:xfrm>
            <a:custGeom>
              <a:avLst/>
              <a:gdLst/>
              <a:ahLst/>
              <a:cxnLst/>
              <a:rect l="l" t="t" r="r" b="b"/>
              <a:pathLst>
                <a:path w="13632687" h="2640330">
                  <a:moveTo>
                    <a:pt x="0" y="0"/>
                  </a:moveTo>
                  <a:lnTo>
                    <a:pt x="13632687" y="0"/>
                  </a:lnTo>
                  <a:lnTo>
                    <a:pt x="13632687" y="2640330"/>
                  </a:lnTo>
                  <a:lnTo>
                    <a:pt x="0" y="2640330"/>
                  </a:lnTo>
                  <a:close/>
                </a:path>
              </a:pathLst>
            </a:custGeom>
            <a:blipFill>
              <a:blip r:embed="rId6">
                <a:alphaModFix amt="0"/>
              </a:blip>
              <a:stretch>
                <a:fillRect t="-50536" b="-50536"/>
              </a:stretch>
            </a:blipFill>
          </p:spPr>
          <p:txBody>
            <a:bodyPr/>
            <a:lstStyle/>
            <a:p>
              <a:endParaRPr lang="en-US"/>
            </a:p>
          </p:txBody>
        </p:sp>
      </p:grpSp>
      <p:grpSp>
        <p:nvGrpSpPr>
          <p:cNvPr id="11" name="Group 11"/>
          <p:cNvGrpSpPr/>
          <p:nvPr/>
        </p:nvGrpSpPr>
        <p:grpSpPr>
          <a:xfrm>
            <a:off x="4781845" y="8754018"/>
            <a:ext cx="10224545" cy="1994535"/>
            <a:chOff x="0" y="0"/>
            <a:chExt cx="13632726" cy="2659380"/>
          </a:xfrm>
        </p:grpSpPr>
        <p:sp>
          <p:nvSpPr>
            <p:cNvPr id="12" name="Freeform 12"/>
            <p:cNvSpPr/>
            <p:nvPr/>
          </p:nvSpPr>
          <p:spPr>
            <a:xfrm>
              <a:off x="0" y="0"/>
              <a:ext cx="13632726" cy="2659385"/>
            </a:xfrm>
            <a:custGeom>
              <a:avLst/>
              <a:gdLst/>
              <a:ahLst/>
              <a:cxnLst/>
              <a:rect l="l" t="t" r="r" b="b"/>
              <a:pathLst>
                <a:path w="13632726" h="2659385">
                  <a:moveTo>
                    <a:pt x="0" y="0"/>
                  </a:moveTo>
                  <a:lnTo>
                    <a:pt x="13632726" y="0"/>
                  </a:lnTo>
                  <a:lnTo>
                    <a:pt x="13632726" y="2659385"/>
                  </a:lnTo>
                  <a:lnTo>
                    <a:pt x="0" y="2659385"/>
                  </a:lnTo>
                  <a:close/>
                </a:path>
              </a:pathLst>
            </a:custGeom>
            <a:blipFill>
              <a:blip r:embed="rId7">
                <a:alphaModFix amt="0"/>
              </a:blip>
              <a:stretch>
                <a:fillRect t="-49885" b="-49885"/>
              </a:stretch>
            </a:blipFill>
          </p:spPr>
          <p:txBody>
            <a:bodyPr/>
            <a:lstStyle/>
            <a:p>
              <a:endParaRPr lang="en-US"/>
            </a:p>
          </p:txBody>
        </p:sp>
        <p:sp>
          <p:nvSpPr>
            <p:cNvPr id="13" name="TextBox 13"/>
            <p:cNvSpPr txBox="1"/>
            <p:nvPr/>
          </p:nvSpPr>
          <p:spPr>
            <a:xfrm>
              <a:off x="0" y="-19050"/>
              <a:ext cx="13632726" cy="267843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grpSp>
        <p:nvGrpSpPr>
          <p:cNvPr id="14" name="Group 14"/>
          <p:cNvGrpSpPr/>
          <p:nvPr/>
        </p:nvGrpSpPr>
        <p:grpSpPr>
          <a:xfrm>
            <a:off x="15818791" y="1706"/>
            <a:ext cx="2477474" cy="3833954"/>
            <a:chOff x="0" y="0"/>
            <a:chExt cx="5685746" cy="8798837"/>
          </a:xfrm>
        </p:grpSpPr>
        <p:sp>
          <p:nvSpPr>
            <p:cNvPr id="15" name="Freeform 15"/>
            <p:cNvSpPr/>
            <p:nvPr/>
          </p:nvSpPr>
          <p:spPr>
            <a:xfrm>
              <a:off x="0" y="0"/>
              <a:ext cx="5685746" cy="8798863"/>
            </a:xfrm>
            <a:custGeom>
              <a:avLst/>
              <a:gdLst/>
              <a:ahLst/>
              <a:cxnLst/>
              <a:rect l="l" t="t" r="r" b="b"/>
              <a:pathLst>
                <a:path w="5685746" h="8798863">
                  <a:moveTo>
                    <a:pt x="0" y="0"/>
                  </a:moveTo>
                  <a:lnTo>
                    <a:pt x="5685746" y="0"/>
                  </a:lnTo>
                  <a:lnTo>
                    <a:pt x="5685746" y="8798863"/>
                  </a:lnTo>
                  <a:lnTo>
                    <a:pt x="0" y="8798863"/>
                  </a:lnTo>
                  <a:lnTo>
                    <a:pt x="0" y="0"/>
                  </a:lnTo>
                  <a:close/>
                </a:path>
              </a:pathLst>
            </a:custGeom>
            <a:blipFill>
              <a:blip r:embed="rId8"/>
              <a:stretch>
                <a:fillRect t="-1805" b="-1804"/>
              </a:stretch>
            </a:blipFill>
          </p:spPr>
          <p:txBody>
            <a:bodyPr/>
            <a:lstStyle/>
            <a:p>
              <a:endParaRPr lang="en-US"/>
            </a:p>
          </p:txBody>
        </p:sp>
      </p:grpSp>
      <p:sp>
        <p:nvSpPr>
          <p:cNvPr id="16" name="TextBox 16"/>
          <p:cNvSpPr txBox="1"/>
          <p:nvPr/>
        </p:nvSpPr>
        <p:spPr>
          <a:xfrm>
            <a:off x="4189904" y="1350683"/>
            <a:ext cx="8080772" cy="605750"/>
          </a:xfrm>
          <a:prstGeom prst="rect">
            <a:avLst/>
          </a:prstGeom>
        </p:spPr>
        <p:txBody>
          <a:bodyPr lIns="0" tIns="0" rIns="0" bIns="0" rtlCol="0" anchor="t">
            <a:spAutoFit/>
          </a:bodyPr>
          <a:lstStyle/>
          <a:p>
            <a:pPr algn="l">
              <a:lnSpc>
                <a:spcPts val="4620"/>
              </a:lnSpc>
            </a:pPr>
            <a:r>
              <a:rPr lang="en-US" sz="4200" b="1">
                <a:solidFill>
                  <a:srgbClr val="06728A"/>
                </a:solidFill>
                <a:latin typeface="Garet Bold"/>
                <a:ea typeface="Garet Bold"/>
                <a:cs typeface="Garet Bold"/>
                <a:sym typeface="Garet Bold"/>
              </a:rPr>
              <a:t>IT22212122  |  D. DODANWELA</a:t>
            </a:r>
          </a:p>
        </p:txBody>
      </p:sp>
      <p:sp>
        <p:nvSpPr>
          <p:cNvPr id="17" name="TextBox 17"/>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sp>
        <p:nvSpPr>
          <p:cNvPr id="18" name="TextBox 18"/>
          <p:cNvSpPr txBox="1"/>
          <p:nvPr/>
        </p:nvSpPr>
        <p:spPr>
          <a:xfrm>
            <a:off x="1309283" y="3603678"/>
            <a:ext cx="14529826" cy="795020"/>
          </a:xfrm>
          <a:prstGeom prst="rect">
            <a:avLst/>
          </a:prstGeom>
        </p:spPr>
        <p:txBody>
          <a:bodyPr lIns="0" tIns="0" rIns="0" bIns="0" rtlCol="0" anchor="t">
            <a:spAutoFit/>
          </a:bodyPr>
          <a:lstStyle/>
          <a:p>
            <a:pPr algn="ctr">
              <a:lnSpc>
                <a:spcPts val="6160"/>
              </a:lnSpc>
            </a:pPr>
            <a:r>
              <a:rPr lang="en-US" sz="5600" b="1">
                <a:solidFill>
                  <a:srgbClr val="06728A"/>
                </a:solidFill>
                <a:latin typeface="Garet Bold"/>
                <a:ea typeface="Garet Bold"/>
                <a:cs typeface="Garet Bold"/>
                <a:sym typeface="Garet Bold"/>
              </a:rPr>
              <a:t>HOUSEHOLD DISTILLED WATER MAKER </a:t>
            </a:r>
          </a:p>
        </p:txBody>
      </p:sp>
      <p:grpSp>
        <p:nvGrpSpPr>
          <p:cNvPr id="19" name="Group 19"/>
          <p:cNvGrpSpPr/>
          <p:nvPr/>
        </p:nvGrpSpPr>
        <p:grpSpPr>
          <a:xfrm>
            <a:off x="0" y="9551575"/>
            <a:ext cx="3771900" cy="735425"/>
            <a:chOff x="0" y="0"/>
            <a:chExt cx="5029200" cy="980567"/>
          </a:xfrm>
        </p:grpSpPr>
        <p:sp>
          <p:nvSpPr>
            <p:cNvPr id="20" name="Freeform 20"/>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9"/>
              <a:stretch>
                <a:fillRect t="-128" b="-128"/>
              </a:stretch>
            </a:blipFill>
          </p:spPr>
          <p:txBody>
            <a:bodyPr/>
            <a:lstStyle/>
            <a:p>
              <a:endParaRPr lang="en-US"/>
            </a:p>
          </p:txBody>
        </p:sp>
      </p:grpSp>
      <p:sp>
        <p:nvSpPr>
          <p:cNvPr id="21" name="TextBox 21"/>
          <p:cNvSpPr txBox="1"/>
          <p:nvPr/>
        </p:nvSpPr>
        <p:spPr>
          <a:xfrm>
            <a:off x="2189570" y="5591535"/>
            <a:ext cx="13449167" cy="605790"/>
          </a:xfrm>
          <a:prstGeom prst="rect">
            <a:avLst/>
          </a:prstGeom>
        </p:spPr>
        <p:txBody>
          <a:bodyPr lIns="0" tIns="0" rIns="0" bIns="0" rtlCol="0" anchor="t">
            <a:spAutoFit/>
          </a:bodyPr>
          <a:lstStyle/>
          <a:p>
            <a:pPr algn="ctr">
              <a:lnSpc>
                <a:spcPts val="4620"/>
              </a:lnSpc>
            </a:pPr>
            <a:r>
              <a:rPr lang="en-US" sz="4200" b="1">
                <a:solidFill>
                  <a:srgbClr val="06728A"/>
                </a:solidFill>
                <a:latin typeface="Garet Bold"/>
                <a:ea typeface="Garet Bold"/>
                <a:cs typeface="Garet Bold"/>
                <a:sym typeface="Garet Bold"/>
              </a:rPr>
              <a:t> Specialization : Information Technology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grpSp>
        <p:nvGrpSpPr>
          <p:cNvPr id="4" name="Group 4"/>
          <p:cNvGrpSpPr/>
          <p:nvPr/>
        </p:nvGrpSpPr>
        <p:grpSpPr>
          <a:xfrm rot="9551400">
            <a:off x="15235457" y="1087660"/>
            <a:ext cx="3982803" cy="5390340"/>
            <a:chOff x="0" y="0"/>
            <a:chExt cx="5310403" cy="7187120"/>
          </a:xfrm>
        </p:grpSpPr>
        <p:sp>
          <p:nvSpPr>
            <p:cNvPr id="5" name="Freeform 5"/>
            <p:cNvSpPr/>
            <p:nvPr/>
          </p:nvSpPr>
          <p:spPr>
            <a:xfrm flipH="1">
              <a:off x="0" y="0"/>
              <a:ext cx="5310378" cy="7187057"/>
            </a:xfrm>
            <a:custGeom>
              <a:avLst/>
              <a:gdLst/>
              <a:ahLst/>
              <a:cxnLst/>
              <a:rect l="l" t="t" r="r" b="b"/>
              <a:pathLst>
                <a:path w="5310378" h="7187057">
                  <a:moveTo>
                    <a:pt x="5310378" y="0"/>
                  </a:moveTo>
                  <a:lnTo>
                    <a:pt x="0" y="0"/>
                  </a:lnTo>
                  <a:lnTo>
                    <a:pt x="0" y="7187057"/>
                  </a:lnTo>
                  <a:lnTo>
                    <a:pt x="5310378" y="7187057"/>
                  </a:lnTo>
                  <a:lnTo>
                    <a:pt x="5310378" y="0"/>
                  </a:lnTo>
                  <a:close/>
                </a:path>
              </a:pathLst>
            </a:custGeom>
            <a:blipFill>
              <a:blip r:embed="rId3"/>
              <a:stretch>
                <a:fillRect t="-914" b="-915"/>
              </a:stretch>
            </a:blipFill>
          </p:spPr>
          <p:txBody>
            <a:bodyPr/>
            <a:lstStyle/>
            <a:p>
              <a:endParaRPr lang="en-US"/>
            </a:p>
          </p:txBody>
        </p:sp>
      </p:grpSp>
      <p:sp>
        <p:nvSpPr>
          <p:cNvPr id="6" name="TextBox 6"/>
          <p:cNvSpPr txBox="1"/>
          <p:nvPr/>
        </p:nvSpPr>
        <p:spPr>
          <a:xfrm>
            <a:off x="1321169" y="1883156"/>
            <a:ext cx="13552484" cy="3423889"/>
          </a:xfrm>
          <a:prstGeom prst="rect">
            <a:avLst/>
          </a:prstGeom>
        </p:spPr>
        <p:txBody>
          <a:bodyPr lIns="0" tIns="0" rIns="0" bIns="0" rtlCol="0" anchor="t">
            <a:spAutoFit/>
          </a:bodyPr>
          <a:lstStyle/>
          <a:p>
            <a:pPr marL="528956" lvl="1" indent="-264478" algn="just">
              <a:lnSpc>
                <a:spcPts val="3430"/>
              </a:lnSpc>
              <a:buFont typeface="Arial"/>
              <a:buChar char="•"/>
            </a:pPr>
            <a:r>
              <a:rPr lang="en-US" sz="2450" b="1">
                <a:solidFill>
                  <a:srgbClr val="1B3957"/>
                </a:solidFill>
                <a:latin typeface="Arimo Bold"/>
                <a:ea typeface="Arimo Bold"/>
                <a:cs typeface="Arimo Bold"/>
                <a:sym typeface="Arimo Bold"/>
              </a:rPr>
              <a:t>Solves clean water scarcity by converting unclean water into purified distilled water through a controlled boiling and condensation process. </a:t>
            </a:r>
          </a:p>
          <a:p>
            <a:pPr algn="just">
              <a:lnSpc>
                <a:spcPts val="3430"/>
              </a:lnSpc>
            </a:pPr>
            <a:endParaRPr lang="en-US" sz="2450" b="1">
              <a:solidFill>
                <a:srgbClr val="1B3957"/>
              </a:solidFill>
              <a:latin typeface="Arimo Bold"/>
              <a:ea typeface="Arimo Bold"/>
              <a:cs typeface="Arimo Bold"/>
              <a:sym typeface="Arimo Bold"/>
            </a:endParaRPr>
          </a:p>
          <a:p>
            <a:pPr marL="528956" lvl="1" indent="-264478" algn="just">
              <a:lnSpc>
                <a:spcPts val="3430"/>
              </a:lnSpc>
              <a:buFont typeface="Arial"/>
              <a:buChar char="•"/>
            </a:pPr>
            <a:r>
              <a:rPr lang="en-US" sz="2450" b="1">
                <a:solidFill>
                  <a:srgbClr val="1B3957"/>
                </a:solidFill>
                <a:latin typeface="Arimo Bold"/>
                <a:ea typeface="Arimo Bold"/>
                <a:cs typeface="Arimo Bold"/>
                <a:sym typeface="Arimo Bold"/>
              </a:rPr>
              <a:t>IoT-based smart household distilled water generation system optimizes heating, boiling, and condensation cycles for improved efficiency. </a:t>
            </a:r>
          </a:p>
          <a:p>
            <a:pPr algn="just">
              <a:lnSpc>
                <a:spcPts val="3430"/>
              </a:lnSpc>
            </a:pPr>
            <a:endParaRPr lang="en-US" sz="2450" b="1">
              <a:solidFill>
                <a:srgbClr val="1B3957"/>
              </a:solidFill>
              <a:latin typeface="Arimo Bold"/>
              <a:ea typeface="Arimo Bold"/>
              <a:cs typeface="Arimo Bold"/>
              <a:sym typeface="Arimo Bold"/>
            </a:endParaRPr>
          </a:p>
          <a:p>
            <a:pPr marL="528956" lvl="1" indent="-264478" algn="just">
              <a:lnSpc>
                <a:spcPts val="3430"/>
              </a:lnSpc>
              <a:buFont typeface="Arial"/>
              <a:buChar char="•"/>
            </a:pPr>
            <a:r>
              <a:rPr lang="en-US" sz="2450" b="1">
                <a:solidFill>
                  <a:srgbClr val="1B3957"/>
                </a:solidFill>
                <a:latin typeface="Arimo Bold"/>
                <a:ea typeface="Arimo Bold"/>
                <a:cs typeface="Arimo Bold"/>
                <a:sym typeface="Arimo Bold"/>
              </a:rPr>
              <a:t>Supports low-power and energy-efficient operation through smart control mechanisms. </a:t>
            </a:r>
          </a:p>
          <a:p>
            <a:pPr algn="just">
              <a:lnSpc>
                <a:spcPts val="3430"/>
              </a:lnSpc>
            </a:pPr>
            <a:endParaRPr lang="en-US" sz="2450" b="1">
              <a:solidFill>
                <a:srgbClr val="1B3957"/>
              </a:solidFill>
              <a:latin typeface="Arimo Bold"/>
              <a:ea typeface="Arimo Bold"/>
              <a:cs typeface="Arimo Bold"/>
              <a:sym typeface="Arimo Bold"/>
            </a:endParaRPr>
          </a:p>
        </p:txBody>
      </p:sp>
      <p:grpSp>
        <p:nvGrpSpPr>
          <p:cNvPr id="7" name="Group 7"/>
          <p:cNvGrpSpPr/>
          <p:nvPr/>
        </p:nvGrpSpPr>
        <p:grpSpPr>
          <a:xfrm>
            <a:off x="0" y="9559957"/>
            <a:ext cx="3771900" cy="735425"/>
            <a:chOff x="0" y="0"/>
            <a:chExt cx="5029200" cy="980567"/>
          </a:xfrm>
        </p:grpSpPr>
        <p:sp>
          <p:nvSpPr>
            <p:cNvPr id="8" name="Freeform 8"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4249" b="-94249"/>
              </a:stretch>
            </a:blipFill>
          </p:spPr>
          <p:txBody>
            <a:bodyPr/>
            <a:lstStyle/>
            <a:p>
              <a:endParaRPr lang="en-US"/>
            </a:p>
          </p:txBody>
        </p:sp>
      </p:grpSp>
      <p:sp>
        <p:nvSpPr>
          <p:cNvPr id="9" name="TextBox 9"/>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sp>
        <p:nvSpPr>
          <p:cNvPr id="10" name="TextBox 10"/>
          <p:cNvSpPr txBox="1"/>
          <p:nvPr/>
        </p:nvSpPr>
        <p:spPr>
          <a:xfrm>
            <a:off x="1453906" y="6187379"/>
            <a:ext cx="15077605" cy="2685623"/>
          </a:xfrm>
          <a:prstGeom prst="rect">
            <a:avLst/>
          </a:prstGeom>
        </p:spPr>
        <p:txBody>
          <a:bodyPr lIns="0" tIns="0" rIns="0" bIns="0" rtlCol="0" anchor="t">
            <a:spAutoFit/>
          </a:bodyPr>
          <a:lstStyle/>
          <a:p>
            <a:pPr marL="554035" lvl="1" indent="-277018" algn="just">
              <a:lnSpc>
                <a:spcPts val="3592"/>
              </a:lnSpc>
              <a:buFont typeface="Arial"/>
              <a:buChar char="•"/>
            </a:pPr>
            <a:r>
              <a:rPr lang="en-US" sz="2566" b="1">
                <a:solidFill>
                  <a:srgbClr val="1B3957"/>
                </a:solidFill>
                <a:latin typeface="Arimo Bold"/>
                <a:ea typeface="Arimo Bold"/>
                <a:cs typeface="Arimo Bold"/>
                <a:sym typeface="Arimo Bold"/>
              </a:rPr>
              <a:t>Provides clean and safe drinking water at household level by purifying unclean water. </a:t>
            </a:r>
          </a:p>
          <a:p>
            <a:pPr marL="554035" lvl="1" indent="-277018" algn="just">
              <a:lnSpc>
                <a:spcPts val="3592"/>
              </a:lnSpc>
              <a:buFont typeface="Arial"/>
              <a:buChar char="•"/>
            </a:pPr>
            <a:r>
              <a:rPr lang="en-US" sz="2566" b="1">
                <a:solidFill>
                  <a:srgbClr val="1B3957"/>
                </a:solidFill>
                <a:latin typeface="Arimo Bold"/>
                <a:ea typeface="Arimo Bold"/>
                <a:cs typeface="Arimo Bold"/>
                <a:sym typeface="Arimo Bold"/>
              </a:rPr>
              <a:t>Enables real-time monitoring through IoT, supporting automatic system control smart energy optimization, and improved operational efficiency. </a:t>
            </a:r>
          </a:p>
          <a:p>
            <a:pPr marL="554035" lvl="1" indent="-277018" algn="just">
              <a:lnSpc>
                <a:spcPts val="3592"/>
              </a:lnSpc>
              <a:buFont typeface="Arial"/>
              <a:buChar char="•"/>
            </a:pPr>
            <a:r>
              <a:rPr lang="en-US" sz="2566" b="1">
                <a:solidFill>
                  <a:srgbClr val="1B3957"/>
                </a:solidFill>
                <a:latin typeface="Arimo Bold"/>
                <a:ea typeface="Arimo Bold"/>
                <a:cs typeface="Arimo Bold"/>
                <a:sym typeface="Arimo Bold"/>
              </a:rPr>
              <a:t>Reduces dependency on external or traditional water sources. </a:t>
            </a:r>
          </a:p>
          <a:p>
            <a:pPr marL="554035" lvl="1" indent="-277018" algn="just">
              <a:lnSpc>
                <a:spcPts val="3592"/>
              </a:lnSpc>
              <a:buFont typeface="Arial"/>
              <a:buChar char="•"/>
            </a:pPr>
            <a:r>
              <a:rPr lang="en-US" sz="2566" b="1">
                <a:solidFill>
                  <a:srgbClr val="1B3957"/>
                </a:solidFill>
                <a:latin typeface="Arimo Bold"/>
                <a:ea typeface="Arimo Bold"/>
                <a:cs typeface="Arimo Bold"/>
                <a:sym typeface="Arimo Bold"/>
              </a:rPr>
              <a:t>Supports sustainable and smart water generation within households.</a:t>
            </a:r>
          </a:p>
          <a:p>
            <a:pPr marL="554035" lvl="1" indent="-277018" algn="just">
              <a:lnSpc>
                <a:spcPts val="3593"/>
              </a:lnSpc>
              <a:buFont typeface="Arial"/>
              <a:buChar char="•"/>
            </a:pPr>
            <a:r>
              <a:rPr lang="en-US" sz="2566" b="1">
                <a:solidFill>
                  <a:srgbClr val="1B3957"/>
                </a:solidFill>
                <a:latin typeface="Arimo Bold"/>
                <a:ea typeface="Arimo Bold"/>
                <a:cs typeface="Arimo Bold"/>
                <a:sym typeface="Arimo Bold"/>
              </a:rPr>
              <a:t> Easily integrates with the smart water ecosystem for future expansion and upgrades.</a:t>
            </a:r>
          </a:p>
        </p:txBody>
      </p:sp>
      <p:grpSp>
        <p:nvGrpSpPr>
          <p:cNvPr id="11" name="Group 11"/>
          <p:cNvGrpSpPr/>
          <p:nvPr/>
        </p:nvGrpSpPr>
        <p:grpSpPr>
          <a:xfrm>
            <a:off x="4781845" y="8768305"/>
            <a:ext cx="10224545" cy="1980248"/>
            <a:chOff x="0" y="0"/>
            <a:chExt cx="13632726" cy="2640330"/>
          </a:xfrm>
        </p:grpSpPr>
        <p:sp>
          <p:nvSpPr>
            <p:cNvPr id="12" name="Freeform 12"/>
            <p:cNvSpPr/>
            <p:nvPr/>
          </p:nvSpPr>
          <p:spPr>
            <a:xfrm>
              <a:off x="0" y="0"/>
              <a:ext cx="13632687" cy="2640330"/>
            </a:xfrm>
            <a:custGeom>
              <a:avLst/>
              <a:gdLst/>
              <a:ahLst/>
              <a:cxnLst/>
              <a:rect l="l" t="t" r="r" b="b"/>
              <a:pathLst>
                <a:path w="13632687" h="2640330">
                  <a:moveTo>
                    <a:pt x="0" y="0"/>
                  </a:moveTo>
                  <a:lnTo>
                    <a:pt x="13632687" y="0"/>
                  </a:lnTo>
                  <a:lnTo>
                    <a:pt x="13632687" y="2640330"/>
                  </a:lnTo>
                  <a:lnTo>
                    <a:pt x="0" y="2640330"/>
                  </a:lnTo>
                  <a:close/>
                </a:path>
              </a:pathLst>
            </a:custGeom>
            <a:blipFill>
              <a:blip r:embed="rId5">
                <a:alphaModFix amt="0"/>
              </a:blip>
              <a:stretch>
                <a:fillRect t="-50536" b="-50536"/>
              </a:stretch>
            </a:blipFill>
          </p:spPr>
          <p:txBody>
            <a:bodyPr/>
            <a:lstStyle/>
            <a:p>
              <a:endParaRPr lang="en-US"/>
            </a:p>
          </p:txBody>
        </p:sp>
      </p:grpSp>
      <p:grpSp>
        <p:nvGrpSpPr>
          <p:cNvPr id="13" name="Group 13"/>
          <p:cNvGrpSpPr/>
          <p:nvPr/>
        </p:nvGrpSpPr>
        <p:grpSpPr>
          <a:xfrm>
            <a:off x="4781845" y="8754018"/>
            <a:ext cx="10224545" cy="1994535"/>
            <a:chOff x="0" y="0"/>
            <a:chExt cx="13632726" cy="2659380"/>
          </a:xfrm>
        </p:grpSpPr>
        <p:sp>
          <p:nvSpPr>
            <p:cNvPr id="14" name="Freeform 14"/>
            <p:cNvSpPr/>
            <p:nvPr/>
          </p:nvSpPr>
          <p:spPr>
            <a:xfrm>
              <a:off x="0" y="0"/>
              <a:ext cx="13632726" cy="2659385"/>
            </a:xfrm>
            <a:custGeom>
              <a:avLst/>
              <a:gdLst/>
              <a:ahLst/>
              <a:cxnLst/>
              <a:rect l="l" t="t" r="r" b="b"/>
              <a:pathLst>
                <a:path w="13632726" h="2659385">
                  <a:moveTo>
                    <a:pt x="0" y="0"/>
                  </a:moveTo>
                  <a:lnTo>
                    <a:pt x="13632726" y="0"/>
                  </a:lnTo>
                  <a:lnTo>
                    <a:pt x="13632726" y="2659385"/>
                  </a:lnTo>
                  <a:lnTo>
                    <a:pt x="0" y="2659385"/>
                  </a:lnTo>
                  <a:close/>
                </a:path>
              </a:pathLst>
            </a:custGeom>
            <a:blipFill>
              <a:blip r:embed="rId6">
                <a:alphaModFix amt="0"/>
              </a:blip>
              <a:stretch>
                <a:fillRect t="-49885" b="-49885"/>
              </a:stretch>
            </a:blipFill>
          </p:spPr>
          <p:txBody>
            <a:bodyPr/>
            <a:lstStyle/>
            <a:p>
              <a:endParaRPr lang="en-US"/>
            </a:p>
          </p:txBody>
        </p:sp>
        <p:sp>
          <p:nvSpPr>
            <p:cNvPr id="15" name="TextBox 15"/>
            <p:cNvSpPr txBox="1"/>
            <p:nvPr/>
          </p:nvSpPr>
          <p:spPr>
            <a:xfrm>
              <a:off x="0" y="-19050"/>
              <a:ext cx="13632726" cy="267843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6" name="TextBox 16"/>
          <p:cNvSpPr txBox="1"/>
          <p:nvPr/>
        </p:nvSpPr>
        <p:spPr>
          <a:xfrm>
            <a:off x="10921898" y="488947"/>
            <a:ext cx="6971929" cy="282575"/>
          </a:xfrm>
          <a:prstGeom prst="rect">
            <a:avLst/>
          </a:prstGeom>
        </p:spPr>
        <p:txBody>
          <a:bodyPr lIns="0" tIns="0" rIns="0" bIns="0" rtlCol="0" anchor="t">
            <a:spAutoFit/>
          </a:bodyPr>
          <a:lstStyle/>
          <a:p>
            <a:pPr algn="ctr">
              <a:lnSpc>
                <a:spcPts val="2200"/>
              </a:lnSpc>
            </a:pPr>
            <a:r>
              <a:rPr lang="en-US" sz="2000" b="1">
                <a:solidFill>
                  <a:srgbClr val="06728A"/>
                </a:solidFill>
                <a:latin typeface="Garet Bold"/>
                <a:ea typeface="Garet Bold"/>
                <a:cs typeface="Garet Bold"/>
                <a:sym typeface="Garet Bold"/>
              </a:rPr>
              <a:t>HOUSEHOLD DISTILLED WATER MAKER (IoT-BASED)</a:t>
            </a:r>
          </a:p>
        </p:txBody>
      </p:sp>
      <p:sp>
        <p:nvSpPr>
          <p:cNvPr id="17" name="TextBox 17"/>
          <p:cNvSpPr txBox="1"/>
          <p:nvPr/>
        </p:nvSpPr>
        <p:spPr>
          <a:xfrm>
            <a:off x="1028700" y="1057275"/>
            <a:ext cx="11239500" cy="128625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How the Solution Addresses the Sub-Problem</a:t>
            </a:r>
          </a:p>
          <a:p>
            <a:pPr algn="l">
              <a:lnSpc>
                <a:spcPts val="6600"/>
              </a:lnSpc>
            </a:pPr>
            <a:endParaRPr lang="en-US" sz="3600" b="1" dirty="0">
              <a:solidFill>
                <a:srgbClr val="06728A"/>
              </a:solidFill>
              <a:latin typeface="Garet Bold"/>
              <a:ea typeface="Garet Bold"/>
              <a:cs typeface="Garet Bold"/>
              <a:sym typeface="Garet Bold"/>
            </a:endParaRPr>
          </a:p>
        </p:txBody>
      </p:sp>
      <p:sp>
        <p:nvSpPr>
          <p:cNvPr id="18" name="TextBox 18"/>
          <p:cNvSpPr txBox="1"/>
          <p:nvPr/>
        </p:nvSpPr>
        <p:spPr>
          <a:xfrm>
            <a:off x="1028700" y="5318712"/>
            <a:ext cx="11239500" cy="128625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User Requirements Addressed by the Solution</a:t>
            </a:r>
          </a:p>
          <a:p>
            <a:pPr algn="l">
              <a:lnSpc>
                <a:spcPts val="6600"/>
              </a:lnSpc>
            </a:pPr>
            <a:endParaRPr lang="en-US" sz="3600" b="1" dirty="0">
              <a:solidFill>
                <a:srgbClr val="06728A"/>
              </a:solidFill>
              <a:latin typeface="Garet Bold"/>
              <a:ea typeface="Garet Bold"/>
              <a:cs typeface="Garet Bold"/>
              <a:sym typeface="Garet Bold"/>
            </a:endParaRPr>
          </a:p>
        </p:txBody>
      </p:sp>
      <p:grpSp>
        <p:nvGrpSpPr>
          <p:cNvPr id="19" name="Group 19"/>
          <p:cNvGrpSpPr/>
          <p:nvPr/>
        </p:nvGrpSpPr>
        <p:grpSpPr>
          <a:xfrm>
            <a:off x="0" y="9551575"/>
            <a:ext cx="3771900" cy="735425"/>
            <a:chOff x="0" y="0"/>
            <a:chExt cx="5029200" cy="980567"/>
          </a:xfrm>
        </p:grpSpPr>
        <p:sp>
          <p:nvSpPr>
            <p:cNvPr id="20" name="Freeform 20"/>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7"/>
              <a:stretch>
                <a:fillRect t="-128" b="-128"/>
              </a:stretch>
            </a:blipFill>
          </p:spPr>
          <p:txBody>
            <a:bodyPr/>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grpSp>
        <p:nvGrpSpPr>
          <p:cNvPr id="4" name="Group 4"/>
          <p:cNvGrpSpPr/>
          <p:nvPr/>
        </p:nvGrpSpPr>
        <p:grpSpPr>
          <a:xfrm rot="9551400">
            <a:off x="15235457" y="1087660"/>
            <a:ext cx="3982803" cy="5390340"/>
            <a:chOff x="0" y="0"/>
            <a:chExt cx="5310403" cy="7187120"/>
          </a:xfrm>
        </p:grpSpPr>
        <p:sp>
          <p:nvSpPr>
            <p:cNvPr id="5" name="Freeform 5"/>
            <p:cNvSpPr/>
            <p:nvPr/>
          </p:nvSpPr>
          <p:spPr>
            <a:xfrm flipH="1">
              <a:off x="0" y="0"/>
              <a:ext cx="5310378" cy="7187057"/>
            </a:xfrm>
            <a:custGeom>
              <a:avLst/>
              <a:gdLst/>
              <a:ahLst/>
              <a:cxnLst/>
              <a:rect l="l" t="t" r="r" b="b"/>
              <a:pathLst>
                <a:path w="5310378" h="7187057">
                  <a:moveTo>
                    <a:pt x="5310378" y="0"/>
                  </a:moveTo>
                  <a:lnTo>
                    <a:pt x="0" y="0"/>
                  </a:lnTo>
                  <a:lnTo>
                    <a:pt x="0" y="7187057"/>
                  </a:lnTo>
                  <a:lnTo>
                    <a:pt x="5310378" y="7187057"/>
                  </a:lnTo>
                  <a:lnTo>
                    <a:pt x="5310378" y="0"/>
                  </a:lnTo>
                  <a:close/>
                </a:path>
              </a:pathLst>
            </a:custGeom>
            <a:blipFill>
              <a:blip r:embed="rId3"/>
              <a:stretch>
                <a:fillRect t="-914" b="-915"/>
              </a:stretch>
            </a:blipFill>
          </p:spPr>
          <p:txBody>
            <a:bodyPr/>
            <a:lstStyle/>
            <a:p>
              <a:endParaRPr lang="en-US"/>
            </a:p>
          </p:txBody>
        </p:sp>
      </p:grpSp>
      <p:sp>
        <p:nvSpPr>
          <p:cNvPr id="6" name="TextBox 6"/>
          <p:cNvSpPr txBox="1"/>
          <p:nvPr/>
        </p:nvSpPr>
        <p:spPr>
          <a:xfrm>
            <a:off x="1370875" y="2444884"/>
            <a:ext cx="13036980" cy="2566866"/>
          </a:xfrm>
          <a:prstGeom prst="rect">
            <a:avLst/>
          </a:prstGeom>
        </p:spPr>
        <p:txBody>
          <a:bodyPr lIns="0" tIns="0" rIns="0" bIns="0" rtlCol="0" anchor="t">
            <a:spAutoFit/>
          </a:bodyPr>
          <a:lstStyle/>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To design, develop, and validate a smart, energy-optimized household distilled water generation system that converts unclean water into purified distilled water through a controlled boiling and condensation process. </a:t>
            </a:r>
          </a:p>
          <a:p>
            <a:pPr algn="just">
              <a:lnSpc>
                <a:spcPts val="3427"/>
              </a:lnSpc>
            </a:pPr>
            <a:endParaRPr lang="en-US" sz="2450" b="1">
              <a:solidFill>
                <a:srgbClr val="1B3957"/>
              </a:solidFill>
              <a:latin typeface="Arimo Bold"/>
              <a:ea typeface="Arimo Bold"/>
              <a:cs typeface="Arimo Bold"/>
              <a:sym typeface="Arimo Bold"/>
            </a:endParaRPr>
          </a:p>
          <a:p>
            <a:pPr marL="528956" lvl="1" indent="-264478" algn="just">
              <a:lnSpc>
                <a:spcPts val="3429"/>
              </a:lnSpc>
              <a:buFont typeface="Arial"/>
              <a:buChar char="•"/>
            </a:pPr>
            <a:r>
              <a:rPr lang="en-US" sz="2450" b="1">
                <a:solidFill>
                  <a:srgbClr val="1B3957"/>
                </a:solidFill>
                <a:latin typeface="Arimo Bold"/>
                <a:ea typeface="Arimo Bold"/>
                <a:cs typeface="Arimo Bold"/>
                <a:sym typeface="Arimo Bold"/>
              </a:rPr>
              <a:t>The system integrates IoT-based monitoring to enhance user convenience and operational efficiency.</a:t>
            </a:r>
          </a:p>
        </p:txBody>
      </p:sp>
      <p:grpSp>
        <p:nvGrpSpPr>
          <p:cNvPr id="7" name="Group 7"/>
          <p:cNvGrpSpPr/>
          <p:nvPr/>
        </p:nvGrpSpPr>
        <p:grpSpPr>
          <a:xfrm>
            <a:off x="0" y="9559957"/>
            <a:ext cx="3771900" cy="735425"/>
            <a:chOff x="0" y="0"/>
            <a:chExt cx="5029200" cy="980567"/>
          </a:xfrm>
        </p:grpSpPr>
        <p:sp>
          <p:nvSpPr>
            <p:cNvPr id="8" name="Freeform 8"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4249" b="-94249"/>
              </a:stretch>
            </a:blipFill>
          </p:spPr>
          <p:txBody>
            <a:bodyPr/>
            <a:lstStyle/>
            <a:p>
              <a:endParaRPr lang="en-US"/>
            </a:p>
          </p:txBody>
        </p:sp>
      </p:grpSp>
      <p:sp>
        <p:nvSpPr>
          <p:cNvPr id="9" name="TextBox 9"/>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sp>
        <p:nvSpPr>
          <p:cNvPr id="10" name="TextBox 10"/>
          <p:cNvSpPr txBox="1"/>
          <p:nvPr/>
        </p:nvSpPr>
        <p:spPr>
          <a:xfrm>
            <a:off x="1425873" y="6439787"/>
            <a:ext cx="15513387" cy="2995264"/>
          </a:xfrm>
          <a:prstGeom prst="rect">
            <a:avLst/>
          </a:prstGeom>
        </p:spPr>
        <p:txBody>
          <a:bodyPr lIns="0" tIns="0" rIns="0" bIns="0" rtlCol="0" anchor="t">
            <a:spAutoFit/>
          </a:bodyPr>
          <a:lstStyle/>
          <a:p>
            <a:pPr marL="528956" lvl="1" indent="-264478" algn="l">
              <a:lnSpc>
                <a:spcPts val="3430"/>
              </a:lnSpc>
              <a:buFont typeface="Arial"/>
              <a:buChar char="•"/>
            </a:pPr>
            <a:r>
              <a:rPr lang="en-US" sz="2450" b="1">
                <a:solidFill>
                  <a:srgbClr val="1B3957"/>
                </a:solidFill>
                <a:latin typeface="Arimo Bold"/>
                <a:ea typeface="Arimo Bold"/>
                <a:cs typeface="Arimo Bold"/>
                <a:sym typeface="Arimo Bold"/>
              </a:rPr>
              <a:t>Users found the smart distillation concept useful for household water purification</a:t>
            </a:r>
          </a:p>
          <a:p>
            <a:pPr marL="528956" lvl="1" indent="-264478" algn="l">
              <a:lnSpc>
                <a:spcPts val="3430"/>
              </a:lnSpc>
              <a:buFont typeface="Arial"/>
              <a:buChar char="•"/>
            </a:pPr>
            <a:r>
              <a:rPr lang="en-US" sz="2450" b="1">
                <a:solidFill>
                  <a:srgbClr val="1B3957"/>
                </a:solidFill>
                <a:latin typeface="Arimo Bold"/>
                <a:ea typeface="Arimo Bold"/>
                <a:cs typeface="Arimo Bold"/>
                <a:sym typeface="Arimo Bold"/>
              </a:rPr>
              <a:t>Users liked the ability to control and monitor the system remotely</a:t>
            </a:r>
          </a:p>
          <a:p>
            <a:pPr marL="528956" lvl="1" indent="-264478" algn="l">
              <a:lnSpc>
                <a:spcPts val="3430"/>
              </a:lnSpc>
              <a:buFont typeface="Arial"/>
              <a:buChar char="•"/>
            </a:pPr>
            <a:r>
              <a:rPr lang="en-US" sz="2450" b="1">
                <a:solidFill>
                  <a:srgbClr val="1B3957"/>
                </a:solidFill>
                <a:latin typeface="Arimo Bold"/>
                <a:ea typeface="Arimo Bold"/>
                <a:cs typeface="Arimo Bold"/>
                <a:sym typeface="Arimo Bold"/>
              </a:rPr>
              <a:t>Positive feedback received for integrating smart automation into traditional distillation methods</a:t>
            </a:r>
          </a:p>
          <a:p>
            <a:pPr marL="528956" lvl="1" indent="-264478" algn="l">
              <a:lnSpc>
                <a:spcPts val="3430"/>
              </a:lnSpc>
              <a:buFont typeface="Arial"/>
              <a:buChar char="•"/>
            </a:pPr>
            <a:r>
              <a:rPr lang="en-US" sz="2450" b="1">
                <a:solidFill>
                  <a:srgbClr val="1B3957"/>
                </a:solidFill>
                <a:latin typeface="Arimo Bold"/>
                <a:ea typeface="Arimo Bold"/>
                <a:cs typeface="Arimo Bold"/>
                <a:sym typeface="Arimo Bold"/>
              </a:rPr>
              <a:t>Suggested improvements:</a:t>
            </a:r>
          </a:p>
          <a:p>
            <a:pPr algn="l">
              <a:lnSpc>
                <a:spcPts val="3430"/>
              </a:lnSpc>
            </a:pPr>
            <a:r>
              <a:rPr lang="en-US" sz="2450" b="1">
                <a:solidFill>
                  <a:srgbClr val="1B3957"/>
                </a:solidFill>
                <a:latin typeface="Arimo Bold"/>
                <a:ea typeface="Arimo Bold"/>
                <a:cs typeface="Arimo Bold"/>
                <a:sym typeface="Arimo Bold"/>
              </a:rPr>
              <a:t>                                            - Reduce distillation time further</a:t>
            </a:r>
          </a:p>
          <a:p>
            <a:pPr algn="ctr">
              <a:lnSpc>
                <a:spcPts val="3430"/>
              </a:lnSpc>
            </a:pPr>
            <a:r>
              <a:rPr lang="en-US" sz="2450" b="1">
                <a:solidFill>
                  <a:srgbClr val="1B3957"/>
                </a:solidFill>
                <a:latin typeface="Arimo Bold"/>
                <a:ea typeface="Arimo Bold"/>
                <a:cs typeface="Arimo Bold"/>
                <a:sym typeface="Arimo Bold"/>
              </a:rPr>
              <a:t>- Add water quality indicators and maintenance alerts</a:t>
            </a:r>
          </a:p>
          <a:p>
            <a:pPr algn="l">
              <a:lnSpc>
                <a:spcPts val="3430"/>
              </a:lnSpc>
            </a:pPr>
            <a:endParaRPr lang="en-US" sz="2450" b="1">
              <a:solidFill>
                <a:srgbClr val="1B3957"/>
              </a:solidFill>
              <a:latin typeface="Arimo Bold"/>
              <a:ea typeface="Arimo Bold"/>
              <a:cs typeface="Arimo Bold"/>
              <a:sym typeface="Arimo Bold"/>
            </a:endParaRPr>
          </a:p>
        </p:txBody>
      </p:sp>
      <p:grpSp>
        <p:nvGrpSpPr>
          <p:cNvPr id="11" name="Group 11"/>
          <p:cNvGrpSpPr/>
          <p:nvPr/>
        </p:nvGrpSpPr>
        <p:grpSpPr>
          <a:xfrm>
            <a:off x="4781845" y="8768305"/>
            <a:ext cx="10224545" cy="1980248"/>
            <a:chOff x="0" y="0"/>
            <a:chExt cx="13632726" cy="2640330"/>
          </a:xfrm>
        </p:grpSpPr>
        <p:sp>
          <p:nvSpPr>
            <p:cNvPr id="12" name="Freeform 12"/>
            <p:cNvSpPr/>
            <p:nvPr/>
          </p:nvSpPr>
          <p:spPr>
            <a:xfrm>
              <a:off x="0" y="0"/>
              <a:ext cx="13632687" cy="2640330"/>
            </a:xfrm>
            <a:custGeom>
              <a:avLst/>
              <a:gdLst/>
              <a:ahLst/>
              <a:cxnLst/>
              <a:rect l="l" t="t" r="r" b="b"/>
              <a:pathLst>
                <a:path w="13632687" h="2640330">
                  <a:moveTo>
                    <a:pt x="0" y="0"/>
                  </a:moveTo>
                  <a:lnTo>
                    <a:pt x="13632687" y="0"/>
                  </a:lnTo>
                  <a:lnTo>
                    <a:pt x="13632687" y="2640330"/>
                  </a:lnTo>
                  <a:lnTo>
                    <a:pt x="0" y="2640330"/>
                  </a:lnTo>
                  <a:close/>
                </a:path>
              </a:pathLst>
            </a:custGeom>
            <a:blipFill>
              <a:blip r:embed="rId5">
                <a:alphaModFix amt="0"/>
              </a:blip>
              <a:stretch>
                <a:fillRect t="-50536" b="-50536"/>
              </a:stretch>
            </a:blipFill>
          </p:spPr>
          <p:txBody>
            <a:bodyPr/>
            <a:lstStyle/>
            <a:p>
              <a:endParaRPr lang="en-US"/>
            </a:p>
          </p:txBody>
        </p:sp>
      </p:grpSp>
      <p:grpSp>
        <p:nvGrpSpPr>
          <p:cNvPr id="13" name="Group 13"/>
          <p:cNvGrpSpPr/>
          <p:nvPr/>
        </p:nvGrpSpPr>
        <p:grpSpPr>
          <a:xfrm>
            <a:off x="4781845" y="8754018"/>
            <a:ext cx="10224545" cy="1994535"/>
            <a:chOff x="0" y="0"/>
            <a:chExt cx="13632726" cy="2659380"/>
          </a:xfrm>
        </p:grpSpPr>
        <p:sp>
          <p:nvSpPr>
            <p:cNvPr id="14" name="Freeform 14"/>
            <p:cNvSpPr/>
            <p:nvPr/>
          </p:nvSpPr>
          <p:spPr>
            <a:xfrm>
              <a:off x="0" y="0"/>
              <a:ext cx="13632726" cy="2659385"/>
            </a:xfrm>
            <a:custGeom>
              <a:avLst/>
              <a:gdLst/>
              <a:ahLst/>
              <a:cxnLst/>
              <a:rect l="l" t="t" r="r" b="b"/>
              <a:pathLst>
                <a:path w="13632726" h="2659385">
                  <a:moveTo>
                    <a:pt x="0" y="0"/>
                  </a:moveTo>
                  <a:lnTo>
                    <a:pt x="13632726" y="0"/>
                  </a:lnTo>
                  <a:lnTo>
                    <a:pt x="13632726" y="2659385"/>
                  </a:lnTo>
                  <a:lnTo>
                    <a:pt x="0" y="2659385"/>
                  </a:lnTo>
                  <a:close/>
                </a:path>
              </a:pathLst>
            </a:custGeom>
            <a:blipFill>
              <a:blip r:embed="rId6">
                <a:alphaModFix amt="0"/>
              </a:blip>
              <a:stretch>
                <a:fillRect t="-49885" b="-49885"/>
              </a:stretch>
            </a:blipFill>
          </p:spPr>
          <p:txBody>
            <a:bodyPr/>
            <a:lstStyle/>
            <a:p>
              <a:endParaRPr lang="en-US"/>
            </a:p>
          </p:txBody>
        </p:sp>
        <p:sp>
          <p:nvSpPr>
            <p:cNvPr id="15" name="TextBox 15"/>
            <p:cNvSpPr txBox="1"/>
            <p:nvPr/>
          </p:nvSpPr>
          <p:spPr>
            <a:xfrm>
              <a:off x="0" y="-19050"/>
              <a:ext cx="13632726" cy="267843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6" name="TextBox 16"/>
          <p:cNvSpPr txBox="1"/>
          <p:nvPr/>
        </p:nvSpPr>
        <p:spPr>
          <a:xfrm>
            <a:off x="10921898" y="488947"/>
            <a:ext cx="6971929" cy="282575"/>
          </a:xfrm>
          <a:prstGeom prst="rect">
            <a:avLst/>
          </a:prstGeom>
        </p:spPr>
        <p:txBody>
          <a:bodyPr lIns="0" tIns="0" rIns="0" bIns="0" rtlCol="0" anchor="t">
            <a:spAutoFit/>
          </a:bodyPr>
          <a:lstStyle/>
          <a:p>
            <a:pPr algn="ctr">
              <a:lnSpc>
                <a:spcPts val="2200"/>
              </a:lnSpc>
            </a:pPr>
            <a:r>
              <a:rPr lang="en-US" sz="2000" b="1">
                <a:solidFill>
                  <a:srgbClr val="06728A"/>
                </a:solidFill>
                <a:latin typeface="Garet Bold"/>
                <a:ea typeface="Garet Bold"/>
                <a:cs typeface="Garet Bold"/>
                <a:sym typeface="Garet Bold"/>
              </a:rPr>
              <a:t>HOUSEHOLD DISTILLED WATER MAKER (IoT-BASED)</a:t>
            </a:r>
          </a:p>
        </p:txBody>
      </p:sp>
      <p:sp>
        <p:nvSpPr>
          <p:cNvPr id="17" name="TextBox 17"/>
          <p:cNvSpPr txBox="1"/>
          <p:nvPr/>
        </p:nvSpPr>
        <p:spPr>
          <a:xfrm>
            <a:off x="1370840" y="1528549"/>
            <a:ext cx="8839925" cy="128625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Design Excellence / Contribution</a:t>
            </a:r>
          </a:p>
          <a:p>
            <a:pPr algn="l">
              <a:lnSpc>
                <a:spcPts val="6600"/>
              </a:lnSpc>
            </a:pPr>
            <a:endParaRPr lang="en-US" sz="3600" b="1" dirty="0">
              <a:solidFill>
                <a:srgbClr val="06728A"/>
              </a:solidFill>
              <a:latin typeface="Garet Bold"/>
              <a:ea typeface="Garet Bold"/>
              <a:cs typeface="Garet Bold"/>
              <a:sym typeface="Garet Bold"/>
            </a:endParaRPr>
          </a:p>
        </p:txBody>
      </p:sp>
      <p:sp>
        <p:nvSpPr>
          <p:cNvPr id="18" name="TextBox 18"/>
          <p:cNvSpPr txBox="1"/>
          <p:nvPr/>
        </p:nvSpPr>
        <p:spPr>
          <a:xfrm>
            <a:off x="1370875" y="5648931"/>
            <a:ext cx="7718127" cy="1036181"/>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User Feedback on Prototype</a:t>
            </a:r>
          </a:p>
          <a:p>
            <a:pPr algn="l">
              <a:lnSpc>
                <a:spcPts val="3960"/>
              </a:lnSpc>
            </a:pPr>
            <a:endParaRPr lang="en-US" sz="3600" b="1" dirty="0">
              <a:solidFill>
                <a:srgbClr val="06728A"/>
              </a:solidFill>
              <a:latin typeface="Garet Bold"/>
              <a:ea typeface="Garet Bold"/>
              <a:cs typeface="Garet Bold"/>
              <a:sym typeface="Garet Bold"/>
            </a:endParaRPr>
          </a:p>
        </p:txBody>
      </p:sp>
      <p:grpSp>
        <p:nvGrpSpPr>
          <p:cNvPr id="19" name="Group 19"/>
          <p:cNvGrpSpPr/>
          <p:nvPr/>
        </p:nvGrpSpPr>
        <p:grpSpPr>
          <a:xfrm>
            <a:off x="0" y="9551575"/>
            <a:ext cx="3771900" cy="735425"/>
            <a:chOff x="0" y="0"/>
            <a:chExt cx="5029200" cy="980567"/>
          </a:xfrm>
        </p:grpSpPr>
        <p:sp>
          <p:nvSpPr>
            <p:cNvPr id="20" name="Freeform 20"/>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7"/>
              <a:stretch>
                <a:fillRect t="-128" b="-128"/>
              </a:stretch>
            </a:blipFill>
          </p:spPr>
          <p:txBody>
            <a:bodyPr/>
            <a:lstStyle/>
            <a:p>
              <a:endParaRPr 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sp>
        <p:nvSpPr>
          <p:cNvPr id="4" name="Freeform 4"/>
          <p:cNvSpPr/>
          <p:nvPr/>
        </p:nvSpPr>
        <p:spPr>
          <a:xfrm rot="577740">
            <a:off x="1065971" y="2839431"/>
            <a:ext cx="486623" cy="486623"/>
          </a:xfrm>
          <a:custGeom>
            <a:avLst/>
            <a:gdLst/>
            <a:ahLst/>
            <a:cxnLst/>
            <a:rect l="l" t="t" r="r" b="b"/>
            <a:pathLst>
              <a:path w="486623" h="486623">
                <a:moveTo>
                  <a:pt x="0" y="0"/>
                </a:moveTo>
                <a:lnTo>
                  <a:pt x="486623" y="0"/>
                </a:lnTo>
                <a:lnTo>
                  <a:pt x="486623" y="486623"/>
                </a:lnTo>
                <a:lnTo>
                  <a:pt x="0" y="486623"/>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557640">
            <a:off x="16175422" y="1675371"/>
            <a:ext cx="486623" cy="486623"/>
          </a:xfrm>
          <a:custGeom>
            <a:avLst/>
            <a:gdLst/>
            <a:ahLst/>
            <a:cxnLst/>
            <a:rect l="l" t="t" r="r" b="b"/>
            <a:pathLst>
              <a:path w="486623" h="486623">
                <a:moveTo>
                  <a:pt x="0" y="0"/>
                </a:moveTo>
                <a:lnTo>
                  <a:pt x="486622" y="0"/>
                </a:lnTo>
                <a:lnTo>
                  <a:pt x="486622" y="486623"/>
                </a:lnTo>
                <a:lnTo>
                  <a:pt x="0" y="486623"/>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rot="248760">
            <a:off x="16755723" y="8524989"/>
            <a:ext cx="486623" cy="486623"/>
          </a:xfrm>
          <a:custGeom>
            <a:avLst/>
            <a:gdLst/>
            <a:ahLst/>
            <a:cxnLst/>
            <a:rect l="l" t="t" r="r" b="b"/>
            <a:pathLst>
              <a:path w="486623" h="486623">
                <a:moveTo>
                  <a:pt x="0" y="0"/>
                </a:moveTo>
                <a:lnTo>
                  <a:pt x="486623" y="0"/>
                </a:lnTo>
                <a:lnTo>
                  <a:pt x="486623" y="486623"/>
                </a:lnTo>
                <a:lnTo>
                  <a:pt x="0" y="486623"/>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3901378" y="1131550"/>
            <a:ext cx="11985479" cy="507721"/>
          </a:xfrm>
          <a:prstGeom prst="rect">
            <a:avLst/>
          </a:prstGeom>
        </p:spPr>
        <p:txBody>
          <a:bodyPr lIns="0" tIns="0" rIns="0" bIns="0" rtlCol="0" anchor="t">
            <a:spAutoFit/>
          </a:bodyPr>
          <a:lstStyle/>
          <a:p>
            <a:pPr algn="l">
              <a:lnSpc>
                <a:spcPts val="4375"/>
              </a:lnSpc>
            </a:pPr>
            <a:r>
              <a:rPr lang="en-US" sz="3977" b="1">
                <a:solidFill>
                  <a:srgbClr val="06728A"/>
                </a:solidFill>
                <a:latin typeface="Garet Bold"/>
                <a:ea typeface="Garet Bold"/>
                <a:cs typeface="Garet Bold"/>
                <a:sym typeface="Garet Bold"/>
              </a:rPr>
              <a:t>IT22193940  |  R.M.N.A.RATHNAYAKE</a:t>
            </a:r>
          </a:p>
        </p:txBody>
      </p:sp>
      <p:grpSp>
        <p:nvGrpSpPr>
          <p:cNvPr id="8" name="Group 8"/>
          <p:cNvGrpSpPr/>
          <p:nvPr/>
        </p:nvGrpSpPr>
        <p:grpSpPr>
          <a:xfrm>
            <a:off x="14970033" y="0"/>
            <a:ext cx="3317967" cy="3934739"/>
            <a:chOff x="0" y="0"/>
            <a:chExt cx="4423956" cy="5246319"/>
          </a:xfrm>
        </p:grpSpPr>
        <p:sp>
          <p:nvSpPr>
            <p:cNvPr id="9" name="Freeform 9"/>
            <p:cNvSpPr/>
            <p:nvPr/>
          </p:nvSpPr>
          <p:spPr>
            <a:xfrm>
              <a:off x="0" y="0"/>
              <a:ext cx="4423918" cy="5246370"/>
            </a:xfrm>
            <a:custGeom>
              <a:avLst/>
              <a:gdLst/>
              <a:ahLst/>
              <a:cxnLst/>
              <a:rect l="l" t="t" r="r" b="b"/>
              <a:pathLst>
                <a:path w="4423918" h="5246370">
                  <a:moveTo>
                    <a:pt x="0" y="0"/>
                  </a:moveTo>
                  <a:lnTo>
                    <a:pt x="4423918" y="0"/>
                  </a:lnTo>
                  <a:lnTo>
                    <a:pt x="4423918" y="5246370"/>
                  </a:lnTo>
                  <a:lnTo>
                    <a:pt x="0" y="5246370"/>
                  </a:lnTo>
                  <a:lnTo>
                    <a:pt x="0" y="0"/>
                  </a:lnTo>
                  <a:close/>
                </a:path>
              </a:pathLst>
            </a:custGeom>
            <a:blipFill>
              <a:blip r:embed="rId5"/>
              <a:stretch>
                <a:fillRect t="-13165" b="-13164"/>
              </a:stretch>
            </a:blipFill>
          </p:spPr>
          <p:txBody>
            <a:bodyPr/>
            <a:lstStyle/>
            <a:p>
              <a:endParaRPr lang="en-US"/>
            </a:p>
          </p:txBody>
        </p:sp>
      </p:grpSp>
      <p:grpSp>
        <p:nvGrpSpPr>
          <p:cNvPr id="10" name="Group 10"/>
          <p:cNvGrpSpPr/>
          <p:nvPr/>
        </p:nvGrpSpPr>
        <p:grpSpPr>
          <a:xfrm>
            <a:off x="0" y="9559957"/>
            <a:ext cx="3771900" cy="735425"/>
            <a:chOff x="0" y="0"/>
            <a:chExt cx="5029200" cy="980567"/>
          </a:xfrm>
        </p:grpSpPr>
        <p:sp>
          <p:nvSpPr>
            <p:cNvPr id="11" name="Freeform 11"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6"/>
              <a:stretch>
                <a:fillRect t="-94249" b="-94249"/>
              </a:stretch>
            </a:blipFill>
          </p:spPr>
          <p:txBody>
            <a:bodyPr/>
            <a:lstStyle/>
            <a:p>
              <a:endParaRPr lang="en-US"/>
            </a:p>
          </p:txBody>
        </p:sp>
      </p:grpSp>
      <p:sp>
        <p:nvSpPr>
          <p:cNvPr id="12" name="TextBox 12"/>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grpSp>
        <p:nvGrpSpPr>
          <p:cNvPr id="13" name="Group 13"/>
          <p:cNvGrpSpPr/>
          <p:nvPr/>
        </p:nvGrpSpPr>
        <p:grpSpPr>
          <a:xfrm>
            <a:off x="4781845" y="8768305"/>
            <a:ext cx="10224545" cy="1980248"/>
            <a:chOff x="0" y="0"/>
            <a:chExt cx="13632726" cy="2640330"/>
          </a:xfrm>
        </p:grpSpPr>
        <p:sp>
          <p:nvSpPr>
            <p:cNvPr id="14" name="Freeform 14"/>
            <p:cNvSpPr/>
            <p:nvPr/>
          </p:nvSpPr>
          <p:spPr>
            <a:xfrm>
              <a:off x="0" y="0"/>
              <a:ext cx="13632687" cy="2640330"/>
            </a:xfrm>
            <a:custGeom>
              <a:avLst/>
              <a:gdLst/>
              <a:ahLst/>
              <a:cxnLst/>
              <a:rect l="l" t="t" r="r" b="b"/>
              <a:pathLst>
                <a:path w="13632687" h="2640330">
                  <a:moveTo>
                    <a:pt x="0" y="0"/>
                  </a:moveTo>
                  <a:lnTo>
                    <a:pt x="13632687" y="0"/>
                  </a:lnTo>
                  <a:lnTo>
                    <a:pt x="13632687" y="2640330"/>
                  </a:lnTo>
                  <a:lnTo>
                    <a:pt x="0" y="2640330"/>
                  </a:lnTo>
                  <a:close/>
                </a:path>
              </a:pathLst>
            </a:custGeom>
            <a:blipFill>
              <a:blip r:embed="rId7">
                <a:alphaModFix amt="0"/>
              </a:blip>
              <a:stretch>
                <a:fillRect t="-50536" b="-50536"/>
              </a:stretch>
            </a:blipFill>
          </p:spPr>
          <p:txBody>
            <a:bodyPr/>
            <a:lstStyle/>
            <a:p>
              <a:endParaRPr lang="en-US"/>
            </a:p>
          </p:txBody>
        </p:sp>
      </p:grpSp>
      <p:grpSp>
        <p:nvGrpSpPr>
          <p:cNvPr id="15" name="Group 15"/>
          <p:cNvGrpSpPr/>
          <p:nvPr/>
        </p:nvGrpSpPr>
        <p:grpSpPr>
          <a:xfrm>
            <a:off x="4781845" y="8754018"/>
            <a:ext cx="10224545" cy="1994535"/>
            <a:chOff x="0" y="0"/>
            <a:chExt cx="13632726" cy="2659380"/>
          </a:xfrm>
        </p:grpSpPr>
        <p:sp>
          <p:nvSpPr>
            <p:cNvPr id="16" name="Freeform 16"/>
            <p:cNvSpPr/>
            <p:nvPr/>
          </p:nvSpPr>
          <p:spPr>
            <a:xfrm>
              <a:off x="0" y="0"/>
              <a:ext cx="13632726" cy="2659385"/>
            </a:xfrm>
            <a:custGeom>
              <a:avLst/>
              <a:gdLst/>
              <a:ahLst/>
              <a:cxnLst/>
              <a:rect l="l" t="t" r="r" b="b"/>
              <a:pathLst>
                <a:path w="13632726" h="2659385">
                  <a:moveTo>
                    <a:pt x="0" y="0"/>
                  </a:moveTo>
                  <a:lnTo>
                    <a:pt x="13632726" y="0"/>
                  </a:lnTo>
                  <a:lnTo>
                    <a:pt x="13632726" y="2659385"/>
                  </a:lnTo>
                  <a:lnTo>
                    <a:pt x="0" y="2659385"/>
                  </a:lnTo>
                  <a:close/>
                </a:path>
              </a:pathLst>
            </a:custGeom>
            <a:blipFill>
              <a:blip r:embed="rId8">
                <a:alphaModFix amt="0"/>
              </a:blip>
              <a:stretch>
                <a:fillRect t="-49885" b="-49885"/>
              </a:stretch>
            </a:blipFill>
          </p:spPr>
          <p:txBody>
            <a:bodyPr/>
            <a:lstStyle/>
            <a:p>
              <a:endParaRPr lang="en-US"/>
            </a:p>
          </p:txBody>
        </p:sp>
        <p:sp>
          <p:nvSpPr>
            <p:cNvPr id="17" name="TextBox 17"/>
            <p:cNvSpPr txBox="1"/>
            <p:nvPr/>
          </p:nvSpPr>
          <p:spPr>
            <a:xfrm>
              <a:off x="0" y="-19050"/>
              <a:ext cx="13632726" cy="267843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8" name="TextBox 18"/>
          <p:cNvSpPr txBox="1"/>
          <p:nvPr/>
        </p:nvSpPr>
        <p:spPr>
          <a:xfrm>
            <a:off x="2419417" y="3120842"/>
            <a:ext cx="12550616" cy="2472248"/>
          </a:xfrm>
          <a:prstGeom prst="rect">
            <a:avLst/>
          </a:prstGeom>
        </p:spPr>
        <p:txBody>
          <a:bodyPr lIns="0" tIns="0" rIns="0" bIns="0" rtlCol="0" anchor="t">
            <a:spAutoFit/>
          </a:bodyPr>
          <a:lstStyle/>
          <a:p>
            <a:pPr algn="ctr">
              <a:lnSpc>
                <a:spcPts val="4831"/>
              </a:lnSpc>
            </a:pPr>
            <a:r>
              <a:rPr lang="en-US" sz="4392" b="1">
                <a:solidFill>
                  <a:srgbClr val="06728A"/>
                </a:solidFill>
                <a:latin typeface="Garet Bold"/>
                <a:ea typeface="Garet Bold"/>
                <a:cs typeface="Garet Bold"/>
                <a:sym typeface="Garet Bold"/>
              </a:rPr>
              <a:t>ALKALINE WATER GENERATION USING </a:t>
            </a:r>
          </a:p>
          <a:p>
            <a:pPr algn="ctr">
              <a:lnSpc>
                <a:spcPts val="4831"/>
              </a:lnSpc>
            </a:pPr>
            <a:r>
              <a:rPr lang="en-US" sz="4392" b="1">
                <a:solidFill>
                  <a:srgbClr val="06728A"/>
                </a:solidFill>
                <a:latin typeface="Garet Bold"/>
                <a:ea typeface="Garet Bold"/>
                <a:cs typeface="Garet Bold"/>
                <a:sym typeface="Garet Bold"/>
              </a:rPr>
              <a:t>IoT-BASED MINERAL BALANCING </a:t>
            </a:r>
          </a:p>
          <a:p>
            <a:pPr algn="ctr">
              <a:lnSpc>
                <a:spcPts val="4831"/>
              </a:lnSpc>
            </a:pPr>
            <a:endParaRPr lang="en-US" sz="4392" b="1">
              <a:solidFill>
                <a:srgbClr val="06728A"/>
              </a:solidFill>
              <a:latin typeface="Garet Bold"/>
              <a:ea typeface="Garet Bold"/>
              <a:cs typeface="Garet Bold"/>
              <a:sym typeface="Garet Bold"/>
            </a:endParaRPr>
          </a:p>
          <a:p>
            <a:pPr algn="ctr">
              <a:lnSpc>
                <a:spcPts val="4831"/>
              </a:lnSpc>
            </a:pPr>
            <a:endParaRPr lang="en-US" sz="4392" b="1">
              <a:solidFill>
                <a:srgbClr val="06728A"/>
              </a:solidFill>
              <a:latin typeface="Garet Bold"/>
              <a:ea typeface="Garet Bold"/>
              <a:cs typeface="Garet Bold"/>
              <a:sym typeface="Garet Bold"/>
            </a:endParaRPr>
          </a:p>
        </p:txBody>
      </p:sp>
      <p:grpSp>
        <p:nvGrpSpPr>
          <p:cNvPr id="19" name="Group 19"/>
          <p:cNvGrpSpPr/>
          <p:nvPr/>
        </p:nvGrpSpPr>
        <p:grpSpPr>
          <a:xfrm>
            <a:off x="0" y="9551575"/>
            <a:ext cx="3771900" cy="735425"/>
            <a:chOff x="0" y="0"/>
            <a:chExt cx="5029200" cy="980567"/>
          </a:xfrm>
        </p:grpSpPr>
        <p:sp>
          <p:nvSpPr>
            <p:cNvPr id="20" name="Freeform 20"/>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9"/>
              <a:stretch>
                <a:fillRect t="-128" b="-128"/>
              </a:stretch>
            </a:blipFill>
          </p:spPr>
          <p:txBody>
            <a:bodyPr/>
            <a:lstStyle/>
            <a:p>
              <a:endParaRPr lang="en-US"/>
            </a:p>
          </p:txBody>
        </p:sp>
      </p:grpSp>
      <p:sp>
        <p:nvSpPr>
          <p:cNvPr id="21" name="TextBox 21"/>
          <p:cNvSpPr txBox="1"/>
          <p:nvPr/>
        </p:nvSpPr>
        <p:spPr>
          <a:xfrm>
            <a:off x="2419417" y="6454550"/>
            <a:ext cx="13449167" cy="605790"/>
          </a:xfrm>
          <a:prstGeom prst="rect">
            <a:avLst/>
          </a:prstGeom>
        </p:spPr>
        <p:txBody>
          <a:bodyPr lIns="0" tIns="0" rIns="0" bIns="0" rtlCol="0" anchor="t">
            <a:spAutoFit/>
          </a:bodyPr>
          <a:lstStyle/>
          <a:p>
            <a:pPr algn="ctr">
              <a:lnSpc>
                <a:spcPts val="4620"/>
              </a:lnSpc>
            </a:pPr>
            <a:r>
              <a:rPr lang="en-US" sz="4200" b="1">
                <a:solidFill>
                  <a:srgbClr val="06728A"/>
                </a:solidFill>
                <a:latin typeface="Garet Bold"/>
                <a:ea typeface="Garet Bold"/>
                <a:cs typeface="Garet Bold"/>
                <a:sym typeface="Garet Bold"/>
              </a:rPr>
              <a:t> Specialization : Information Technology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grpSp>
        <p:nvGrpSpPr>
          <p:cNvPr id="4" name="Group 4"/>
          <p:cNvGrpSpPr/>
          <p:nvPr/>
        </p:nvGrpSpPr>
        <p:grpSpPr>
          <a:xfrm rot="9551400">
            <a:off x="15235457" y="1087660"/>
            <a:ext cx="3982803" cy="5390340"/>
            <a:chOff x="0" y="0"/>
            <a:chExt cx="5310403" cy="7187120"/>
          </a:xfrm>
        </p:grpSpPr>
        <p:sp>
          <p:nvSpPr>
            <p:cNvPr id="5" name="Freeform 5"/>
            <p:cNvSpPr/>
            <p:nvPr/>
          </p:nvSpPr>
          <p:spPr>
            <a:xfrm flipH="1">
              <a:off x="0" y="0"/>
              <a:ext cx="5310378" cy="7187057"/>
            </a:xfrm>
            <a:custGeom>
              <a:avLst/>
              <a:gdLst/>
              <a:ahLst/>
              <a:cxnLst/>
              <a:rect l="l" t="t" r="r" b="b"/>
              <a:pathLst>
                <a:path w="5310378" h="7187057">
                  <a:moveTo>
                    <a:pt x="5310378" y="0"/>
                  </a:moveTo>
                  <a:lnTo>
                    <a:pt x="0" y="0"/>
                  </a:lnTo>
                  <a:lnTo>
                    <a:pt x="0" y="7187057"/>
                  </a:lnTo>
                  <a:lnTo>
                    <a:pt x="5310378" y="7187057"/>
                  </a:lnTo>
                  <a:lnTo>
                    <a:pt x="5310378" y="0"/>
                  </a:lnTo>
                  <a:close/>
                </a:path>
              </a:pathLst>
            </a:custGeom>
            <a:blipFill>
              <a:blip r:embed="rId3"/>
              <a:stretch>
                <a:fillRect t="-914" b="-915"/>
              </a:stretch>
            </a:blipFill>
          </p:spPr>
          <p:txBody>
            <a:bodyPr/>
            <a:lstStyle/>
            <a:p>
              <a:endParaRPr lang="en-US"/>
            </a:p>
          </p:txBody>
        </p:sp>
      </p:grpSp>
      <p:sp>
        <p:nvSpPr>
          <p:cNvPr id="6" name="TextBox 6"/>
          <p:cNvSpPr txBox="1"/>
          <p:nvPr/>
        </p:nvSpPr>
        <p:spPr>
          <a:xfrm>
            <a:off x="1334975" y="1736329"/>
            <a:ext cx="14130245" cy="3407171"/>
          </a:xfrm>
          <a:prstGeom prst="rect">
            <a:avLst/>
          </a:prstGeom>
        </p:spPr>
        <p:txBody>
          <a:bodyPr lIns="0" tIns="0" rIns="0" bIns="0" rtlCol="0" anchor="t">
            <a:spAutoFit/>
          </a:bodyPr>
          <a:lstStyle/>
          <a:p>
            <a:pPr marL="553363" lvl="1" indent="-276682" algn="just">
              <a:lnSpc>
                <a:spcPts val="3908"/>
              </a:lnSpc>
              <a:buFont typeface="Arial"/>
              <a:buChar char="•"/>
            </a:pPr>
            <a:r>
              <a:rPr lang="en-US" sz="2563" b="1">
                <a:solidFill>
                  <a:srgbClr val="1B3957"/>
                </a:solidFill>
                <a:latin typeface="Arimo Bold"/>
                <a:ea typeface="Arimo Bold"/>
                <a:cs typeface="Arimo Bold"/>
                <a:sym typeface="Arimo Bold"/>
              </a:rPr>
              <a:t>Addresses the need for safe and healthy drinking water by converting regular water into alkaline water through IoT-controlled mineral balancing. </a:t>
            </a:r>
          </a:p>
          <a:p>
            <a:pPr marL="553363" lvl="1" indent="-276682" algn="just">
              <a:lnSpc>
                <a:spcPts val="3908"/>
              </a:lnSpc>
              <a:buFont typeface="Arial"/>
              <a:buChar char="•"/>
            </a:pPr>
            <a:r>
              <a:rPr lang="en-US" sz="2563" b="1">
                <a:solidFill>
                  <a:srgbClr val="1B3957"/>
                </a:solidFill>
                <a:latin typeface="Arimo Bold"/>
                <a:ea typeface="Arimo Bold"/>
                <a:cs typeface="Arimo Bold"/>
                <a:sym typeface="Arimo Bold"/>
              </a:rPr>
              <a:t>The system optimizes pH adjustment and mineral infusion cycles to maintain consistent water quality. </a:t>
            </a:r>
          </a:p>
          <a:p>
            <a:pPr marL="553363" lvl="1" indent="-276682" algn="just">
              <a:lnSpc>
                <a:spcPts val="3908"/>
              </a:lnSpc>
              <a:buFont typeface="Arial"/>
              <a:buChar char="•"/>
            </a:pPr>
            <a:r>
              <a:rPr lang="en-US" sz="2563" b="1">
                <a:solidFill>
                  <a:srgbClr val="1B3957"/>
                </a:solidFill>
                <a:latin typeface="Arimo Bold"/>
                <a:ea typeface="Arimo Bold"/>
                <a:cs typeface="Arimo Bold"/>
                <a:sym typeface="Arimo Bold"/>
              </a:rPr>
              <a:t>Enables fully automated alkaline water generation with minimal manual intervention.</a:t>
            </a:r>
          </a:p>
          <a:p>
            <a:pPr marL="553363" lvl="1" indent="-276682" algn="just">
              <a:lnSpc>
                <a:spcPts val="3910"/>
              </a:lnSpc>
              <a:buFont typeface="Arial"/>
              <a:buChar char="•"/>
            </a:pPr>
            <a:r>
              <a:rPr lang="en-US" sz="2563" b="1">
                <a:solidFill>
                  <a:srgbClr val="1B3957"/>
                </a:solidFill>
                <a:latin typeface="Arimo Bold"/>
                <a:ea typeface="Arimo Bold"/>
                <a:cs typeface="Arimo Bold"/>
                <a:sym typeface="Arimo Bold"/>
              </a:rPr>
              <a:t>Integrates with water quality monitoring and AI-based analysis modules for improved safety and consistency.</a:t>
            </a:r>
          </a:p>
        </p:txBody>
      </p:sp>
      <p:grpSp>
        <p:nvGrpSpPr>
          <p:cNvPr id="7" name="Group 7"/>
          <p:cNvGrpSpPr/>
          <p:nvPr/>
        </p:nvGrpSpPr>
        <p:grpSpPr>
          <a:xfrm>
            <a:off x="0" y="9559957"/>
            <a:ext cx="3771900" cy="735425"/>
            <a:chOff x="0" y="0"/>
            <a:chExt cx="5029200" cy="980567"/>
          </a:xfrm>
        </p:grpSpPr>
        <p:sp>
          <p:nvSpPr>
            <p:cNvPr id="8" name="Freeform 8"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4249" b="-94249"/>
              </a:stretch>
            </a:blipFill>
          </p:spPr>
          <p:txBody>
            <a:bodyPr/>
            <a:lstStyle/>
            <a:p>
              <a:endParaRPr lang="en-US"/>
            </a:p>
          </p:txBody>
        </p:sp>
      </p:grpSp>
      <p:grpSp>
        <p:nvGrpSpPr>
          <p:cNvPr id="9" name="Group 9"/>
          <p:cNvGrpSpPr/>
          <p:nvPr/>
        </p:nvGrpSpPr>
        <p:grpSpPr>
          <a:xfrm>
            <a:off x="4781845" y="8768305"/>
            <a:ext cx="10224545" cy="1980248"/>
            <a:chOff x="0" y="0"/>
            <a:chExt cx="13632726" cy="2640330"/>
          </a:xfrm>
        </p:grpSpPr>
        <p:sp>
          <p:nvSpPr>
            <p:cNvPr id="10" name="Freeform 10"/>
            <p:cNvSpPr/>
            <p:nvPr/>
          </p:nvSpPr>
          <p:spPr>
            <a:xfrm>
              <a:off x="0" y="0"/>
              <a:ext cx="13632687" cy="2640330"/>
            </a:xfrm>
            <a:custGeom>
              <a:avLst/>
              <a:gdLst/>
              <a:ahLst/>
              <a:cxnLst/>
              <a:rect l="l" t="t" r="r" b="b"/>
              <a:pathLst>
                <a:path w="13632687" h="2640330">
                  <a:moveTo>
                    <a:pt x="0" y="0"/>
                  </a:moveTo>
                  <a:lnTo>
                    <a:pt x="13632687" y="0"/>
                  </a:lnTo>
                  <a:lnTo>
                    <a:pt x="13632687" y="2640330"/>
                  </a:lnTo>
                  <a:lnTo>
                    <a:pt x="0" y="2640330"/>
                  </a:lnTo>
                  <a:close/>
                </a:path>
              </a:pathLst>
            </a:custGeom>
            <a:blipFill>
              <a:blip r:embed="rId5">
                <a:alphaModFix amt="0"/>
              </a:blip>
              <a:stretch>
                <a:fillRect t="-50536" b="-50536"/>
              </a:stretch>
            </a:blipFill>
          </p:spPr>
          <p:txBody>
            <a:bodyPr/>
            <a:lstStyle/>
            <a:p>
              <a:endParaRPr lang="en-US"/>
            </a:p>
          </p:txBody>
        </p:sp>
      </p:grpSp>
      <p:grpSp>
        <p:nvGrpSpPr>
          <p:cNvPr id="11" name="Group 11"/>
          <p:cNvGrpSpPr/>
          <p:nvPr/>
        </p:nvGrpSpPr>
        <p:grpSpPr>
          <a:xfrm>
            <a:off x="4781845" y="8754018"/>
            <a:ext cx="10224545" cy="1994535"/>
            <a:chOff x="0" y="0"/>
            <a:chExt cx="13632726" cy="2659380"/>
          </a:xfrm>
        </p:grpSpPr>
        <p:sp>
          <p:nvSpPr>
            <p:cNvPr id="12" name="Freeform 12"/>
            <p:cNvSpPr/>
            <p:nvPr/>
          </p:nvSpPr>
          <p:spPr>
            <a:xfrm>
              <a:off x="0" y="0"/>
              <a:ext cx="13632726" cy="2659385"/>
            </a:xfrm>
            <a:custGeom>
              <a:avLst/>
              <a:gdLst/>
              <a:ahLst/>
              <a:cxnLst/>
              <a:rect l="l" t="t" r="r" b="b"/>
              <a:pathLst>
                <a:path w="13632726" h="2659385">
                  <a:moveTo>
                    <a:pt x="0" y="0"/>
                  </a:moveTo>
                  <a:lnTo>
                    <a:pt x="13632726" y="0"/>
                  </a:lnTo>
                  <a:lnTo>
                    <a:pt x="13632726" y="2659385"/>
                  </a:lnTo>
                  <a:lnTo>
                    <a:pt x="0" y="2659385"/>
                  </a:lnTo>
                  <a:close/>
                </a:path>
              </a:pathLst>
            </a:custGeom>
            <a:blipFill>
              <a:blip r:embed="rId6">
                <a:alphaModFix amt="0"/>
              </a:blip>
              <a:stretch>
                <a:fillRect t="-49885" b="-49885"/>
              </a:stretch>
            </a:blipFill>
          </p:spPr>
          <p:txBody>
            <a:bodyPr/>
            <a:lstStyle/>
            <a:p>
              <a:endParaRPr lang="en-US"/>
            </a:p>
          </p:txBody>
        </p:sp>
        <p:sp>
          <p:nvSpPr>
            <p:cNvPr id="13" name="TextBox 13"/>
            <p:cNvSpPr txBox="1"/>
            <p:nvPr/>
          </p:nvSpPr>
          <p:spPr>
            <a:xfrm>
              <a:off x="0" y="-19050"/>
              <a:ext cx="13632726" cy="267843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4" name="TextBox 14"/>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sp>
        <p:nvSpPr>
          <p:cNvPr id="15" name="TextBox 15"/>
          <p:cNvSpPr txBox="1"/>
          <p:nvPr/>
        </p:nvSpPr>
        <p:spPr>
          <a:xfrm>
            <a:off x="1480186" y="6122546"/>
            <a:ext cx="15527619" cy="4004123"/>
          </a:xfrm>
          <a:prstGeom prst="rect">
            <a:avLst/>
          </a:prstGeom>
        </p:spPr>
        <p:txBody>
          <a:bodyPr lIns="0" tIns="0" rIns="0" bIns="0" rtlCol="0" anchor="t">
            <a:spAutoFit/>
          </a:bodyPr>
          <a:lstStyle/>
          <a:p>
            <a:pPr marL="550085" lvl="1" indent="-275043" algn="just">
              <a:lnSpc>
                <a:spcPts val="3567"/>
              </a:lnSpc>
              <a:buFont typeface="Arial"/>
              <a:buChar char="•"/>
            </a:pPr>
            <a:r>
              <a:rPr lang="en-US" sz="2547" b="1">
                <a:solidFill>
                  <a:srgbClr val="1B3957"/>
                </a:solidFill>
                <a:latin typeface="Arimo Bold"/>
                <a:ea typeface="Arimo Bold"/>
                <a:cs typeface="Arimo Bold"/>
                <a:sym typeface="Arimo Bold"/>
              </a:rPr>
              <a:t>Provides automated alkaline water generation using smart mineral balancing</a:t>
            </a:r>
          </a:p>
          <a:p>
            <a:pPr marL="550085" lvl="1" indent="-275043" algn="just">
              <a:lnSpc>
                <a:spcPts val="3567"/>
              </a:lnSpc>
              <a:buFont typeface="Arial"/>
              <a:buChar char="•"/>
            </a:pPr>
            <a:r>
              <a:rPr lang="en-US" sz="2547" b="1">
                <a:solidFill>
                  <a:srgbClr val="1B3957"/>
                </a:solidFill>
                <a:latin typeface="Arimo Bold"/>
                <a:ea typeface="Arimo Bold"/>
                <a:cs typeface="Arimo Bold"/>
                <a:sym typeface="Arimo Bold"/>
              </a:rPr>
              <a:t>Reduces manual intervention in alkaline water preparation</a:t>
            </a:r>
          </a:p>
          <a:p>
            <a:pPr marL="550085" lvl="1" indent="-275043" algn="just">
              <a:lnSpc>
                <a:spcPts val="3567"/>
              </a:lnSpc>
              <a:buFont typeface="Arial"/>
              <a:buChar char="•"/>
            </a:pPr>
            <a:r>
              <a:rPr lang="en-US" sz="2547" b="1">
                <a:solidFill>
                  <a:srgbClr val="1B3957"/>
                </a:solidFill>
                <a:latin typeface="Arimo Bold"/>
                <a:ea typeface="Arimo Bold"/>
                <a:cs typeface="Arimo Bold"/>
                <a:sym typeface="Arimo Bold"/>
              </a:rPr>
              <a:t>Ensures consistent water quality and balanced mineral content</a:t>
            </a:r>
          </a:p>
          <a:p>
            <a:pPr marL="550085" lvl="1" indent="-275043" algn="just">
              <a:lnSpc>
                <a:spcPts val="3567"/>
              </a:lnSpc>
              <a:buFont typeface="Arial"/>
              <a:buChar char="•"/>
            </a:pPr>
            <a:r>
              <a:rPr lang="en-US" sz="2547" b="1">
                <a:solidFill>
                  <a:srgbClr val="1B3957"/>
                </a:solidFill>
                <a:latin typeface="Arimo Bold"/>
                <a:ea typeface="Arimo Bold"/>
                <a:cs typeface="Arimo Bold"/>
                <a:sym typeface="Arimo Bold"/>
              </a:rPr>
              <a:t>Enables IoT-based monitoring and system control</a:t>
            </a:r>
          </a:p>
          <a:p>
            <a:pPr marL="550085" lvl="1" indent="-275043" algn="just">
              <a:lnSpc>
                <a:spcPts val="3567"/>
              </a:lnSpc>
              <a:buFont typeface="Arial"/>
              <a:buChar char="•"/>
            </a:pPr>
            <a:r>
              <a:rPr lang="en-US" sz="2547" b="1">
                <a:solidFill>
                  <a:srgbClr val="1B3957"/>
                </a:solidFill>
                <a:latin typeface="Arimo Bold"/>
                <a:ea typeface="Arimo Bold"/>
                <a:cs typeface="Arimo Bold"/>
                <a:sym typeface="Arimo Bold"/>
              </a:rPr>
              <a:t>Supports customized water optimization for different user needs</a:t>
            </a:r>
          </a:p>
          <a:p>
            <a:pPr marL="550085" lvl="1" indent="-275043" algn="just">
              <a:lnSpc>
                <a:spcPts val="3567"/>
              </a:lnSpc>
              <a:buFont typeface="Arial"/>
              <a:buChar char="•"/>
            </a:pPr>
            <a:r>
              <a:rPr lang="en-US" sz="2547" b="1">
                <a:solidFill>
                  <a:srgbClr val="1B3957"/>
                </a:solidFill>
                <a:latin typeface="Arimo Bold"/>
                <a:ea typeface="Arimo Bold"/>
                <a:cs typeface="Arimo Bold"/>
                <a:sym typeface="Arimo Bold"/>
              </a:rPr>
              <a:t>Integrates with AI/ML modules for intelligent decision-making</a:t>
            </a:r>
          </a:p>
          <a:p>
            <a:pPr marL="550085" lvl="1" indent="-275043" algn="just">
              <a:lnSpc>
                <a:spcPts val="3567"/>
              </a:lnSpc>
              <a:buFont typeface="Arial"/>
              <a:buChar char="•"/>
            </a:pPr>
            <a:r>
              <a:rPr lang="en-US" sz="2547" b="1">
                <a:solidFill>
                  <a:srgbClr val="1B3957"/>
                </a:solidFill>
                <a:latin typeface="Arimo Bold"/>
                <a:ea typeface="Arimo Bold"/>
                <a:cs typeface="Arimo Bold"/>
                <a:sym typeface="Arimo Bold"/>
              </a:rPr>
              <a:t>Improves efficiency and reliability of alkaline water production</a:t>
            </a:r>
          </a:p>
          <a:p>
            <a:pPr algn="just">
              <a:lnSpc>
                <a:spcPts val="3567"/>
              </a:lnSpc>
            </a:pPr>
            <a:endParaRPr lang="en-US" sz="2547" b="1">
              <a:solidFill>
                <a:srgbClr val="1B3957"/>
              </a:solidFill>
              <a:latin typeface="Arimo Bold"/>
              <a:ea typeface="Arimo Bold"/>
              <a:cs typeface="Arimo Bold"/>
              <a:sym typeface="Arimo Bold"/>
            </a:endParaRPr>
          </a:p>
          <a:p>
            <a:pPr marL="550085" lvl="1" indent="-275043" algn="just">
              <a:lnSpc>
                <a:spcPts val="3567"/>
              </a:lnSpc>
              <a:buFont typeface="Arial"/>
              <a:buChar char="•"/>
            </a:pPr>
            <a:endParaRPr lang="en-US" sz="2547" b="1">
              <a:solidFill>
                <a:srgbClr val="1B3957"/>
              </a:solidFill>
              <a:latin typeface="Arimo Bold"/>
              <a:ea typeface="Arimo Bold"/>
              <a:cs typeface="Arimo Bold"/>
              <a:sym typeface="Arimo Bold"/>
            </a:endParaRPr>
          </a:p>
        </p:txBody>
      </p:sp>
      <p:sp>
        <p:nvSpPr>
          <p:cNvPr id="16" name="TextBox 16"/>
          <p:cNvSpPr txBox="1"/>
          <p:nvPr/>
        </p:nvSpPr>
        <p:spPr>
          <a:xfrm>
            <a:off x="12273942" y="374647"/>
            <a:ext cx="5056188" cy="835025"/>
          </a:xfrm>
          <a:prstGeom prst="rect">
            <a:avLst/>
          </a:prstGeom>
        </p:spPr>
        <p:txBody>
          <a:bodyPr lIns="0" tIns="0" rIns="0" bIns="0" rtlCol="0" anchor="t">
            <a:spAutoFit/>
          </a:bodyPr>
          <a:lstStyle/>
          <a:p>
            <a:pPr algn="ctr">
              <a:lnSpc>
                <a:spcPts val="2200"/>
              </a:lnSpc>
            </a:pPr>
            <a:r>
              <a:rPr lang="en-US" sz="2000" b="1">
                <a:solidFill>
                  <a:srgbClr val="06728A"/>
                </a:solidFill>
                <a:latin typeface="Garet Bold"/>
                <a:ea typeface="Garet Bold"/>
                <a:cs typeface="Garet Bold"/>
                <a:sym typeface="Garet Bold"/>
              </a:rPr>
              <a:t>ALKALINE WATER GENERATION USING </a:t>
            </a:r>
          </a:p>
          <a:p>
            <a:pPr algn="ctr">
              <a:lnSpc>
                <a:spcPts val="2200"/>
              </a:lnSpc>
            </a:pPr>
            <a:r>
              <a:rPr lang="en-US" sz="2000" b="1">
                <a:solidFill>
                  <a:srgbClr val="06728A"/>
                </a:solidFill>
                <a:latin typeface="Garet Bold"/>
                <a:ea typeface="Garet Bold"/>
                <a:cs typeface="Garet Bold"/>
                <a:sym typeface="Garet Bold"/>
              </a:rPr>
              <a:t>IoT-BASED MINERAL BALANCING </a:t>
            </a:r>
          </a:p>
          <a:p>
            <a:pPr algn="ctr">
              <a:lnSpc>
                <a:spcPts val="2200"/>
              </a:lnSpc>
            </a:pPr>
            <a:endParaRPr lang="en-US" sz="2000" b="1">
              <a:solidFill>
                <a:srgbClr val="06728A"/>
              </a:solidFill>
              <a:latin typeface="Garet Bold"/>
              <a:ea typeface="Garet Bold"/>
              <a:cs typeface="Garet Bold"/>
              <a:sym typeface="Garet Bold"/>
            </a:endParaRPr>
          </a:p>
        </p:txBody>
      </p:sp>
      <p:grpSp>
        <p:nvGrpSpPr>
          <p:cNvPr id="17" name="Group 17"/>
          <p:cNvGrpSpPr/>
          <p:nvPr/>
        </p:nvGrpSpPr>
        <p:grpSpPr>
          <a:xfrm>
            <a:off x="0" y="9551575"/>
            <a:ext cx="3771900" cy="735425"/>
            <a:chOff x="0" y="0"/>
            <a:chExt cx="5029200" cy="980567"/>
          </a:xfrm>
        </p:grpSpPr>
        <p:sp>
          <p:nvSpPr>
            <p:cNvPr id="18" name="Freeform 18"/>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7"/>
              <a:stretch>
                <a:fillRect t="-128" b="-128"/>
              </a:stretch>
            </a:blipFill>
          </p:spPr>
          <p:txBody>
            <a:bodyPr/>
            <a:lstStyle/>
            <a:p>
              <a:endParaRPr lang="en-US"/>
            </a:p>
          </p:txBody>
        </p:sp>
      </p:grpSp>
      <p:sp>
        <p:nvSpPr>
          <p:cNvPr id="19" name="TextBox 19"/>
          <p:cNvSpPr txBox="1"/>
          <p:nvPr/>
        </p:nvSpPr>
        <p:spPr>
          <a:xfrm>
            <a:off x="1334975" y="1056070"/>
            <a:ext cx="11208618" cy="128625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How the Solution Addresses the Sub-Problem</a:t>
            </a:r>
          </a:p>
          <a:p>
            <a:pPr algn="l">
              <a:lnSpc>
                <a:spcPts val="6600"/>
              </a:lnSpc>
            </a:pPr>
            <a:endParaRPr lang="en-US" sz="3600" b="1" dirty="0">
              <a:solidFill>
                <a:srgbClr val="06728A"/>
              </a:solidFill>
              <a:latin typeface="Garet Bold"/>
              <a:ea typeface="Garet Bold"/>
              <a:cs typeface="Garet Bold"/>
              <a:sym typeface="Garet Bold"/>
            </a:endParaRPr>
          </a:p>
        </p:txBody>
      </p:sp>
      <p:sp>
        <p:nvSpPr>
          <p:cNvPr id="20" name="TextBox 20"/>
          <p:cNvSpPr txBox="1"/>
          <p:nvPr/>
        </p:nvSpPr>
        <p:spPr>
          <a:xfrm>
            <a:off x="1480186" y="5511041"/>
            <a:ext cx="12235814" cy="128625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User Requirements Addressed by the Solution</a:t>
            </a:r>
          </a:p>
          <a:p>
            <a:pPr algn="l">
              <a:lnSpc>
                <a:spcPts val="6600"/>
              </a:lnSpc>
            </a:pPr>
            <a:endParaRPr lang="en-US" sz="3600" b="1" dirty="0">
              <a:solidFill>
                <a:srgbClr val="06728A"/>
              </a:solidFill>
              <a:latin typeface="Garet Bold"/>
              <a:ea typeface="Garet Bold"/>
              <a:cs typeface="Garet Bold"/>
              <a:sym typeface="Garet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grpSp>
        <p:nvGrpSpPr>
          <p:cNvPr id="4" name="Group 4"/>
          <p:cNvGrpSpPr/>
          <p:nvPr/>
        </p:nvGrpSpPr>
        <p:grpSpPr>
          <a:xfrm rot="9551400">
            <a:off x="15235457" y="1087660"/>
            <a:ext cx="3982803" cy="5390340"/>
            <a:chOff x="0" y="0"/>
            <a:chExt cx="5310403" cy="7187120"/>
          </a:xfrm>
        </p:grpSpPr>
        <p:sp>
          <p:nvSpPr>
            <p:cNvPr id="5" name="Freeform 5"/>
            <p:cNvSpPr/>
            <p:nvPr/>
          </p:nvSpPr>
          <p:spPr>
            <a:xfrm flipH="1">
              <a:off x="0" y="0"/>
              <a:ext cx="5310378" cy="7187057"/>
            </a:xfrm>
            <a:custGeom>
              <a:avLst/>
              <a:gdLst/>
              <a:ahLst/>
              <a:cxnLst/>
              <a:rect l="l" t="t" r="r" b="b"/>
              <a:pathLst>
                <a:path w="5310378" h="7187057">
                  <a:moveTo>
                    <a:pt x="5310378" y="0"/>
                  </a:moveTo>
                  <a:lnTo>
                    <a:pt x="0" y="0"/>
                  </a:lnTo>
                  <a:lnTo>
                    <a:pt x="0" y="7187057"/>
                  </a:lnTo>
                  <a:lnTo>
                    <a:pt x="5310378" y="7187057"/>
                  </a:lnTo>
                  <a:lnTo>
                    <a:pt x="5310378" y="0"/>
                  </a:lnTo>
                  <a:close/>
                </a:path>
              </a:pathLst>
            </a:custGeom>
            <a:blipFill>
              <a:blip r:embed="rId3"/>
              <a:stretch>
                <a:fillRect t="-914" b="-915"/>
              </a:stretch>
            </a:blipFill>
          </p:spPr>
          <p:txBody>
            <a:bodyPr/>
            <a:lstStyle/>
            <a:p>
              <a:endParaRPr lang="en-US"/>
            </a:p>
          </p:txBody>
        </p:sp>
      </p:grpSp>
      <p:sp>
        <p:nvSpPr>
          <p:cNvPr id="6" name="TextBox 6"/>
          <p:cNvSpPr txBox="1"/>
          <p:nvPr/>
        </p:nvSpPr>
        <p:spPr>
          <a:xfrm>
            <a:off x="1028700" y="1864681"/>
            <a:ext cx="13977690" cy="2566659"/>
          </a:xfrm>
          <a:prstGeom prst="rect">
            <a:avLst/>
          </a:prstGeom>
        </p:spPr>
        <p:txBody>
          <a:bodyPr lIns="0" tIns="0" rIns="0" bIns="0" rtlCol="0" anchor="t">
            <a:spAutoFit/>
          </a:bodyPr>
          <a:lstStyle/>
          <a:p>
            <a:pPr marL="528956" lvl="1" indent="-264478" algn="just">
              <a:lnSpc>
                <a:spcPts val="3430"/>
              </a:lnSpc>
              <a:buFont typeface="Arial"/>
              <a:buChar char="•"/>
            </a:pPr>
            <a:r>
              <a:rPr lang="en-US" sz="2450" b="1">
                <a:solidFill>
                  <a:srgbClr val="1B3957"/>
                </a:solidFill>
                <a:latin typeface="Arimo Bold"/>
                <a:ea typeface="Arimo Bold"/>
                <a:cs typeface="Arimo Bold"/>
                <a:sym typeface="Arimo Bold"/>
              </a:rPr>
              <a:t>To design, develop, and validate a smart IoT-based alkaline water generation system using mineral balancing techniques to produce healthy drinking water with controlled pH levels.</a:t>
            </a:r>
          </a:p>
          <a:p>
            <a:pPr algn="just">
              <a:lnSpc>
                <a:spcPts val="3430"/>
              </a:lnSpc>
            </a:pPr>
            <a:endParaRPr lang="en-US" sz="2450" b="1">
              <a:solidFill>
                <a:srgbClr val="1B3957"/>
              </a:solidFill>
              <a:latin typeface="Arimo Bold"/>
              <a:ea typeface="Arimo Bold"/>
              <a:cs typeface="Arimo Bold"/>
              <a:sym typeface="Arimo Bold"/>
            </a:endParaRPr>
          </a:p>
          <a:p>
            <a:pPr marL="528956" lvl="1" indent="-264478" algn="just">
              <a:lnSpc>
                <a:spcPts val="3430"/>
              </a:lnSpc>
              <a:buFont typeface="Arial"/>
              <a:buChar char="•"/>
            </a:pPr>
            <a:r>
              <a:rPr lang="en-US" sz="2450" b="1">
                <a:solidFill>
                  <a:srgbClr val="1B3957"/>
                </a:solidFill>
                <a:latin typeface="Arimo Bold"/>
                <a:ea typeface="Arimo Bold"/>
                <a:cs typeface="Arimo Bold"/>
                <a:sym typeface="Arimo Bold"/>
              </a:rPr>
              <a:t>The system integrates IoT-based monitoring and mobile application control to enhance user convenience and operational efficiency while ensuring consistent water quality through automated mineral adjustment.</a:t>
            </a:r>
          </a:p>
        </p:txBody>
      </p:sp>
      <p:grpSp>
        <p:nvGrpSpPr>
          <p:cNvPr id="7" name="Group 7"/>
          <p:cNvGrpSpPr/>
          <p:nvPr/>
        </p:nvGrpSpPr>
        <p:grpSpPr>
          <a:xfrm>
            <a:off x="0" y="9559957"/>
            <a:ext cx="3771900" cy="735425"/>
            <a:chOff x="0" y="0"/>
            <a:chExt cx="5029200" cy="980567"/>
          </a:xfrm>
        </p:grpSpPr>
        <p:sp>
          <p:nvSpPr>
            <p:cNvPr id="8" name="Freeform 8"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4249" b="-94249"/>
              </a:stretch>
            </a:blipFill>
          </p:spPr>
          <p:txBody>
            <a:bodyPr/>
            <a:lstStyle/>
            <a:p>
              <a:endParaRPr lang="en-US"/>
            </a:p>
          </p:txBody>
        </p:sp>
      </p:grpSp>
      <p:grpSp>
        <p:nvGrpSpPr>
          <p:cNvPr id="9" name="Group 9"/>
          <p:cNvGrpSpPr/>
          <p:nvPr/>
        </p:nvGrpSpPr>
        <p:grpSpPr>
          <a:xfrm>
            <a:off x="4781845" y="8768305"/>
            <a:ext cx="10224545" cy="1980248"/>
            <a:chOff x="0" y="0"/>
            <a:chExt cx="13632726" cy="2640330"/>
          </a:xfrm>
        </p:grpSpPr>
        <p:sp>
          <p:nvSpPr>
            <p:cNvPr id="10" name="Freeform 10"/>
            <p:cNvSpPr/>
            <p:nvPr/>
          </p:nvSpPr>
          <p:spPr>
            <a:xfrm>
              <a:off x="0" y="0"/>
              <a:ext cx="13632687" cy="2640330"/>
            </a:xfrm>
            <a:custGeom>
              <a:avLst/>
              <a:gdLst/>
              <a:ahLst/>
              <a:cxnLst/>
              <a:rect l="l" t="t" r="r" b="b"/>
              <a:pathLst>
                <a:path w="13632687" h="2640330">
                  <a:moveTo>
                    <a:pt x="0" y="0"/>
                  </a:moveTo>
                  <a:lnTo>
                    <a:pt x="13632687" y="0"/>
                  </a:lnTo>
                  <a:lnTo>
                    <a:pt x="13632687" y="2640330"/>
                  </a:lnTo>
                  <a:lnTo>
                    <a:pt x="0" y="2640330"/>
                  </a:lnTo>
                  <a:close/>
                </a:path>
              </a:pathLst>
            </a:custGeom>
            <a:blipFill>
              <a:blip r:embed="rId5">
                <a:alphaModFix amt="0"/>
              </a:blip>
              <a:stretch>
                <a:fillRect t="-50536" b="-50536"/>
              </a:stretch>
            </a:blipFill>
          </p:spPr>
          <p:txBody>
            <a:bodyPr/>
            <a:lstStyle/>
            <a:p>
              <a:endParaRPr lang="en-US"/>
            </a:p>
          </p:txBody>
        </p:sp>
      </p:grpSp>
      <p:grpSp>
        <p:nvGrpSpPr>
          <p:cNvPr id="11" name="Group 11"/>
          <p:cNvGrpSpPr/>
          <p:nvPr/>
        </p:nvGrpSpPr>
        <p:grpSpPr>
          <a:xfrm>
            <a:off x="4781845" y="8754018"/>
            <a:ext cx="10224545" cy="1994535"/>
            <a:chOff x="0" y="0"/>
            <a:chExt cx="13632726" cy="2659380"/>
          </a:xfrm>
        </p:grpSpPr>
        <p:sp>
          <p:nvSpPr>
            <p:cNvPr id="12" name="Freeform 12"/>
            <p:cNvSpPr/>
            <p:nvPr/>
          </p:nvSpPr>
          <p:spPr>
            <a:xfrm>
              <a:off x="0" y="0"/>
              <a:ext cx="13632726" cy="2659385"/>
            </a:xfrm>
            <a:custGeom>
              <a:avLst/>
              <a:gdLst/>
              <a:ahLst/>
              <a:cxnLst/>
              <a:rect l="l" t="t" r="r" b="b"/>
              <a:pathLst>
                <a:path w="13632726" h="2659385">
                  <a:moveTo>
                    <a:pt x="0" y="0"/>
                  </a:moveTo>
                  <a:lnTo>
                    <a:pt x="13632726" y="0"/>
                  </a:lnTo>
                  <a:lnTo>
                    <a:pt x="13632726" y="2659385"/>
                  </a:lnTo>
                  <a:lnTo>
                    <a:pt x="0" y="2659385"/>
                  </a:lnTo>
                  <a:close/>
                </a:path>
              </a:pathLst>
            </a:custGeom>
            <a:blipFill>
              <a:blip r:embed="rId6">
                <a:alphaModFix amt="0"/>
              </a:blip>
              <a:stretch>
                <a:fillRect t="-49885" b="-49885"/>
              </a:stretch>
            </a:blipFill>
          </p:spPr>
          <p:txBody>
            <a:bodyPr/>
            <a:lstStyle/>
            <a:p>
              <a:endParaRPr lang="en-US"/>
            </a:p>
          </p:txBody>
        </p:sp>
        <p:sp>
          <p:nvSpPr>
            <p:cNvPr id="13" name="TextBox 13"/>
            <p:cNvSpPr txBox="1"/>
            <p:nvPr/>
          </p:nvSpPr>
          <p:spPr>
            <a:xfrm>
              <a:off x="0" y="-19050"/>
              <a:ext cx="13632726" cy="267843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4" name="TextBox 14"/>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sp>
        <p:nvSpPr>
          <p:cNvPr id="15" name="TextBox 15"/>
          <p:cNvSpPr txBox="1"/>
          <p:nvPr/>
        </p:nvSpPr>
        <p:spPr>
          <a:xfrm>
            <a:off x="1175975" y="5654641"/>
            <a:ext cx="14766903" cy="3852513"/>
          </a:xfrm>
          <a:prstGeom prst="rect">
            <a:avLst/>
          </a:prstGeom>
        </p:spPr>
        <p:txBody>
          <a:bodyPr lIns="0" tIns="0" rIns="0" bIns="0" rtlCol="0" anchor="t">
            <a:spAutoFit/>
          </a:bodyPr>
          <a:lstStyle/>
          <a:p>
            <a:pPr marL="528956" lvl="1" indent="-264478" algn="l">
              <a:lnSpc>
                <a:spcPts val="3430"/>
              </a:lnSpc>
              <a:buFont typeface="Arial"/>
              <a:buChar char="•"/>
            </a:pPr>
            <a:r>
              <a:rPr lang="en-US" sz="2450" b="1">
                <a:solidFill>
                  <a:srgbClr val="1B3957"/>
                </a:solidFill>
                <a:latin typeface="Arimo Bold"/>
                <a:ea typeface="Arimo Bold"/>
                <a:cs typeface="Arimo Bold"/>
                <a:sym typeface="Arimo Bold"/>
              </a:rPr>
              <a:t>Users found the automated alkaline water adjustment feature useful and innovative</a:t>
            </a:r>
          </a:p>
          <a:p>
            <a:pPr marL="528956" lvl="1" indent="-264478" algn="l">
              <a:lnSpc>
                <a:spcPts val="3430"/>
              </a:lnSpc>
              <a:buFont typeface="Arial"/>
              <a:buChar char="•"/>
            </a:pPr>
            <a:r>
              <a:rPr lang="en-US" sz="2450" b="1">
                <a:solidFill>
                  <a:srgbClr val="1B3957"/>
                </a:solidFill>
                <a:latin typeface="Arimo Bold"/>
                <a:ea typeface="Arimo Bold"/>
                <a:cs typeface="Arimo Bold"/>
                <a:sym typeface="Arimo Bold"/>
              </a:rPr>
              <a:t>Users appreciated the smart mineral balancing and reduced manual effort</a:t>
            </a:r>
          </a:p>
          <a:p>
            <a:pPr marL="528956" lvl="1" indent="-264478" algn="l">
              <a:lnSpc>
                <a:spcPts val="3430"/>
              </a:lnSpc>
              <a:buFont typeface="Arial"/>
              <a:buChar char="•"/>
            </a:pPr>
            <a:r>
              <a:rPr lang="en-US" sz="2450" b="1">
                <a:solidFill>
                  <a:srgbClr val="1B3957"/>
                </a:solidFill>
                <a:latin typeface="Arimo Bold"/>
                <a:ea typeface="Arimo Bold"/>
                <a:cs typeface="Arimo Bold"/>
                <a:sym typeface="Arimo Bold"/>
              </a:rPr>
              <a:t>The IoT-based monitoring interface was easy to understand and use</a:t>
            </a:r>
          </a:p>
          <a:p>
            <a:pPr marL="528956" lvl="1" indent="-264478" algn="l">
              <a:lnSpc>
                <a:spcPts val="3430"/>
              </a:lnSpc>
              <a:buFont typeface="Arial"/>
              <a:buChar char="•"/>
            </a:pPr>
            <a:r>
              <a:rPr lang="en-US" sz="2450" b="1">
                <a:solidFill>
                  <a:srgbClr val="1B3957"/>
                </a:solidFill>
                <a:latin typeface="Arimo Bold"/>
                <a:ea typeface="Arimo Bold"/>
                <a:cs typeface="Arimo Bold"/>
                <a:sym typeface="Arimo Bold"/>
              </a:rPr>
              <a:t>Users liked the idea of customized alkaline water generation</a:t>
            </a:r>
          </a:p>
          <a:p>
            <a:pPr marL="528956" lvl="1" indent="-264478" algn="l">
              <a:lnSpc>
                <a:spcPts val="3430"/>
              </a:lnSpc>
              <a:buFont typeface="Arial"/>
              <a:buChar char="•"/>
            </a:pPr>
            <a:r>
              <a:rPr lang="en-US" sz="2450" b="1">
                <a:solidFill>
                  <a:srgbClr val="1B3957"/>
                </a:solidFill>
                <a:latin typeface="Arimo Bold"/>
                <a:ea typeface="Arimo Bold"/>
                <a:cs typeface="Arimo Bold"/>
                <a:sym typeface="Arimo Bold"/>
              </a:rPr>
              <a:t>Automatic adjustment features were considered more efficient than manual methods</a:t>
            </a:r>
          </a:p>
          <a:p>
            <a:pPr marL="528956" lvl="1" indent="-264478" algn="l">
              <a:lnSpc>
                <a:spcPts val="3430"/>
              </a:lnSpc>
              <a:buFont typeface="Arial"/>
              <a:buChar char="•"/>
            </a:pPr>
            <a:r>
              <a:rPr lang="en-US" sz="2450" b="1">
                <a:solidFill>
                  <a:srgbClr val="1B3957"/>
                </a:solidFill>
                <a:latin typeface="Arimo Bold"/>
                <a:ea typeface="Arimo Bold"/>
                <a:cs typeface="Arimo Bold"/>
                <a:sym typeface="Arimo Bold"/>
              </a:rPr>
              <a:t>Suggested improvements:</a:t>
            </a:r>
          </a:p>
          <a:p>
            <a:pPr algn="ctr">
              <a:lnSpc>
                <a:spcPts val="3430"/>
              </a:lnSpc>
            </a:pPr>
            <a:r>
              <a:rPr lang="en-US" sz="2450" b="1">
                <a:solidFill>
                  <a:srgbClr val="1B3957"/>
                </a:solidFill>
                <a:latin typeface="Arimo Bold"/>
                <a:ea typeface="Arimo Bold"/>
                <a:cs typeface="Arimo Bold"/>
                <a:sym typeface="Arimo Bold"/>
              </a:rPr>
              <a:t>- Improve accuracy of mineral dosing mechanisms</a:t>
            </a:r>
          </a:p>
          <a:p>
            <a:pPr algn="ctr">
              <a:lnSpc>
                <a:spcPts val="3430"/>
              </a:lnSpc>
            </a:pPr>
            <a:r>
              <a:rPr lang="en-US" sz="2450" b="1">
                <a:solidFill>
                  <a:srgbClr val="1B3957"/>
                </a:solidFill>
                <a:latin typeface="Arimo Bold"/>
                <a:ea typeface="Arimo Bold"/>
                <a:cs typeface="Arimo Bold"/>
                <a:sym typeface="Arimo Bold"/>
              </a:rPr>
              <a:t>- Add personalized alkaline level recommendations</a:t>
            </a:r>
          </a:p>
          <a:p>
            <a:pPr algn="l">
              <a:lnSpc>
                <a:spcPts val="3430"/>
              </a:lnSpc>
            </a:pPr>
            <a:endParaRPr lang="en-US" sz="2450" b="1">
              <a:solidFill>
                <a:srgbClr val="1B3957"/>
              </a:solidFill>
              <a:latin typeface="Arimo Bold"/>
              <a:ea typeface="Arimo Bold"/>
              <a:cs typeface="Arimo Bold"/>
              <a:sym typeface="Arimo Bold"/>
            </a:endParaRPr>
          </a:p>
        </p:txBody>
      </p:sp>
      <p:sp>
        <p:nvSpPr>
          <p:cNvPr id="16" name="TextBox 16"/>
          <p:cNvSpPr txBox="1"/>
          <p:nvPr/>
        </p:nvSpPr>
        <p:spPr>
          <a:xfrm>
            <a:off x="12273942" y="374647"/>
            <a:ext cx="5056188" cy="835025"/>
          </a:xfrm>
          <a:prstGeom prst="rect">
            <a:avLst/>
          </a:prstGeom>
        </p:spPr>
        <p:txBody>
          <a:bodyPr lIns="0" tIns="0" rIns="0" bIns="0" rtlCol="0" anchor="t">
            <a:spAutoFit/>
          </a:bodyPr>
          <a:lstStyle/>
          <a:p>
            <a:pPr algn="ctr">
              <a:lnSpc>
                <a:spcPts val="2200"/>
              </a:lnSpc>
            </a:pPr>
            <a:r>
              <a:rPr lang="en-US" sz="2000" b="1">
                <a:solidFill>
                  <a:srgbClr val="06728A"/>
                </a:solidFill>
                <a:latin typeface="Garet Bold"/>
                <a:ea typeface="Garet Bold"/>
                <a:cs typeface="Garet Bold"/>
                <a:sym typeface="Garet Bold"/>
              </a:rPr>
              <a:t>ALKALINE WATER GENERATION USING </a:t>
            </a:r>
          </a:p>
          <a:p>
            <a:pPr algn="ctr">
              <a:lnSpc>
                <a:spcPts val="2200"/>
              </a:lnSpc>
            </a:pPr>
            <a:r>
              <a:rPr lang="en-US" sz="2000" b="1">
                <a:solidFill>
                  <a:srgbClr val="06728A"/>
                </a:solidFill>
                <a:latin typeface="Garet Bold"/>
                <a:ea typeface="Garet Bold"/>
                <a:cs typeface="Garet Bold"/>
                <a:sym typeface="Garet Bold"/>
              </a:rPr>
              <a:t>IoT-BASED MINERAL BALANCING </a:t>
            </a:r>
          </a:p>
          <a:p>
            <a:pPr algn="ctr">
              <a:lnSpc>
                <a:spcPts val="2200"/>
              </a:lnSpc>
            </a:pPr>
            <a:endParaRPr lang="en-US" sz="2000" b="1">
              <a:solidFill>
                <a:srgbClr val="06728A"/>
              </a:solidFill>
              <a:latin typeface="Garet Bold"/>
              <a:ea typeface="Garet Bold"/>
              <a:cs typeface="Garet Bold"/>
              <a:sym typeface="Garet Bold"/>
            </a:endParaRPr>
          </a:p>
        </p:txBody>
      </p:sp>
      <p:grpSp>
        <p:nvGrpSpPr>
          <p:cNvPr id="17" name="Group 17"/>
          <p:cNvGrpSpPr/>
          <p:nvPr/>
        </p:nvGrpSpPr>
        <p:grpSpPr>
          <a:xfrm>
            <a:off x="0" y="9551575"/>
            <a:ext cx="3771900" cy="735425"/>
            <a:chOff x="0" y="0"/>
            <a:chExt cx="5029200" cy="980567"/>
          </a:xfrm>
        </p:grpSpPr>
        <p:sp>
          <p:nvSpPr>
            <p:cNvPr id="18" name="Freeform 18"/>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7"/>
              <a:stretch>
                <a:fillRect t="-128" b="-128"/>
              </a:stretch>
            </a:blipFill>
          </p:spPr>
          <p:txBody>
            <a:bodyPr/>
            <a:lstStyle/>
            <a:p>
              <a:endParaRPr lang="en-US"/>
            </a:p>
          </p:txBody>
        </p:sp>
      </p:grpSp>
      <p:sp>
        <p:nvSpPr>
          <p:cNvPr id="19" name="TextBox 19"/>
          <p:cNvSpPr txBox="1"/>
          <p:nvPr/>
        </p:nvSpPr>
        <p:spPr>
          <a:xfrm>
            <a:off x="1175974" y="1047130"/>
            <a:ext cx="8445897" cy="128625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Design Excellence / Contribution</a:t>
            </a:r>
          </a:p>
          <a:p>
            <a:pPr algn="l">
              <a:lnSpc>
                <a:spcPts val="6600"/>
              </a:lnSpc>
            </a:pPr>
            <a:endParaRPr lang="en-US" sz="3600" b="1" dirty="0">
              <a:solidFill>
                <a:srgbClr val="06728A"/>
              </a:solidFill>
              <a:latin typeface="Garet Bold"/>
              <a:ea typeface="Garet Bold"/>
              <a:cs typeface="Garet Bold"/>
              <a:sym typeface="Garet Bold"/>
            </a:endParaRPr>
          </a:p>
        </p:txBody>
      </p:sp>
      <p:sp>
        <p:nvSpPr>
          <p:cNvPr id="20" name="TextBox 20"/>
          <p:cNvSpPr txBox="1"/>
          <p:nvPr/>
        </p:nvSpPr>
        <p:spPr>
          <a:xfrm>
            <a:off x="1168607" y="4881519"/>
            <a:ext cx="7510825" cy="1036181"/>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User Feedback on Prototype</a:t>
            </a:r>
          </a:p>
          <a:p>
            <a:pPr algn="l">
              <a:lnSpc>
                <a:spcPts val="3960"/>
              </a:lnSpc>
            </a:pPr>
            <a:endParaRPr lang="en-US" sz="3600" b="1" dirty="0">
              <a:solidFill>
                <a:srgbClr val="06728A"/>
              </a:solidFill>
              <a:latin typeface="Garet Bold"/>
              <a:ea typeface="Garet Bold"/>
              <a:cs typeface="Garet Bold"/>
              <a:sym typeface="Garet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sp>
        <p:nvSpPr>
          <p:cNvPr id="4" name="Freeform 4"/>
          <p:cNvSpPr/>
          <p:nvPr/>
        </p:nvSpPr>
        <p:spPr>
          <a:xfrm rot="577740">
            <a:off x="1065971" y="2839431"/>
            <a:ext cx="486623" cy="486623"/>
          </a:xfrm>
          <a:custGeom>
            <a:avLst/>
            <a:gdLst/>
            <a:ahLst/>
            <a:cxnLst/>
            <a:rect l="l" t="t" r="r" b="b"/>
            <a:pathLst>
              <a:path w="486623" h="486623">
                <a:moveTo>
                  <a:pt x="0" y="0"/>
                </a:moveTo>
                <a:lnTo>
                  <a:pt x="486623" y="0"/>
                </a:lnTo>
                <a:lnTo>
                  <a:pt x="486623" y="486623"/>
                </a:lnTo>
                <a:lnTo>
                  <a:pt x="0" y="486623"/>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557640">
            <a:off x="16175422" y="1675371"/>
            <a:ext cx="486623" cy="486623"/>
          </a:xfrm>
          <a:custGeom>
            <a:avLst/>
            <a:gdLst/>
            <a:ahLst/>
            <a:cxnLst/>
            <a:rect l="l" t="t" r="r" b="b"/>
            <a:pathLst>
              <a:path w="486623" h="486623">
                <a:moveTo>
                  <a:pt x="0" y="0"/>
                </a:moveTo>
                <a:lnTo>
                  <a:pt x="486622" y="0"/>
                </a:lnTo>
                <a:lnTo>
                  <a:pt x="486622" y="486623"/>
                </a:lnTo>
                <a:lnTo>
                  <a:pt x="0" y="486623"/>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rot="248760">
            <a:off x="16755723" y="8524989"/>
            <a:ext cx="486623" cy="486623"/>
          </a:xfrm>
          <a:custGeom>
            <a:avLst/>
            <a:gdLst/>
            <a:ahLst/>
            <a:cxnLst/>
            <a:rect l="l" t="t" r="r" b="b"/>
            <a:pathLst>
              <a:path w="486623" h="486623">
                <a:moveTo>
                  <a:pt x="0" y="0"/>
                </a:moveTo>
                <a:lnTo>
                  <a:pt x="486623" y="0"/>
                </a:lnTo>
                <a:lnTo>
                  <a:pt x="486623" y="486623"/>
                </a:lnTo>
                <a:lnTo>
                  <a:pt x="0" y="486623"/>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0" y="9559957"/>
            <a:ext cx="3771900" cy="735425"/>
            <a:chOff x="0" y="0"/>
            <a:chExt cx="5029200" cy="980567"/>
          </a:xfrm>
        </p:grpSpPr>
        <p:sp>
          <p:nvSpPr>
            <p:cNvPr id="8" name="Freeform 8"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4249" b="-94249"/>
              </a:stretch>
            </a:blipFill>
          </p:spPr>
          <p:txBody>
            <a:bodyPr/>
            <a:lstStyle/>
            <a:p>
              <a:endParaRPr lang="en-US"/>
            </a:p>
          </p:txBody>
        </p:sp>
      </p:grpSp>
      <p:grpSp>
        <p:nvGrpSpPr>
          <p:cNvPr id="9" name="Group 9"/>
          <p:cNvGrpSpPr/>
          <p:nvPr/>
        </p:nvGrpSpPr>
        <p:grpSpPr>
          <a:xfrm>
            <a:off x="4781845" y="8768305"/>
            <a:ext cx="10224545" cy="1980248"/>
            <a:chOff x="0" y="0"/>
            <a:chExt cx="13632726" cy="2640330"/>
          </a:xfrm>
        </p:grpSpPr>
        <p:sp>
          <p:nvSpPr>
            <p:cNvPr id="10" name="Freeform 10"/>
            <p:cNvSpPr/>
            <p:nvPr/>
          </p:nvSpPr>
          <p:spPr>
            <a:xfrm>
              <a:off x="0" y="0"/>
              <a:ext cx="13632687" cy="2640330"/>
            </a:xfrm>
            <a:custGeom>
              <a:avLst/>
              <a:gdLst/>
              <a:ahLst/>
              <a:cxnLst/>
              <a:rect l="l" t="t" r="r" b="b"/>
              <a:pathLst>
                <a:path w="13632687" h="2640330">
                  <a:moveTo>
                    <a:pt x="0" y="0"/>
                  </a:moveTo>
                  <a:lnTo>
                    <a:pt x="13632687" y="0"/>
                  </a:lnTo>
                  <a:lnTo>
                    <a:pt x="13632687" y="2640330"/>
                  </a:lnTo>
                  <a:lnTo>
                    <a:pt x="0" y="2640330"/>
                  </a:lnTo>
                  <a:close/>
                </a:path>
              </a:pathLst>
            </a:custGeom>
            <a:blipFill>
              <a:blip r:embed="rId6">
                <a:alphaModFix amt="0"/>
              </a:blip>
              <a:stretch>
                <a:fillRect t="-50536" b="-50536"/>
              </a:stretch>
            </a:blipFill>
          </p:spPr>
          <p:txBody>
            <a:bodyPr/>
            <a:lstStyle/>
            <a:p>
              <a:endParaRPr lang="en-US"/>
            </a:p>
          </p:txBody>
        </p:sp>
      </p:grpSp>
      <p:grpSp>
        <p:nvGrpSpPr>
          <p:cNvPr id="11" name="Group 11"/>
          <p:cNvGrpSpPr/>
          <p:nvPr/>
        </p:nvGrpSpPr>
        <p:grpSpPr>
          <a:xfrm>
            <a:off x="4781845" y="8754018"/>
            <a:ext cx="10224545" cy="1994535"/>
            <a:chOff x="0" y="0"/>
            <a:chExt cx="13632726" cy="2659380"/>
          </a:xfrm>
        </p:grpSpPr>
        <p:sp>
          <p:nvSpPr>
            <p:cNvPr id="12" name="Freeform 12"/>
            <p:cNvSpPr/>
            <p:nvPr/>
          </p:nvSpPr>
          <p:spPr>
            <a:xfrm>
              <a:off x="0" y="0"/>
              <a:ext cx="13632726" cy="2659385"/>
            </a:xfrm>
            <a:custGeom>
              <a:avLst/>
              <a:gdLst/>
              <a:ahLst/>
              <a:cxnLst/>
              <a:rect l="l" t="t" r="r" b="b"/>
              <a:pathLst>
                <a:path w="13632726" h="2659385">
                  <a:moveTo>
                    <a:pt x="0" y="0"/>
                  </a:moveTo>
                  <a:lnTo>
                    <a:pt x="13632726" y="0"/>
                  </a:lnTo>
                  <a:lnTo>
                    <a:pt x="13632726" y="2659385"/>
                  </a:lnTo>
                  <a:lnTo>
                    <a:pt x="0" y="2659385"/>
                  </a:lnTo>
                  <a:close/>
                </a:path>
              </a:pathLst>
            </a:custGeom>
            <a:blipFill>
              <a:blip r:embed="rId7">
                <a:alphaModFix amt="0"/>
              </a:blip>
              <a:stretch>
                <a:fillRect t="-49885" b="-49885"/>
              </a:stretch>
            </a:blipFill>
          </p:spPr>
          <p:txBody>
            <a:bodyPr/>
            <a:lstStyle/>
            <a:p>
              <a:endParaRPr lang="en-US"/>
            </a:p>
          </p:txBody>
        </p:sp>
        <p:sp>
          <p:nvSpPr>
            <p:cNvPr id="13" name="TextBox 13"/>
            <p:cNvSpPr txBox="1"/>
            <p:nvPr/>
          </p:nvSpPr>
          <p:spPr>
            <a:xfrm>
              <a:off x="0" y="-19050"/>
              <a:ext cx="13632726" cy="267843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   |   R26-IT-005</a:t>
              </a:r>
            </a:p>
          </p:txBody>
        </p:sp>
      </p:grpSp>
      <p:grpSp>
        <p:nvGrpSpPr>
          <p:cNvPr id="14" name="Group 14"/>
          <p:cNvGrpSpPr/>
          <p:nvPr/>
        </p:nvGrpSpPr>
        <p:grpSpPr>
          <a:xfrm>
            <a:off x="14538750" y="-95745"/>
            <a:ext cx="3749250" cy="4579896"/>
            <a:chOff x="0" y="0"/>
            <a:chExt cx="4998999" cy="6106528"/>
          </a:xfrm>
        </p:grpSpPr>
        <p:sp>
          <p:nvSpPr>
            <p:cNvPr id="15" name="Freeform 15"/>
            <p:cNvSpPr/>
            <p:nvPr/>
          </p:nvSpPr>
          <p:spPr>
            <a:xfrm>
              <a:off x="0" y="0"/>
              <a:ext cx="4998974" cy="6106541"/>
            </a:xfrm>
            <a:custGeom>
              <a:avLst/>
              <a:gdLst/>
              <a:ahLst/>
              <a:cxnLst/>
              <a:rect l="l" t="t" r="r" b="b"/>
              <a:pathLst>
                <a:path w="4998974" h="6106541">
                  <a:moveTo>
                    <a:pt x="0" y="0"/>
                  </a:moveTo>
                  <a:lnTo>
                    <a:pt x="4998974" y="0"/>
                  </a:lnTo>
                  <a:lnTo>
                    <a:pt x="4998974" y="6106541"/>
                  </a:lnTo>
                  <a:lnTo>
                    <a:pt x="0" y="6106541"/>
                  </a:lnTo>
                  <a:lnTo>
                    <a:pt x="0" y="0"/>
                  </a:lnTo>
                  <a:close/>
                </a:path>
              </a:pathLst>
            </a:custGeom>
            <a:blipFill>
              <a:blip r:embed="rId8"/>
              <a:stretch>
                <a:fillRect t="-4550" b="-4549"/>
              </a:stretch>
            </a:blipFill>
          </p:spPr>
          <p:txBody>
            <a:bodyPr/>
            <a:lstStyle/>
            <a:p>
              <a:endParaRPr lang="en-US"/>
            </a:p>
          </p:txBody>
        </p:sp>
      </p:grpSp>
      <p:sp>
        <p:nvSpPr>
          <p:cNvPr id="16" name="TextBox 16"/>
          <p:cNvSpPr txBox="1"/>
          <p:nvPr/>
        </p:nvSpPr>
        <p:spPr>
          <a:xfrm>
            <a:off x="4549976" y="1357353"/>
            <a:ext cx="7992070" cy="602976"/>
          </a:xfrm>
          <a:prstGeom prst="rect">
            <a:avLst/>
          </a:prstGeom>
        </p:spPr>
        <p:txBody>
          <a:bodyPr lIns="0" tIns="0" rIns="0" bIns="0" rtlCol="0" anchor="t">
            <a:spAutoFit/>
          </a:bodyPr>
          <a:lstStyle/>
          <a:p>
            <a:pPr algn="ctr">
              <a:lnSpc>
                <a:spcPts val="4642"/>
              </a:lnSpc>
            </a:pPr>
            <a:r>
              <a:rPr lang="en-US" sz="4200" b="1">
                <a:solidFill>
                  <a:srgbClr val="06728A"/>
                </a:solidFill>
                <a:latin typeface="Garet Bold"/>
                <a:ea typeface="Garet Bold"/>
                <a:cs typeface="Garet Bold"/>
                <a:sym typeface="Garet Bold"/>
              </a:rPr>
              <a:t>IT22211750 |  DE SILVA W.N.N.</a:t>
            </a:r>
          </a:p>
        </p:txBody>
      </p:sp>
      <p:sp>
        <p:nvSpPr>
          <p:cNvPr id="17" name="TextBox 17"/>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sp>
        <p:nvSpPr>
          <p:cNvPr id="18" name="TextBox 18"/>
          <p:cNvSpPr txBox="1"/>
          <p:nvPr/>
        </p:nvSpPr>
        <p:spPr>
          <a:xfrm>
            <a:off x="1589864" y="3394463"/>
            <a:ext cx="12948886" cy="1878629"/>
          </a:xfrm>
          <a:prstGeom prst="rect">
            <a:avLst/>
          </a:prstGeom>
        </p:spPr>
        <p:txBody>
          <a:bodyPr lIns="0" tIns="0" rIns="0" bIns="0" rtlCol="0" anchor="t">
            <a:spAutoFit/>
          </a:bodyPr>
          <a:lstStyle/>
          <a:p>
            <a:pPr algn="ctr">
              <a:lnSpc>
                <a:spcPts val="7526"/>
              </a:lnSpc>
            </a:pPr>
            <a:r>
              <a:rPr lang="en-US" sz="5600" b="1">
                <a:solidFill>
                  <a:srgbClr val="06728A"/>
                </a:solidFill>
                <a:latin typeface="Garet Bold"/>
                <a:ea typeface="Garet Bold"/>
                <a:cs typeface="Garet Bold"/>
                <a:sym typeface="Garet Bold"/>
              </a:rPr>
              <a:t>DIFFERENT TYPES OF WATER </a:t>
            </a:r>
          </a:p>
          <a:p>
            <a:pPr algn="ctr">
              <a:lnSpc>
                <a:spcPts val="7528"/>
              </a:lnSpc>
            </a:pPr>
            <a:r>
              <a:rPr lang="en-US" sz="5600" b="1">
                <a:solidFill>
                  <a:srgbClr val="06728A"/>
                </a:solidFill>
                <a:latin typeface="Garet Bold"/>
                <a:ea typeface="Garet Bold"/>
                <a:cs typeface="Garet Bold"/>
                <a:sym typeface="Garet Bold"/>
              </a:rPr>
              <a:t>IDENTIFIER – ML &amp; AI</a:t>
            </a:r>
          </a:p>
        </p:txBody>
      </p:sp>
      <p:grpSp>
        <p:nvGrpSpPr>
          <p:cNvPr id="19" name="Group 19"/>
          <p:cNvGrpSpPr/>
          <p:nvPr/>
        </p:nvGrpSpPr>
        <p:grpSpPr>
          <a:xfrm>
            <a:off x="0" y="9551575"/>
            <a:ext cx="3771900" cy="735425"/>
            <a:chOff x="0" y="0"/>
            <a:chExt cx="5029200" cy="980567"/>
          </a:xfrm>
        </p:grpSpPr>
        <p:sp>
          <p:nvSpPr>
            <p:cNvPr id="20" name="Freeform 20"/>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9"/>
              <a:stretch>
                <a:fillRect t="-128" b="-128"/>
              </a:stretch>
            </a:blipFill>
          </p:spPr>
          <p:txBody>
            <a:bodyPr/>
            <a:lstStyle/>
            <a:p>
              <a:endParaRPr lang="en-US"/>
            </a:p>
          </p:txBody>
        </p:sp>
      </p:grpSp>
      <p:sp>
        <p:nvSpPr>
          <p:cNvPr id="21" name="TextBox 21"/>
          <p:cNvSpPr txBox="1"/>
          <p:nvPr/>
        </p:nvSpPr>
        <p:spPr>
          <a:xfrm>
            <a:off x="1885950" y="5945728"/>
            <a:ext cx="13449167" cy="605790"/>
          </a:xfrm>
          <a:prstGeom prst="rect">
            <a:avLst/>
          </a:prstGeom>
        </p:spPr>
        <p:txBody>
          <a:bodyPr lIns="0" tIns="0" rIns="0" bIns="0" rtlCol="0" anchor="t">
            <a:spAutoFit/>
          </a:bodyPr>
          <a:lstStyle/>
          <a:p>
            <a:pPr algn="ctr">
              <a:lnSpc>
                <a:spcPts val="4620"/>
              </a:lnSpc>
            </a:pPr>
            <a:r>
              <a:rPr lang="en-US" sz="4200" b="1">
                <a:solidFill>
                  <a:srgbClr val="06728A"/>
                </a:solidFill>
                <a:latin typeface="Garet Bold"/>
                <a:ea typeface="Garet Bold"/>
                <a:cs typeface="Garet Bold"/>
                <a:sym typeface="Garet Bold"/>
              </a:rPr>
              <a:t> Specialization : Information Technology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grpSp>
        <p:nvGrpSpPr>
          <p:cNvPr id="4" name="Group 4"/>
          <p:cNvGrpSpPr/>
          <p:nvPr/>
        </p:nvGrpSpPr>
        <p:grpSpPr>
          <a:xfrm rot="9551400">
            <a:off x="15235457" y="1087660"/>
            <a:ext cx="3982803" cy="5390340"/>
            <a:chOff x="0" y="0"/>
            <a:chExt cx="5310403" cy="7187120"/>
          </a:xfrm>
        </p:grpSpPr>
        <p:sp>
          <p:nvSpPr>
            <p:cNvPr id="5" name="Freeform 5"/>
            <p:cNvSpPr/>
            <p:nvPr/>
          </p:nvSpPr>
          <p:spPr>
            <a:xfrm flipH="1">
              <a:off x="0" y="0"/>
              <a:ext cx="5310378" cy="7187057"/>
            </a:xfrm>
            <a:custGeom>
              <a:avLst/>
              <a:gdLst/>
              <a:ahLst/>
              <a:cxnLst/>
              <a:rect l="l" t="t" r="r" b="b"/>
              <a:pathLst>
                <a:path w="5310378" h="7187057">
                  <a:moveTo>
                    <a:pt x="5310378" y="0"/>
                  </a:moveTo>
                  <a:lnTo>
                    <a:pt x="0" y="0"/>
                  </a:lnTo>
                  <a:lnTo>
                    <a:pt x="0" y="7187057"/>
                  </a:lnTo>
                  <a:lnTo>
                    <a:pt x="5310378" y="7187057"/>
                  </a:lnTo>
                  <a:lnTo>
                    <a:pt x="5310378" y="0"/>
                  </a:lnTo>
                  <a:close/>
                </a:path>
              </a:pathLst>
            </a:custGeom>
            <a:blipFill>
              <a:blip r:embed="rId3"/>
              <a:stretch>
                <a:fillRect t="-914" b="-915"/>
              </a:stretch>
            </a:blipFill>
          </p:spPr>
          <p:txBody>
            <a:bodyPr/>
            <a:lstStyle/>
            <a:p>
              <a:endParaRPr lang="en-US"/>
            </a:p>
          </p:txBody>
        </p:sp>
      </p:grpSp>
      <p:grpSp>
        <p:nvGrpSpPr>
          <p:cNvPr id="6" name="Group 6"/>
          <p:cNvGrpSpPr/>
          <p:nvPr/>
        </p:nvGrpSpPr>
        <p:grpSpPr>
          <a:xfrm>
            <a:off x="0" y="9559957"/>
            <a:ext cx="3771900" cy="735425"/>
            <a:chOff x="0" y="0"/>
            <a:chExt cx="5029200" cy="980567"/>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4249" b="-94249"/>
              </a:stretch>
            </a:blipFill>
          </p:spPr>
          <p:txBody>
            <a:bodyPr/>
            <a:lstStyle/>
            <a:p>
              <a:endParaRPr lang="en-US"/>
            </a:p>
          </p:txBody>
        </p:sp>
      </p:grpSp>
      <p:sp>
        <p:nvSpPr>
          <p:cNvPr id="8" name="TextBox 8"/>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grpSp>
        <p:nvGrpSpPr>
          <p:cNvPr id="9" name="Group 9"/>
          <p:cNvGrpSpPr/>
          <p:nvPr/>
        </p:nvGrpSpPr>
        <p:grpSpPr>
          <a:xfrm>
            <a:off x="4781845" y="8768305"/>
            <a:ext cx="10224545" cy="1980248"/>
            <a:chOff x="0" y="0"/>
            <a:chExt cx="13632726" cy="2640330"/>
          </a:xfrm>
        </p:grpSpPr>
        <p:sp>
          <p:nvSpPr>
            <p:cNvPr id="10" name="Freeform 10"/>
            <p:cNvSpPr/>
            <p:nvPr/>
          </p:nvSpPr>
          <p:spPr>
            <a:xfrm>
              <a:off x="0" y="0"/>
              <a:ext cx="13632687" cy="2640330"/>
            </a:xfrm>
            <a:custGeom>
              <a:avLst/>
              <a:gdLst/>
              <a:ahLst/>
              <a:cxnLst/>
              <a:rect l="l" t="t" r="r" b="b"/>
              <a:pathLst>
                <a:path w="13632687" h="2640330">
                  <a:moveTo>
                    <a:pt x="0" y="0"/>
                  </a:moveTo>
                  <a:lnTo>
                    <a:pt x="13632687" y="0"/>
                  </a:lnTo>
                  <a:lnTo>
                    <a:pt x="13632687" y="2640330"/>
                  </a:lnTo>
                  <a:lnTo>
                    <a:pt x="0" y="2640330"/>
                  </a:lnTo>
                  <a:close/>
                </a:path>
              </a:pathLst>
            </a:custGeom>
            <a:blipFill>
              <a:blip r:embed="rId5">
                <a:alphaModFix amt="0"/>
              </a:blip>
              <a:stretch>
                <a:fillRect t="-50536" b="-50536"/>
              </a:stretch>
            </a:blipFill>
          </p:spPr>
          <p:txBody>
            <a:bodyPr/>
            <a:lstStyle/>
            <a:p>
              <a:endParaRPr lang="en-US"/>
            </a:p>
          </p:txBody>
        </p:sp>
      </p:grpSp>
      <p:grpSp>
        <p:nvGrpSpPr>
          <p:cNvPr id="11" name="Group 11"/>
          <p:cNvGrpSpPr/>
          <p:nvPr/>
        </p:nvGrpSpPr>
        <p:grpSpPr>
          <a:xfrm>
            <a:off x="4781845" y="8754018"/>
            <a:ext cx="10224545" cy="1994535"/>
            <a:chOff x="0" y="0"/>
            <a:chExt cx="13632726" cy="2659380"/>
          </a:xfrm>
        </p:grpSpPr>
        <p:sp>
          <p:nvSpPr>
            <p:cNvPr id="12" name="Freeform 12"/>
            <p:cNvSpPr/>
            <p:nvPr/>
          </p:nvSpPr>
          <p:spPr>
            <a:xfrm>
              <a:off x="0" y="0"/>
              <a:ext cx="13632726" cy="2659385"/>
            </a:xfrm>
            <a:custGeom>
              <a:avLst/>
              <a:gdLst/>
              <a:ahLst/>
              <a:cxnLst/>
              <a:rect l="l" t="t" r="r" b="b"/>
              <a:pathLst>
                <a:path w="13632726" h="2659385">
                  <a:moveTo>
                    <a:pt x="0" y="0"/>
                  </a:moveTo>
                  <a:lnTo>
                    <a:pt x="13632726" y="0"/>
                  </a:lnTo>
                  <a:lnTo>
                    <a:pt x="13632726" y="2659385"/>
                  </a:lnTo>
                  <a:lnTo>
                    <a:pt x="0" y="2659385"/>
                  </a:lnTo>
                  <a:close/>
                </a:path>
              </a:pathLst>
            </a:custGeom>
            <a:blipFill>
              <a:blip r:embed="rId6">
                <a:alphaModFix amt="0"/>
              </a:blip>
              <a:stretch>
                <a:fillRect t="-49885" b="-49885"/>
              </a:stretch>
            </a:blipFill>
          </p:spPr>
          <p:txBody>
            <a:bodyPr/>
            <a:lstStyle/>
            <a:p>
              <a:endParaRPr lang="en-US"/>
            </a:p>
          </p:txBody>
        </p:sp>
        <p:sp>
          <p:nvSpPr>
            <p:cNvPr id="13" name="TextBox 13"/>
            <p:cNvSpPr txBox="1"/>
            <p:nvPr/>
          </p:nvSpPr>
          <p:spPr>
            <a:xfrm>
              <a:off x="0" y="-19050"/>
              <a:ext cx="13632726" cy="267843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4" name="TextBox 14"/>
          <p:cNvSpPr txBox="1"/>
          <p:nvPr/>
        </p:nvSpPr>
        <p:spPr>
          <a:xfrm>
            <a:off x="1391695" y="1790739"/>
            <a:ext cx="14340880" cy="3531125"/>
          </a:xfrm>
          <a:prstGeom prst="rect">
            <a:avLst/>
          </a:prstGeom>
        </p:spPr>
        <p:txBody>
          <a:bodyPr lIns="0" tIns="0" rIns="0" bIns="0" rtlCol="0" anchor="t">
            <a:spAutoFit/>
          </a:bodyPr>
          <a:lstStyle/>
          <a:p>
            <a:pPr marL="557169" lvl="1" indent="-278585" algn="just">
              <a:lnSpc>
                <a:spcPts val="3096"/>
              </a:lnSpc>
              <a:buFont typeface="Arial"/>
              <a:buChar char="•"/>
            </a:pPr>
            <a:r>
              <a:rPr lang="en-US" sz="2580" b="1">
                <a:solidFill>
                  <a:srgbClr val="1A3957"/>
                </a:solidFill>
                <a:latin typeface="Arimo Bold"/>
                <a:ea typeface="Arimo Bold"/>
                <a:cs typeface="Arimo Bold"/>
                <a:sym typeface="Arimo Bold"/>
              </a:rPr>
              <a:t>The solution addresses the difficulty in identifying different types of water by introducing an AI/ML-based classification system that analyzes real-time sensor data.</a:t>
            </a:r>
          </a:p>
          <a:p>
            <a:pPr algn="just">
              <a:lnSpc>
                <a:spcPts val="3096"/>
              </a:lnSpc>
            </a:pPr>
            <a:endParaRPr lang="en-US" sz="2580" b="1">
              <a:solidFill>
                <a:srgbClr val="1A3957"/>
              </a:solidFill>
              <a:latin typeface="Arimo Bold"/>
              <a:ea typeface="Arimo Bold"/>
              <a:cs typeface="Arimo Bold"/>
              <a:sym typeface="Arimo Bold"/>
            </a:endParaRPr>
          </a:p>
          <a:p>
            <a:pPr marL="557169" lvl="1" indent="-278585" algn="just">
              <a:lnSpc>
                <a:spcPts val="3096"/>
              </a:lnSpc>
              <a:buFont typeface="Arial"/>
              <a:buChar char="•"/>
            </a:pPr>
            <a:r>
              <a:rPr lang="en-US" sz="2580" b="1">
                <a:solidFill>
                  <a:srgbClr val="1A3957"/>
                </a:solidFill>
                <a:latin typeface="Arimo Bold"/>
                <a:ea typeface="Arimo Bold"/>
                <a:cs typeface="Arimo Bold"/>
                <a:sym typeface="Arimo Bold"/>
              </a:rPr>
              <a:t>Using inputs such as pH, TDS, turbidity, conductivity, and temperature, the model classifies water into categories (e.g., safe drinking, alkaline, distilled, contaminated). </a:t>
            </a:r>
          </a:p>
          <a:p>
            <a:pPr algn="just">
              <a:lnSpc>
                <a:spcPts val="3096"/>
              </a:lnSpc>
            </a:pPr>
            <a:endParaRPr lang="en-US" sz="2580" b="1">
              <a:solidFill>
                <a:srgbClr val="1A3957"/>
              </a:solidFill>
              <a:latin typeface="Arimo Bold"/>
              <a:ea typeface="Arimo Bold"/>
              <a:cs typeface="Arimo Bold"/>
              <a:sym typeface="Arimo Bold"/>
            </a:endParaRPr>
          </a:p>
          <a:p>
            <a:pPr marL="557169" lvl="1" indent="-278585" algn="just">
              <a:lnSpc>
                <a:spcPts val="3097"/>
              </a:lnSpc>
              <a:buFont typeface="Arial"/>
              <a:buChar char="•"/>
            </a:pPr>
            <a:r>
              <a:rPr lang="en-US" sz="2580" b="1">
                <a:solidFill>
                  <a:srgbClr val="1A3957"/>
                </a:solidFill>
                <a:latin typeface="Arimo Bold"/>
                <a:ea typeface="Arimo Bold"/>
                <a:cs typeface="Arimo Bold"/>
                <a:sym typeface="Arimo Bold"/>
              </a:rPr>
              <a:t>This removes manual testing and enables fast, automated, and accurate water quality identification at each purification stage.</a:t>
            </a:r>
          </a:p>
          <a:p>
            <a:pPr algn="just">
              <a:lnSpc>
                <a:spcPts val="3096"/>
              </a:lnSpc>
            </a:pPr>
            <a:endParaRPr lang="en-US" sz="2580" b="1">
              <a:solidFill>
                <a:srgbClr val="1A3957"/>
              </a:solidFill>
              <a:latin typeface="Arimo Bold"/>
              <a:ea typeface="Arimo Bold"/>
              <a:cs typeface="Arimo Bold"/>
              <a:sym typeface="Arimo Bold"/>
            </a:endParaRPr>
          </a:p>
        </p:txBody>
      </p:sp>
      <p:sp>
        <p:nvSpPr>
          <p:cNvPr id="15" name="TextBox 15"/>
          <p:cNvSpPr txBox="1"/>
          <p:nvPr/>
        </p:nvSpPr>
        <p:spPr>
          <a:xfrm>
            <a:off x="1243270" y="6515682"/>
            <a:ext cx="14278670" cy="2238336"/>
          </a:xfrm>
          <a:prstGeom prst="rect">
            <a:avLst/>
          </a:prstGeom>
        </p:spPr>
        <p:txBody>
          <a:bodyPr lIns="0" tIns="0" rIns="0" bIns="0" rtlCol="0" anchor="t">
            <a:spAutoFit/>
          </a:bodyPr>
          <a:lstStyle/>
          <a:p>
            <a:pPr marL="528956" lvl="1" indent="-264478" algn="l">
              <a:lnSpc>
                <a:spcPts val="2940"/>
              </a:lnSpc>
              <a:buFont typeface="Arial"/>
              <a:buChar char="•"/>
            </a:pPr>
            <a:r>
              <a:rPr lang="en-US" sz="2450" b="1">
                <a:solidFill>
                  <a:srgbClr val="1A3957"/>
                </a:solidFill>
                <a:latin typeface="Arimo Bold"/>
                <a:ea typeface="Arimo Bold"/>
                <a:cs typeface="Arimo Bold"/>
                <a:sym typeface="Arimo Bold"/>
              </a:rPr>
              <a:t>Real-time identification of water type using sensor data</a:t>
            </a:r>
          </a:p>
          <a:p>
            <a:pPr marL="528956" lvl="1" indent="-264478" algn="l">
              <a:lnSpc>
                <a:spcPts val="2940"/>
              </a:lnSpc>
              <a:buFont typeface="Arial"/>
              <a:buChar char="•"/>
            </a:pPr>
            <a:r>
              <a:rPr lang="en-US" sz="2450" b="1">
                <a:solidFill>
                  <a:srgbClr val="1A3957"/>
                </a:solidFill>
                <a:latin typeface="Arimo Bold"/>
                <a:ea typeface="Arimo Bold"/>
                <a:cs typeface="Arimo Bold"/>
                <a:sym typeface="Arimo Bold"/>
              </a:rPr>
              <a:t>Accurate classification of safe and unsafe water</a:t>
            </a:r>
          </a:p>
          <a:p>
            <a:pPr marL="528956" lvl="1" indent="-264478" algn="l">
              <a:lnSpc>
                <a:spcPts val="2940"/>
              </a:lnSpc>
              <a:buFont typeface="Arial"/>
              <a:buChar char="•"/>
            </a:pPr>
            <a:r>
              <a:rPr lang="en-US" sz="2450" b="1">
                <a:solidFill>
                  <a:srgbClr val="1A3957"/>
                </a:solidFill>
                <a:latin typeface="Arimo Bold"/>
                <a:ea typeface="Arimo Bold"/>
                <a:cs typeface="Arimo Bold"/>
                <a:sym typeface="Arimo Bold"/>
              </a:rPr>
              <a:t>Simple and automated decision-making without manual testing</a:t>
            </a:r>
          </a:p>
          <a:p>
            <a:pPr marL="528956" lvl="1" indent="-264478" algn="l">
              <a:lnSpc>
                <a:spcPts val="2940"/>
              </a:lnSpc>
              <a:buFont typeface="Arial"/>
              <a:buChar char="•"/>
            </a:pPr>
            <a:r>
              <a:rPr lang="en-US" sz="2450" b="1">
                <a:solidFill>
                  <a:srgbClr val="1A3957"/>
                </a:solidFill>
                <a:latin typeface="Arimo Bold"/>
                <a:ea typeface="Arimo Bold"/>
                <a:cs typeface="Arimo Bold"/>
                <a:sym typeface="Arimo Bold"/>
              </a:rPr>
              <a:t>Continuous monitoring during purification process</a:t>
            </a:r>
          </a:p>
          <a:p>
            <a:pPr marL="528956" lvl="1" indent="-264478" algn="l">
              <a:lnSpc>
                <a:spcPts val="2940"/>
              </a:lnSpc>
              <a:buFont typeface="Arial"/>
              <a:buChar char="•"/>
            </a:pPr>
            <a:r>
              <a:rPr lang="en-US" sz="2450" b="1">
                <a:solidFill>
                  <a:srgbClr val="1A3957"/>
                </a:solidFill>
                <a:latin typeface="Arimo Bold"/>
                <a:ea typeface="Arimo Bold"/>
                <a:cs typeface="Arimo Bold"/>
                <a:sym typeface="Arimo Bold"/>
              </a:rPr>
              <a:t>Clear output indicators for user understanding</a:t>
            </a:r>
          </a:p>
          <a:p>
            <a:pPr algn="l">
              <a:lnSpc>
                <a:spcPts val="2940"/>
              </a:lnSpc>
            </a:pPr>
            <a:endParaRPr lang="en-US" sz="2450" b="1">
              <a:solidFill>
                <a:srgbClr val="1A3957"/>
              </a:solidFill>
              <a:latin typeface="Arimo Bold"/>
              <a:ea typeface="Arimo Bold"/>
              <a:cs typeface="Arimo Bold"/>
              <a:sym typeface="Arimo Bold"/>
            </a:endParaRPr>
          </a:p>
        </p:txBody>
      </p:sp>
      <p:sp>
        <p:nvSpPr>
          <p:cNvPr id="16" name="TextBox 16"/>
          <p:cNvSpPr txBox="1"/>
          <p:nvPr/>
        </p:nvSpPr>
        <p:spPr>
          <a:xfrm>
            <a:off x="11620452" y="374647"/>
            <a:ext cx="6363176" cy="263528"/>
          </a:xfrm>
          <a:prstGeom prst="rect">
            <a:avLst/>
          </a:prstGeom>
        </p:spPr>
        <p:txBody>
          <a:bodyPr lIns="0" tIns="0" rIns="0" bIns="0" rtlCol="0" anchor="t">
            <a:spAutoFit/>
          </a:bodyPr>
          <a:lstStyle/>
          <a:p>
            <a:pPr algn="ctr">
              <a:lnSpc>
                <a:spcPts val="2200"/>
              </a:lnSpc>
            </a:pPr>
            <a:r>
              <a:rPr lang="en-US" sz="2000" b="1">
                <a:solidFill>
                  <a:srgbClr val="06728A"/>
                </a:solidFill>
                <a:latin typeface="Garet Bold"/>
                <a:ea typeface="Garet Bold"/>
                <a:cs typeface="Garet Bold"/>
                <a:sym typeface="Garet Bold"/>
              </a:rPr>
              <a:t>DIFFERENT TYPES OF WATER IDENTIFIER – ML &amp; AI</a:t>
            </a:r>
          </a:p>
        </p:txBody>
      </p:sp>
      <p:grpSp>
        <p:nvGrpSpPr>
          <p:cNvPr id="17" name="Group 17"/>
          <p:cNvGrpSpPr/>
          <p:nvPr/>
        </p:nvGrpSpPr>
        <p:grpSpPr>
          <a:xfrm>
            <a:off x="0" y="9551575"/>
            <a:ext cx="3771900" cy="735425"/>
            <a:chOff x="0" y="0"/>
            <a:chExt cx="5029200" cy="980567"/>
          </a:xfrm>
        </p:grpSpPr>
        <p:sp>
          <p:nvSpPr>
            <p:cNvPr id="18" name="Freeform 18"/>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7"/>
              <a:stretch>
                <a:fillRect t="-128" b="-128"/>
              </a:stretch>
            </a:blipFill>
          </p:spPr>
          <p:txBody>
            <a:bodyPr/>
            <a:lstStyle/>
            <a:p>
              <a:endParaRPr lang="en-US"/>
            </a:p>
          </p:txBody>
        </p:sp>
      </p:grpSp>
      <p:sp>
        <p:nvSpPr>
          <p:cNvPr id="19" name="TextBox 19"/>
          <p:cNvSpPr txBox="1"/>
          <p:nvPr/>
        </p:nvSpPr>
        <p:spPr>
          <a:xfrm>
            <a:off x="1423887" y="984753"/>
            <a:ext cx="11590284" cy="128625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How the Solution Addresses the Sub-Problem</a:t>
            </a:r>
          </a:p>
          <a:p>
            <a:pPr algn="l">
              <a:lnSpc>
                <a:spcPts val="6600"/>
              </a:lnSpc>
            </a:pPr>
            <a:endParaRPr lang="en-US" sz="3600" b="1" dirty="0">
              <a:solidFill>
                <a:srgbClr val="06728A"/>
              </a:solidFill>
              <a:latin typeface="Garet Bold"/>
              <a:ea typeface="Garet Bold"/>
              <a:cs typeface="Garet Bold"/>
              <a:sym typeface="Garet Bold"/>
            </a:endParaRPr>
          </a:p>
        </p:txBody>
      </p:sp>
      <p:sp>
        <p:nvSpPr>
          <p:cNvPr id="20" name="TextBox 20"/>
          <p:cNvSpPr txBox="1"/>
          <p:nvPr/>
        </p:nvSpPr>
        <p:spPr>
          <a:xfrm>
            <a:off x="1516116" y="5672240"/>
            <a:ext cx="12469013" cy="531167"/>
          </a:xfrm>
          <a:prstGeom prst="rect">
            <a:avLst/>
          </a:prstGeom>
        </p:spPr>
        <p:txBody>
          <a:bodyPr lIns="0" tIns="0" rIns="0" bIns="0" rtlCol="0" anchor="t">
            <a:spAutoFit/>
          </a:bodyPr>
          <a:lstStyle/>
          <a:p>
            <a:pPr algn="l">
              <a:lnSpc>
                <a:spcPts val="4040"/>
              </a:lnSpc>
            </a:pPr>
            <a:r>
              <a:rPr lang="en-US" sz="3672" b="1">
                <a:solidFill>
                  <a:srgbClr val="06728A"/>
                </a:solidFill>
                <a:latin typeface="Garet Bold"/>
                <a:ea typeface="Garet Bold"/>
                <a:cs typeface="Garet Bold"/>
                <a:sym typeface="Garet Bold"/>
              </a:rPr>
              <a:t>User Requirements Addressed by the Solution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grpSp>
        <p:nvGrpSpPr>
          <p:cNvPr id="4" name="Group 4"/>
          <p:cNvGrpSpPr/>
          <p:nvPr/>
        </p:nvGrpSpPr>
        <p:grpSpPr>
          <a:xfrm rot="9551400">
            <a:off x="15235457" y="1087660"/>
            <a:ext cx="3982803" cy="5390340"/>
            <a:chOff x="0" y="0"/>
            <a:chExt cx="5310403" cy="7187120"/>
          </a:xfrm>
        </p:grpSpPr>
        <p:sp>
          <p:nvSpPr>
            <p:cNvPr id="5" name="Freeform 5"/>
            <p:cNvSpPr/>
            <p:nvPr/>
          </p:nvSpPr>
          <p:spPr>
            <a:xfrm flipH="1">
              <a:off x="0" y="0"/>
              <a:ext cx="5310378" cy="7187057"/>
            </a:xfrm>
            <a:custGeom>
              <a:avLst/>
              <a:gdLst/>
              <a:ahLst/>
              <a:cxnLst/>
              <a:rect l="l" t="t" r="r" b="b"/>
              <a:pathLst>
                <a:path w="5310378" h="7187057">
                  <a:moveTo>
                    <a:pt x="5310378" y="0"/>
                  </a:moveTo>
                  <a:lnTo>
                    <a:pt x="0" y="0"/>
                  </a:lnTo>
                  <a:lnTo>
                    <a:pt x="0" y="7187057"/>
                  </a:lnTo>
                  <a:lnTo>
                    <a:pt x="5310378" y="7187057"/>
                  </a:lnTo>
                  <a:lnTo>
                    <a:pt x="5310378" y="0"/>
                  </a:lnTo>
                  <a:close/>
                </a:path>
              </a:pathLst>
            </a:custGeom>
            <a:blipFill>
              <a:blip r:embed="rId3"/>
              <a:stretch>
                <a:fillRect t="-914" b="-915"/>
              </a:stretch>
            </a:blipFill>
          </p:spPr>
          <p:txBody>
            <a:bodyPr/>
            <a:lstStyle/>
            <a:p>
              <a:endParaRPr lang="en-US"/>
            </a:p>
          </p:txBody>
        </p:sp>
      </p:grpSp>
      <p:sp>
        <p:nvSpPr>
          <p:cNvPr id="6" name="TextBox 6"/>
          <p:cNvSpPr txBox="1"/>
          <p:nvPr/>
        </p:nvSpPr>
        <p:spPr>
          <a:xfrm>
            <a:off x="1212932" y="1787903"/>
            <a:ext cx="13999026" cy="2995491"/>
          </a:xfrm>
          <a:prstGeom prst="rect">
            <a:avLst/>
          </a:prstGeom>
        </p:spPr>
        <p:txBody>
          <a:bodyPr lIns="0" tIns="0" rIns="0" bIns="0" rtlCol="0" anchor="t">
            <a:spAutoFit/>
          </a:bodyPr>
          <a:lstStyle/>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The design integrates machine learning classification models with IoT sensor data pipelines, enabling intelligent decision-making. </a:t>
            </a:r>
          </a:p>
          <a:p>
            <a:pPr algn="just">
              <a:lnSpc>
                <a:spcPts val="3427"/>
              </a:lnSpc>
            </a:pPr>
            <a:endParaRPr lang="en-US" sz="2450" b="1">
              <a:solidFill>
                <a:srgbClr val="1B3957"/>
              </a:solidFill>
              <a:latin typeface="Arimo Bold"/>
              <a:ea typeface="Arimo Bold"/>
              <a:cs typeface="Arimo Bold"/>
              <a:sym typeface="Arimo Bold"/>
            </a:endParaRPr>
          </a:p>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Feature selection from multiple water quality parameters improves prediction accuracy.</a:t>
            </a:r>
          </a:p>
          <a:p>
            <a:pPr algn="just">
              <a:lnSpc>
                <a:spcPts val="3427"/>
              </a:lnSpc>
            </a:pPr>
            <a:endParaRPr lang="en-US" sz="2450" b="1">
              <a:solidFill>
                <a:srgbClr val="1B3957"/>
              </a:solidFill>
              <a:latin typeface="Arimo Bold"/>
              <a:ea typeface="Arimo Bold"/>
              <a:cs typeface="Arimo Bold"/>
              <a:sym typeface="Arimo Bold"/>
            </a:endParaRPr>
          </a:p>
          <a:p>
            <a:pPr marL="528956" lvl="1" indent="-264478" algn="just">
              <a:lnSpc>
                <a:spcPts val="3429"/>
              </a:lnSpc>
              <a:buFont typeface="Arial"/>
              <a:buChar char="•"/>
            </a:pPr>
            <a:r>
              <a:rPr lang="en-US" sz="2450" b="1">
                <a:solidFill>
                  <a:srgbClr val="1B3957"/>
                </a:solidFill>
                <a:latin typeface="Arimo Bold"/>
                <a:ea typeface="Arimo Bold"/>
                <a:cs typeface="Arimo Bold"/>
                <a:sym typeface="Arimo Bold"/>
              </a:rPr>
              <a:t>The system is modular, allowing easy integration with other subsystems such as purification, distillation, and atmospheric water generation. </a:t>
            </a:r>
          </a:p>
        </p:txBody>
      </p:sp>
      <p:grpSp>
        <p:nvGrpSpPr>
          <p:cNvPr id="7" name="Group 7"/>
          <p:cNvGrpSpPr/>
          <p:nvPr/>
        </p:nvGrpSpPr>
        <p:grpSpPr>
          <a:xfrm>
            <a:off x="0" y="9559957"/>
            <a:ext cx="3771900" cy="735425"/>
            <a:chOff x="0" y="0"/>
            <a:chExt cx="5029200" cy="980567"/>
          </a:xfrm>
        </p:grpSpPr>
        <p:sp>
          <p:nvSpPr>
            <p:cNvPr id="8" name="Freeform 8"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4249" b="-94249"/>
              </a:stretch>
            </a:blipFill>
          </p:spPr>
          <p:txBody>
            <a:bodyPr/>
            <a:lstStyle/>
            <a:p>
              <a:endParaRPr lang="en-US"/>
            </a:p>
          </p:txBody>
        </p:sp>
      </p:grpSp>
      <p:sp>
        <p:nvSpPr>
          <p:cNvPr id="9" name="TextBox 9"/>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grpSp>
        <p:nvGrpSpPr>
          <p:cNvPr id="10" name="Group 10"/>
          <p:cNvGrpSpPr/>
          <p:nvPr/>
        </p:nvGrpSpPr>
        <p:grpSpPr>
          <a:xfrm>
            <a:off x="4781845" y="8768305"/>
            <a:ext cx="10224545" cy="1980248"/>
            <a:chOff x="0" y="0"/>
            <a:chExt cx="13632726" cy="2640330"/>
          </a:xfrm>
        </p:grpSpPr>
        <p:sp>
          <p:nvSpPr>
            <p:cNvPr id="11" name="Freeform 11"/>
            <p:cNvSpPr/>
            <p:nvPr/>
          </p:nvSpPr>
          <p:spPr>
            <a:xfrm>
              <a:off x="0" y="0"/>
              <a:ext cx="13632687" cy="2640330"/>
            </a:xfrm>
            <a:custGeom>
              <a:avLst/>
              <a:gdLst/>
              <a:ahLst/>
              <a:cxnLst/>
              <a:rect l="l" t="t" r="r" b="b"/>
              <a:pathLst>
                <a:path w="13632687" h="2640330">
                  <a:moveTo>
                    <a:pt x="0" y="0"/>
                  </a:moveTo>
                  <a:lnTo>
                    <a:pt x="13632687" y="0"/>
                  </a:lnTo>
                  <a:lnTo>
                    <a:pt x="13632687" y="2640330"/>
                  </a:lnTo>
                  <a:lnTo>
                    <a:pt x="0" y="2640330"/>
                  </a:lnTo>
                  <a:close/>
                </a:path>
              </a:pathLst>
            </a:custGeom>
            <a:blipFill>
              <a:blip r:embed="rId5">
                <a:alphaModFix amt="0"/>
              </a:blip>
              <a:stretch>
                <a:fillRect t="-50536" b="-50536"/>
              </a:stretch>
            </a:blipFill>
          </p:spPr>
          <p:txBody>
            <a:bodyPr/>
            <a:lstStyle/>
            <a:p>
              <a:endParaRPr lang="en-US"/>
            </a:p>
          </p:txBody>
        </p:sp>
      </p:grpSp>
      <p:grpSp>
        <p:nvGrpSpPr>
          <p:cNvPr id="12" name="Group 12"/>
          <p:cNvGrpSpPr/>
          <p:nvPr/>
        </p:nvGrpSpPr>
        <p:grpSpPr>
          <a:xfrm>
            <a:off x="4781845" y="8754018"/>
            <a:ext cx="10224545" cy="1994535"/>
            <a:chOff x="0" y="0"/>
            <a:chExt cx="13632726" cy="2659380"/>
          </a:xfrm>
        </p:grpSpPr>
        <p:sp>
          <p:nvSpPr>
            <p:cNvPr id="13" name="Freeform 13"/>
            <p:cNvSpPr/>
            <p:nvPr/>
          </p:nvSpPr>
          <p:spPr>
            <a:xfrm>
              <a:off x="0" y="0"/>
              <a:ext cx="13632726" cy="2659385"/>
            </a:xfrm>
            <a:custGeom>
              <a:avLst/>
              <a:gdLst/>
              <a:ahLst/>
              <a:cxnLst/>
              <a:rect l="l" t="t" r="r" b="b"/>
              <a:pathLst>
                <a:path w="13632726" h="2659385">
                  <a:moveTo>
                    <a:pt x="0" y="0"/>
                  </a:moveTo>
                  <a:lnTo>
                    <a:pt x="13632726" y="0"/>
                  </a:lnTo>
                  <a:lnTo>
                    <a:pt x="13632726" y="2659385"/>
                  </a:lnTo>
                  <a:lnTo>
                    <a:pt x="0" y="2659385"/>
                  </a:lnTo>
                  <a:close/>
                </a:path>
              </a:pathLst>
            </a:custGeom>
            <a:blipFill>
              <a:blip r:embed="rId6">
                <a:alphaModFix amt="0"/>
              </a:blip>
              <a:stretch>
                <a:fillRect t="-49885" b="-49885"/>
              </a:stretch>
            </a:blipFill>
          </p:spPr>
          <p:txBody>
            <a:bodyPr/>
            <a:lstStyle/>
            <a:p>
              <a:endParaRPr lang="en-US"/>
            </a:p>
          </p:txBody>
        </p:sp>
        <p:sp>
          <p:nvSpPr>
            <p:cNvPr id="14" name="TextBox 14"/>
            <p:cNvSpPr txBox="1"/>
            <p:nvPr/>
          </p:nvSpPr>
          <p:spPr>
            <a:xfrm>
              <a:off x="0" y="-19050"/>
              <a:ext cx="13632726" cy="2678430"/>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5" name="TextBox 15"/>
          <p:cNvSpPr txBox="1"/>
          <p:nvPr/>
        </p:nvSpPr>
        <p:spPr>
          <a:xfrm>
            <a:off x="11620452" y="374647"/>
            <a:ext cx="6363176" cy="263528"/>
          </a:xfrm>
          <a:prstGeom prst="rect">
            <a:avLst/>
          </a:prstGeom>
        </p:spPr>
        <p:txBody>
          <a:bodyPr lIns="0" tIns="0" rIns="0" bIns="0" rtlCol="0" anchor="t">
            <a:spAutoFit/>
          </a:bodyPr>
          <a:lstStyle/>
          <a:p>
            <a:pPr algn="ctr">
              <a:lnSpc>
                <a:spcPts val="2200"/>
              </a:lnSpc>
            </a:pPr>
            <a:r>
              <a:rPr lang="en-US" sz="2000" b="1">
                <a:solidFill>
                  <a:srgbClr val="06728A"/>
                </a:solidFill>
                <a:latin typeface="Garet Bold"/>
                <a:ea typeface="Garet Bold"/>
                <a:cs typeface="Garet Bold"/>
                <a:sym typeface="Garet Bold"/>
              </a:rPr>
              <a:t>DIFFERENT TYPES OF WATER IDENTIFIER – ML &amp; AI</a:t>
            </a:r>
          </a:p>
        </p:txBody>
      </p:sp>
      <p:grpSp>
        <p:nvGrpSpPr>
          <p:cNvPr id="16" name="Group 16"/>
          <p:cNvGrpSpPr/>
          <p:nvPr/>
        </p:nvGrpSpPr>
        <p:grpSpPr>
          <a:xfrm>
            <a:off x="0" y="9551575"/>
            <a:ext cx="3771900" cy="735425"/>
            <a:chOff x="0" y="0"/>
            <a:chExt cx="5029200" cy="980567"/>
          </a:xfrm>
        </p:grpSpPr>
        <p:sp>
          <p:nvSpPr>
            <p:cNvPr id="17" name="Freeform 17"/>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7"/>
              <a:stretch>
                <a:fillRect t="-128" b="-128"/>
              </a:stretch>
            </a:blipFill>
          </p:spPr>
          <p:txBody>
            <a:bodyPr/>
            <a:lstStyle/>
            <a:p>
              <a:endParaRPr lang="en-US"/>
            </a:p>
          </p:txBody>
        </p:sp>
      </p:grpSp>
      <p:sp>
        <p:nvSpPr>
          <p:cNvPr id="18" name="TextBox 18"/>
          <p:cNvSpPr txBox="1"/>
          <p:nvPr/>
        </p:nvSpPr>
        <p:spPr>
          <a:xfrm>
            <a:off x="1370875" y="1057275"/>
            <a:ext cx="8306525" cy="128625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Design Excellence / Contribution</a:t>
            </a:r>
          </a:p>
          <a:p>
            <a:pPr algn="l">
              <a:lnSpc>
                <a:spcPts val="6600"/>
              </a:lnSpc>
            </a:pPr>
            <a:endParaRPr lang="en-US" sz="3600" b="1" dirty="0">
              <a:solidFill>
                <a:srgbClr val="06728A"/>
              </a:solidFill>
              <a:latin typeface="Garet Bold"/>
              <a:ea typeface="Garet Bold"/>
              <a:cs typeface="Garet Bold"/>
              <a:sym typeface="Garet Bold"/>
            </a:endParaRPr>
          </a:p>
        </p:txBody>
      </p:sp>
      <p:sp>
        <p:nvSpPr>
          <p:cNvPr id="19" name="TextBox 19"/>
          <p:cNvSpPr txBox="1"/>
          <p:nvPr/>
        </p:nvSpPr>
        <p:spPr>
          <a:xfrm>
            <a:off x="1370875" y="5202494"/>
            <a:ext cx="11354599" cy="1007745"/>
          </a:xfrm>
          <a:prstGeom prst="rect">
            <a:avLst/>
          </a:prstGeom>
        </p:spPr>
        <p:txBody>
          <a:bodyPr lIns="0" tIns="0" rIns="0" bIns="0" rtlCol="0" anchor="t">
            <a:spAutoFit/>
          </a:bodyPr>
          <a:lstStyle/>
          <a:p>
            <a:pPr algn="l">
              <a:lnSpc>
                <a:spcPts val="3960"/>
              </a:lnSpc>
            </a:pPr>
            <a:r>
              <a:rPr lang="en-US" sz="3600" b="1">
                <a:solidFill>
                  <a:srgbClr val="06728A"/>
                </a:solidFill>
                <a:latin typeface="Garet Bold"/>
                <a:ea typeface="Garet Bold"/>
                <a:cs typeface="Garet Bold"/>
                <a:sym typeface="Garet Bold"/>
              </a:rPr>
              <a:t>User Feedback on Prototype</a:t>
            </a:r>
          </a:p>
          <a:p>
            <a:pPr algn="l">
              <a:lnSpc>
                <a:spcPts val="3960"/>
              </a:lnSpc>
            </a:pPr>
            <a:endParaRPr lang="en-US" sz="3600" b="1">
              <a:solidFill>
                <a:srgbClr val="06728A"/>
              </a:solidFill>
              <a:latin typeface="Garet Bold"/>
              <a:ea typeface="Garet Bold"/>
              <a:cs typeface="Garet Bold"/>
              <a:sym typeface="Garet Bold"/>
            </a:endParaRPr>
          </a:p>
        </p:txBody>
      </p:sp>
      <p:sp>
        <p:nvSpPr>
          <p:cNvPr id="20" name="TextBox 20"/>
          <p:cNvSpPr txBox="1"/>
          <p:nvPr/>
        </p:nvSpPr>
        <p:spPr>
          <a:xfrm>
            <a:off x="1370875" y="5935919"/>
            <a:ext cx="13999026" cy="3852741"/>
          </a:xfrm>
          <a:prstGeom prst="rect">
            <a:avLst/>
          </a:prstGeom>
        </p:spPr>
        <p:txBody>
          <a:bodyPr lIns="0" tIns="0" rIns="0" bIns="0" rtlCol="0" anchor="t">
            <a:spAutoFit/>
          </a:bodyPr>
          <a:lstStyle/>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Users reported that the system was easy to understand and provided clear water type results in real time</a:t>
            </a:r>
          </a:p>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The automated classification reduced the need for manual water testing</a:t>
            </a:r>
          </a:p>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The system increased user trust in water safety decisions</a:t>
            </a:r>
          </a:p>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Visual indicators and simple labels improved usability and clarity of results</a:t>
            </a:r>
          </a:p>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Suggested Improvements:</a:t>
            </a:r>
          </a:p>
          <a:p>
            <a:pPr algn="ctr">
              <a:lnSpc>
                <a:spcPts val="3427"/>
              </a:lnSpc>
            </a:pPr>
            <a:r>
              <a:rPr lang="en-US" sz="2450" b="1">
                <a:solidFill>
                  <a:srgbClr val="1B3957"/>
                </a:solidFill>
                <a:latin typeface="Arimo Bold"/>
                <a:ea typeface="Arimo Bold"/>
                <a:cs typeface="Arimo Bold"/>
                <a:sym typeface="Arimo Bold"/>
              </a:rPr>
              <a:t>- Expand support for additional water types and edge cases</a:t>
            </a:r>
          </a:p>
          <a:p>
            <a:pPr algn="ctr">
              <a:lnSpc>
                <a:spcPts val="3427"/>
              </a:lnSpc>
            </a:pPr>
            <a:r>
              <a:rPr lang="en-US" sz="2450" b="1">
                <a:solidFill>
                  <a:srgbClr val="1B3957"/>
                </a:solidFill>
                <a:latin typeface="Arimo Bold"/>
                <a:ea typeface="Arimo Bold"/>
                <a:cs typeface="Arimo Bold"/>
                <a:sym typeface="Arimo Bold"/>
              </a:rPr>
              <a:t>                         - Increase accuracy of the ML model with larger and more diverse datasets</a:t>
            </a:r>
          </a:p>
          <a:p>
            <a:pPr algn="just">
              <a:lnSpc>
                <a:spcPts val="3429"/>
              </a:lnSpc>
            </a:pPr>
            <a:endParaRPr lang="en-US" sz="2450" b="1">
              <a:solidFill>
                <a:srgbClr val="1B3957"/>
              </a:solidFill>
              <a:latin typeface="Arimo Bold"/>
              <a:ea typeface="Arimo Bold"/>
              <a:cs typeface="Arimo Bold"/>
              <a:sym typeface="Arimo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grpSp>
        <p:nvGrpSpPr>
          <p:cNvPr id="4" name="Group 4"/>
          <p:cNvGrpSpPr/>
          <p:nvPr/>
        </p:nvGrpSpPr>
        <p:grpSpPr>
          <a:xfrm rot="9551400">
            <a:off x="15235457" y="1087660"/>
            <a:ext cx="3982803" cy="5390340"/>
            <a:chOff x="0" y="0"/>
            <a:chExt cx="5310403" cy="7187120"/>
          </a:xfrm>
        </p:grpSpPr>
        <p:sp>
          <p:nvSpPr>
            <p:cNvPr id="5" name="Freeform 5"/>
            <p:cNvSpPr/>
            <p:nvPr/>
          </p:nvSpPr>
          <p:spPr>
            <a:xfrm flipH="1">
              <a:off x="0" y="0"/>
              <a:ext cx="5310378" cy="7187057"/>
            </a:xfrm>
            <a:custGeom>
              <a:avLst/>
              <a:gdLst/>
              <a:ahLst/>
              <a:cxnLst/>
              <a:rect l="l" t="t" r="r" b="b"/>
              <a:pathLst>
                <a:path w="5310378" h="7187057">
                  <a:moveTo>
                    <a:pt x="5310378" y="0"/>
                  </a:moveTo>
                  <a:lnTo>
                    <a:pt x="0" y="0"/>
                  </a:lnTo>
                  <a:lnTo>
                    <a:pt x="0" y="7187057"/>
                  </a:lnTo>
                  <a:lnTo>
                    <a:pt x="5310378" y="7187057"/>
                  </a:lnTo>
                  <a:lnTo>
                    <a:pt x="5310378" y="0"/>
                  </a:lnTo>
                  <a:close/>
                </a:path>
              </a:pathLst>
            </a:custGeom>
            <a:blipFill>
              <a:blip r:embed="rId3"/>
              <a:stretch>
                <a:fillRect t="-914" b="-915"/>
              </a:stretch>
            </a:blipFill>
          </p:spPr>
          <p:txBody>
            <a:bodyPr/>
            <a:lstStyle/>
            <a:p>
              <a:endParaRPr lang="en-US"/>
            </a:p>
          </p:txBody>
        </p:sp>
      </p:grpSp>
      <p:grpSp>
        <p:nvGrpSpPr>
          <p:cNvPr id="6" name="Group 6"/>
          <p:cNvGrpSpPr/>
          <p:nvPr/>
        </p:nvGrpSpPr>
        <p:grpSpPr>
          <a:xfrm>
            <a:off x="0" y="9559957"/>
            <a:ext cx="3771900" cy="735425"/>
            <a:chOff x="0" y="0"/>
            <a:chExt cx="5029200" cy="980567"/>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4249" b="-94249"/>
              </a:stretch>
            </a:blipFill>
          </p:spPr>
          <p:txBody>
            <a:bodyPr/>
            <a:lstStyle/>
            <a:p>
              <a:endParaRPr lang="en-US"/>
            </a:p>
          </p:txBody>
        </p:sp>
      </p:grpSp>
      <p:grpSp>
        <p:nvGrpSpPr>
          <p:cNvPr id="8" name="Group 8"/>
          <p:cNvGrpSpPr/>
          <p:nvPr/>
        </p:nvGrpSpPr>
        <p:grpSpPr>
          <a:xfrm>
            <a:off x="3948655" y="9739312"/>
            <a:ext cx="10224545" cy="547688"/>
            <a:chOff x="0" y="0"/>
            <a:chExt cx="13632726" cy="730250"/>
          </a:xfrm>
        </p:grpSpPr>
        <p:sp>
          <p:nvSpPr>
            <p:cNvPr id="9" name="Freeform 9"/>
            <p:cNvSpPr/>
            <p:nvPr/>
          </p:nvSpPr>
          <p:spPr>
            <a:xfrm>
              <a:off x="0" y="0"/>
              <a:ext cx="13632687" cy="730250"/>
            </a:xfrm>
            <a:custGeom>
              <a:avLst/>
              <a:gdLst/>
              <a:ahLst/>
              <a:cxnLst/>
              <a:rect l="l" t="t" r="r" b="b"/>
              <a:pathLst>
                <a:path w="13632687" h="730250">
                  <a:moveTo>
                    <a:pt x="0" y="0"/>
                  </a:moveTo>
                  <a:lnTo>
                    <a:pt x="13632687" y="0"/>
                  </a:lnTo>
                  <a:lnTo>
                    <a:pt x="13632687" y="730250"/>
                  </a:lnTo>
                  <a:lnTo>
                    <a:pt x="0" y="730250"/>
                  </a:lnTo>
                  <a:close/>
                </a:path>
              </a:pathLst>
            </a:custGeom>
            <a:blipFill>
              <a:blip r:embed="rId5">
                <a:alphaModFix amt="0"/>
              </a:blip>
              <a:stretch>
                <a:fillRect t="-313504" b="-313506"/>
              </a:stretch>
            </a:blipFill>
          </p:spPr>
          <p:txBody>
            <a:bodyPr/>
            <a:lstStyle/>
            <a:p>
              <a:endParaRPr lang="en-US"/>
            </a:p>
          </p:txBody>
        </p:sp>
      </p:grpSp>
      <p:grpSp>
        <p:nvGrpSpPr>
          <p:cNvPr id="10" name="Group 10"/>
          <p:cNvGrpSpPr/>
          <p:nvPr/>
        </p:nvGrpSpPr>
        <p:grpSpPr>
          <a:xfrm>
            <a:off x="3948655" y="9725025"/>
            <a:ext cx="10224545" cy="561975"/>
            <a:chOff x="0" y="0"/>
            <a:chExt cx="13632726" cy="749300"/>
          </a:xfrm>
        </p:grpSpPr>
        <p:sp>
          <p:nvSpPr>
            <p:cNvPr id="11" name="Freeform 11"/>
            <p:cNvSpPr/>
            <p:nvPr/>
          </p:nvSpPr>
          <p:spPr>
            <a:xfrm>
              <a:off x="0" y="0"/>
              <a:ext cx="13632726" cy="749301"/>
            </a:xfrm>
            <a:custGeom>
              <a:avLst/>
              <a:gdLst/>
              <a:ahLst/>
              <a:cxnLst/>
              <a:rect l="l" t="t" r="r" b="b"/>
              <a:pathLst>
                <a:path w="13632726" h="749301">
                  <a:moveTo>
                    <a:pt x="0" y="0"/>
                  </a:moveTo>
                  <a:lnTo>
                    <a:pt x="13632726" y="0"/>
                  </a:lnTo>
                  <a:lnTo>
                    <a:pt x="13632726" y="749301"/>
                  </a:lnTo>
                  <a:lnTo>
                    <a:pt x="0" y="749301"/>
                  </a:lnTo>
                  <a:close/>
                </a:path>
              </a:pathLst>
            </a:custGeom>
            <a:blipFill>
              <a:blip r:embed="rId6">
                <a:alphaModFix amt="0"/>
              </a:blip>
              <a:stretch>
                <a:fillRect t="-304509" b="-304509"/>
              </a:stretch>
            </a:blipFill>
          </p:spPr>
          <p:txBody>
            <a:bodyPr/>
            <a:lstStyle/>
            <a:p>
              <a:endParaRPr lang="en-US"/>
            </a:p>
          </p:txBody>
        </p:sp>
        <p:sp>
          <p:nvSpPr>
            <p:cNvPr id="12" name="TextBox 12"/>
            <p:cNvSpPr txBox="1"/>
            <p:nvPr/>
          </p:nvSpPr>
          <p:spPr>
            <a:xfrm>
              <a:off x="0" y="-19050"/>
              <a:ext cx="13632726" cy="768350"/>
            </a:xfrm>
            <a:prstGeom prst="rect">
              <a:avLst/>
            </a:prstGeom>
          </p:spPr>
          <p:txBody>
            <a:bodyPr lIns="0" tIns="0" rIns="0" bIns="0" rtlCol="0" anchor="ctr"/>
            <a:lstStyle/>
            <a:p>
              <a:pPr algn="ctr">
                <a:lnSpc>
                  <a:spcPts val="3240"/>
                </a:lnSpc>
              </a:pPr>
              <a:r>
                <a:rPr lang="en-US" sz="2700">
                  <a:solidFill>
                    <a:srgbClr val="000000"/>
                  </a:solidFill>
                  <a:latin typeface="Cambria"/>
                  <a:ea typeface="Cambria"/>
                  <a:cs typeface="Cambria"/>
                  <a:sym typeface="Cambria"/>
                </a:rPr>
                <a:t>R26-IT-005</a:t>
              </a:r>
            </a:p>
          </p:txBody>
        </p:sp>
      </p:grpSp>
      <p:sp>
        <p:nvSpPr>
          <p:cNvPr id="13" name="TextBox 13"/>
          <p:cNvSpPr txBox="1"/>
          <p:nvPr/>
        </p:nvSpPr>
        <p:spPr>
          <a:xfrm>
            <a:off x="15521940" y="9832076"/>
            <a:ext cx="1314252"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2026/05/11</a:t>
            </a:r>
          </a:p>
        </p:txBody>
      </p:sp>
      <p:sp>
        <p:nvSpPr>
          <p:cNvPr id="14" name="TextBox 14"/>
          <p:cNvSpPr txBox="1"/>
          <p:nvPr/>
        </p:nvSpPr>
        <p:spPr>
          <a:xfrm>
            <a:off x="14654212" y="580996"/>
            <a:ext cx="3195447" cy="269491"/>
          </a:xfrm>
          <a:prstGeom prst="rect">
            <a:avLst/>
          </a:prstGeom>
        </p:spPr>
        <p:txBody>
          <a:bodyPr lIns="0" tIns="0" rIns="0" bIns="0" rtlCol="0" anchor="t">
            <a:spAutoFit/>
          </a:bodyPr>
          <a:lstStyle/>
          <a:p>
            <a:pPr algn="ctr">
              <a:lnSpc>
                <a:spcPts val="2200"/>
              </a:lnSpc>
            </a:pPr>
            <a:r>
              <a:rPr lang="en-US" sz="2000" b="1">
                <a:solidFill>
                  <a:srgbClr val="06728A"/>
                </a:solidFill>
                <a:latin typeface="Garet Bold"/>
                <a:ea typeface="Garet Bold"/>
                <a:cs typeface="Garet Bold"/>
                <a:sym typeface="Garet Bold"/>
              </a:rPr>
              <a:t>WATER PURIFICATION </a:t>
            </a:r>
          </a:p>
        </p:txBody>
      </p:sp>
      <p:grpSp>
        <p:nvGrpSpPr>
          <p:cNvPr id="15" name="Group 15"/>
          <p:cNvGrpSpPr/>
          <p:nvPr/>
        </p:nvGrpSpPr>
        <p:grpSpPr>
          <a:xfrm>
            <a:off x="0" y="9551575"/>
            <a:ext cx="3771900" cy="735425"/>
            <a:chOff x="0" y="0"/>
            <a:chExt cx="5029200" cy="980567"/>
          </a:xfrm>
        </p:grpSpPr>
        <p:sp>
          <p:nvSpPr>
            <p:cNvPr id="16" name="Freeform 16"/>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7"/>
              <a:stretch>
                <a:fillRect t="-128" b="-128"/>
              </a:stretch>
            </a:blipFill>
          </p:spPr>
          <p:txBody>
            <a:bodyPr/>
            <a:lstStyle/>
            <a:p>
              <a:endParaRPr lang="en-US"/>
            </a:p>
          </p:txBody>
        </p:sp>
      </p:grpSp>
      <p:sp>
        <p:nvSpPr>
          <p:cNvPr id="17" name="TextBox 17"/>
          <p:cNvSpPr txBox="1"/>
          <p:nvPr/>
        </p:nvSpPr>
        <p:spPr>
          <a:xfrm>
            <a:off x="1370875" y="1256719"/>
            <a:ext cx="8687525" cy="52322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Commercialization &amp; Sustainability</a:t>
            </a:r>
          </a:p>
        </p:txBody>
      </p:sp>
      <p:sp>
        <p:nvSpPr>
          <p:cNvPr id="18" name="TextBox 18"/>
          <p:cNvSpPr txBox="1"/>
          <p:nvPr/>
        </p:nvSpPr>
        <p:spPr>
          <a:xfrm>
            <a:off x="1370875" y="2073214"/>
            <a:ext cx="13999026" cy="1709616"/>
          </a:xfrm>
          <a:prstGeom prst="rect">
            <a:avLst/>
          </a:prstGeom>
        </p:spPr>
        <p:txBody>
          <a:bodyPr lIns="0" tIns="0" rIns="0" bIns="0" rtlCol="0" anchor="t">
            <a:spAutoFit/>
          </a:bodyPr>
          <a:lstStyle/>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Can be marketed as a smart IoT-based water purification system</a:t>
            </a:r>
          </a:p>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Suitable for households, rural communities, and small institutions</a:t>
            </a:r>
          </a:p>
          <a:p>
            <a:pPr marL="528956" lvl="1" indent="-264478" algn="just">
              <a:lnSpc>
                <a:spcPts val="3427"/>
              </a:lnSpc>
              <a:buFont typeface="Arial"/>
              <a:buChar char="•"/>
            </a:pPr>
            <a:r>
              <a:rPr lang="en-US" sz="2450" b="1">
                <a:solidFill>
                  <a:srgbClr val="1B3957"/>
                </a:solidFill>
                <a:latin typeface="Arimo Bold"/>
                <a:ea typeface="Arimo Bold"/>
                <a:cs typeface="Arimo Bold"/>
                <a:sym typeface="Arimo Bold"/>
              </a:rPr>
              <a:t>Low-power operation ensures energy-efficient and sustainable usage</a:t>
            </a:r>
          </a:p>
          <a:p>
            <a:pPr marL="528956" lvl="1" indent="-264478" algn="just">
              <a:lnSpc>
                <a:spcPts val="3429"/>
              </a:lnSpc>
              <a:buFont typeface="Arial"/>
              <a:buChar char="•"/>
            </a:pPr>
            <a:r>
              <a:rPr lang="en-US" sz="2450" b="1">
                <a:solidFill>
                  <a:srgbClr val="1B3957"/>
                </a:solidFill>
                <a:latin typeface="Arimo Bold"/>
                <a:ea typeface="Arimo Bold"/>
                <a:cs typeface="Arimo Bold"/>
                <a:sym typeface="Arimo Bold"/>
              </a:rPr>
              <a:t>Modular system allows easy scaling and product expansion</a:t>
            </a:r>
          </a:p>
        </p:txBody>
      </p:sp>
      <p:sp>
        <p:nvSpPr>
          <p:cNvPr id="19" name="TextBox 19"/>
          <p:cNvSpPr txBox="1"/>
          <p:nvPr/>
        </p:nvSpPr>
        <p:spPr>
          <a:xfrm>
            <a:off x="1370875" y="4135755"/>
            <a:ext cx="6881317" cy="52322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Customer Persona &amp; Market</a:t>
            </a:r>
          </a:p>
        </p:txBody>
      </p:sp>
      <p:sp>
        <p:nvSpPr>
          <p:cNvPr id="20" name="TextBox 20"/>
          <p:cNvSpPr txBox="1"/>
          <p:nvPr/>
        </p:nvSpPr>
        <p:spPr>
          <a:xfrm>
            <a:off x="1370875" y="4829175"/>
            <a:ext cx="13999026" cy="1709616"/>
          </a:xfrm>
          <a:prstGeom prst="rect">
            <a:avLst/>
          </a:prstGeom>
        </p:spPr>
        <p:txBody>
          <a:bodyPr lIns="0" tIns="0" rIns="0" bIns="0" rtlCol="0" anchor="t">
            <a:spAutoFit/>
          </a:bodyPr>
          <a:lstStyle/>
          <a:p>
            <a:pPr marL="528956" lvl="1" indent="-264478" algn="just">
              <a:lnSpc>
                <a:spcPts val="3427"/>
              </a:lnSpc>
              <a:buFont typeface="Arial"/>
              <a:buChar char="•"/>
            </a:pPr>
            <a:r>
              <a:rPr lang="en-US" sz="2450" b="1" dirty="0">
                <a:solidFill>
                  <a:srgbClr val="1B3957"/>
                </a:solidFill>
                <a:latin typeface="Arimo Bold"/>
                <a:ea typeface="Arimo Bold"/>
                <a:cs typeface="Arimo Bold"/>
                <a:sym typeface="Arimo Bold"/>
              </a:rPr>
              <a:t>Households needing safe and clean drinking water</a:t>
            </a:r>
          </a:p>
          <a:p>
            <a:pPr marL="528956" lvl="1" indent="-264478" algn="just">
              <a:lnSpc>
                <a:spcPts val="3427"/>
              </a:lnSpc>
              <a:buFont typeface="Arial"/>
              <a:buChar char="•"/>
            </a:pPr>
            <a:r>
              <a:rPr lang="en-US" sz="2450" b="1" dirty="0">
                <a:solidFill>
                  <a:srgbClr val="1B3957"/>
                </a:solidFill>
                <a:latin typeface="Arimo Bold"/>
                <a:ea typeface="Arimo Bold"/>
                <a:cs typeface="Arimo Bold"/>
                <a:sym typeface="Arimo Bold"/>
              </a:rPr>
              <a:t>Rural and semi-urban communities with limited water infrastructure</a:t>
            </a:r>
          </a:p>
          <a:p>
            <a:pPr marL="528956" lvl="1" indent="-264478" algn="just">
              <a:lnSpc>
                <a:spcPts val="3427"/>
              </a:lnSpc>
              <a:buFont typeface="Arial"/>
              <a:buChar char="•"/>
            </a:pPr>
            <a:r>
              <a:rPr lang="en-US" sz="2450" b="1" dirty="0">
                <a:solidFill>
                  <a:srgbClr val="1B3957"/>
                </a:solidFill>
                <a:latin typeface="Arimo Bold"/>
                <a:ea typeface="Arimo Bold"/>
                <a:cs typeface="Arimo Bold"/>
                <a:sym typeface="Arimo Bold"/>
              </a:rPr>
              <a:t>Schools, clinics, and small institutions requiring purified water</a:t>
            </a:r>
          </a:p>
          <a:p>
            <a:pPr marL="528956" lvl="1" indent="-264478" algn="just">
              <a:lnSpc>
                <a:spcPts val="3429"/>
              </a:lnSpc>
              <a:buFont typeface="Arial"/>
              <a:buChar char="•"/>
            </a:pPr>
            <a:r>
              <a:rPr lang="en-US" sz="2450" b="1" dirty="0">
                <a:solidFill>
                  <a:srgbClr val="1B3957"/>
                </a:solidFill>
                <a:latin typeface="Arimo Bold"/>
                <a:ea typeface="Arimo Bold"/>
                <a:cs typeface="Arimo Bold"/>
                <a:sym typeface="Arimo Bold"/>
              </a:rPr>
              <a:t>Smart home users interested in IoT-based appliances</a:t>
            </a:r>
          </a:p>
        </p:txBody>
      </p:sp>
      <p:sp>
        <p:nvSpPr>
          <p:cNvPr id="21" name="TextBox 21"/>
          <p:cNvSpPr txBox="1"/>
          <p:nvPr/>
        </p:nvSpPr>
        <p:spPr>
          <a:xfrm>
            <a:off x="1370875" y="6891216"/>
            <a:ext cx="7392125" cy="523220"/>
          </a:xfrm>
          <a:prstGeom prst="rect">
            <a:avLst/>
          </a:prstGeom>
        </p:spPr>
        <p:txBody>
          <a:bodyPr wrap="square" lIns="0" tIns="0" rIns="0" bIns="0" rtlCol="0" anchor="t">
            <a:spAutoFit/>
          </a:bodyPr>
          <a:lstStyle/>
          <a:p>
            <a:pPr algn="l">
              <a:lnSpc>
                <a:spcPts val="3960"/>
              </a:lnSpc>
            </a:pPr>
            <a:r>
              <a:rPr lang="en-US" sz="3600" b="1" dirty="0">
                <a:solidFill>
                  <a:srgbClr val="06728A"/>
                </a:solidFill>
                <a:latin typeface="Garet Bold"/>
                <a:ea typeface="Garet Bold"/>
                <a:cs typeface="Garet Bold"/>
                <a:sym typeface="Garet Bold"/>
              </a:rPr>
              <a:t>Uniqueness &amp; Cost Recovery</a:t>
            </a:r>
          </a:p>
        </p:txBody>
      </p:sp>
      <p:sp>
        <p:nvSpPr>
          <p:cNvPr id="22" name="TextBox 22"/>
          <p:cNvSpPr txBox="1"/>
          <p:nvPr/>
        </p:nvSpPr>
        <p:spPr>
          <a:xfrm>
            <a:off x="1370875" y="7548684"/>
            <a:ext cx="13999026" cy="1709616"/>
          </a:xfrm>
          <a:prstGeom prst="rect">
            <a:avLst/>
          </a:prstGeom>
        </p:spPr>
        <p:txBody>
          <a:bodyPr lIns="0" tIns="0" rIns="0" bIns="0" rtlCol="0" anchor="t">
            <a:spAutoFit/>
          </a:bodyPr>
          <a:lstStyle/>
          <a:p>
            <a:pPr marL="528956" lvl="1" indent="-264478" algn="just">
              <a:lnSpc>
                <a:spcPts val="3427"/>
              </a:lnSpc>
              <a:buFont typeface="Arial"/>
              <a:buChar char="•"/>
            </a:pPr>
            <a:r>
              <a:rPr lang="en-US" sz="2450" b="1" dirty="0">
                <a:solidFill>
                  <a:srgbClr val="1B3957"/>
                </a:solidFill>
                <a:latin typeface="Arimo Bold"/>
                <a:ea typeface="Arimo Bold"/>
                <a:cs typeface="Arimo Bold"/>
                <a:sym typeface="Arimo Bold"/>
              </a:rPr>
              <a:t>Integrates IoT monitoring with water purification process</a:t>
            </a:r>
          </a:p>
          <a:p>
            <a:pPr marL="528956" lvl="1" indent="-264478" algn="just">
              <a:lnSpc>
                <a:spcPts val="3427"/>
              </a:lnSpc>
              <a:buFont typeface="Arial"/>
              <a:buChar char="•"/>
            </a:pPr>
            <a:r>
              <a:rPr lang="en-US" sz="2450" b="1" dirty="0">
                <a:solidFill>
                  <a:srgbClr val="1B3957"/>
                </a:solidFill>
                <a:latin typeface="Arimo Bold"/>
                <a:ea typeface="Arimo Bold"/>
                <a:cs typeface="Arimo Bold"/>
                <a:sym typeface="Arimo Bold"/>
              </a:rPr>
              <a:t>Real-time water quality tracking via mobile application</a:t>
            </a:r>
          </a:p>
          <a:p>
            <a:pPr marL="528956" lvl="1" indent="-264478" algn="just">
              <a:lnSpc>
                <a:spcPts val="3427"/>
              </a:lnSpc>
              <a:buFont typeface="Arial"/>
              <a:buChar char="•"/>
            </a:pPr>
            <a:r>
              <a:rPr lang="en-US" sz="2450" b="1" dirty="0">
                <a:solidFill>
                  <a:srgbClr val="1B3957"/>
                </a:solidFill>
                <a:latin typeface="Arimo Bold"/>
                <a:ea typeface="Arimo Bold"/>
                <a:cs typeface="Arimo Bold"/>
                <a:sym typeface="Arimo Bold"/>
              </a:rPr>
              <a:t>Automated purification reduces manual intervention and maintenance cost</a:t>
            </a:r>
          </a:p>
          <a:p>
            <a:pPr marL="528956" lvl="1" indent="-264478" algn="just">
              <a:lnSpc>
                <a:spcPts val="3429"/>
              </a:lnSpc>
              <a:buFont typeface="Arial"/>
              <a:buChar char="•"/>
            </a:pPr>
            <a:r>
              <a:rPr lang="en-US" sz="2450" b="1" dirty="0">
                <a:solidFill>
                  <a:srgbClr val="1B3957"/>
                </a:solidFill>
                <a:latin typeface="Arimo Bold"/>
                <a:ea typeface="Arimo Bold"/>
                <a:cs typeface="Arimo Bold"/>
                <a:sym typeface="Arimo Bold"/>
              </a:rPr>
              <a:t>Cost recovery through device sales, maintenance, and service subscriptions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795" b="-8795"/>
              </a:stretch>
            </a:blipFill>
          </p:spPr>
          <p:txBody>
            <a:bodyPr/>
            <a:lstStyle/>
            <a:p>
              <a:endParaRPr lang="en-US"/>
            </a:p>
          </p:txBody>
        </p:sp>
      </p:grpSp>
      <p:sp>
        <p:nvSpPr>
          <p:cNvPr id="4" name="TextBox 4"/>
          <p:cNvSpPr txBox="1"/>
          <p:nvPr/>
        </p:nvSpPr>
        <p:spPr>
          <a:xfrm>
            <a:off x="10615174" y="3016206"/>
            <a:ext cx="4229491" cy="2772775"/>
          </a:xfrm>
          <a:prstGeom prst="rect">
            <a:avLst/>
          </a:prstGeom>
        </p:spPr>
        <p:txBody>
          <a:bodyPr lIns="0" tIns="0" rIns="0" bIns="0" rtlCol="0" anchor="t">
            <a:spAutoFit/>
          </a:bodyPr>
          <a:lstStyle/>
          <a:p>
            <a:pPr algn="r">
              <a:lnSpc>
                <a:spcPts val="20418"/>
              </a:lnSpc>
            </a:pPr>
            <a:r>
              <a:rPr lang="en-US" sz="14583" b="1">
                <a:solidFill>
                  <a:srgbClr val="1B3957"/>
                </a:solidFill>
                <a:latin typeface="Garet Bold"/>
                <a:ea typeface="Garet Bold"/>
                <a:cs typeface="Garet Bold"/>
                <a:sym typeface="Garet Bold"/>
              </a:rPr>
              <a:t>YOU</a:t>
            </a:r>
          </a:p>
        </p:txBody>
      </p:sp>
      <p:sp>
        <p:nvSpPr>
          <p:cNvPr id="5" name="TextBox 5"/>
          <p:cNvSpPr txBox="1"/>
          <p:nvPr/>
        </p:nvSpPr>
        <p:spPr>
          <a:xfrm>
            <a:off x="3443345" y="3016206"/>
            <a:ext cx="6808565" cy="2772775"/>
          </a:xfrm>
          <a:prstGeom prst="rect">
            <a:avLst/>
          </a:prstGeom>
        </p:spPr>
        <p:txBody>
          <a:bodyPr lIns="0" tIns="0" rIns="0" bIns="0" rtlCol="0" anchor="t">
            <a:spAutoFit/>
          </a:bodyPr>
          <a:lstStyle/>
          <a:p>
            <a:pPr algn="l">
              <a:lnSpc>
                <a:spcPts val="20418"/>
              </a:lnSpc>
            </a:pPr>
            <a:r>
              <a:rPr lang="en-US" sz="14583" b="1">
                <a:solidFill>
                  <a:srgbClr val="06728A"/>
                </a:solidFill>
                <a:latin typeface="Garet Bold"/>
                <a:ea typeface="Garet Bold"/>
                <a:cs typeface="Garet Bold"/>
                <a:sym typeface="Garet Bold"/>
              </a:rPr>
              <a:t>THANK </a:t>
            </a:r>
          </a:p>
        </p:txBody>
      </p:sp>
      <p:sp>
        <p:nvSpPr>
          <p:cNvPr id="6" name="Freeform 6"/>
          <p:cNvSpPr/>
          <p:nvPr/>
        </p:nvSpPr>
        <p:spPr>
          <a:xfrm>
            <a:off x="4026722" y="5935380"/>
            <a:ext cx="10530802" cy="1059609"/>
          </a:xfrm>
          <a:custGeom>
            <a:avLst/>
            <a:gdLst/>
            <a:ahLst/>
            <a:cxnLst/>
            <a:rect l="l" t="t" r="r" b="b"/>
            <a:pathLst>
              <a:path w="10530802" h="1059609">
                <a:moveTo>
                  <a:pt x="0" y="0"/>
                </a:moveTo>
                <a:lnTo>
                  <a:pt x="10530802" y="0"/>
                </a:lnTo>
                <a:lnTo>
                  <a:pt x="10530802" y="1059609"/>
                </a:lnTo>
                <a:lnTo>
                  <a:pt x="0" y="105960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4308529" y="6101782"/>
            <a:ext cx="9967170" cy="755352"/>
          </a:xfrm>
          <a:prstGeom prst="rect">
            <a:avLst/>
          </a:prstGeom>
        </p:spPr>
        <p:txBody>
          <a:bodyPr lIns="0" tIns="0" rIns="0" bIns="0" rtlCol="0" anchor="t">
            <a:spAutoFit/>
          </a:bodyPr>
          <a:lstStyle/>
          <a:p>
            <a:pPr algn="ctr">
              <a:lnSpc>
                <a:spcPts val="5616"/>
              </a:lnSpc>
            </a:pPr>
            <a:r>
              <a:rPr lang="en-US" sz="4011" b="1">
                <a:solidFill>
                  <a:srgbClr val="FFFFFF"/>
                </a:solidFill>
                <a:latin typeface="Glacial Indifference Bold"/>
                <a:ea typeface="Glacial Indifference Bold"/>
                <a:cs typeface="Glacial Indifference Bold"/>
                <a:sym typeface="Glacial Indifference Bold"/>
              </a:rPr>
              <a:t>ANY QUESTIONS ?</a:t>
            </a:r>
          </a:p>
        </p:txBody>
      </p:sp>
      <p:grpSp>
        <p:nvGrpSpPr>
          <p:cNvPr id="8" name="Group 8"/>
          <p:cNvGrpSpPr/>
          <p:nvPr/>
        </p:nvGrpSpPr>
        <p:grpSpPr>
          <a:xfrm rot="-2700000">
            <a:off x="12234758" y="-2607831"/>
            <a:ext cx="4998310" cy="6764731"/>
            <a:chOff x="0" y="0"/>
            <a:chExt cx="6664414" cy="9019642"/>
          </a:xfrm>
        </p:grpSpPr>
        <p:sp>
          <p:nvSpPr>
            <p:cNvPr id="9" name="Freeform 9"/>
            <p:cNvSpPr/>
            <p:nvPr/>
          </p:nvSpPr>
          <p:spPr>
            <a:xfrm flipH="1">
              <a:off x="0" y="0"/>
              <a:ext cx="6664452" cy="9019667"/>
            </a:xfrm>
            <a:custGeom>
              <a:avLst/>
              <a:gdLst/>
              <a:ahLst/>
              <a:cxnLst/>
              <a:rect l="l" t="t" r="r" b="b"/>
              <a:pathLst>
                <a:path w="6664452" h="9019667">
                  <a:moveTo>
                    <a:pt x="6664452" y="0"/>
                  </a:moveTo>
                  <a:lnTo>
                    <a:pt x="0" y="0"/>
                  </a:lnTo>
                  <a:lnTo>
                    <a:pt x="0" y="9019667"/>
                  </a:lnTo>
                  <a:lnTo>
                    <a:pt x="6664452" y="9019667"/>
                  </a:lnTo>
                  <a:lnTo>
                    <a:pt x="6664452" y="0"/>
                  </a:lnTo>
                  <a:close/>
                </a:path>
              </a:pathLst>
            </a:custGeom>
            <a:blipFill>
              <a:blip r:embed="rId4"/>
              <a:stretch>
                <a:fillRect t="-914" b="-913"/>
              </a:stretch>
            </a:blipFill>
          </p:spPr>
          <p:txBody>
            <a:bodyPr/>
            <a:lstStyle/>
            <a:p>
              <a:endParaRPr lang="en-US"/>
            </a:p>
          </p:txBody>
        </p:sp>
      </p:grpSp>
      <p:grpSp>
        <p:nvGrpSpPr>
          <p:cNvPr id="10" name="Group 10"/>
          <p:cNvGrpSpPr/>
          <p:nvPr/>
        </p:nvGrpSpPr>
        <p:grpSpPr>
          <a:xfrm rot="7263300">
            <a:off x="-1281503" y="5252095"/>
            <a:ext cx="4095426" cy="5542759"/>
            <a:chOff x="0" y="0"/>
            <a:chExt cx="5460568" cy="7390346"/>
          </a:xfrm>
        </p:grpSpPr>
        <p:sp>
          <p:nvSpPr>
            <p:cNvPr id="11" name="Freeform 11"/>
            <p:cNvSpPr/>
            <p:nvPr/>
          </p:nvSpPr>
          <p:spPr>
            <a:xfrm flipH="1">
              <a:off x="0" y="0"/>
              <a:ext cx="5460619" cy="7390384"/>
            </a:xfrm>
            <a:custGeom>
              <a:avLst/>
              <a:gdLst/>
              <a:ahLst/>
              <a:cxnLst/>
              <a:rect l="l" t="t" r="r" b="b"/>
              <a:pathLst>
                <a:path w="5460619" h="7390384">
                  <a:moveTo>
                    <a:pt x="5460619" y="0"/>
                  </a:moveTo>
                  <a:lnTo>
                    <a:pt x="0" y="0"/>
                  </a:lnTo>
                  <a:lnTo>
                    <a:pt x="0" y="7390384"/>
                  </a:lnTo>
                  <a:lnTo>
                    <a:pt x="5460619" y="7390384"/>
                  </a:lnTo>
                  <a:lnTo>
                    <a:pt x="5460619" y="0"/>
                  </a:lnTo>
                  <a:close/>
                </a:path>
              </a:pathLst>
            </a:custGeom>
            <a:blipFill>
              <a:blip r:embed="rId4"/>
              <a:stretch>
                <a:fillRect t="-914" b="-913"/>
              </a:stretch>
            </a:blipFill>
          </p:spPr>
          <p:txBody>
            <a:bodyPr/>
            <a:lstStyle/>
            <a:p>
              <a:endParaRPr lang="en-US"/>
            </a:p>
          </p:txBody>
        </p:sp>
      </p:grpSp>
      <p:grpSp>
        <p:nvGrpSpPr>
          <p:cNvPr id="12" name="Group 12"/>
          <p:cNvGrpSpPr/>
          <p:nvPr/>
        </p:nvGrpSpPr>
        <p:grpSpPr>
          <a:xfrm rot="-3562860">
            <a:off x="3437496" y="8103108"/>
            <a:ext cx="2664352" cy="4367784"/>
            <a:chOff x="0" y="0"/>
            <a:chExt cx="3552469" cy="5823712"/>
          </a:xfrm>
        </p:grpSpPr>
        <p:sp>
          <p:nvSpPr>
            <p:cNvPr id="13" name="Freeform 13"/>
            <p:cNvSpPr/>
            <p:nvPr/>
          </p:nvSpPr>
          <p:spPr>
            <a:xfrm flipH="1">
              <a:off x="0" y="0"/>
              <a:ext cx="3552444" cy="5823712"/>
            </a:xfrm>
            <a:custGeom>
              <a:avLst/>
              <a:gdLst/>
              <a:ahLst/>
              <a:cxnLst/>
              <a:rect l="l" t="t" r="r" b="b"/>
              <a:pathLst>
                <a:path w="3552444" h="5823712">
                  <a:moveTo>
                    <a:pt x="3552444" y="0"/>
                  </a:moveTo>
                  <a:lnTo>
                    <a:pt x="0" y="0"/>
                  </a:lnTo>
                  <a:lnTo>
                    <a:pt x="0" y="5823712"/>
                  </a:lnTo>
                  <a:lnTo>
                    <a:pt x="3552444" y="5823712"/>
                  </a:lnTo>
                  <a:lnTo>
                    <a:pt x="3552444" y="0"/>
                  </a:lnTo>
                  <a:close/>
                </a:path>
              </a:pathLst>
            </a:custGeom>
            <a:blipFill>
              <a:blip r:embed="rId5"/>
              <a:stretch>
                <a:fillRect l="-17" r="-17"/>
              </a:stretch>
            </a:blipFill>
          </p:spPr>
          <p:txBody>
            <a:bodyPr/>
            <a:lstStyle/>
            <a:p>
              <a:endParaRPr lang="en-US"/>
            </a:p>
          </p:txBody>
        </p:sp>
      </p:grpSp>
      <p:sp>
        <p:nvSpPr>
          <p:cNvPr id="14" name="Freeform 14"/>
          <p:cNvSpPr/>
          <p:nvPr/>
        </p:nvSpPr>
        <p:spPr>
          <a:xfrm rot="-1515960">
            <a:off x="15112174" y="8307572"/>
            <a:ext cx="486623" cy="486623"/>
          </a:xfrm>
          <a:custGeom>
            <a:avLst/>
            <a:gdLst/>
            <a:ahLst/>
            <a:cxnLst/>
            <a:rect l="l" t="t" r="r" b="b"/>
            <a:pathLst>
              <a:path w="486623" h="486623">
                <a:moveTo>
                  <a:pt x="0" y="0"/>
                </a:moveTo>
                <a:lnTo>
                  <a:pt x="486623" y="0"/>
                </a:lnTo>
                <a:lnTo>
                  <a:pt x="486623" y="486622"/>
                </a:lnTo>
                <a:lnTo>
                  <a:pt x="0" y="486622"/>
                </a:lnTo>
                <a:lnTo>
                  <a:pt x="0" y="0"/>
                </a:lnTo>
                <a:close/>
              </a:path>
            </a:pathLst>
          </a:custGeom>
          <a:blipFill>
            <a:blip>
              <a:alphaModFix amt="50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5" name="Freeform 15"/>
          <p:cNvSpPr/>
          <p:nvPr/>
        </p:nvSpPr>
        <p:spPr>
          <a:xfrm rot="672060">
            <a:off x="3024835" y="1674971"/>
            <a:ext cx="486623" cy="486623"/>
          </a:xfrm>
          <a:custGeom>
            <a:avLst/>
            <a:gdLst/>
            <a:ahLst/>
            <a:cxnLst/>
            <a:rect l="l" t="t" r="r" b="b"/>
            <a:pathLst>
              <a:path w="486623" h="486623">
                <a:moveTo>
                  <a:pt x="0" y="0"/>
                </a:moveTo>
                <a:lnTo>
                  <a:pt x="486623" y="0"/>
                </a:lnTo>
                <a:lnTo>
                  <a:pt x="486623" y="486623"/>
                </a:lnTo>
                <a:lnTo>
                  <a:pt x="0" y="486623"/>
                </a:lnTo>
                <a:lnTo>
                  <a:pt x="0" y="0"/>
                </a:lnTo>
                <a:close/>
              </a:path>
            </a:pathLst>
          </a:custGeom>
          <a:blipFill>
            <a:blip>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1815</Words>
  <Application>Microsoft Office PowerPoint</Application>
  <PresentationFormat>Custom</PresentationFormat>
  <Paragraphs>213</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Arimo</vt:lpstr>
      <vt:lpstr>Cambria</vt:lpstr>
      <vt:lpstr>Garet Bold</vt:lpstr>
      <vt:lpstr>Cambria Bold</vt:lpstr>
      <vt:lpstr>Open Sauce Bold</vt:lpstr>
      <vt:lpstr>Arimo Bold</vt:lpstr>
      <vt:lpstr>Glacial Indifference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R26-IT-005_PP1_Presentation </dc:title>
  <cp:lastModifiedBy>WIJESINHA W.A.S.P.D. it22295460</cp:lastModifiedBy>
  <cp:revision>2</cp:revision>
  <dcterms:created xsi:type="dcterms:W3CDTF">2006-08-16T00:00:00Z</dcterms:created>
  <dcterms:modified xsi:type="dcterms:W3CDTF">2026-10-10T05:14:51Z</dcterms:modified>
  <dc:identifier>DAHJISHTj_I</dc:identifier>
</cp:coreProperties>
</file>
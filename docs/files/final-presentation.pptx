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Open Sauce Bold" charset="1" panose="00000800000000000000"/>
      <p:regular r:id="rId15"/>
    </p:embeddedFont>
    <p:embeddedFont>
      <p:font typeface="Garet Bold" charset="1" panose="00000000000000000000"/>
      <p:regular r:id="rId16"/>
    </p:embeddedFont>
    <p:embeddedFont>
      <p:font typeface="Cambria Bold" charset="1" panose="02040803050406030204"/>
      <p:regular r:id="rId17"/>
    </p:embeddedFont>
    <p:embeddedFont>
      <p:font typeface="Arimo Bold" charset="1" panose="020B0704020202020204"/>
      <p:regular r:id="rId18"/>
    </p:embeddedFont>
    <p:embeddedFont>
      <p:font typeface="Cambria" charset="1" panose="02040503050406030204"/>
      <p:regular r:id="rId19"/>
    </p:embeddedFont>
    <p:embeddedFont>
      <p:font typeface="Glacial Indifference Bold" charset="1" panose="000008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jpeg" Type="http://schemas.openxmlformats.org/officeDocument/2006/relationships/image"/><Relationship Id="rId5" Target="../media/image3.jpeg" Type="http://schemas.openxmlformats.org/officeDocument/2006/relationships/image"/><Relationship Id="rId6"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8.jpeg" Type="http://schemas.openxmlformats.org/officeDocument/2006/relationships/image"/><Relationship Id="rId5" Target="../media/image3.jpeg" Type="http://schemas.openxmlformats.org/officeDocument/2006/relationships/image"/><Relationship Id="rId6" Target="../media/image4.jpe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9.jpeg" Type="http://schemas.openxmlformats.org/officeDocument/2006/relationships/image"/><Relationship Id="rId5" Target="../media/image8.jpeg" Type="http://schemas.openxmlformats.org/officeDocument/2006/relationships/image"/><Relationship Id="rId6" Target="../media/image3.jpeg" Type="http://schemas.openxmlformats.org/officeDocument/2006/relationships/image"/><Relationship Id="rId7" Target="../media/image4.jpeg" Type="http://schemas.openxmlformats.org/officeDocument/2006/relationships/image"/><Relationship Id="rId8"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8.jpeg" Type="http://schemas.openxmlformats.org/officeDocument/2006/relationships/image"/><Relationship Id="rId5" Target="../media/image3.jpeg" Type="http://schemas.openxmlformats.org/officeDocument/2006/relationships/image"/><Relationship Id="rId6" Target="../media/image4.jpeg" Type="http://schemas.openxmlformats.org/officeDocument/2006/relationships/image"/><Relationship Id="rId7" Target="../media/image10.jpeg" Type="http://schemas.openxmlformats.org/officeDocument/2006/relationships/image"/><Relationship Id="rId8"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8.jpeg" Type="http://schemas.openxmlformats.org/officeDocument/2006/relationships/image"/><Relationship Id="rId5" Target="../media/image3.jpeg" Type="http://schemas.openxmlformats.org/officeDocument/2006/relationships/image"/><Relationship Id="rId6" Target="../media/image4.jpeg" Type="http://schemas.openxmlformats.org/officeDocument/2006/relationships/image"/><Relationship Id="rId7" Target="../media/image11.jpeg" Type="http://schemas.openxmlformats.org/officeDocument/2006/relationships/image"/><Relationship Id="rId8"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6.png" Type="http://schemas.openxmlformats.org/officeDocument/2006/relationships/image"/><Relationship Id="rId5" Target="../media/image8.jpeg" Type="http://schemas.openxmlformats.org/officeDocument/2006/relationships/image"/><Relationship Id="rId6" Target="../media/image3.jpeg" Type="http://schemas.openxmlformats.org/officeDocument/2006/relationships/image"/><Relationship Id="rId7" Target="../media/image4.jpeg" Type="http://schemas.openxmlformats.org/officeDocument/2006/relationships/image"/><Relationship Id="rId8"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8.jpeg" Type="http://schemas.openxmlformats.org/officeDocument/2006/relationships/image"/><Relationship Id="rId6" Target="../media/image3.jpeg" Type="http://schemas.openxmlformats.org/officeDocument/2006/relationships/image"/><Relationship Id="rId7" Target="../media/image4.jpeg" Type="http://schemas.openxmlformats.org/officeDocument/2006/relationships/image"/><Relationship Id="rId8"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8785" r="0" b="-8785"/>
              </a:stretch>
            </a:blipFill>
          </p:spPr>
        </p:sp>
      </p:grpSp>
      <p:grpSp>
        <p:nvGrpSpPr>
          <p:cNvPr name="Group 4" id="4"/>
          <p:cNvGrpSpPr/>
          <p:nvPr/>
        </p:nvGrpSpPr>
        <p:grpSpPr>
          <a:xfrm rot="-842280">
            <a:off x="10911430" y="82467"/>
            <a:ext cx="6002464" cy="8123777"/>
            <a:chOff x="0" y="0"/>
            <a:chExt cx="8003286" cy="10831703"/>
          </a:xfrm>
        </p:grpSpPr>
        <p:sp>
          <p:nvSpPr>
            <p:cNvPr name="Freeform 5" id="5"/>
            <p:cNvSpPr/>
            <p:nvPr/>
          </p:nvSpPr>
          <p:spPr>
            <a:xfrm flipH="true" flipV="false" rot="0">
              <a:off x="0" y="0"/>
              <a:ext cx="8003286" cy="10831703"/>
            </a:xfrm>
            <a:custGeom>
              <a:avLst/>
              <a:gdLst/>
              <a:ahLst/>
              <a:cxnLst/>
              <a:rect r="r" b="b" t="t" l="l"/>
              <a:pathLst>
                <a:path h="10831703" w="8003286">
                  <a:moveTo>
                    <a:pt x="8003286" y="0"/>
                  </a:moveTo>
                  <a:lnTo>
                    <a:pt x="0" y="0"/>
                  </a:lnTo>
                  <a:lnTo>
                    <a:pt x="0" y="10831703"/>
                  </a:lnTo>
                  <a:lnTo>
                    <a:pt x="8003286" y="10831703"/>
                  </a:lnTo>
                  <a:lnTo>
                    <a:pt x="8003286" y="0"/>
                  </a:lnTo>
                  <a:close/>
                </a:path>
              </a:pathLst>
            </a:custGeom>
            <a:blipFill>
              <a:blip r:embed="rId3"/>
              <a:stretch>
                <a:fillRect l="0" t="-914" r="0" b="-914"/>
              </a:stretch>
            </a:blipFill>
          </p:spPr>
        </p:sp>
      </p:grpSp>
      <p:grpSp>
        <p:nvGrpSpPr>
          <p:cNvPr name="Group 6" id="6"/>
          <p:cNvGrpSpPr/>
          <p:nvPr/>
        </p:nvGrpSpPr>
        <p:grpSpPr>
          <a:xfrm rot="0">
            <a:off x="2724179" y="6642525"/>
            <a:ext cx="7821987" cy="1965227"/>
            <a:chOff x="0" y="0"/>
            <a:chExt cx="10429316" cy="2620302"/>
          </a:xfrm>
        </p:grpSpPr>
        <p:sp>
          <p:nvSpPr>
            <p:cNvPr name="Freeform 7" id="7"/>
            <p:cNvSpPr/>
            <p:nvPr/>
          </p:nvSpPr>
          <p:spPr>
            <a:xfrm flipH="false" flipV="false" rot="0">
              <a:off x="0" y="0"/>
              <a:ext cx="10429367" cy="2620264"/>
            </a:xfrm>
            <a:custGeom>
              <a:avLst/>
              <a:gdLst/>
              <a:ahLst/>
              <a:cxnLst/>
              <a:rect r="r" b="b" t="t" l="l"/>
              <a:pathLst>
                <a:path h="2620264" w="10429367">
                  <a:moveTo>
                    <a:pt x="484759" y="0"/>
                  </a:moveTo>
                  <a:lnTo>
                    <a:pt x="9944735" y="0"/>
                  </a:lnTo>
                  <a:cubicBezTo>
                    <a:pt x="10212451" y="0"/>
                    <a:pt x="10429367" y="389763"/>
                    <a:pt x="10429367" y="870458"/>
                  </a:cubicBezTo>
                  <a:lnTo>
                    <a:pt x="10429367" y="1749806"/>
                  </a:lnTo>
                  <a:cubicBezTo>
                    <a:pt x="10429367" y="2230501"/>
                    <a:pt x="10212451" y="2620264"/>
                    <a:pt x="9944735" y="2620264"/>
                  </a:cubicBezTo>
                  <a:lnTo>
                    <a:pt x="484759" y="2620264"/>
                  </a:lnTo>
                  <a:cubicBezTo>
                    <a:pt x="217043" y="2620264"/>
                    <a:pt x="0" y="2230501"/>
                    <a:pt x="0" y="1749806"/>
                  </a:cubicBezTo>
                  <a:lnTo>
                    <a:pt x="0" y="870458"/>
                  </a:lnTo>
                  <a:cubicBezTo>
                    <a:pt x="0" y="389763"/>
                    <a:pt x="217043" y="0"/>
                    <a:pt x="484759" y="0"/>
                  </a:cubicBezTo>
                  <a:close/>
                </a:path>
              </a:pathLst>
            </a:custGeom>
            <a:solidFill>
              <a:srgbClr val="508EAD"/>
            </a:solidFill>
          </p:spPr>
        </p:sp>
      </p:grpSp>
      <p:grpSp>
        <p:nvGrpSpPr>
          <p:cNvPr name="Group 8" id="8"/>
          <p:cNvGrpSpPr/>
          <p:nvPr/>
        </p:nvGrpSpPr>
        <p:grpSpPr>
          <a:xfrm rot="0">
            <a:off x="3308137" y="6826063"/>
            <a:ext cx="6654108" cy="1560557"/>
            <a:chOff x="0" y="0"/>
            <a:chExt cx="8872144" cy="2080743"/>
          </a:xfrm>
        </p:grpSpPr>
        <p:sp>
          <p:nvSpPr>
            <p:cNvPr name="Freeform 9" id="9"/>
            <p:cNvSpPr/>
            <p:nvPr/>
          </p:nvSpPr>
          <p:spPr>
            <a:xfrm flipH="false" flipV="false" rot="0">
              <a:off x="0" y="0"/>
              <a:ext cx="8872093" cy="2080768"/>
            </a:xfrm>
            <a:custGeom>
              <a:avLst/>
              <a:gdLst/>
              <a:ahLst/>
              <a:cxnLst/>
              <a:rect r="r" b="b" t="t" l="l"/>
              <a:pathLst>
                <a:path h="2080768" w="8872093">
                  <a:moveTo>
                    <a:pt x="0" y="0"/>
                  </a:moveTo>
                  <a:lnTo>
                    <a:pt x="8872093" y="0"/>
                  </a:lnTo>
                  <a:lnTo>
                    <a:pt x="8872093" y="2080768"/>
                  </a:lnTo>
                  <a:lnTo>
                    <a:pt x="0" y="2080768"/>
                  </a:lnTo>
                  <a:close/>
                </a:path>
              </a:pathLst>
            </a:custGeom>
            <a:blipFill>
              <a:blip r:embed="rId4">
                <a:alphaModFix amt="0"/>
              </a:blip>
              <a:stretch>
                <a:fillRect l="0" t="-33024" r="0" b="-33023"/>
              </a:stretch>
            </a:blipFill>
          </p:spPr>
        </p:sp>
      </p:grpSp>
      <p:grpSp>
        <p:nvGrpSpPr>
          <p:cNvPr name="Group 10" id="10"/>
          <p:cNvGrpSpPr/>
          <p:nvPr/>
        </p:nvGrpSpPr>
        <p:grpSpPr>
          <a:xfrm rot="0">
            <a:off x="3308137" y="6761769"/>
            <a:ext cx="6654108" cy="1624849"/>
            <a:chOff x="0" y="0"/>
            <a:chExt cx="8872144" cy="2166465"/>
          </a:xfrm>
        </p:grpSpPr>
        <p:sp>
          <p:nvSpPr>
            <p:cNvPr name="Freeform 11" id="11"/>
            <p:cNvSpPr/>
            <p:nvPr/>
          </p:nvSpPr>
          <p:spPr>
            <a:xfrm flipH="false" flipV="false" rot="0">
              <a:off x="0" y="0"/>
              <a:ext cx="8872144" cy="2166463"/>
            </a:xfrm>
            <a:custGeom>
              <a:avLst/>
              <a:gdLst/>
              <a:ahLst/>
              <a:cxnLst/>
              <a:rect r="r" b="b" t="t" l="l"/>
              <a:pathLst>
                <a:path h="2166463" w="8872144">
                  <a:moveTo>
                    <a:pt x="0" y="0"/>
                  </a:moveTo>
                  <a:lnTo>
                    <a:pt x="8872144" y="0"/>
                  </a:lnTo>
                  <a:lnTo>
                    <a:pt x="8872144" y="2166463"/>
                  </a:lnTo>
                  <a:lnTo>
                    <a:pt x="0" y="2166463"/>
                  </a:lnTo>
                  <a:close/>
                </a:path>
              </a:pathLst>
            </a:custGeom>
            <a:blipFill>
              <a:blip r:embed="rId5">
                <a:alphaModFix amt="0"/>
              </a:blip>
              <a:stretch>
                <a:fillRect l="0" t="-29795" r="0" b="-29795"/>
              </a:stretch>
            </a:blipFill>
          </p:spPr>
        </p:sp>
        <p:sp>
          <p:nvSpPr>
            <p:cNvPr name="TextBox 12" id="12"/>
            <p:cNvSpPr txBox="true"/>
            <p:nvPr/>
          </p:nvSpPr>
          <p:spPr>
            <a:xfrm>
              <a:off x="0" y="-85725"/>
              <a:ext cx="8872144" cy="2252190"/>
            </a:xfrm>
            <a:prstGeom prst="rect">
              <a:avLst/>
            </a:prstGeom>
          </p:spPr>
          <p:txBody>
            <a:bodyPr anchor="ctr" rtlCol="false" tIns="0" lIns="0" bIns="0" rIns="0"/>
            <a:lstStyle/>
            <a:p>
              <a:pPr algn="ctr">
                <a:lnSpc>
                  <a:spcPts val="6017"/>
                </a:lnSpc>
              </a:pPr>
              <a:r>
                <a:rPr lang="en-US" b="true" sz="4299" spc="-166">
                  <a:solidFill>
                    <a:srgbClr val="FFFFFF"/>
                  </a:solidFill>
                  <a:latin typeface="Open Sauce Bold"/>
                  <a:ea typeface="Open Sauce Bold"/>
                  <a:cs typeface="Open Sauce Bold"/>
                  <a:sym typeface="Open Sauce Bold"/>
                </a:rPr>
                <a:t>R26-IT-005</a:t>
              </a:r>
            </a:p>
            <a:p>
              <a:pPr algn="ctr">
                <a:lnSpc>
                  <a:spcPts val="6017"/>
                </a:lnSpc>
              </a:pPr>
              <a:r>
                <a:rPr lang="en-US" b="true" sz="4299" spc="-171">
                  <a:solidFill>
                    <a:srgbClr val="FFFFFF"/>
                  </a:solidFill>
                  <a:latin typeface="Open Sauce Bold"/>
                  <a:ea typeface="Open Sauce Bold"/>
                  <a:cs typeface="Open Sauce Bold"/>
                  <a:sym typeface="Open Sauce Bold"/>
                </a:rPr>
                <a:t>Final </a:t>
              </a:r>
              <a:r>
                <a:rPr lang="en-US" b="true" sz="4299" spc="-171">
                  <a:solidFill>
                    <a:srgbClr val="FFFFFF"/>
                  </a:solidFill>
                  <a:latin typeface="Open Sauce Bold"/>
                  <a:ea typeface="Open Sauce Bold"/>
                  <a:cs typeface="Open Sauce Bold"/>
                  <a:sym typeface="Open Sauce Bold"/>
                </a:rPr>
                <a:t>Presentation</a:t>
              </a:r>
            </a:p>
          </p:txBody>
        </p:sp>
      </p:grpSp>
      <p:grpSp>
        <p:nvGrpSpPr>
          <p:cNvPr name="Group 13" id="13"/>
          <p:cNvGrpSpPr/>
          <p:nvPr/>
        </p:nvGrpSpPr>
        <p:grpSpPr>
          <a:xfrm rot="1031400">
            <a:off x="9509169" y="7186660"/>
            <a:ext cx="3244120" cy="5318188"/>
            <a:chOff x="0" y="0"/>
            <a:chExt cx="4325493" cy="7090918"/>
          </a:xfrm>
        </p:grpSpPr>
        <p:sp>
          <p:nvSpPr>
            <p:cNvPr name="Freeform 14" id="14"/>
            <p:cNvSpPr/>
            <p:nvPr/>
          </p:nvSpPr>
          <p:spPr>
            <a:xfrm flipH="true" flipV="false" rot="0">
              <a:off x="0" y="0"/>
              <a:ext cx="4325493" cy="7090918"/>
            </a:xfrm>
            <a:custGeom>
              <a:avLst/>
              <a:gdLst/>
              <a:ahLst/>
              <a:cxnLst/>
              <a:rect r="r" b="b" t="t" l="l"/>
              <a:pathLst>
                <a:path h="7090918" w="4325493">
                  <a:moveTo>
                    <a:pt x="4325493" y="0"/>
                  </a:moveTo>
                  <a:lnTo>
                    <a:pt x="0" y="0"/>
                  </a:lnTo>
                  <a:lnTo>
                    <a:pt x="0" y="7090918"/>
                  </a:lnTo>
                  <a:lnTo>
                    <a:pt x="4325493" y="7090918"/>
                  </a:lnTo>
                  <a:lnTo>
                    <a:pt x="4325493" y="0"/>
                  </a:lnTo>
                  <a:close/>
                </a:path>
              </a:pathLst>
            </a:custGeom>
            <a:blipFill>
              <a:blip r:embed="rId6"/>
              <a:stretch>
                <a:fillRect l="-67" t="0" r="-67" b="0"/>
              </a:stretch>
            </a:blipFill>
          </p:spPr>
        </p:sp>
      </p:grpSp>
      <p:grpSp>
        <p:nvGrpSpPr>
          <p:cNvPr name="Group 15" id="15"/>
          <p:cNvGrpSpPr/>
          <p:nvPr/>
        </p:nvGrpSpPr>
        <p:grpSpPr>
          <a:xfrm rot="577740">
            <a:off x="15945526" y="8364388"/>
            <a:ext cx="486623" cy="486623"/>
            <a:chOff x="0" y="0"/>
            <a:chExt cx="648830" cy="648830"/>
          </a:xfrm>
        </p:grpSpPr>
        <p:sp>
          <p:nvSpPr>
            <p:cNvPr name="Freeform 16" id="16"/>
            <p:cNvSpPr/>
            <p:nvPr/>
          </p:nvSpPr>
          <p:spPr>
            <a:xfrm flipH="false" flipV="false" rot="0">
              <a:off x="0" y="0"/>
              <a:ext cx="648843" cy="648843"/>
            </a:xfrm>
            <a:custGeom>
              <a:avLst/>
              <a:gdLst/>
              <a:ahLst/>
              <a:cxnLst/>
              <a:rect r="r" b="b" t="t" l="l"/>
              <a:pathLst>
                <a:path h="648843" w="648843">
                  <a:moveTo>
                    <a:pt x="0" y="0"/>
                  </a:moveTo>
                  <a:lnTo>
                    <a:pt x="648843" y="0"/>
                  </a:lnTo>
                  <a:lnTo>
                    <a:pt x="648843" y="648843"/>
                  </a:lnTo>
                  <a:lnTo>
                    <a:pt x="0" y="648843"/>
                  </a:lnTo>
                  <a:lnTo>
                    <a:pt x="0" y="0"/>
                  </a:lnTo>
                  <a:close/>
                </a:path>
              </a:pathLst>
            </a:custGeom>
            <a:solidFill>
              <a:srgbClr val="00C4CC"/>
            </a:solidFill>
          </p:spPr>
        </p:sp>
      </p:grpSp>
      <p:grpSp>
        <p:nvGrpSpPr>
          <p:cNvPr name="Group 17" id="17"/>
          <p:cNvGrpSpPr/>
          <p:nvPr/>
        </p:nvGrpSpPr>
        <p:grpSpPr>
          <a:xfrm rot="248760">
            <a:off x="7179612" y="1292847"/>
            <a:ext cx="486623" cy="486623"/>
            <a:chOff x="0" y="0"/>
            <a:chExt cx="648830" cy="648830"/>
          </a:xfrm>
        </p:grpSpPr>
        <p:sp>
          <p:nvSpPr>
            <p:cNvPr name="Freeform 18" id="18"/>
            <p:cNvSpPr/>
            <p:nvPr/>
          </p:nvSpPr>
          <p:spPr>
            <a:xfrm flipH="false" flipV="false" rot="0">
              <a:off x="0" y="0"/>
              <a:ext cx="648843" cy="648843"/>
            </a:xfrm>
            <a:custGeom>
              <a:avLst/>
              <a:gdLst/>
              <a:ahLst/>
              <a:cxnLst/>
              <a:rect r="r" b="b" t="t" l="l"/>
              <a:pathLst>
                <a:path h="648843" w="648843">
                  <a:moveTo>
                    <a:pt x="0" y="0"/>
                  </a:moveTo>
                  <a:lnTo>
                    <a:pt x="648843" y="0"/>
                  </a:lnTo>
                  <a:lnTo>
                    <a:pt x="648843" y="648843"/>
                  </a:lnTo>
                  <a:lnTo>
                    <a:pt x="0" y="648843"/>
                  </a:lnTo>
                  <a:lnTo>
                    <a:pt x="0" y="0"/>
                  </a:lnTo>
                  <a:close/>
                </a:path>
              </a:pathLst>
            </a:custGeom>
            <a:solidFill>
              <a:srgbClr val="00C4CC"/>
            </a:solidFill>
          </p:spPr>
        </p:sp>
      </p:grpSp>
      <p:grpSp>
        <p:nvGrpSpPr>
          <p:cNvPr name="Group 19" id="19"/>
          <p:cNvGrpSpPr/>
          <p:nvPr/>
        </p:nvGrpSpPr>
        <p:grpSpPr>
          <a:xfrm rot="-409800">
            <a:off x="1913163" y="7318305"/>
            <a:ext cx="486623" cy="486623"/>
            <a:chOff x="0" y="0"/>
            <a:chExt cx="648830" cy="648830"/>
          </a:xfrm>
        </p:grpSpPr>
        <p:sp>
          <p:nvSpPr>
            <p:cNvPr name="Freeform 20" id="20"/>
            <p:cNvSpPr/>
            <p:nvPr/>
          </p:nvSpPr>
          <p:spPr>
            <a:xfrm flipH="false" flipV="false" rot="0">
              <a:off x="0" y="0"/>
              <a:ext cx="648843" cy="648843"/>
            </a:xfrm>
            <a:custGeom>
              <a:avLst/>
              <a:gdLst/>
              <a:ahLst/>
              <a:cxnLst/>
              <a:rect r="r" b="b" t="t" l="l"/>
              <a:pathLst>
                <a:path h="648843" w="648843">
                  <a:moveTo>
                    <a:pt x="0" y="0"/>
                  </a:moveTo>
                  <a:lnTo>
                    <a:pt x="648843" y="0"/>
                  </a:lnTo>
                  <a:lnTo>
                    <a:pt x="648843" y="648843"/>
                  </a:lnTo>
                  <a:lnTo>
                    <a:pt x="0" y="648843"/>
                  </a:lnTo>
                  <a:lnTo>
                    <a:pt x="0" y="0"/>
                  </a:lnTo>
                  <a:close/>
                </a:path>
              </a:pathLst>
            </a:custGeom>
            <a:solidFill>
              <a:srgbClr val="00C4CC"/>
            </a:solidFill>
          </p:spPr>
        </p:sp>
      </p:grpSp>
      <p:sp>
        <p:nvSpPr>
          <p:cNvPr name="TextBox 21" id="21"/>
          <p:cNvSpPr txBox="true"/>
          <p:nvPr/>
        </p:nvSpPr>
        <p:spPr>
          <a:xfrm rot="0">
            <a:off x="348720" y="3343704"/>
            <a:ext cx="14148406" cy="3047152"/>
          </a:xfrm>
          <a:prstGeom prst="rect">
            <a:avLst/>
          </a:prstGeom>
        </p:spPr>
        <p:txBody>
          <a:bodyPr anchor="t" rtlCol="false" tIns="0" lIns="0" bIns="0" rIns="0">
            <a:spAutoFit/>
          </a:bodyPr>
          <a:lstStyle/>
          <a:p>
            <a:pPr algn="l">
              <a:lnSpc>
                <a:spcPts val="20417"/>
              </a:lnSpc>
            </a:pPr>
            <a:r>
              <a:rPr lang="en-US" sz="14582" b="true">
                <a:solidFill>
                  <a:srgbClr val="1B3957"/>
                </a:solidFill>
                <a:latin typeface="Garet Bold"/>
                <a:ea typeface="Garet Bold"/>
                <a:cs typeface="Garet Bold"/>
                <a:sym typeface="Garet Bold"/>
              </a:rPr>
              <a:t>PURIFICATION</a:t>
            </a:r>
          </a:p>
        </p:txBody>
      </p:sp>
      <p:sp>
        <p:nvSpPr>
          <p:cNvPr name="TextBox 22" id="22"/>
          <p:cNvSpPr txBox="true"/>
          <p:nvPr/>
        </p:nvSpPr>
        <p:spPr>
          <a:xfrm rot="0">
            <a:off x="602256" y="1504255"/>
            <a:ext cx="8541744" cy="3047152"/>
          </a:xfrm>
          <a:prstGeom prst="rect">
            <a:avLst/>
          </a:prstGeom>
        </p:spPr>
        <p:txBody>
          <a:bodyPr anchor="t" rtlCol="false" tIns="0" lIns="0" bIns="0" rIns="0">
            <a:spAutoFit/>
          </a:bodyPr>
          <a:lstStyle/>
          <a:p>
            <a:pPr algn="l">
              <a:lnSpc>
                <a:spcPts val="20417"/>
              </a:lnSpc>
            </a:pPr>
            <a:r>
              <a:rPr lang="en-US" sz="14582" b="true">
                <a:solidFill>
                  <a:srgbClr val="06728A"/>
                </a:solidFill>
                <a:latin typeface="Garet Bold"/>
                <a:ea typeface="Garet Bold"/>
                <a:cs typeface="Garet Bold"/>
                <a:sym typeface="Garet Bold"/>
              </a:rPr>
              <a:t>WATER</a:t>
            </a:r>
          </a:p>
        </p:txBody>
      </p:sp>
      <p:grpSp>
        <p:nvGrpSpPr>
          <p:cNvPr name="Group 23" id="23"/>
          <p:cNvGrpSpPr/>
          <p:nvPr/>
        </p:nvGrpSpPr>
        <p:grpSpPr>
          <a:xfrm rot="0">
            <a:off x="0" y="9559957"/>
            <a:ext cx="3771900" cy="735425"/>
            <a:chOff x="0" y="0"/>
            <a:chExt cx="5029200" cy="980567"/>
          </a:xfrm>
        </p:grpSpPr>
        <p:sp>
          <p:nvSpPr>
            <p:cNvPr name="Freeform 24" id="24" descr="A picture containing photo, table, person, monitor  Description automatically generated"/>
            <p:cNvSpPr/>
            <p:nvPr/>
          </p:nvSpPr>
          <p:spPr>
            <a:xfrm flipH="false" flipV="false" rot="0">
              <a:off x="0" y="0"/>
              <a:ext cx="5029200" cy="980567"/>
            </a:xfrm>
            <a:custGeom>
              <a:avLst/>
              <a:gdLst/>
              <a:ahLst/>
              <a:cxnLst/>
              <a:rect r="r" b="b" t="t" l="l"/>
              <a:pathLst>
                <a:path h="980567" w="5029200">
                  <a:moveTo>
                    <a:pt x="0" y="0"/>
                  </a:moveTo>
                  <a:lnTo>
                    <a:pt x="5029200" y="0"/>
                  </a:lnTo>
                  <a:lnTo>
                    <a:pt x="5029200" y="980567"/>
                  </a:lnTo>
                  <a:lnTo>
                    <a:pt x="0" y="980567"/>
                  </a:lnTo>
                  <a:lnTo>
                    <a:pt x="0" y="0"/>
                  </a:lnTo>
                  <a:close/>
                </a:path>
              </a:pathLst>
            </a:custGeom>
            <a:blipFill>
              <a:blip r:embed="rId7"/>
              <a:stretch>
                <a:fillRect l="0" t="-94156" r="0" b="-94157"/>
              </a:stretch>
            </a:blipFill>
          </p:spPr>
        </p:sp>
      </p:grpSp>
      <p:sp>
        <p:nvSpPr>
          <p:cNvPr name="TextBox 25" id="25"/>
          <p:cNvSpPr txBox="true"/>
          <p:nvPr/>
        </p:nvSpPr>
        <p:spPr>
          <a:xfrm rot="0">
            <a:off x="15521940" y="9822551"/>
            <a:ext cx="1314252" cy="276225"/>
          </a:xfrm>
          <a:prstGeom prst="rect">
            <a:avLst/>
          </a:prstGeom>
        </p:spPr>
        <p:txBody>
          <a:bodyPr anchor="t" rtlCol="false" tIns="0" lIns="0" bIns="0" rIns="0">
            <a:spAutoFit/>
          </a:bodyPr>
          <a:lstStyle/>
          <a:p>
            <a:pPr algn="l">
              <a:lnSpc>
                <a:spcPts val="2160"/>
              </a:lnSpc>
            </a:pPr>
            <a:r>
              <a:rPr lang="en-US" sz="1800" b="true">
                <a:solidFill>
                  <a:srgbClr val="000000"/>
                </a:solidFill>
                <a:latin typeface="Cambria Bold"/>
                <a:ea typeface="Cambria Bold"/>
                <a:cs typeface="Cambria Bold"/>
                <a:sym typeface="Cambria Bold"/>
              </a:rPr>
              <a:t>2026/10/19</a:t>
            </a:r>
          </a:p>
        </p:txBody>
      </p:sp>
      <p:grpSp>
        <p:nvGrpSpPr>
          <p:cNvPr name="Group 26" id="26"/>
          <p:cNvGrpSpPr/>
          <p:nvPr/>
        </p:nvGrpSpPr>
        <p:grpSpPr>
          <a:xfrm rot="0">
            <a:off x="0" y="9551575"/>
            <a:ext cx="3771900" cy="735425"/>
            <a:chOff x="0" y="0"/>
            <a:chExt cx="5029200" cy="980567"/>
          </a:xfrm>
        </p:grpSpPr>
        <p:sp>
          <p:nvSpPr>
            <p:cNvPr name="Freeform 27" id="27"/>
            <p:cNvSpPr/>
            <p:nvPr/>
          </p:nvSpPr>
          <p:spPr>
            <a:xfrm flipH="false" flipV="false" rot="0">
              <a:off x="0" y="0"/>
              <a:ext cx="5029200" cy="980567"/>
            </a:xfrm>
            <a:custGeom>
              <a:avLst/>
              <a:gdLst/>
              <a:ahLst/>
              <a:cxnLst/>
              <a:rect r="r" b="b" t="t" l="l"/>
              <a:pathLst>
                <a:path h="980567" w="5029200">
                  <a:moveTo>
                    <a:pt x="0" y="0"/>
                  </a:moveTo>
                  <a:lnTo>
                    <a:pt x="5029200" y="0"/>
                  </a:lnTo>
                  <a:lnTo>
                    <a:pt x="5029200" y="980567"/>
                  </a:lnTo>
                  <a:lnTo>
                    <a:pt x="0" y="980567"/>
                  </a:lnTo>
                  <a:lnTo>
                    <a:pt x="0" y="0"/>
                  </a:lnTo>
                  <a:close/>
                </a:path>
              </a:pathLst>
            </a:custGeom>
            <a:blipFill>
              <a:blip r:embed="rId8"/>
              <a:stretch>
                <a:fillRect l="0" t="-151" r="0" b="-151"/>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64" y="198991"/>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8785" r="0" b="-8785"/>
              </a:stretch>
            </a:blipFill>
          </p:spPr>
        </p:sp>
      </p:grpSp>
      <p:grpSp>
        <p:nvGrpSpPr>
          <p:cNvPr name="Group 4" id="4"/>
          <p:cNvGrpSpPr/>
          <p:nvPr/>
        </p:nvGrpSpPr>
        <p:grpSpPr>
          <a:xfrm rot="-557640">
            <a:off x="505978" y="703602"/>
            <a:ext cx="486623" cy="486623"/>
            <a:chOff x="0" y="0"/>
            <a:chExt cx="648830" cy="648830"/>
          </a:xfrm>
        </p:grpSpPr>
        <p:sp>
          <p:nvSpPr>
            <p:cNvPr name="Freeform 5" id="5"/>
            <p:cNvSpPr/>
            <p:nvPr/>
          </p:nvSpPr>
          <p:spPr>
            <a:xfrm flipH="false" flipV="false" rot="0">
              <a:off x="0" y="0"/>
              <a:ext cx="648843" cy="648843"/>
            </a:xfrm>
            <a:custGeom>
              <a:avLst/>
              <a:gdLst/>
              <a:ahLst/>
              <a:cxnLst/>
              <a:rect r="r" b="b" t="t" l="l"/>
              <a:pathLst>
                <a:path h="648843" w="648843">
                  <a:moveTo>
                    <a:pt x="0" y="0"/>
                  </a:moveTo>
                  <a:lnTo>
                    <a:pt x="648843" y="0"/>
                  </a:lnTo>
                  <a:lnTo>
                    <a:pt x="648843" y="648843"/>
                  </a:lnTo>
                  <a:lnTo>
                    <a:pt x="0" y="648843"/>
                  </a:lnTo>
                  <a:lnTo>
                    <a:pt x="0" y="0"/>
                  </a:lnTo>
                  <a:close/>
                </a:path>
              </a:pathLst>
            </a:custGeom>
            <a:solidFill>
              <a:srgbClr val="00C4CC"/>
            </a:solidFill>
          </p:spPr>
        </p:sp>
      </p:grpSp>
      <p:grpSp>
        <p:nvGrpSpPr>
          <p:cNvPr name="Group 6" id="6"/>
          <p:cNvGrpSpPr/>
          <p:nvPr/>
        </p:nvGrpSpPr>
        <p:grpSpPr>
          <a:xfrm rot="248760">
            <a:off x="17544112" y="9675976"/>
            <a:ext cx="486623" cy="486623"/>
            <a:chOff x="0" y="0"/>
            <a:chExt cx="648830" cy="648830"/>
          </a:xfrm>
        </p:grpSpPr>
        <p:sp>
          <p:nvSpPr>
            <p:cNvPr name="Freeform 7" id="7"/>
            <p:cNvSpPr/>
            <p:nvPr/>
          </p:nvSpPr>
          <p:spPr>
            <a:xfrm flipH="false" flipV="false" rot="0">
              <a:off x="0" y="0"/>
              <a:ext cx="648843" cy="648843"/>
            </a:xfrm>
            <a:custGeom>
              <a:avLst/>
              <a:gdLst/>
              <a:ahLst/>
              <a:cxnLst/>
              <a:rect r="r" b="b" t="t" l="l"/>
              <a:pathLst>
                <a:path h="648843" w="648843">
                  <a:moveTo>
                    <a:pt x="0" y="0"/>
                  </a:moveTo>
                  <a:lnTo>
                    <a:pt x="648843" y="0"/>
                  </a:lnTo>
                  <a:lnTo>
                    <a:pt x="648843" y="648843"/>
                  </a:lnTo>
                  <a:lnTo>
                    <a:pt x="0" y="648843"/>
                  </a:lnTo>
                  <a:lnTo>
                    <a:pt x="0" y="0"/>
                  </a:lnTo>
                  <a:close/>
                </a:path>
              </a:pathLst>
            </a:custGeom>
            <a:solidFill>
              <a:srgbClr val="00C4CC"/>
            </a:solidFill>
          </p:spPr>
        </p:sp>
      </p:grpSp>
      <p:graphicFrame>
        <p:nvGraphicFramePr>
          <p:cNvPr name="Table 8" id="8"/>
          <p:cNvGraphicFramePr>
            <a:graphicFrameLocks noGrp="true"/>
          </p:cNvGraphicFramePr>
          <p:nvPr/>
        </p:nvGraphicFramePr>
        <p:xfrm>
          <a:off x="382592" y="1615749"/>
          <a:ext cx="17504487" cy="7935826"/>
        </p:xfrm>
        <a:graphic>
          <a:graphicData uri="http://schemas.openxmlformats.org/drawingml/2006/table">
            <a:tbl>
              <a:tblPr/>
              <a:tblGrid>
                <a:gridCol w="2487436"/>
                <a:gridCol w="7569413"/>
                <a:gridCol w="7447638"/>
              </a:tblGrid>
              <a:tr h="1184380">
                <a:tc>
                  <a:txBody>
                    <a:bodyPr anchor="t" rtlCol="false"/>
                    <a:lstStyle/>
                    <a:p>
                      <a:pPr algn="ctr">
                        <a:lnSpc>
                          <a:spcPts val="2237"/>
                        </a:lnSpc>
                        <a:defRPr/>
                      </a:pPr>
                      <a:r>
                        <a:rPr lang="en-US" sz="1599" b="true">
                          <a:solidFill>
                            <a:srgbClr val="FFFFFF"/>
                          </a:solidFill>
                          <a:latin typeface="Arimo Bold"/>
                          <a:ea typeface="Arimo Bold"/>
                          <a:cs typeface="Arimo Bold"/>
                          <a:sym typeface="Arimo Bold"/>
                        </a:rPr>
                        <a:t>STUDENT’S NAME &amp; ID</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06728A"/>
                    </a:solidFill>
                  </a:tcPr>
                </a:tc>
                <a:tc>
                  <a:txBody>
                    <a:bodyPr anchor="t" rtlCol="false"/>
                    <a:lstStyle/>
                    <a:p>
                      <a:pPr algn="ctr">
                        <a:lnSpc>
                          <a:spcPts val="2237"/>
                        </a:lnSpc>
                        <a:defRPr/>
                      </a:pPr>
                      <a:r>
                        <a:rPr lang="en-US" sz="1599" b="true">
                          <a:solidFill>
                            <a:srgbClr val="FFFFFF"/>
                          </a:solidFill>
                          <a:latin typeface="Arimo Bold"/>
                          <a:ea typeface="Arimo Bold"/>
                          <a:cs typeface="Arimo Bold"/>
                          <a:sym typeface="Arimo Bold"/>
                        </a:rPr>
                        <a:t>COMMENTS FOR THE PP2</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06728A"/>
                    </a:solidFill>
                  </a:tcPr>
                </a:tc>
                <a:tc>
                  <a:txBody>
                    <a:bodyPr anchor="t" rtlCol="false"/>
                    <a:lstStyle/>
                    <a:p>
                      <a:pPr algn="ctr">
                        <a:lnSpc>
                          <a:spcPts val="2237"/>
                        </a:lnSpc>
                        <a:defRPr/>
                      </a:pPr>
                      <a:r>
                        <a:rPr lang="en-US" sz="1599" b="true">
                          <a:solidFill>
                            <a:srgbClr val="FFFFFF"/>
                          </a:solidFill>
                          <a:latin typeface="Arimo Bold"/>
                          <a:ea typeface="Arimo Bold"/>
                          <a:cs typeface="Arimo Bold"/>
                          <a:sym typeface="Arimo Bold"/>
                        </a:rPr>
                        <a:t>HOW YOU/TEAM ADDRESSED THEM</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06728A"/>
                    </a:solidFill>
                  </a:tcPr>
                </a:tc>
              </a:tr>
              <a:tr h="1248361">
                <a:tc>
                  <a:txBody>
                    <a:bodyPr anchor="t" rtlCol="false"/>
                    <a:lstStyle/>
                    <a:p>
                      <a:pPr algn="ctr">
                        <a:lnSpc>
                          <a:spcPts val="1959"/>
                        </a:lnSpc>
                        <a:defRPr/>
                      </a:pPr>
                      <a:r>
                        <a:rPr lang="en-US" sz="1400" b="true">
                          <a:solidFill>
                            <a:srgbClr val="000000"/>
                          </a:solidFill>
                          <a:latin typeface="Arimo Bold"/>
                          <a:ea typeface="Arimo Bold"/>
                          <a:cs typeface="Arimo Bold"/>
                          <a:sym typeface="Arimo Bold"/>
                        </a:rPr>
                        <a:t>R.M.N.A. RATHNAYAKE</a:t>
                      </a:r>
                      <a:endParaRPr lang="en-US" sz="1100"/>
                    </a:p>
                    <a:p>
                      <a:pPr algn="ctr">
                        <a:lnSpc>
                          <a:spcPts val="1959"/>
                        </a:lnSpc>
                      </a:pPr>
                      <a:r>
                        <a:rPr lang="en-US" sz="1400" b="true">
                          <a:solidFill>
                            <a:srgbClr val="000000"/>
                          </a:solidFill>
                          <a:latin typeface="Arimo Bold"/>
                          <a:ea typeface="Arimo Bold"/>
                          <a:cs typeface="Arimo Bold"/>
                          <a:sym typeface="Arimo Bold"/>
                        </a:rPr>
                        <a:t>IT22193940</a:t>
                      </a:r>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A4C5E7"/>
                    </a:solidFill>
                  </a:tcPr>
                </a:tc>
                <a:tc>
                  <a:txBody>
                    <a:bodyPr anchor="t" rtlCol="false"/>
                    <a:lstStyle/>
                    <a:p>
                      <a:pPr algn="l" marL="302261" indent="-151130" lvl="1">
                        <a:lnSpc>
                          <a:spcPts val="1960"/>
                        </a:lnSpc>
                        <a:buFont typeface="Arial"/>
                        <a:buChar char="•"/>
                        <a:defRPr/>
                      </a:pPr>
                      <a:r>
                        <a:rPr lang="en-US" b="true" sz="1400">
                          <a:solidFill>
                            <a:srgbClr val="000000"/>
                          </a:solidFill>
                          <a:latin typeface="Arimo Bold"/>
                          <a:ea typeface="Arimo Bold"/>
                          <a:cs typeface="Arimo Bold"/>
                          <a:sym typeface="Arimo Bold"/>
                        </a:rPr>
                        <a:t>Lacks idea on the architecture/models used for report generation.</a:t>
                      </a:r>
                      <a:endParaRPr lang="en-US" sz="1100"/>
                    </a:p>
                    <a:p>
                      <a:pPr algn="l" marL="302261" indent="-151130" lvl="1">
                        <a:lnSpc>
                          <a:spcPts val="1961"/>
                        </a:lnSpc>
                        <a:buFont typeface="Arial"/>
                        <a:buChar char="•"/>
                      </a:pPr>
                      <a:r>
                        <a:rPr lang="en-US" b="true" sz="1400">
                          <a:solidFill>
                            <a:srgbClr val="000000"/>
                          </a:solidFill>
                          <a:latin typeface="Arimo Bold"/>
                          <a:ea typeface="Arimo Bold"/>
                          <a:cs typeface="Arimo Bold"/>
                          <a:sym typeface="Arimo Bold"/>
                        </a:rPr>
                        <a:t>No proper idea on how the component works. Less work done. Needs improvement</a:t>
                      </a:r>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A4C5E7"/>
                    </a:solidFill>
                  </a:tcPr>
                </a:tc>
                <a:tc>
                  <a:txBody>
                    <a:bodyPr anchor="t" rtlCol="false"/>
                    <a:lstStyle/>
                    <a:p>
                      <a:pPr algn="just" marL="365639" indent="-121880" lvl="2">
                        <a:lnSpc>
                          <a:spcPts val="2240"/>
                        </a:lnSpc>
                        <a:buFont typeface="Arial"/>
                        <a:buChar char="⚬"/>
                        <a:defRPr/>
                      </a:pP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A4C5E7"/>
                    </a:solidFill>
                  </a:tcPr>
                </a:tc>
              </a:tr>
              <a:tr h="1905000">
                <a:tc>
                  <a:txBody>
                    <a:bodyPr anchor="t" rtlCol="false"/>
                    <a:lstStyle/>
                    <a:p>
                      <a:pPr algn="ctr">
                        <a:lnSpc>
                          <a:spcPts val="1960"/>
                        </a:lnSpc>
                        <a:defRPr/>
                      </a:pPr>
                      <a:r>
                        <a:rPr lang="en-US" sz="1400" b="true">
                          <a:solidFill>
                            <a:srgbClr val="000000"/>
                          </a:solidFill>
                          <a:latin typeface="Arimo Bold"/>
                          <a:ea typeface="Arimo Bold"/>
                          <a:cs typeface="Arimo Bold"/>
                          <a:sym typeface="Arimo Bold"/>
                        </a:rPr>
                        <a:t>W.N.N. DE SILVA</a:t>
                      </a:r>
                      <a:endParaRPr lang="en-US" sz="1100"/>
                    </a:p>
                    <a:p>
                      <a:pPr algn="ctr">
                        <a:lnSpc>
                          <a:spcPts val="1961"/>
                        </a:lnSpc>
                      </a:pPr>
                      <a:r>
                        <a:rPr lang="en-US" sz="1400" b="true">
                          <a:solidFill>
                            <a:srgbClr val="000000"/>
                          </a:solidFill>
                          <a:latin typeface="Arimo Bold"/>
                          <a:ea typeface="Arimo Bold"/>
                          <a:cs typeface="Arimo Bold"/>
                          <a:sym typeface="Arimo Bold"/>
                        </a:rPr>
                        <a:t>IT22211750</a:t>
                      </a:r>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A4C5E7"/>
                    </a:solidFill>
                  </a:tcPr>
                </a:tc>
                <a:tc>
                  <a:txBody>
                    <a:bodyPr anchor="t" rtlCol="false"/>
                    <a:lstStyle/>
                    <a:p>
                      <a:pPr algn="l" marL="302261" indent="-151130" lvl="1">
                        <a:lnSpc>
                          <a:spcPts val="1960"/>
                        </a:lnSpc>
                        <a:buFont typeface="Arial"/>
                        <a:buChar char="•"/>
                        <a:defRPr/>
                      </a:pPr>
                      <a:r>
                        <a:rPr lang="en-US" b="true" sz="1400">
                          <a:solidFill>
                            <a:srgbClr val="000000"/>
                          </a:solidFill>
                          <a:latin typeface="Arimo Bold"/>
                          <a:ea typeface="Arimo Bold"/>
                          <a:cs typeface="Arimo Bold"/>
                          <a:sym typeface="Arimo Bold"/>
                        </a:rPr>
                        <a:t>Uses sensor reading as inputs.</a:t>
                      </a:r>
                      <a:endParaRPr lang="en-US" sz="1100"/>
                    </a:p>
                    <a:p>
                      <a:pPr algn="l" marL="302261" indent="-151130" lvl="1">
                        <a:lnSpc>
                          <a:spcPts val="1960"/>
                        </a:lnSpc>
                        <a:buFont typeface="Arial"/>
                        <a:buChar char="•"/>
                      </a:pPr>
                      <a:r>
                        <a:rPr lang="en-US" b="true" sz="1400">
                          <a:solidFill>
                            <a:srgbClr val="000000"/>
                          </a:solidFill>
                          <a:latin typeface="Arimo Bold"/>
                          <a:ea typeface="Arimo Bold"/>
                          <a:cs typeface="Arimo Bold"/>
                          <a:sym typeface="Arimo Bold"/>
                        </a:rPr>
                        <a:t>Better, if demonstrated with both pure/impure water samples.</a:t>
                      </a:r>
                    </a:p>
                    <a:p>
                      <a:pPr algn="l" marL="302261" indent="-151130" lvl="1">
                        <a:lnSpc>
                          <a:spcPts val="1960"/>
                        </a:lnSpc>
                        <a:buFont typeface="Arial"/>
                        <a:buChar char="•"/>
                      </a:pPr>
                      <a:r>
                        <a:rPr lang="en-US" b="true" sz="1400">
                          <a:solidFill>
                            <a:srgbClr val="000000"/>
                          </a:solidFill>
                          <a:latin typeface="Arimo Bold"/>
                          <a:ea typeface="Arimo Bold"/>
                          <a:cs typeface="Arimo Bold"/>
                          <a:sym typeface="Arimo Bold"/>
                        </a:rPr>
                        <a:t>Better, if some sensors can be added, take readings only from pH and a TDS sensor.</a:t>
                      </a:r>
                    </a:p>
                    <a:p>
                      <a:pPr algn="l" marL="302261" indent="-151130" lvl="1">
                        <a:lnSpc>
                          <a:spcPts val="1961"/>
                        </a:lnSpc>
                        <a:buFont typeface="Arial"/>
                        <a:buChar char="•"/>
                      </a:pPr>
                      <a:r>
                        <a:rPr lang="en-US" b="true" sz="1400">
                          <a:solidFill>
                            <a:srgbClr val="000000"/>
                          </a:solidFill>
                          <a:latin typeface="Arimo Bold"/>
                          <a:ea typeface="Arimo Bold"/>
                          <a:cs typeface="Arimo Bold"/>
                          <a:sym typeface="Arimo Bold"/>
                        </a:rPr>
                        <a:t>Needs to have a clear idea on the trained models, why selected, and on what considerations, parameters used, why?</a:t>
                      </a:r>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A4C5E7"/>
                    </a:solidFill>
                  </a:tcPr>
                </a:tc>
                <a:tc>
                  <a:txBody>
                    <a:bodyPr anchor="t" rtlCol="false"/>
                    <a:lstStyle/>
                    <a:p>
                      <a:pPr algn="l" marL="365639" indent="-121880" lvl="2">
                        <a:lnSpc>
                          <a:spcPts val="2240"/>
                        </a:lnSpc>
                        <a:buFont typeface="Arial"/>
                        <a:buChar char="⚬"/>
                        <a:defRPr/>
                      </a:pP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A4C5E7"/>
                    </a:solidFill>
                  </a:tcPr>
                </a:tc>
              </a:tr>
              <a:tr h="2152650">
                <a:tc>
                  <a:txBody>
                    <a:bodyPr anchor="t" rtlCol="false"/>
                    <a:lstStyle/>
                    <a:p>
                      <a:pPr algn="ctr">
                        <a:lnSpc>
                          <a:spcPts val="1960"/>
                        </a:lnSpc>
                        <a:defRPr/>
                      </a:pPr>
                      <a:r>
                        <a:rPr lang="en-US" sz="1400" b="true">
                          <a:solidFill>
                            <a:srgbClr val="000000"/>
                          </a:solidFill>
                          <a:latin typeface="Arimo Bold"/>
                          <a:ea typeface="Arimo Bold"/>
                          <a:cs typeface="Arimo Bold"/>
                          <a:sym typeface="Arimo Bold"/>
                        </a:rPr>
                        <a:t>D. DODANWELA </a:t>
                      </a:r>
                      <a:endParaRPr lang="en-US" sz="1100"/>
                    </a:p>
                    <a:p>
                      <a:pPr algn="ctr">
                        <a:lnSpc>
                          <a:spcPts val="1961"/>
                        </a:lnSpc>
                      </a:pPr>
                      <a:r>
                        <a:rPr lang="en-US" sz="1400" b="true">
                          <a:solidFill>
                            <a:srgbClr val="000000"/>
                          </a:solidFill>
                          <a:latin typeface="Arimo Bold"/>
                          <a:ea typeface="Arimo Bold"/>
                          <a:cs typeface="Arimo Bold"/>
                          <a:sym typeface="Arimo Bold"/>
                        </a:rPr>
                        <a:t>IT22212122</a:t>
                      </a:r>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A4C5E7"/>
                    </a:solidFill>
                  </a:tcPr>
                </a:tc>
                <a:tc>
                  <a:txBody>
                    <a:bodyPr anchor="t" rtlCol="false"/>
                    <a:lstStyle/>
                    <a:p>
                      <a:pPr algn="l" marL="302261" indent="-151130" lvl="1">
                        <a:lnSpc>
                          <a:spcPts val="1960"/>
                        </a:lnSpc>
                        <a:buFont typeface="Arial"/>
                        <a:buChar char="•"/>
                        <a:defRPr/>
                      </a:pPr>
                      <a:r>
                        <a:rPr lang="en-US" b="true" sz="1400">
                          <a:solidFill>
                            <a:srgbClr val="000000"/>
                          </a:solidFill>
                          <a:latin typeface="Arimo Bold"/>
                          <a:ea typeface="Arimo Bold"/>
                          <a:cs typeface="Arimo Bold"/>
                          <a:sym typeface="Arimo Bold"/>
                        </a:rPr>
                        <a:t>Lacks idea on the trained models.</a:t>
                      </a:r>
                      <a:endParaRPr lang="en-US" sz="1100"/>
                    </a:p>
                    <a:p>
                      <a:pPr algn="l" marL="302261" indent="-151130" lvl="1">
                        <a:lnSpc>
                          <a:spcPts val="1960"/>
                        </a:lnSpc>
                        <a:buFont typeface="Arial"/>
                        <a:buChar char="•"/>
                      </a:pPr>
                      <a:r>
                        <a:rPr lang="en-US" b="true" sz="1400">
                          <a:solidFill>
                            <a:srgbClr val="000000"/>
                          </a:solidFill>
                          <a:latin typeface="Arimo Bold"/>
                          <a:ea typeface="Arimo Bold"/>
                          <a:cs typeface="Arimo Bold"/>
                          <a:sym typeface="Arimo Bold"/>
                        </a:rPr>
                        <a:t>Needs to have a clear idea on why the models have selected, and on what considerations, parameters used, why?</a:t>
                      </a:r>
                    </a:p>
                    <a:p>
                      <a:pPr algn="l" marL="302261" indent="-151130" lvl="1">
                        <a:lnSpc>
                          <a:spcPts val="1960"/>
                        </a:lnSpc>
                        <a:buFont typeface="Arial"/>
                        <a:buChar char="•"/>
                      </a:pPr>
                      <a:r>
                        <a:rPr lang="en-US" b="true" sz="1400">
                          <a:solidFill>
                            <a:srgbClr val="000000"/>
                          </a:solidFill>
                          <a:latin typeface="Arimo Bold"/>
                          <a:ea typeface="Arimo Bold"/>
                          <a:cs typeface="Arimo Bold"/>
                          <a:sym typeface="Arimo Bold"/>
                        </a:rPr>
                        <a:t>Moderate idea on the parameters, and need to use fine-tuning techniques and a model-comparison.</a:t>
                      </a:r>
                    </a:p>
                    <a:p>
                      <a:pPr algn="l" marL="302261" indent="-151130" lvl="1">
                        <a:lnSpc>
                          <a:spcPts val="1960"/>
                        </a:lnSpc>
                        <a:buFont typeface="Arial"/>
                        <a:buChar char="•"/>
                      </a:pPr>
                      <a:r>
                        <a:rPr lang="en-US" b="true" sz="1400">
                          <a:solidFill>
                            <a:srgbClr val="000000"/>
                          </a:solidFill>
                          <a:latin typeface="Arimo Bold"/>
                          <a:ea typeface="Arimo Bold"/>
                          <a:cs typeface="Arimo Bold"/>
                          <a:sym typeface="Arimo Bold"/>
                        </a:rPr>
                        <a:t>Needs to be specific on the water type and bacteria type.</a:t>
                      </a:r>
                    </a:p>
                    <a:p>
                      <a:pPr algn="ctr" marL="320135" indent="-106712" lvl="2">
                        <a:lnSpc>
                          <a:spcPts val="1961"/>
                        </a:lnSpc>
                      </a:pPr>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A4C5E7"/>
                    </a:solidFill>
                  </a:tcPr>
                </a:tc>
                <a:tc>
                  <a:txBody>
                    <a:bodyPr anchor="t" rtlCol="false"/>
                    <a:lstStyle/>
                    <a:p>
                      <a:pPr algn="just" marL="365531" indent="-121844" lvl="2">
                        <a:lnSpc>
                          <a:spcPts val="2237"/>
                        </a:lnSpc>
                        <a:buFont typeface="Arial"/>
                        <a:buChar char="⚬"/>
                        <a:defRPr/>
                      </a:pP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A4C5E7"/>
                    </a:solidFill>
                  </a:tcPr>
                </a:tc>
              </a:tr>
              <a:tr h="1445435">
                <a:tc>
                  <a:txBody>
                    <a:bodyPr anchor="t" rtlCol="false"/>
                    <a:lstStyle/>
                    <a:p>
                      <a:pPr algn="ctr">
                        <a:lnSpc>
                          <a:spcPts val="1960"/>
                        </a:lnSpc>
                        <a:defRPr/>
                      </a:pPr>
                      <a:r>
                        <a:rPr lang="en-US" sz="1400" b="true">
                          <a:solidFill>
                            <a:srgbClr val="000000"/>
                          </a:solidFill>
                          <a:latin typeface="Arimo Bold"/>
                          <a:ea typeface="Arimo Bold"/>
                          <a:cs typeface="Arimo Bold"/>
                          <a:sym typeface="Arimo Bold"/>
                        </a:rPr>
                        <a:t>W.A.S.P.D. WIJESINGHA </a:t>
                      </a:r>
                      <a:endParaRPr lang="en-US" sz="1100"/>
                    </a:p>
                    <a:p>
                      <a:pPr algn="ctr">
                        <a:lnSpc>
                          <a:spcPts val="1960"/>
                        </a:lnSpc>
                      </a:pPr>
                      <a:r>
                        <a:rPr lang="en-US" sz="1400" b="true">
                          <a:solidFill>
                            <a:srgbClr val="000000"/>
                          </a:solidFill>
                          <a:latin typeface="Arimo Bold"/>
                          <a:ea typeface="Arimo Bold"/>
                          <a:cs typeface="Arimo Bold"/>
                          <a:sym typeface="Arimo Bold"/>
                        </a:rPr>
                        <a:t>IT22295460</a:t>
                      </a:r>
                    </a:p>
                    <a:p>
                      <a:pPr algn="ctr">
                        <a:lnSpc>
                          <a:spcPts val="1961"/>
                        </a:lnSpc>
                      </a:pPr>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A4C5E7"/>
                    </a:solidFill>
                  </a:tcPr>
                </a:tc>
                <a:tc>
                  <a:txBody>
                    <a:bodyPr anchor="t" rtlCol="false"/>
                    <a:lstStyle/>
                    <a:p>
                      <a:pPr algn="l" marL="302261" indent="-151130" lvl="1">
                        <a:lnSpc>
                          <a:spcPts val="1960"/>
                        </a:lnSpc>
                        <a:buFont typeface="Arial"/>
                        <a:buChar char="•"/>
                        <a:defRPr/>
                      </a:pPr>
                      <a:r>
                        <a:rPr lang="en-US" b="true" sz="1400">
                          <a:solidFill>
                            <a:srgbClr val="000000"/>
                          </a:solidFill>
                          <a:latin typeface="Arimo Bold"/>
                          <a:ea typeface="Arimo Bold"/>
                          <a:cs typeface="Arimo Bold"/>
                          <a:sym typeface="Arimo Bold"/>
                        </a:rPr>
                        <a:t>Needs to have a clear idea on why the models have selected, and on what considerations, parameters used, why?</a:t>
                      </a:r>
                      <a:endParaRPr lang="en-US" sz="1100"/>
                    </a:p>
                    <a:p>
                      <a:pPr algn="l" marL="302261" indent="-151130" lvl="1">
                        <a:lnSpc>
                          <a:spcPts val="1960"/>
                        </a:lnSpc>
                        <a:buFont typeface="Arial"/>
                        <a:buChar char="•"/>
                      </a:pPr>
                      <a:r>
                        <a:rPr lang="en-US" b="true" sz="1400">
                          <a:solidFill>
                            <a:srgbClr val="000000"/>
                          </a:solidFill>
                          <a:latin typeface="Arimo Bold"/>
                          <a:ea typeface="Arimo Bold"/>
                          <a:cs typeface="Arimo Bold"/>
                          <a:sym typeface="Arimo Bold"/>
                        </a:rPr>
                        <a:t>Moderate idea on the trained models, parameters, and need to use fine-tuning techniques and a model-comparison.</a:t>
                      </a:r>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A4C5E7"/>
                    </a:solidFill>
                  </a:tcPr>
                </a:tc>
                <a:tc>
                  <a:txBody>
                    <a:bodyPr anchor="t" rtlCol="false"/>
                    <a:lstStyle/>
                    <a:p>
                      <a:pPr algn="just" marL="365531" indent="-121844" lvl="2">
                        <a:lnSpc>
                          <a:spcPts val="2237"/>
                        </a:lnSpc>
                        <a:buFont typeface="Arial"/>
                        <a:buChar char="⚬"/>
                        <a:defRPr/>
                      </a:pP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A4C5E7"/>
                    </a:solidFill>
                  </a:tcPr>
                </a:tc>
              </a:tr>
            </a:tbl>
          </a:graphicData>
        </a:graphic>
      </p:graphicFrame>
      <p:grpSp>
        <p:nvGrpSpPr>
          <p:cNvPr name="Group 9" id="9"/>
          <p:cNvGrpSpPr/>
          <p:nvPr/>
        </p:nvGrpSpPr>
        <p:grpSpPr>
          <a:xfrm rot="0">
            <a:off x="0" y="9551575"/>
            <a:ext cx="3771900" cy="735425"/>
            <a:chOff x="0" y="0"/>
            <a:chExt cx="5029200" cy="980567"/>
          </a:xfrm>
        </p:grpSpPr>
        <p:sp>
          <p:nvSpPr>
            <p:cNvPr name="Freeform 10" id="10"/>
            <p:cNvSpPr/>
            <p:nvPr/>
          </p:nvSpPr>
          <p:spPr>
            <a:xfrm flipH="false" flipV="false" rot="0">
              <a:off x="0" y="0"/>
              <a:ext cx="5029200" cy="980567"/>
            </a:xfrm>
            <a:custGeom>
              <a:avLst/>
              <a:gdLst/>
              <a:ahLst/>
              <a:cxnLst/>
              <a:rect r="r" b="b" t="t" l="l"/>
              <a:pathLst>
                <a:path h="980567" w="5029200">
                  <a:moveTo>
                    <a:pt x="0" y="0"/>
                  </a:moveTo>
                  <a:lnTo>
                    <a:pt x="5029200" y="0"/>
                  </a:lnTo>
                  <a:lnTo>
                    <a:pt x="5029200" y="980567"/>
                  </a:lnTo>
                  <a:lnTo>
                    <a:pt x="0" y="980567"/>
                  </a:lnTo>
                  <a:lnTo>
                    <a:pt x="0" y="0"/>
                  </a:lnTo>
                  <a:close/>
                </a:path>
              </a:pathLst>
            </a:custGeom>
            <a:blipFill>
              <a:blip r:embed="rId3"/>
              <a:stretch>
                <a:fillRect l="0" t="-151" r="0" b="-151"/>
              </a:stretch>
            </a:blipFill>
          </p:spPr>
        </p:sp>
      </p:grpSp>
      <p:grpSp>
        <p:nvGrpSpPr>
          <p:cNvPr name="Group 11" id="11"/>
          <p:cNvGrpSpPr/>
          <p:nvPr/>
        </p:nvGrpSpPr>
        <p:grpSpPr>
          <a:xfrm rot="0">
            <a:off x="3948655" y="9739312"/>
            <a:ext cx="10224516" cy="547688"/>
            <a:chOff x="0" y="0"/>
            <a:chExt cx="13632688" cy="730250"/>
          </a:xfrm>
        </p:grpSpPr>
        <p:sp>
          <p:nvSpPr>
            <p:cNvPr name="Freeform 12" id="12"/>
            <p:cNvSpPr/>
            <p:nvPr/>
          </p:nvSpPr>
          <p:spPr>
            <a:xfrm flipH="false" flipV="false" rot="0">
              <a:off x="0" y="0"/>
              <a:ext cx="13632687" cy="730250"/>
            </a:xfrm>
            <a:custGeom>
              <a:avLst/>
              <a:gdLst/>
              <a:ahLst/>
              <a:cxnLst/>
              <a:rect r="r" b="b" t="t" l="l"/>
              <a:pathLst>
                <a:path h="730250" w="13632687">
                  <a:moveTo>
                    <a:pt x="0" y="0"/>
                  </a:moveTo>
                  <a:lnTo>
                    <a:pt x="13632687" y="0"/>
                  </a:lnTo>
                  <a:lnTo>
                    <a:pt x="13632687" y="730250"/>
                  </a:lnTo>
                  <a:lnTo>
                    <a:pt x="0" y="730250"/>
                  </a:lnTo>
                  <a:close/>
                </a:path>
              </a:pathLst>
            </a:custGeom>
            <a:blipFill>
              <a:blip r:embed="rId4">
                <a:alphaModFix amt="0"/>
              </a:blip>
              <a:stretch>
                <a:fillRect l="0" t="-313280" r="0" b="-313278"/>
              </a:stretch>
            </a:blipFill>
          </p:spPr>
        </p:sp>
      </p:grpSp>
      <p:grpSp>
        <p:nvGrpSpPr>
          <p:cNvPr name="Group 13" id="13"/>
          <p:cNvGrpSpPr/>
          <p:nvPr/>
        </p:nvGrpSpPr>
        <p:grpSpPr>
          <a:xfrm rot="0">
            <a:off x="3948655" y="9725025"/>
            <a:ext cx="10224545" cy="561975"/>
            <a:chOff x="0" y="0"/>
            <a:chExt cx="13632726" cy="749300"/>
          </a:xfrm>
        </p:grpSpPr>
        <p:sp>
          <p:nvSpPr>
            <p:cNvPr name="Freeform 14" id="14"/>
            <p:cNvSpPr/>
            <p:nvPr/>
          </p:nvSpPr>
          <p:spPr>
            <a:xfrm flipH="false" flipV="false" rot="0">
              <a:off x="0" y="0"/>
              <a:ext cx="13632687" cy="749300"/>
            </a:xfrm>
            <a:custGeom>
              <a:avLst/>
              <a:gdLst/>
              <a:ahLst/>
              <a:cxnLst/>
              <a:rect r="r" b="b" t="t" l="l"/>
              <a:pathLst>
                <a:path h="749300" w="13632687">
                  <a:moveTo>
                    <a:pt x="0" y="0"/>
                  </a:moveTo>
                  <a:lnTo>
                    <a:pt x="13632687" y="0"/>
                  </a:lnTo>
                  <a:lnTo>
                    <a:pt x="13632687" y="749300"/>
                  </a:lnTo>
                  <a:lnTo>
                    <a:pt x="0" y="749300"/>
                  </a:lnTo>
                  <a:close/>
                </a:path>
              </a:pathLst>
            </a:custGeom>
            <a:blipFill>
              <a:blip r:embed="rId5">
                <a:alphaModFix amt="0"/>
              </a:blip>
              <a:stretch>
                <a:fillRect l="0" t="-304262" r="0" b="-304264"/>
              </a:stretch>
            </a:blipFill>
          </p:spPr>
        </p:sp>
      </p:grpSp>
      <p:grpSp>
        <p:nvGrpSpPr>
          <p:cNvPr name="Group 15" id="15"/>
          <p:cNvGrpSpPr/>
          <p:nvPr/>
        </p:nvGrpSpPr>
        <p:grpSpPr>
          <a:xfrm rot="0">
            <a:off x="3948655" y="9710738"/>
            <a:ext cx="10224545" cy="576262"/>
            <a:chOff x="0" y="0"/>
            <a:chExt cx="13632726" cy="768350"/>
          </a:xfrm>
        </p:grpSpPr>
        <p:sp>
          <p:nvSpPr>
            <p:cNvPr name="Freeform 16" id="16"/>
            <p:cNvSpPr/>
            <p:nvPr/>
          </p:nvSpPr>
          <p:spPr>
            <a:xfrm flipH="false" flipV="false" rot="0">
              <a:off x="0" y="0"/>
              <a:ext cx="13632726" cy="768350"/>
            </a:xfrm>
            <a:custGeom>
              <a:avLst/>
              <a:gdLst/>
              <a:ahLst/>
              <a:cxnLst/>
              <a:rect r="r" b="b" t="t" l="l"/>
              <a:pathLst>
                <a:path h="768350" w="13632726">
                  <a:moveTo>
                    <a:pt x="0" y="0"/>
                  </a:moveTo>
                  <a:lnTo>
                    <a:pt x="13632726" y="0"/>
                  </a:lnTo>
                  <a:lnTo>
                    <a:pt x="13632726" y="768350"/>
                  </a:lnTo>
                  <a:lnTo>
                    <a:pt x="0" y="768350"/>
                  </a:lnTo>
                  <a:close/>
                </a:path>
              </a:pathLst>
            </a:custGeom>
            <a:blipFill>
              <a:blip r:embed="rId6">
                <a:alphaModFix amt="0"/>
              </a:blip>
              <a:stretch>
                <a:fillRect l="0" t="-295720" r="0" b="-295720"/>
              </a:stretch>
            </a:blipFill>
          </p:spPr>
        </p:sp>
        <p:sp>
          <p:nvSpPr>
            <p:cNvPr name="TextBox 17" id="17"/>
            <p:cNvSpPr txBox="true"/>
            <p:nvPr/>
          </p:nvSpPr>
          <p:spPr>
            <a:xfrm>
              <a:off x="0" y="-19050"/>
              <a:ext cx="13632726" cy="787400"/>
            </a:xfrm>
            <a:prstGeom prst="rect">
              <a:avLst/>
            </a:prstGeom>
          </p:spPr>
          <p:txBody>
            <a:bodyPr anchor="ctr" rtlCol="false" tIns="0" lIns="0" bIns="0" rIns="0"/>
            <a:lstStyle/>
            <a:p>
              <a:pPr algn="ctr">
                <a:lnSpc>
                  <a:spcPts val="3240"/>
                </a:lnSpc>
              </a:pPr>
              <a:r>
                <a:rPr lang="en-US" sz="2700">
                  <a:solidFill>
                    <a:srgbClr val="000000"/>
                  </a:solidFill>
                  <a:latin typeface="Cambria"/>
                  <a:ea typeface="Cambria"/>
                  <a:cs typeface="Cambria"/>
                  <a:sym typeface="Cambria"/>
                </a:rPr>
                <a:t>R26-IT-005</a:t>
              </a:r>
            </a:p>
          </p:txBody>
        </p:sp>
      </p:grpSp>
      <p:sp>
        <p:nvSpPr>
          <p:cNvPr name="TextBox 18" id="18"/>
          <p:cNvSpPr txBox="true"/>
          <p:nvPr/>
        </p:nvSpPr>
        <p:spPr>
          <a:xfrm rot="0">
            <a:off x="1020379" y="957254"/>
            <a:ext cx="16228914" cy="1355090"/>
          </a:xfrm>
          <a:prstGeom prst="rect">
            <a:avLst/>
          </a:prstGeom>
        </p:spPr>
        <p:txBody>
          <a:bodyPr anchor="t" rtlCol="false" tIns="0" lIns="0" bIns="0" rIns="0">
            <a:spAutoFit/>
          </a:bodyPr>
          <a:lstStyle/>
          <a:p>
            <a:pPr algn="ctr">
              <a:lnSpc>
                <a:spcPts val="4180"/>
              </a:lnSpc>
            </a:pPr>
            <a:r>
              <a:rPr lang="en-US" sz="3800" b="true">
                <a:solidFill>
                  <a:srgbClr val="06728A"/>
                </a:solidFill>
                <a:latin typeface="Garet Bold"/>
                <a:ea typeface="Garet Bold"/>
                <a:cs typeface="Garet Bold"/>
                <a:sym typeface="Garet Bold"/>
              </a:rPr>
              <a:t>Comments for the PP2 and how you/team addressed them</a:t>
            </a:r>
          </a:p>
          <a:p>
            <a:pPr algn="ctr">
              <a:lnSpc>
                <a:spcPts val="8800"/>
              </a:lnSpc>
            </a:pPr>
          </a:p>
        </p:txBody>
      </p:sp>
      <p:sp>
        <p:nvSpPr>
          <p:cNvPr name="TextBox 19" id="19"/>
          <p:cNvSpPr txBox="true"/>
          <p:nvPr/>
        </p:nvSpPr>
        <p:spPr>
          <a:xfrm rot="0">
            <a:off x="15521940" y="9822551"/>
            <a:ext cx="1314250" cy="285750"/>
          </a:xfrm>
          <a:prstGeom prst="rect">
            <a:avLst/>
          </a:prstGeom>
        </p:spPr>
        <p:txBody>
          <a:bodyPr anchor="t" rtlCol="false" tIns="0" lIns="0" bIns="0" rIns="0">
            <a:spAutoFit/>
          </a:bodyPr>
          <a:lstStyle/>
          <a:p>
            <a:pPr algn="l">
              <a:lnSpc>
                <a:spcPts val="2160"/>
              </a:lnSpc>
            </a:pPr>
            <a:r>
              <a:rPr lang="en-US" sz="1800" b="true">
                <a:solidFill>
                  <a:srgbClr val="000000"/>
                </a:solidFill>
                <a:latin typeface="Cambria Bold"/>
                <a:ea typeface="Cambria Bold"/>
                <a:cs typeface="Cambria Bold"/>
                <a:sym typeface="Cambria Bold"/>
              </a:rPr>
              <a:t>2026/05/11</a:t>
            </a:r>
          </a:p>
        </p:txBody>
      </p:sp>
      <p:sp>
        <p:nvSpPr>
          <p:cNvPr name="TextBox 20" id="20"/>
          <p:cNvSpPr txBox="true"/>
          <p:nvPr/>
        </p:nvSpPr>
        <p:spPr>
          <a:xfrm rot="0">
            <a:off x="14591976" y="561327"/>
            <a:ext cx="3195447" cy="250441"/>
          </a:xfrm>
          <a:prstGeom prst="rect">
            <a:avLst/>
          </a:prstGeom>
        </p:spPr>
        <p:txBody>
          <a:bodyPr anchor="t" rtlCol="false" tIns="0" lIns="0" bIns="0" rIns="0">
            <a:spAutoFit/>
          </a:bodyPr>
          <a:lstStyle/>
          <a:p>
            <a:pPr algn="ctr">
              <a:lnSpc>
                <a:spcPts val="2200"/>
              </a:lnSpc>
            </a:pPr>
            <a:r>
              <a:rPr lang="en-US" sz="2000" b="true">
                <a:solidFill>
                  <a:srgbClr val="06728A"/>
                </a:solidFill>
                <a:latin typeface="Garet Bold"/>
                <a:ea typeface="Garet Bold"/>
                <a:cs typeface="Garet Bold"/>
                <a:sym typeface="Garet Bold"/>
              </a:rPr>
              <a:t>WATER PURIFICATION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8785" r="0" b="-8785"/>
              </a:stretch>
            </a:blipFill>
          </p:spPr>
        </p:sp>
      </p:grpSp>
      <p:grpSp>
        <p:nvGrpSpPr>
          <p:cNvPr name="Group 4" id="4"/>
          <p:cNvGrpSpPr/>
          <p:nvPr/>
        </p:nvGrpSpPr>
        <p:grpSpPr>
          <a:xfrm rot="9551400">
            <a:off x="16020536" y="272453"/>
            <a:ext cx="3982784" cy="5390293"/>
            <a:chOff x="0" y="0"/>
            <a:chExt cx="5310378" cy="7187057"/>
          </a:xfrm>
        </p:grpSpPr>
        <p:sp>
          <p:nvSpPr>
            <p:cNvPr name="Freeform 5" id="5"/>
            <p:cNvSpPr/>
            <p:nvPr/>
          </p:nvSpPr>
          <p:spPr>
            <a:xfrm flipH="true" flipV="false" rot="0">
              <a:off x="0" y="0"/>
              <a:ext cx="5310378" cy="7187057"/>
            </a:xfrm>
            <a:custGeom>
              <a:avLst/>
              <a:gdLst/>
              <a:ahLst/>
              <a:cxnLst/>
              <a:rect r="r" b="b" t="t" l="l"/>
              <a:pathLst>
                <a:path h="7187057" w="5310378">
                  <a:moveTo>
                    <a:pt x="5310378" y="0"/>
                  </a:moveTo>
                  <a:lnTo>
                    <a:pt x="0" y="0"/>
                  </a:lnTo>
                  <a:lnTo>
                    <a:pt x="0" y="7187057"/>
                  </a:lnTo>
                  <a:lnTo>
                    <a:pt x="5310378" y="7187057"/>
                  </a:lnTo>
                  <a:lnTo>
                    <a:pt x="5310378" y="0"/>
                  </a:lnTo>
                  <a:close/>
                </a:path>
              </a:pathLst>
            </a:custGeom>
            <a:blipFill>
              <a:blip r:embed="rId3"/>
              <a:stretch>
                <a:fillRect l="0" t="-914" r="0" b="-914"/>
              </a:stretch>
            </a:blipFill>
          </p:spPr>
        </p:sp>
      </p:grpSp>
      <p:grpSp>
        <p:nvGrpSpPr>
          <p:cNvPr name="Group 6" id="6"/>
          <p:cNvGrpSpPr/>
          <p:nvPr/>
        </p:nvGrpSpPr>
        <p:grpSpPr>
          <a:xfrm rot="0">
            <a:off x="3948655" y="9739312"/>
            <a:ext cx="10224516" cy="547688"/>
            <a:chOff x="0" y="0"/>
            <a:chExt cx="13632688" cy="730250"/>
          </a:xfrm>
        </p:grpSpPr>
        <p:sp>
          <p:nvSpPr>
            <p:cNvPr name="Freeform 7" id="7"/>
            <p:cNvSpPr/>
            <p:nvPr/>
          </p:nvSpPr>
          <p:spPr>
            <a:xfrm flipH="false" flipV="false" rot="0">
              <a:off x="0" y="0"/>
              <a:ext cx="13632687" cy="730250"/>
            </a:xfrm>
            <a:custGeom>
              <a:avLst/>
              <a:gdLst/>
              <a:ahLst/>
              <a:cxnLst/>
              <a:rect r="r" b="b" t="t" l="l"/>
              <a:pathLst>
                <a:path h="730250" w="13632687">
                  <a:moveTo>
                    <a:pt x="0" y="0"/>
                  </a:moveTo>
                  <a:lnTo>
                    <a:pt x="13632687" y="0"/>
                  </a:lnTo>
                  <a:lnTo>
                    <a:pt x="13632687" y="730250"/>
                  </a:lnTo>
                  <a:lnTo>
                    <a:pt x="0" y="730250"/>
                  </a:lnTo>
                  <a:close/>
                </a:path>
              </a:pathLst>
            </a:custGeom>
            <a:blipFill>
              <a:blip r:embed="rId4">
                <a:alphaModFix amt="0"/>
              </a:blip>
              <a:stretch>
                <a:fillRect l="0" t="-313280" r="0" b="-313278"/>
              </a:stretch>
            </a:blipFill>
          </p:spPr>
        </p:sp>
      </p:grpSp>
      <p:grpSp>
        <p:nvGrpSpPr>
          <p:cNvPr name="Group 8" id="8"/>
          <p:cNvGrpSpPr/>
          <p:nvPr/>
        </p:nvGrpSpPr>
        <p:grpSpPr>
          <a:xfrm rot="0">
            <a:off x="3948655" y="9725025"/>
            <a:ext cx="10224545" cy="561975"/>
            <a:chOff x="0" y="0"/>
            <a:chExt cx="13632726" cy="749300"/>
          </a:xfrm>
        </p:grpSpPr>
        <p:sp>
          <p:nvSpPr>
            <p:cNvPr name="Freeform 9" id="9"/>
            <p:cNvSpPr/>
            <p:nvPr/>
          </p:nvSpPr>
          <p:spPr>
            <a:xfrm flipH="false" flipV="false" rot="0">
              <a:off x="0" y="0"/>
              <a:ext cx="13632687" cy="749300"/>
            </a:xfrm>
            <a:custGeom>
              <a:avLst/>
              <a:gdLst/>
              <a:ahLst/>
              <a:cxnLst/>
              <a:rect r="r" b="b" t="t" l="l"/>
              <a:pathLst>
                <a:path h="749300" w="13632687">
                  <a:moveTo>
                    <a:pt x="0" y="0"/>
                  </a:moveTo>
                  <a:lnTo>
                    <a:pt x="13632687" y="0"/>
                  </a:lnTo>
                  <a:lnTo>
                    <a:pt x="13632687" y="749300"/>
                  </a:lnTo>
                  <a:lnTo>
                    <a:pt x="0" y="749300"/>
                  </a:lnTo>
                  <a:close/>
                </a:path>
              </a:pathLst>
            </a:custGeom>
            <a:blipFill>
              <a:blip r:embed="rId5">
                <a:alphaModFix amt="0"/>
              </a:blip>
              <a:stretch>
                <a:fillRect l="0" t="-304262" r="0" b="-304264"/>
              </a:stretch>
            </a:blipFill>
          </p:spPr>
        </p:sp>
      </p:grpSp>
      <p:grpSp>
        <p:nvGrpSpPr>
          <p:cNvPr name="Group 10" id="10"/>
          <p:cNvGrpSpPr/>
          <p:nvPr/>
        </p:nvGrpSpPr>
        <p:grpSpPr>
          <a:xfrm rot="0">
            <a:off x="3948655" y="9710738"/>
            <a:ext cx="10224545" cy="576262"/>
            <a:chOff x="0" y="0"/>
            <a:chExt cx="13632726" cy="768350"/>
          </a:xfrm>
        </p:grpSpPr>
        <p:sp>
          <p:nvSpPr>
            <p:cNvPr name="Freeform 11" id="11"/>
            <p:cNvSpPr/>
            <p:nvPr/>
          </p:nvSpPr>
          <p:spPr>
            <a:xfrm flipH="false" flipV="false" rot="0">
              <a:off x="0" y="0"/>
              <a:ext cx="13632726" cy="768350"/>
            </a:xfrm>
            <a:custGeom>
              <a:avLst/>
              <a:gdLst/>
              <a:ahLst/>
              <a:cxnLst/>
              <a:rect r="r" b="b" t="t" l="l"/>
              <a:pathLst>
                <a:path h="768350" w="13632726">
                  <a:moveTo>
                    <a:pt x="0" y="0"/>
                  </a:moveTo>
                  <a:lnTo>
                    <a:pt x="13632726" y="0"/>
                  </a:lnTo>
                  <a:lnTo>
                    <a:pt x="13632726" y="768350"/>
                  </a:lnTo>
                  <a:lnTo>
                    <a:pt x="0" y="768350"/>
                  </a:lnTo>
                  <a:close/>
                </a:path>
              </a:pathLst>
            </a:custGeom>
            <a:blipFill>
              <a:blip r:embed="rId6">
                <a:alphaModFix amt="0"/>
              </a:blip>
              <a:stretch>
                <a:fillRect l="0" t="-295720" r="0" b="-295720"/>
              </a:stretch>
            </a:blipFill>
          </p:spPr>
        </p:sp>
        <p:sp>
          <p:nvSpPr>
            <p:cNvPr name="TextBox 12" id="12"/>
            <p:cNvSpPr txBox="true"/>
            <p:nvPr/>
          </p:nvSpPr>
          <p:spPr>
            <a:xfrm>
              <a:off x="0" y="-19050"/>
              <a:ext cx="13632726" cy="787400"/>
            </a:xfrm>
            <a:prstGeom prst="rect">
              <a:avLst/>
            </a:prstGeom>
          </p:spPr>
          <p:txBody>
            <a:bodyPr anchor="ctr" rtlCol="false" tIns="0" lIns="0" bIns="0" rIns="0"/>
            <a:lstStyle/>
            <a:p>
              <a:pPr algn="ctr">
                <a:lnSpc>
                  <a:spcPts val="3240"/>
                </a:lnSpc>
              </a:pPr>
              <a:r>
                <a:rPr lang="en-US" sz="2700">
                  <a:solidFill>
                    <a:srgbClr val="000000"/>
                  </a:solidFill>
                  <a:latin typeface="Cambria"/>
                  <a:ea typeface="Cambria"/>
                  <a:cs typeface="Cambria"/>
                  <a:sym typeface="Cambria"/>
                </a:rPr>
                <a:t>R26-IT-005</a:t>
              </a:r>
            </a:p>
          </p:txBody>
        </p:sp>
      </p:grpSp>
      <p:grpSp>
        <p:nvGrpSpPr>
          <p:cNvPr name="Group 13" id="13"/>
          <p:cNvGrpSpPr/>
          <p:nvPr/>
        </p:nvGrpSpPr>
        <p:grpSpPr>
          <a:xfrm rot="0">
            <a:off x="0" y="9559957"/>
            <a:ext cx="3771900" cy="735425"/>
            <a:chOff x="0" y="0"/>
            <a:chExt cx="5029200" cy="980567"/>
          </a:xfrm>
        </p:grpSpPr>
        <p:sp>
          <p:nvSpPr>
            <p:cNvPr name="Freeform 14" id="14" descr="A picture containing photo, table, person, monitor  Description automatically generated"/>
            <p:cNvSpPr/>
            <p:nvPr/>
          </p:nvSpPr>
          <p:spPr>
            <a:xfrm flipH="false" flipV="false" rot="0">
              <a:off x="0" y="0"/>
              <a:ext cx="5029200" cy="980567"/>
            </a:xfrm>
            <a:custGeom>
              <a:avLst/>
              <a:gdLst/>
              <a:ahLst/>
              <a:cxnLst/>
              <a:rect r="r" b="b" t="t" l="l"/>
              <a:pathLst>
                <a:path h="980567" w="5029200">
                  <a:moveTo>
                    <a:pt x="0" y="0"/>
                  </a:moveTo>
                  <a:lnTo>
                    <a:pt x="5029200" y="0"/>
                  </a:lnTo>
                  <a:lnTo>
                    <a:pt x="5029200" y="980567"/>
                  </a:lnTo>
                  <a:lnTo>
                    <a:pt x="0" y="980567"/>
                  </a:lnTo>
                  <a:lnTo>
                    <a:pt x="0" y="0"/>
                  </a:lnTo>
                  <a:close/>
                </a:path>
              </a:pathLst>
            </a:custGeom>
            <a:blipFill>
              <a:blip r:embed="rId7"/>
              <a:stretch>
                <a:fillRect l="0" t="-94156" r="0" b="-94157"/>
              </a:stretch>
            </a:blipFill>
          </p:spPr>
        </p:sp>
      </p:grpSp>
      <p:sp>
        <p:nvSpPr>
          <p:cNvPr name="TextBox 15" id="15"/>
          <p:cNvSpPr txBox="true"/>
          <p:nvPr/>
        </p:nvSpPr>
        <p:spPr>
          <a:xfrm rot="0">
            <a:off x="2939729" y="6251305"/>
            <a:ext cx="11562683" cy="2734266"/>
          </a:xfrm>
          <a:prstGeom prst="rect">
            <a:avLst/>
          </a:prstGeom>
        </p:spPr>
        <p:txBody>
          <a:bodyPr anchor="t" rtlCol="false" tIns="0" lIns="0" bIns="0" rIns="0">
            <a:spAutoFit/>
          </a:bodyPr>
          <a:lstStyle/>
          <a:p>
            <a:pPr algn="just">
              <a:lnSpc>
                <a:spcPts val="5035"/>
              </a:lnSpc>
            </a:pPr>
            <a:r>
              <a:rPr lang="en-US" sz="3600" b="true">
                <a:solidFill>
                  <a:srgbClr val="06728A"/>
                </a:solidFill>
                <a:latin typeface="Garet Bold"/>
                <a:ea typeface="Garet Bold"/>
                <a:cs typeface="Garet Bold"/>
                <a:sym typeface="Garet Bold"/>
              </a:rPr>
              <a:t>DESIGN EXCELLENCE </a:t>
            </a:r>
          </a:p>
          <a:p>
            <a:pPr algn="l" marL="518160" indent="-259080" lvl="1">
              <a:lnSpc>
                <a:spcPts val="3355"/>
              </a:lnSpc>
              <a:buFont typeface="Arial"/>
              <a:buChar char="•"/>
            </a:pPr>
            <a:r>
              <a:rPr lang="en-US" b="true" sz="2400">
                <a:solidFill>
                  <a:srgbClr val="1B3957"/>
                </a:solidFill>
                <a:latin typeface="Arimo Bold"/>
                <a:ea typeface="Arimo Bold"/>
                <a:cs typeface="Arimo Bold"/>
                <a:sym typeface="Arimo Bold"/>
              </a:rPr>
              <a:t>Integrates all four components in one system.</a:t>
            </a:r>
          </a:p>
          <a:p>
            <a:pPr algn="l" marL="518160" indent="-259080" lvl="1">
              <a:lnSpc>
                <a:spcPts val="3355"/>
              </a:lnSpc>
              <a:buFont typeface="Arial"/>
              <a:buChar char="•"/>
            </a:pPr>
            <a:r>
              <a:rPr lang="en-US" b="true" sz="2400">
                <a:solidFill>
                  <a:srgbClr val="1B3957"/>
                </a:solidFill>
                <a:latin typeface="Arimo Bold"/>
                <a:ea typeface="Arimo Bold"/>
                <a:cs typeface="Arimo Bold"/>
                <a:sym typeface="Arimo Bold"/>
              </a:rPr>
              <a:t>Provides source-backed purification guidance using RAG.</a:t>
            </a:r>
          </a:p>
          <a:p>
            <a:pPr algn="l" marL="518160" indent="-259080" lvl="1">
              <a:lnSpc>
                <a:spcPts val="3355"/>
              </a:lnSpc>
              <a:buFont typeface="Arial"/>
              <a:buChar char="•"/>
            </a:pPr>
            <a:r>
              <a:rPr lang="en-US" b="true" sz="2400">
                <a:solidFill>
                  <a:srgbClr val="1B3957"/>
                </a:solidFill>
                <a:latin typeface="Arimo Bold"/>
                <a:ea typeface="Arimo Bold"/>
                <a:cs typeface="Arimo Bold"/>
                <a:sym typeface="Arimo Bold"/>
              </a:rPr>
              <a:t>Checks conflicting evidence and calculation accuracy.</a:t>
            </a:r>
          </a:p>
          <a:p>
            <a:pPr algn="l" marL="518160" indent="-259080" lvl="1">
              <a:lnSpc>
                <a:spcPts val="3355"/>
              </a:lnSpc>
              <a:buFont typeface="Arial"/>
              <a:buChar char="•"/>
            </a:pPr>
            <a:r>
              <a:rPr lang="en-US" b="true" sz="2400">
                <a:solidFill>
                  <a:srgbClr val="1B3957"/>
                </a:solidFill>
                <a:latin typeface="Arimo Bold"/>
                <a:ea typeface="Arimo Bold"/>
                <a:cs typeface="Arimo Bold"/>
                <a:sym typeface="Arimo Bold"/>
              </a:rPr>
              <a:t>Communicates uncertainty through clear reports.</a:t>
            </a:r>
          </a:p>
          <a:p>
            <a:pPr algn="l" marL="518160" indent="-259080" lvl="1">
              <a:lnSpc>
                <a:spcPts val="3355"/>
              </a:lnSpc>
              <a:buFont typeface="Arial"/>
              <a:buChar char="•"/>
            </a:pPr>
            <a:r>
              <a:rPr lang="en-US" b="true" sz="2400">
                <a:solidFill>
                  <a:srgbClr val="1B3957"/>
                </a:solidFill>
                <a:latin typeface="Arimo Bold"/>
                <a:ea typeface="Arimo Bold"/>
                <a:cs typeface="Arimo Bold"/>
                <a:sym typeface="Arimo Bold"/>
              </a:rPr>
              <a:t>Supports independent updates through modular design.</a:t>
            </a:r>
          </a:p>
        </p:txBody>
      </p:sp>
      <p:grpSp>
        <p:nvGrpSpPr>
          <p:cNvPr name="Group 16" id="16"/>
          <p:cNvGrpSpPr/>
          <p:nvPr/>
        </p:nvGrpSpPr>
        <p:grpSpPr>
          <a:xfrm rot="0">
            <a:off x="0" y="9551575"/>
            <a:ext cx="3771900" cy="735425"/>
            <a:chOff x="0" y="0"/>
            <a:chExt cx="5029200" cy="980567"/>
          </a:xfrm>
        </p:grpSpPr>
        <p:sp>
          <p:nvSpPr>
            <p:cNvPr name="Freeform 17" id="17"/>
            <p:cNvSpPr/>
            <p:nvPr/>
          </p:nvSpPr>
          <p:spPr>
            <a:xfrm flipH="false" flipV="false" rot="0">
              <a:off x="0" y="0"/>
              <a:ext cx="5029200" cy="980567"/>
            </a:xfrm>
            <a:custGeom>
              <a:avLst/>
              <a:gdLst/>
              <a:ahLst/>
              <a:cxnLst/>
              <a:rect r="r" b="b" t="t" l="l"/>
              <a:pathLst>
                <a:path h="980567" w="5029200">
                  <a:moveTo>
                    <a:pt x="0" y="0"/>
                  </a:moveTo>
                  <a:lnTo>
                    <a:pt x="5029200" y="0"/>
                  </a:lnTo>
                  <a:lnTo>
                    <a:pt x="5029200" y="980567"/>
                  </a:lnTo>
                  <a:lnTo>
                    <a:pt x="0" y="980567"/>
                  </a:lnTo>
                  <a:lnTo>
                    <a:pt x="0" y="0"/>
                  </a:lnTo>
                  <a:close/>
                </a:path>
              </a:pathLst>
            </a:custGeom>
            <a:blipFill>
              <a:blip r:embed="rId8"/>
              <a:stretch>
                <a:fillRect l="0" t="-151" r="0" b="-151"/>
              </a:stretch>
            </a:blipFill>
          </p:spPr>
        </p:sp>
      </p:grpSp>
      <p:sp>
        <p:nvSpPr>
          <p:cNvPr name="TextBox 18" id="18"/>
          <p:cNvSpPr txBox="true"/>
          <p:nvPr/>
        </p:nvSpPr>
        <p:spPr>
          <a:xfrm rot="0">
            <a:off x="1028700" y="945118"/>
            <a:ext cx="11700281" cy="927249"/>
          </a:xfrm>
          <a:prstGeom prst="rect">
            <a:avLst/>
          </a:prstGeom>
        </p:spPr>
        <p:txBody>
          <a:bodyPr anchor="t" rtlCol="false" tIns="0" lIns="0" bIns="0" rIns="0">
            <a:spAutoFit/>
          </a:bodyPr>
          <a:lstStyle/>
          <a:p>
            <a:pPr algn="ctr">
              <a:lnSpc>
                <a:spcPts val="7712"/>
              </a:lnSpc>
            </a:pPr>
            <a:r>
              <a:rPr lang="en-US" sz="7011" b="true">
                <a:solidFill>
                  <a:srgbClr val="06728A"/>
                </a:solidFill>
                <a:latin typeface="Garet Bold"/>
                <a:ea typeface="Garet Bold"/>
                <a:cs typeface="Garet Bold"/>
                <a:sym typeface="Garet Bold"/>
              </a:rPr>
              <a:t>WATER PURIFICATION </a:t>
            </a:r>
          </a:p>
        </p:txBody>
      </p:sp>
      <p:sp>
        <p:nvSpPr>
          <p:cNvPr name="TextBox 19" id="19"/>
          <p:cNvSpPr txBox="true"/>
          <p:nvPr/>
        </p:nvSpPr>
        <p:spPr>
          <a:xfrm rot="0">
            <a:off x="15521940" y="9822551"/>
            <a:ext cx="1314252" cy="276225"/>
          </a:xfrm>
          <a:prstGeom prst="rect">
            <a:avLst/>
          </a:prstGeom>
        </p:spPr>
        <p:txBody>
          <a:bodyPr anchor="t" rtlCol="false" tIns="0" lIns="0" bIns="0" rIns="0">
            <a:spAutoFit/>
          </a:bodyPr>
          <a:lstStyle/>
          <a:p>
            <a:pPr algn="l">
              <a:lnSpc>
                <a:spcPts val="2160"/>
              </a:lnSpc>
            </a:pPr>
            <a:r>
              <a:rPr lang="en-US" sz="1800" b="true">
                <a:solidFill>
                  <a:srgbClr val="000000"/>
                </a:solidFill>
                <a:latin typeface="Cambria Bold"/>
                <a:ea typeface="Cambria Bold"/>
                <a:cs typeface="Cambria Bold"/>
                <a:sym typeface="Cambria Bold"/>
              </a:rPr>
              <a:t>2026/10/19</a:t>
            </a:r>
          </a:p>
        </p:txBody>
      </p:sp>
      <p:sp>
        <p:nvSpPr>
          <p:cNvPr name="TextBox 20" id="20"/>
          <p:cNvSpPr txBox="true"/>
          <p:nvPr/>
        </p:nvSpPr>
        <p:spPr>
          <a:xfrm rot="0">
            <a:off x="14591976" y="561327"/>
            <a:ext cx="3195447" cy="250441"/>
          </a:xfrm>
          <a:prstGeom prst="rect">
            <a:avLst/>
          </a:prstGeom>
        </p:spPr>
        <p:txBody>
          <a:bodyPr anchor="t" rtlCol="false" tIns="0" lIns="0" bIns="0" rIns="0">
            <a:spAutoFit/>
          </a:bodyPr>
          <a:lstStyle/>
          <a:p>
            <a:pPr algn="ctr">
              <a:lnSpc>
                <a:spcPts val="2200"/>
              </a:lnSpc>
            </a:pPr>
            <a:r>
              <a:rPr lang="en-US" sz="2000" b="true">
                <a:solidFill>
                  <a:srgbClr val="06728A"/>
                </a:solidFill>
                <a:latin typeface="Garet Bold"/>
                <a:ea typeface="Garet Bold"/>
                <a:cs typeface="Garet Bold"/>
                <a:sym typeface="Garet Bold"/>
              </a:rPr>
              <a:t>WATER PURIFICATION </a:t>
            </a:r>
          </a:p>
        </p:txBody>
      </p:sp>
      <p:sp>
        <p:nvSpPr>
          <p:cNvPr name="TextBox 21" id="21"/>
          <p:cNvSpPr txBox="true"/>
          <p:nvPr/>
        </p:nvSpPr>
        <p:spPr>
          <a:xfrm rot="0">
            <a:off x="2950574" y="2606545"/>
            <a:ext cx="12242368" cy="3153366"/>
          </a:xfrm>
          <a:prstGeom prst="rect">
            <a:avLst/>
          </a:prstGeom>
        </p:spPr>
        <p:txBody>
          <a:bodyPr anchor="t" rtlCol="false" tIns="0" lIns="0" bIns="0" rIns="0">
            <a:spAutoFit/>
          </a:bodyPr>
          <a:lstStyle/>
          <a:p>
            <a:pPr algn="just">
              <a:lnSpc>
                <a:spcPts val="5035"/>
              </a:lnSpc>
            </a:pPr>
            <a:r>
              <a:rPr lang="en-US" sz="3600" b="true">
                <a:solidFill>
                  <a:srgbClr val="06728A"/>
                </a:solidFill>
                <a:latin typeface="Garet Bold"/>
                <a:ea typeface="Garet Bold"/>
                <a:cs typeface="Garet Bold"/>
                <a:sym typeface="Garet Bold"/>
              </a:rPr>
              <a:t>PROBLEM </a:t>
            </a:r>
          </a:p>
          <a:p>
            <a:pPr algn="l" marL="518160" indent="-259080" lvl="1">
              <a:lnSpc>
                <a:spcPts val="3355"/>
              </a:lnSpc>
              <a:buFont typeface="Arial"/>
              <a:buChar char="•"/>
            </a:pPr>
            <a:r>
              <a:rPr lang="en-US" b="true" sz="2400">
                <a:solidFill>
                  <a:srgbClr val="1B3957"/>
                </a:solidFill>
                <a:latin typeface="Arimo Bold"/>
                <a:ea typeface="Arimo Bold"/>
                <a:cs typeface="Arimo Bold"/>
                <a:sym typeface="Arimo Bold"/>
              </a:rPr>
              <a:t>Water-quality findings from images, laboratory measurements and microscopy are often analysed separately, making overall interpretation difficult.</a:t>
            </a:r>
          </a:p>
          <a:p>
            <a:pPr algn="l" marL="518160" indent="-259080" lvl="1">
              <a:lnSpc>
                <a:spcPts val="3355"/>
              </a:lnSpc>
              <a:buFont typeface="Arial"/>
              <a:buChar char="•"/>
            </a:pPr>
            <a:r>
              <a:rPr lang="en-US" b="true" sz="2400">
                <a:solidFill>
                  <a:srgbClr val="1B3957"/>
                </a:solidFill>
                <a:latin typeface="Arimo Bold"/>
                <a:ea typeface="Arimo Bold"/>
                <a:cs typeface="Arimo Bold"/>
                <a:sym typeface="Arimo Bold"/>
              </a:rPr>
              <a:t>Detection results alone do not explain which purification method is appropriate.</a:t>
            </a:r>
          </a:p>
          <a:p>
            <a:pPr algn="l" marL="518160" indent="-259080" lvl="1">
              <a:lnSpc>
                <a:spcPts val="3355"/>
              </a:lnSpc>
              <a:buFont typeface="Arial"/>
              <a:buChar char="•"/>
            </a:pPr>
            <a:r>
              <a:rPr lang="en-US" b="true" sz="2400">
                <a:solidFill>
                  <a:srgbClr val="1B3957"/>
                </a:solidFill>
                <a:latin typeface="Arimo Bold"/>
                <a:ea typeface="Arimo Bold"/>
                <a:cs typeface="Arimo Bold"/>
                <a:sym typeface="Arimo Bold"/>
              </a:rPr>
              <a:t>Users need an integrated system that combines these findings into clear, evidence-based reports and purification guidance while communicating uncertainty.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8785" r="0" b="-8785"/>
              </a:stretch>
            </a:blipFill>
          </p:spPr>
        </p:sp>
      </p:grpSp>
      <p:grpSp>
        <p:nvGrpSpPr>
          <p:cNvPr name="Group 4" id="4"/>
          <p:cNvGrpSpPr/>
          <p:nvPr/>
        </p:nvGrpSpPr>
        <p:grpSpPr>
          <a:xfrm rot="577740">
            <a:off x="1065971" y="2839431"/>
            <a:ext cx="486623" cy="486623"/>
            <a:chOff x="0" y="0"/>
            <a:chExt cx="648830" cy="648830"/>
          </a:xfrm>
        </p:grpSpPr>
        <p:sp>
          <p:nvSpPr>
            <p:cNvPr name="Freeform 5" id="5"/>
            <p:cNvSpPr/>
            <p:nvPr/>
          </p:nvSpPr>
          <p:spPr>
            <a:xfrm flipH="false" flipV="false" rot="0">
              <a:off x="0" y="0"/>
              <a:ext cx="648843" cy="648843"/>
            </a:xfrm>
            <a:custGeom>
              <a:avLst/>
              <a:gdLst/>
              <a:ahLst/>
              <a:cxnLst/>
              <a:rect r="r" b="b" t="t" l="l"/>
              <a:pathLst>
                <a:path h="648843" w="648843">
                  <a:moveTo>
                    <a:pt x="0" y="0"/>
                  </a:moveTo>
                  <a:lnTo>
                    <a:pt x="648843" y="0"/>
                  </a:lnTo>
                  <a:lnTo>
                    <a:pt x="648843" y="648843"/>
                  </a:lnTo>
                  <a:lnTo>
                    <a:pt x="0" y="648843"/>
                  </a:lnTo>
                  <a:lnTo>
                    <a:pt x="0" y="0"/>
                  </a:lnTo>
                  <a:close/>
                </a:path>
              </a:pathLst>
            </a:custGeom>
            <a:solidFill>
              <a:srgbClr val="00C4CC"/>
            </a:solidFill>
          </p:spPr>
        </p:sp>
      </p:grpSp>
      <p:grpSp>
        <p:nvGrpSpPr>
          <p:cNvPr name="Group 6" id="6"/>
          <p:cNvGrpSpPr/>
          <p:nvPr/>
        </p:nvGrpSpPr>
        <p:grpSpPr>
          <a:xfrm rot="-557640">
            <a:off x="16175422" y="1675371"/>
            <a:ext cx="486623" cy="486623"/>
            <a:chOff x="0" y="0"/>
            <a:chExt cx="648830" cy="648830"/>
          </a:xfrm>
        </p:grpSpPr>
        <p:sp>
          <p:nvSpPr>
            <p:cNvPr name="Freeform 7" id="7"/>
            <p:cNvSpPr/>
            <p:nvPr/>
          </p:nvSpPr>
          <p:spPr>
            <a:xfrm flipH="false" flipV="false" rot="0">
              <a:off x="0" y="0"/>
              <a:ext cx="648843" cy="648843"/>
            </a:xfrm>
            <a:custGeom>
              <a:avLst/>
              <a:gdLst/>
              <a:ahLst/>
              <a:cxnLst/>
              <a:rect r="r" b="b" t="t" l="l"/>
              <a:pathLst>
                <a:path h="648843" w="648843">
                  <a:moveTo>
                    <a:pt x="0" y="0"/>
                  </a:moveTo>
                  <a:lnTo>
                    <a:pt x="648843" y="0"/>
                  </a:lnTo>
                  <a:lnTo>
                    <a:pt x="648843" y="648843"/>
                  </a:lnTo>
                  <a:lnTo>
                    <a:pt x="0" y="648843"/>
                  </a:lnTo>
                  <a:lnTo>
                    <a:pt x="0" y="0"/>
                  </a:lnTo>
                  <a:close/>
                </a:path>
              </a:pathLst>
            </a:custGeom>
            <a:solidFill>
              <a:srgbClr val="00C4CC"/>
            </a:solidFill>
          </p:spPr>
        </p:sp>
      </p:grpSp>
      <p:grpSp>
        <p:nvGrpSpPr>
          <p:cNvPr name="Group 8" id="8"/>
          <p:cNvGrpSpPr/>
          <p:nvPr/>
        </p:nvGrpSpPr>
        <p:grpSpPr>
          <a:xfrm rot="248760">
            <a:off x="16755723" y="8524989"/>
            <a:ext cx="486623" cy="486623"/>
            <a:chOff x="0" y="0"/>
            <a:chExt cx="648830" cy="648830"/>
          </a:xfrm>
        </p:grpSpPr>
        <p:sp>
          <p:nvSpPr>
            <p:cNvPr name="Freeform 9" id="9"/>
            <p:cNvSpPr/>
            <p:nvPr/>
          </p:nvSpPr>
          <p:spPr>
            <a:xfrm flipH="false" flipV="false" rot="0">
              <a:off x="0" y="0"/>
              <a:ext cx="648843" cy="648843"/>
            </a:xfrm>
            <a:custGeom>
              <a:avLst/>
              <a:gdLst/>
              <a:ahLst/>
              <a:cxnLst/>
              <a:rect r="r" b="b" t="t" l="l"/>
              <a:pathLst>
                <a:path h="648843" w="648843">
                  <a:moveTo>
                    <a:pt x="0" y="0"/>
                  </a:moveTo>
                  <a:lnTo>
                    <a:pt x="648843" y="0"/>
                  </a:lnTo>
                  <a:lnTo>
                    <a:pt x="648843" y="648843"/>
                  </a:lnTo>
                  <a:lnTo>
                    <a:pt x="0" y="648843"/>
                  </a:lnTo>
                  <a:lnTo>
                    <a:pt x="0" y="0"/>
                  </a:lnTo>
                  <a:close/>
                </a:path>
              </a:pathLst>
            </a:custGeom>
            <a:solidFill>
              <a:srgbClr val="00C4CC"/>
            </a:solidFill>
          </p:spPr>
        </p:sp>
      </p:grpSp>
      <p:grpSp>
        <p:nvGrpSpPr>
          <p:cNvPr name="Group 10" id="10"/>
          <p:cNvGrpSpPr/>
          <p:nvPr/>
        </p:nvGrpSpPr>
        <p:grpSpPr>
          <a:xfrm rot="0">
            <a:off x="0" y="9559957"/>
            <a:ext cx="3771900" cy="735425"/>
            <a:chOff x="0" y="0"/>
            <a:chExt cx="5029200" cy="980567"/>
          </a:xfrm>
        </p:grpSpPr>
        <p:sp>
          <p:nvSpPr>
            <p:cNvPr name="Freeform 11" id="11" descr="A picture containing photo, table, person, monitor  Description automatically generated"/>
            <p:cNvSpPr/>
            <p:nvPr/>
          </p:nvSpPr>
          <p:spPr>
            <a:xfrm flipH="false" flipV="false" rot="0">
              <a:off x="0" y="0"/>
              <a:ext cx="5029200" cy="980567"/>
            </a:xfrm>
            <a:custGeom>
              <a:avLst/>
              <a:gdLst/>
              <a:ahLst/>
              <a:cxnLst/>
              <a:rect r="r" b="b" t="t" l="l"/>
              <a:pathLst>
                <a:path h="980567" w="5029200">
                  <a:moveTo>
                    <a:pt x="0" y="0"/>
                  </a:moveTo>
                  <a:lnTo>
                    <a:pt x="5029200" y="0"/>
                  </a:lnTo>
                  <a:lnTo>
                    <a:pt x="5029200" y="980567"/>
                  </a:lnTo>
                  <a:lnTo>
                    <a:pt x="0" y="980567"/>
                  </a:lnTo>
                  <a:lnTo>
                    <a:pt x="0" y="0"/>
                  </a:lnTo>
                  <a:close/>
                </a:path>
              </a:pathLst>
            </a:custGeom>
            <a:blipFill>
              <a:blip r:embed="rId3"/>
              <a:stretch>
                <a:fillRect l="0" t="-94156" r="0" b="-94157"/>
              </a:stretch>
            </a:blipFill>
          </p:spPr>
        </p:sp>
      </p:grpSp>
      <p:grpSp>
        <p:nvGrpSpPr>
          <p:cNvPr name="Group 12" id="12"/>
          <p:cNvGrpSpPr/>
          <p:nvPr/>
        </p:nvGrpSpPr>
        <p:grpSpPr>
          <a:xfrm rot="0">
            <a:off x="15447397" y="0"/>
            <a:ext cx="2840641" cy="4645438"/>
            <a:chOff x="0" y="0"/>
            <a:chExt cx="3787521" cy="6193917"/>
          </a:xfrm>
        </p:grpSpPr>
        <p:sp>
          <p:nvSpPr>
            <p:cNvPr name="Freeform 13" id="13"/>
            <p:cNvSpPr/>
            <p:nvPr/>
          </p:nvSpPr>
          <p:spPr>
            <a:xfrm flipH="false" flipV="false" rot="0">
              <a:off x="0" y="0"/>
              <a:ext cx="3787521" cy="6193917"/>
            </a:xfrm>
            <a:custGeom>
              <a:avLst/>
              <a:gdLst/>
              <a:ahLst/>
              <a:cxnLst/>
              <a:rect r="r" b="b" t="t" l="l"/>
              <a:pathLst>
                <a:path h="6193917" w="3787521">
                  <a:moveTo>
                    <a:pt x="0" y="0"/>
                  </a:moveTo>
                  <a:lnTo>
                    <a:pt x="3787521" y="0"/>
                  </a:lnTo>
                  <a:lnTo>
                    <a:pt x="3787521" y="6193917"/>
                  </a:lnTo>
                  <a:lnTo>
                    <a:pt x="0" y="6193917"/>
                  </a:lnTo>
                  <a:lnTo>
                    <a:pt x="0" y="0"/>
                  </a:lnTo>
                  <a:close/>
                </a:path>
              </a:pathLst>
            </a:custGeom>
            <a:blipFill>
              <a:blip r:embed="rId4"/>
              <a:stretch>
                <a:fillRect l="-9" t="0" r="-8" b="0"/>
              </a:stretch>
            </a:blipFill>
          </p:spPr>
        </p:sp>
      </p:grpSp>
      <p:sp>
        <p:nvSpPr>
          <p:cNvPr name="TextBox 14" id="14"/>
          <p:cNvSpPr txBox="true"/>
          <p:nvPr/>
        </p:nvSpPr>
        <p:spPr>
          <a:xfrm rot="0">
            <a:off x="3594230" y="1085850"/>
            <a:ext cx="10406263" cy="577177"/>
          </a:xfrm>
          <a:prstGeom prst="rect">
            <a:avLst/>
          </a:prstGeom>
        </p:spPr>
        <p:txBody>
          <a:bodyPr anchor="t" rtlCol="false" tIns="0" lIns="0" bIns="0" rIns="0">
            <a:spAutoFit/>
          </a:bodyPr>
          <a:lstStyle/>
          <a:p>
            <a:pPr algn="l">
              <a:lnSpc>
                <a:spcPts val="4620"/>
              </a:lnSpc>
            </a:pPr>
            <a:r>
              <a:rPr lang="en-US" sz="4200" b="true">
                <a:solidFill>
                  <a:srgbClr val="06728A"/>
                </a:solidFill>
                <a:latin typeface="Garet Bold"/>
                <a:ea typeface="Garet Bold"/>
                <a:cs typeface="Garet Bold"/>
                <a:sym typeface="Garet Bold"/>
              </a:rPr>
              <a:t>IT22295460  | W.A.S.P.D. WIJESINGHA </a:t>
            </a:r>
          </a:p>
        </p:txBody>
      </p:sp>
      <p:sp>
        <p:nvSpPr>
          <p:cNvPr name="TextBox 15" id="15"/>
          <p:cNvSpPr txBox="true"/>
          <p:nvPr/>
        </p:nvSpPr>
        <p:spPr>
          <a:xfrm rot="0">
            <a:off x="15521940" y="9822551"/>
            <a:ext cx="1314252" cy="276225"/>
          </a:xfrm>
          <a:prstGeom prst="rect">
            <a:avLst/>
          </a:prstGeom>
        </p:spPr>
        <p:txBody>
          <a:bodyPr anchor="t" rtlCol="false" tIns="0" lIns="0" bIns="0" rIns="0">
            <a:spAutoFit/>
          </a:bodyPr>
          <a:lstStyle/>
          <a:p>
            <a:pPr algn="l">
              <a:lnSpc>
                <a:spcPts val="2160"/>
              </a:lnSpc>
            </a:pPr>
            <a:r>
              <a:rPr lang="en-US" sz="1800" b="true">
                <a:solidFill>
                  <a:srgbClr val="000000"/>
                </a:solidFill>
                <a:latin typeface="Cambria Bold"/>
                <a:ea typeface="Cambria Bold"/>
                <a:cs typeface="Cambria Bold"/>
                <a:sym typeface="Cambria Bold"/>
              </a:rPr>
              <a:t>2026/10/18</a:t>
            </a:r>
          </a:p>
        </p:txBody>
      </p:sp>
      <p:sp>
        <p:nvSpPr>
          <p:cNvPr name="TextBox 16" id="16"/>
          <p:cNvSpPr txBox="true"/>
          <p:nvPr/>
        </p:nvSpPr>
        <p:spPr>
          <a:xfrm rot="0">
            <a:off x="2072773" y="3650616"/>
            <a:ext cx="13449167" cy="1227444"/>
          </a:xfrm>
          <a:prstGeom prst="rect">
            <a:avLst/>
          </a:prstGeom>
        </p:spPr>
        <p:txBody>
          <a:bodyPr anchor="t" rtlCol="false" tIns="0" lIns="0" bIns="0" rIns="0">
            <a:spAutoFit/>
          </a:bodyPr>
          <a:lstStyle/>
          <a:p>
            <a:pPr algn="ctr">
              <a:lnSpc>
                <a:spcPts val="4840"/>
              </a:lnSpc>
            </a:pPr>
            <a:r>
              <a:rPr lang="en-US" sz="4400" b="true">
                <a:solidFill>
                  <a:srgbClr val="06728A"/>
                </a:solidFill>
                <a:latin typeface="Garet Bold"/>
                <a:ea typeface="Garet Bold"/>
                <a:cs typeface="Garet Bold"/>
                <a:sym typeface="Garet Bold"/>
              </a:rPr>
              <a:t>Contamination Detection using Computer Vision</a:t>
            </a:r>
          </a:p>
        </p:txBody>
      </p:sp>
      <p:grpSp>
        <p:nvGrpSpPr>
          <p:cNvPr name="Group 17" id="17"/>
          <p:cNvGrpSpPr/>
          <p:nvPr/>
        </p:nvGrpSpPr>
        <p:grpSpPr>
          <a:xfrm rot="0">
            <a:off x="4781845" y="8768305"/>
            <a:ext cx="10224516" cy="1980248"/>
            <a:chOff x="0" y="0"/>
            <a:chExt cx="13632688" cy="2640330"/>
          </a:xfrm>
        </p:grpSpPr>
        <p:sp>
          <p:nvSpPr>
            <p:cNvPr name="Freeform 18" id="18"/>
            <p:cNvSpPr/>
            <p:nvPr/>
          </p:nvSpPr>
          <p:spPr>
            <a:xfrm flipH="false" flipV="false" rot="0">
              <a:off x="0" y="0"/>
              <a:ext cx="13632687" cy="2640330"/>
            </a:xfrm>
            <a:custGeom>
              <a:avLst/>
              <a:gdLst/>
              <a:ahLst/>
              <a:cxnLst/>
              <a:rect r="r" b="b" t="t" l="l"/>
              <a:pathLst>
                <a:path h="2640330" w="13632687">
                  <a:moveTo>
                    <a:pt x="0" y="0"/>
                  </a:moveTo>
                  <a:lnTo>
                    <a:pt x="13632687" y="0"/>
                  </a:lnTo>
                  <a:lnTo>
                    <a:pt x="13632687" y="2640330"/>
                  </a:lnTo>
                  <a:lnTo>
                    <a:pt x="0" y="2640330"/>
                  </a:lnTo>
                  <a:close/>
                </a:path>
              </a:pathLst>
            </a:custGeom>
            <a:blipFill>
              <a:blip r:embed="rId5">
                <a:alphaModFix amt="0"/>
              </a:blip>
              <a:stretch>
                <a:fillRect l="0" t="-50474" r="0" b="-50473"/>
              </a:stretch>
            </a:blipFill>
          </p:spPr>
        </p:sp>
      </p:grpSp>
      <p:grpSp>
        <p:nvGrpSpPr>
          <p:cNvPr name="Group 19" id="19"/>
          <p:cNvGrpSpPr/>
          <p:nvPr/>
        </p:nvGrpSpPr>
        <p:grpSpPr>
          <a:xfrm rot="0">
            <a:off x="4781845" y="8754018"/>
            <a:ext cx="10224545" cy="1994535"/>
            <a:chOff x="0" y="0"/>
            <a:chExt cx="13632726" cy="2659380"/>
          </a:xfrm>
        </p:grpSpPr>
        <p:sp>
          <p:nvSpPr>
            <p:cNvPr name="Freeform 20" id="20"/>
            <p:cNvSpPr/>
            <p:nvPr/>
          </p:nvSpPr>
          <p:spPr>
            <a:xfrm flipH="false" flipV="false" rot="0">
              <a:off x="0" y="0"/>
              <a:ext cx="13632687" cy="2659380"/>
            </a:xfrm>
            <a:custGeom>
              <a:avLst/>
              <a:gdLst/>
              <a:ahLst/>
              <a:cxnLst/>
              <a:rect r="r" b="b" t="t" l="l"/>
              <a:pathLst>
                <a:path h="2659380" w="13632687">
                  <a:moveTo>
                    <a:pt x="0" y="0"/>
                  </a:moveTo>
                  <a:lnTo>
                    <a:pt x="13632687" y="0"/>
                  </a:lnTo>
                  <a:lnTo>
                    <a:pt x="13632687" y="2659380"/>
                  </a:lnTo>
                  <a:lnTo>
                    <a:pt x="0" y="2659380"/>
                  </a:lnTo>
                  <a:close/>
                </a:path>
              </a:pathLst>
            </a:custGeom>
            <a:blipFill>
              <a:blip r:embed="rId6">
                <a:alphaModFix amt="0"/>
              </a:blip>
              <a:stretch>
                <a:fillRect l="0" t="-49816" r="0" b="-49816"/>
              </a:stretch>
            </a:blipFill>
          </p:spPr>
        </p:sp>
      </p:grpSp>
      <p:grpSp>
        <p:nvGrpSpPr>
          <p:cNvPr name="Group 21" id="21"/>
          <p:cNvGrpSpPr/>
          <p:nvPr/>
        </p:nvGrpSpPr>
        <p:grpSpPr>
          <a:xfrm rot="0">
            <a:off x="4781845" y="8739730"/>
            <a:ext cx="10224545" cy="2008823"/>
            <a:chOff x="0" y="0"/>
            <a:chExt cx="13632726" cy="2678430"/>
          </a:xfrm>
        </p:grpSpPr>
        <p:sp>
          <p:nvSpPr>
            <p:cNvPr name="Freeform 22" id="22"/>
            <p:cNvSpPr/>
            <p:nvPr/>
          </p:nvSpPr>
          <p:spPr>
            <a:xfrm flipH="false" flipV="false" rot="0">
              <a:off x="0" y="0"/>
              <a:ext cx="13632726" cy="2678430"/>
            </a:xfrm>
            <a:custGeom>
              <a:avLst/>
              <a:gdLst/>
              <a:ahLst/>
              <a:cxnLst/>
              <a:rect r="r" b="b" t="t" l="l"/>
              <a:pathLst>
                <a:path h="2678430" w="13632726">
                  <a:moveTo>
                    <a:pt x="0" y="0"/>
                  </a:moveTo>
                  <a:lnTo>
                    <a:pt x="13632726" y="0"/>
                  </a:lnTo>
                  <a:lnTo>
                    <a:pt x="13632726" y="2678430"/>
                  </a:lnTo>
                  <a:lnTo>
                    <a:pt x="0" y="2678430"/>
                  </a:lnTo>
                  <a:close/>
                </a:path>
              </a:pathLst>
            </a:custGeom>
            <a:blipFill>
              <a:blip r:embed="rId7">
                <a:alphaModFix amt="0"/>
              </a:blip>
              <a:stretch>
                <a:fillRect l="0" t="-49175" r="0" b="-49175"/>
              </a:stretch>
            </a:blipFill>
          </p:spPr>
        </p:sp>
        <p:sp>
          <p:nvSpPr>
            <p:cNvPr name="TextBox 23" id="23"/>
            <p:cNvSpPr txBox="true"/>
            <p:nvPr/>
          </p:nvSpPr>
          <p:spPr>
            <a:xfrm>
              <a:off x="0" y="-19050"/>
              <a:ext cx="13632726" cy="2697480"/>
            </a:xfrm>
            <a:prstGeom prst="rect">
              <a:avLst/>
            </a:prstGeom>
          </p:spPr>
          <p:txBody>
            <a:bodyPr anchor="ctr" rtlCol="false" tIns="0" lIns="0" bIns="0" rIns="0"/>
            <a:lstStyle/>
            <a:p>
              <a:pPr algn="l">
                <a:lnSpc>
                  <a:spcPts val="3240"/>
                </a:lnSpc>
              </a:pPr>
              <a:r>
                <a:rPr lang="en-US" sz="2700" b="true">
                  <a:solidFill>
                    <a:srgbClr val="000000"/>
                  </a:solidFill>
                  <a:latin typeface="Cambria Bold"/>
                  <a:ea typeface="Cambria Bold"/>
                  <a:cs typeface="Cambria Bold"/>
                  <a:sym typeface="Cambria Bold"/>
                </a:rPr>
                <a:t>IT22295460</a:t>
              </a:r>
              <a:r>
                <a:rPr lang="en-US" sz="2700">
                  <a:solidFill>
                    <a:srgbClr val="000000"/>
                  </a:solidFill>
                  <a:latin typeface="Cambria"/>
                  <a:ea typeface="Cambria"/>
                  <a:cs typeface="Cambria"/>
                  <a:sym typeface="Cambria"/>
                </a:rPr>
                <a:t>   |   W.A.S.P.D. WIJESINGHA</a:t>
              </a:r>
              <a:r>
                <a:rPr lang="en-US" sz="2700" b="true">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   R26-IT-005</a:t>
              </a:r>
            </a:p>
          </p:txBody>
        </p:sp>
      </p:grpSp>
      <p:grpSp>
        <p:nvGrpSpPr>
          <p:cNvPr name="Group 24" id="24"/>
          <p:cNvGrpSpPr/>
          <p:nvPr/>
        </p:nvGrpSpPr>
        <p:grpSpPr>
          <a:xfrm rot="0">
            <a:off x="0" y="9559957"/>
            <a:ext cx="3771900" cy="735425"/>
            <a:chOff x="0" y="0"/>
            <a:chExt cx="5029200" cy="980567"/>
          </a:xfrm>
        </p:grpSpPr>
        <p:sp>
          <p:nvSpPr>
            <p:cNvPr name="Freeform 25" id="25"/>
            <p:cNvSpPr/>
            <p:nvPr/>
          </p:nvSpPr>
          <p:spPr>
            <a:xfrm flipH="false" flipV="false" rot="0">
              <a:off x="0" y="0"/>
              <a:ext cx="5029200" cy="980567"/>
            </a:xfrm>
            <a:custGeom>
              <a:avLst/>
              <a:gdLst/>
              <a:ahLst/>
              <a:cxnLst/>
              <a:rect r="r" b="b" t="t" l="l"/>
              <a:pathLst>
                <a:path h="980567" w="5029200">
                  <a:moveTo>
                    <a:pt x="0" y="0"/>
                  </a:moveTo>
                  <a:lnTo>
                    <a:pt x="5029200" y="0"/>
                  </a:lnTo>
                  <a:lnTo>
                    <a:pt x="5029200" y="980567"/>
                  </a:lnTo>
                  <a:lnTo>
                    <a:pt x="0" y="980567"/>
                  </a:lnTo>
                  <a:lnTo>
                    <a:pt x="0" y="0"/>
                  </a:lnTo>
                  <a:close/>
                </a:path>
              </a:pathLst>
            </a:custGeom>
            <a:blipFill>
              <a:blip r:embed="rId8"/>
              <a:stretch>
                <a:fillRect l="0" t="-151" r="0" b="-151"/>
              </a:stretch>
            </a:blipFill>
          </p:spPr>
        </p:sp>
      </p:grpSp>
      <p:sp>
        <p:nvSpPr>
          <p:cNvPr name="TextBox 26" id="26"/>
          <p:cNvSpPr txBox="true"/>
          <p:nvPr/>
        </p:nvSpPr>
        <p:spPr>
          <a:xfrm rot="0">
            <a:off x="1007916" y="6261099"/>
            <a:ext cx="16272168" cy="1725295"/>
          </a:xfrm>
          <a:prstGeom prst="rect">
            <a:avLst/>
          </a:prstGeom>
        </p:spPr>
        <p:txBody>
          <a:bodyPr anchor="t" rtlCol="false" tIns="0" lIns="0" bIns="0" rIns="0">
            <a:spAutoFit/>
          </a:bodyPr>
          <a:lstStyle/>
          <a:p>
            <a:pPr algn="ctr">
              <a:lnSpc>
                <a:spcPts val="3410"/>
              </a:lnSpc>
            </a:pPr>
            <a:r>
              <a:rPr lang="en-US" sz="3100" b="true">
                <a:solidFill>
                  <a:srgbClr val="06728A"/>
                </a:solidFill>
                <a:latin typeface="Garet Bold"/>
                <a:ea typeface="Garet Bold"/>
                <a:cs typeface="Garet Bold"/>
                <a:sym typeface="Garet Bold"/>
              </a:rPr>
              <a:t>Uses deep-learning object detectors, such as YOLO or Faster R-CNN, to identify and locate visible contamination in water photographs. Outputs include bounding boxes, predicted contamination types, confidence scores and visual-severity estimates.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8785" r="0" b="-8785"/>
              </a:stretch>
            </a:blipFill>
          </p:spPr>
        </p:sp>
      </p:grpSp>
      <p:grpSp>
        <p:nvGrpSpPr>
          <p:cNvPr name="Group 4" id="4"/>
          <p:cNvGrpSpPr/>
          <p:nvPr/>
        </p:nvGrpSpPr>
        <p:grpSpPr>
          <a:xfrm rot="577740">
            <a:off x="1065971" y="2839431"/>
            <a:ext cx="486623" cy="486623"/>
            <a:chOff x="0" y="0"/>
            <a:chExt cx="648830" cy="648830"/>
          </a:xfrm>
        </p:grpSpPr>
        <p:sp>
          <p:nvSpPr>
            <p:cNvPr name="Freeform 5" id="5"/>
            <p:cNvSpPr/>
            <p:nvPr/>
          </p:nvSpPr>
          <p:spPr>
            <a:xfrm flipH="false" flipV="false" rot="0">
              <a:off x="0" y="0"/>
              <a:ext cx="648843" cy="648843"/>
            </a:xfrm>
            <a:custGeom>
              <a:avLst/>
              <a:gdLst/>
              <a:ahLst/>
              <a:cxnLst/>
              <a:rect r="r" b="b" t="t" l="l"/>
              <a:pathLst>
                <a:path h="648843" w="648843">
                  <a:moveTo>
                    <a:pt x="0" y="0"/>
                  </a:moveTo>
                  <a:lnTo>
                    <a:pt x="648843" y="0"/>
                  </a:lnTo>
                  <a:lnTo>
                    <a:pt x="648843" y="648843"/>
                  </a:lnTo>
                  <a:lnTo>
                    <a:pt x="0" y="648843"/>
                  </a:lnTo>
                  <a:lnTo>
                    <a:pt x="0" y="0"/>
                  </a:lnTo>
                  <a:close/>
                </a:path>
              </a:pathLst>
            </a:custGeom>
            <a:solidFill>
              <a:srgbClr val="00C4CC"/>
            </a:solidFill>
          </p:spPr>
        </p:sp>
      </p:grpSp>
      <p:grpSp>
        <p:nvGrpSpPr>
          <p:cNvPr name="Group 6" id="6"/>
          <p:cNvGrpSpPr/>
          <p:nvPr/>
        </p:nvGrpSpPr>
        <p:grpSpPr>
          <a:xfrm rot="-557640">
            <a:off x="16175422" y="1675371"/>
            <a:ext cx="486623" cy="486623"/>
            <a:chOff x="0" y="0"/>
            <a:chExt cx="648830" cy="648830"/>
          </a:xfrm>
        </p:grpSpPr>
        <p:sp>
          <p:nvSpPr>
            <p:cNvPr name="Freeform 7" id="7"/>
            <p:cNvSpPr/>
            <p:nvPr/>
          </p:nvSpPr>
          <p:spPr>
            <a:xfrm flipH="false" flipV="false" rot="0">
              <a:off x="0" y="0"/>
              <a:ext cx="648843" cy="648843"/>
            </a:xfrm>
            <a:custGeom>
              <a:avLst/>
              <a:gdLst/>
              <a:ahLst/>
              <a:cxnLst/>
              <a:rect r="r" b="b" t="t" l="l"/>
              <a:pathLst>
                <a:path h="648843" w="648843">
                  <a:moveTo>
                    <a:pt x="0" y="0"/>
                  </a:moveTo>
                  <a:lnTo>
                    <a:pt x="648843" y="0"/>
                  </a:lnTo>
                  <a:lnTo>
                    <a:pt x="648843" y="648843"/>
                  </a:lnTo>
                  <a:lnTo>
                    <a:pt x="0" y="648843"/>
                  </a:lnTo>
                  <a:lnTo>
                    <a:pt x="0" y="0"/>
                  </a:lnTo>
                  <a:close/>
                </a:path>
              </a:pathLst>
            </a:custGeom>
            <a:solidFill>
              <a:srgbClr val="00C4CC"/>
            </a:solidFill>
          </p:spPr>
        </p:sp>
      </p:grpSp>
      <p:grpSp>
        <p:nvGrpSpPr>
          <p:cNvPr name="Group 8" id="8"/>
          <p:cNvGrpSpPr/>
          <p:nvPr/>
        </p:nvGrpSpPr>
        <p:grpSpPr>
          <a:xfrm rot="248760">
            <a:off x="17015984" y="8640194"/>
            <a:ext cx="486623" cy="486623"/>
            <a:chOff x="0" y="0"/>
            <a:chExt cx="648830" cy="648830"/>
          </a:xfrm>
        </p:grpSpPr>
        <p:sp>
          <p:nvSpPr>
            <p:cNvPr name="Freeform 9" id="9"/>
            <p:cNvSpPr/>
            <p:nvPr/>
          </p:nvSpPr>
          <p:spPr>
            <a:xfrm flipH="false" flipV="false" rot="0">
              <a:off x="0" y="0"/>
              <a:ext cx="648843" cy="648843"/>
            </a:xfrm>
            <a:custGeom>
              <a:avLst/>
              <a:gdLst/>
              <a:ahLst/>
              <a:cxnLst/>
              <a:rect r="r" b="b" t="t" l="l"/>
              <a:pathLst>
                <a:path h="648843" w="648843">
                  <a:moveTo>
                    <a:pt x="0" y="0"/>
                  </a:moveTo>
                  <a:lnTo>
                    <a:pt x="648843" y="0"/>
                  </a:lnTo>
                  <a:lnTo>
                    <a:pt x="648843" y="648843"/>
                  </a:lnTo>
                  <a:lnTo>
                    <a:pt x="0" y="648843"/>
                  </a:lnTo>
                  <a:lnTo>
                    <a:pt x="0" y="0"/>
                  </a:lnTo>
                  <a:close/>
                </a:path>
              </a:pathLst>
            </a:custGeom>
            <a:solidFill>
              <a:srgbClr val="00C4CC"/>
            </a:solidFill>
          </p:spPr>
        </p:sp>
      </p:grpSp>
      <p:grpSp>
        <p:nvGrpSpPr>
          <p:cNvPr name="Group 10" id="10"/>
          <p:cNvGrpSpPr/>
          <p:nvPr/>
        </p:nvGrpSpPr>
        <p:grpSpPr>
          <a:xfrm rot="0">
            <a:off x="0" y="9559957"/>
            <a:ext cx="3771900" cy="735425"/>
            <a:chOff x="0" y="0"/>
            <a:chExt cx="5029200" cy="980567"/>
          </a:xfrm>
        </p:grpSpPr>
        <p:sp>
          <p:nvSpPr>
            <p:cNvPr name="Freeform 11" id="11" descr="A picture containing photo, table, person, monitor  Description automatically generated"/>
            <p:cNvSpPr/>
            <p:nvPr/>
          </p:nvSpPr>
          <p:spPr>
            <a:xfrm flipH="false" flipV="false" rot="0">
              <a:off x="0" y="0"/>
              <a:ext cx="5029200" cy="980567"/>
            </a:xfrm>
            <a:custGeom>
              <a:avLst/>
              <a:gdLst/>
              <a:ahLst/>
              <a:cxnLst/>
              <a:rect r="r" b="b" t="t" l="l"/>
              <a:pathLst>
                <a:path h="980567" w="5029200">
                  <a:moveTo>
                    <a:pt x="0" y="0"/>
                  </a:moveTo>
                  <a:lnTo>
                    <a:pt x="5029200" y="0"/>
                  </a:lnTo>
                  <a:lnTo>
                    <a:pt x="5029200" y="980567"/>
                  </a:lnTo>
                  <a:lnTo>
                    <a:pt x="0" y="980567"/>
                  </a:lnTo>
                  <a:lnTo>
                    <a:pt x="0" y="0"/>
                  </a:lnTo>
                  <a:close/>
                </a:path>
              </a:pathLst>
            </a:custGeom>
            <a:blipFill>
              <a:blip r:embed="rId3"/>
              <a:stretch>
                <a:fillRect l="0" t="-94156" r="0" b="-94157"/>
              </a:stretch>
            </a:blipFill>
          </p:spPr>
        </p:sp>
      </p:grpSp>
      <p:grpSp>
        <p:nvGrpSpPr>
          <p:cNvPr name="Group 12" id="12"/>
          <p:cNvGrpSpPr/>
          <p:nvPr/>
        </p:nvGrpSpPr>
        <p:grpSpPr>
          <a:xfrm rot="0">
            <a:off x="4781845" y="8768305"/>
            <a:ext cx="10224516" cy="1980248"/>
            <a:chOff x="0" y="0"/>
            <a:chExt cx="13632688" cy="2640330"/>
          </a:xfrm>
        </p:grpSpPr>
        <p:sp>
          <p:nvSpPr>
            <p:cNvPr name="Freeform 13" id="13"/>
            <p:cNvSpPr/>
            <p:nvPr/>
          </p:nvSpPr>
          <p:spPr>
            <a:xfrm flipH="false" flipV="false" rot="0">
              <a:off x="0" y="0"/>
              <a:ext cx="13632687" cy="2640330"/>
            </a:xfrm>
            <a:custGeom>
              <a:avLst/>
              <a:gdLst/>
              <a:ahLst/>
              <a:cxnLst/>
              <a:rect r="r" b="b" t="t" l="l"/>
              <a:pathLst>
                <a:path h="2640330" w="13632687">
                  <a:moveTo>
                    <a:pt x="0" y="0"/>
                  </a:moveTo>
                  <a:lnTo>
                    <a:pt x="13632687" y="0"/>
                  </a:lnTo>
                  <a:lnTo>
                    <a:pt x="13632687" y="2640330"/>
                  </a:lnTo>
                  <a:lnTo>
                    <a:pt x="0" y="2640330"/>
                  </a:lnTo>
                  <a:close/>
                </a:path>
              </a:pathLst>
            </a:custGeom>
            <a:blipFill>
              <a:blip r:embed="rId4">
                <a:alphaModFix amt="0"/>
              </a:blip>
              <a:stretch>
                <a:fillRect l="0" t="-50474" r="0" b="-50473"/>
              </a:stretch>
            </a:blipFill>
          </p:spPr>
        </p:sp>
      </p:grpSp>
      <p:grpSp>
        <p:nvGrpSpPr>
          <p:cNvPr name="Group 14" id="14"/>
          <p:cNvGrpSpPr/>
          <p:nvPr/>
        </p:nvGrpSpPr>
        <p:grpSpPr>
          <a:xfrm rot="0">
            <a:off x="4781845" y="8754018"/>
            <a:ext cx="10224545" cy="1994535"/>
            <a:chOff x="0" y="0"/>
            <a:chExt cx="13632726" cy="2659380"/>
          </a:xfrm>
        </p:grpSpPr>
        <p:sp>
          <p:nvSpPr>
            <p:cNvPr name="Freeform 15" id="15"/>
            <p:cNvSpPr/>
            <p:nvPr/>
          </p:nvSpPr>
          <p:spPr>
            <a:xfrm flipH="false" flipV="false" rot="0">
              <a:off x="0" y="0"/>
              <a:ext cx="13632687" cy="2659380"/>
            </a:xfrm>
            <a:custGeom>
              <a:avLst/>
              <a:gdLst/>
              <a:ahLst/>
              <a:cxnLst/>
              <a:rect r="r" b="b" t="t" l="l"/>
              <a:pathLst>
                <a:path h="2659380" w="13632687">
                  <a:moveTo>
                    <a:pt x="0" y="0"/>
                  </a:moveTo>
                  <a:lnTo>
                    <a:pt x="13632687" y="0"/>
                  </a:lnTo>
                  <a:lnTo>
                    <a:pt x="13632687" y="2659380"/>
                  </a:lnTo>
                  <a:lnTo>
                    <a:pt x="0" y="2659380"/>
                  </a:lnTo>
                  <a:close/>
                </a:path>
              </a:pathLst>
            </a:custGeom>
            <a:blipFill>
              <a:blip r:embed="rId5">
                <a:alphaModFix amt="0"/>
              </a:blip>
              <a:stretch>
                <a:fillRect l="0" t="-49816" r="0" b="-49816"/>
              </a:stretch>
            </a:blipFill>
          </p:spPr>
        </p:sp>
      </p:grpSp>
      <p:grpSp>
        <p:nvGrpSpPr>
          <p:cNvPr name="Group 16" id="16"/>
          <p:cNvGrpSpPr/>
          <p:nvPr/>
        </p:nvGrpSpPr>
        <p:grpSpPr>
          <a:xfrm rot="0">
            <a:off x="4781845" y="8739730"/>
            <a:ext cx="10224545" cy="2008823"/>
            <a:chOff x="0" y="0"/>
            <a:chExt cx="13632726" cy="2678430"/>
          </a:xfrm>
        </p:grpSpPr>
        <p:sp>
          <p:nvSpPr>
            <p:cNvPr name="Freeform 17" id="17"/>
            <p:cNvSpPr/>
            <p:nvPr/>
          </p:nvSpPr>
          <p:spPr>
            <a:xfrm flipH="false" flipV="false" rot="0">
              <a:off x="0" y="0"/>
              <a:ext cx="13632726" cy="2678430"/>
            </a:xfrm>
            <a:custGeom>
              <a:avLst/>
              <a:gdLst/>
              <a:ahLst/>
              <a:cxnLst/>
              <a:rect r="r" b="b" t="t" l="l"/>
              <a:pathLst>
                <a:path h="2678430" w="13632726">
                  <a:moveTo>
                    <a:pt x="0" y="0"/>
                  </a:moveTo>
                  <a:lnTo>
                    <a:pt x="13632726" y="0"/>
                  </a:lnTo>
                  <a:lnTo>
                    <a:pt x="13632726" y="2678430"/>
                  </a:lnTo>
                  <a:lnTo>
                    <a:pt x="0" y="2678430"/>
                  </a:lnTo>
                  <a:close/>
                </a:path>
              </a:pathLst>
            </a:custGeom>
            <a:blipFill>
              <a:blip r:embed="rId6">
                <a:alphaModFix amt="0"/>
              </a:blip>
              <a:stretch>
                <a:fillRect l="0" t="-49175" r="0" b="-49175"/>
              </a:stretch>
            </a:blipFill>
          </p:spPr>
        </p:sp>
        <p:sp>
          <p:nvSpPr>
            <p:cNvPr name="TextBox 18" id="18"/>
            <p:cNvSpPr txBox="true"/>
            <p:nvPr/>
          </p:nvSpPr>
          <p:spPr>
            <a:xfrm>
              <a:off x="0" y="-19050"/>
              <a:ext cx="13632726" cy="2697480"/>
            </a:xfrm>
            <a:prstGeom prst="rect">
              <a:avLst/>
            </a:prstGeom>
          </p:spPr>
          <p:txBody>
            <a:bodyPr anchor="ctr" rtlCol="false" tIns="0" lIns="0" bIns="0" rIns="0"/>
            <a:lstStyle/>
            <a:p>
              <a:pPr algn="l">
                <a:lnSpc>
                  <a:spcPts val="3240"/>
                </a:lnSpc>
              </a:pPr>
              <a:r>
                <a:rPr lang="en-US" sz="2700" b="true">
                  <a:solidFill>
                    <a:srgbClr val="000000"/>
                  </a:solidFill>
                  <a:latin typeface="Cambria Bold"/>
                  <a:ea typeface="Cambria Bold"/>
                  <a:cs typeface="Cambria Bold"/>
                  <a:sym typeface="Cambria Bold"/>
                </a:rPr>
                <a:t>IT22212122</a:t>
              </a:r>
              <a:r>
                <a:rPr lang="en-US" sz="2700">
                  <a:solidFill>
                    <a:srgbClr val="000000"/>
                  </a:solidFill>
                  <a:latin typeface="Cambria"/>
                  <a:ea typeface="Cambria"/>
                  <a:cs typeface="Cambria"/>
                  <a:sym typeface="Cambria"/>
                </a:rPr>
                <a:t>   |   D. DODANWELA</a:t>
              </a:r>
              <a:r>
                <a:rPr lang="en-US" sz="2700" b="true">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   R26-IT-005</a:t>
              </a:r>
            </a:p>
          </p:txBody>
        </p:sp>
      </p:grpSp>
      <p:grpSp>
        <p:nvGrpSpPr>
          <p:cNvPr name="Group 19" id="19"/>
          <p:cNvGrpSpPr/>
          <p:nvPr/>
        </p:nvGrpSpPr>
        <p:grpSpPr>
          <a:xfrm rot="0">
            <a:off x="15818787" y="1705"/>
            <a:ext cx="2477472" cy="3833965"/>
            <a:chOff x="0" y="0"/>
            <a:chExt cx="3303295" cy="5111953"/>
          </a:xfrm>
        </p:grpSpPr>
        <p:sp>
          <p:nvSpPr>
            <p:cNvPr name="Freeform 20" id="20"/>
            <p:cNvSpPr/>
            <p:nvPr/>
          </p:nvSpPr>
          <p:spPr>
            <a:xfrm flipH="false" flipV="false" rot="0">
              <a:off x="0" y="0"/>
              <a:ext cx="3303270" cy="5112004"/>
            </a:xfrm>
            <a:custGeom>
              <a:avLst/>
              <a:gdLst/>
              <a:ahLst/>
              <a:cxnLst/>
              <a:rect r="r" b="b" t="t" l="l"/>
              <a:pathLst>
                <a:path h="5112004" w="3303270">
                  <a:moveTo>
                    <a:pt x="0" y="0"/>
                  </a:moveTo>
                  <a:lnTo>
                    <a:pt x="3303270" y="0"/>
                  </a:lnTo>
                  <a:lnTo>
                    <a:pt x="3303270" y="5112004"/>
                  </a:lnTo>
                  <a:lnTo>
                    <a:pt x="0" y="5112004"/>
                  </a:lnTo>
                  <a:lnTo>
                    <a:pt x="0" y="0"/>
                  </a:lnTo>
                  <a:close/>
                </a:path>
              </a:pathLst>
            </a:custGeom>
            <a:blipFill>
              <a:blip r:embed="rId7"/>
              <a:stretch>
                <a:fillRect l="0" t="-1805" r="0" b="-1804"/>
              </a:stretch>
            </a:blipFill>
          </p:spPr>
        </p:sp>
      </p:grpSp>
      <p:sp>
        <p:nvSpPr>
          <p:cNvPr name="TextBox 21" id="21"/>
          <p:cNvSpPr txBox="true"/>
          <p:nvPr/>
        </p:nvSpPr>
        <p:spPr>
          <a:xfrm rot="0">
            <a:off x="4189905" y="1379258"/>
            <a:ext cx="8080772" cy="577177"/>
          </a:xfrm>
          <a:prstGeom prst="rect">
            <a:avLst/>
          </a:prstGeom>
        </p:spPr>
        <p:txBody>
          <a:bodyPr anchor="t" rtlCol="false" tIns="0" lIns="0" bIns="0" rIns="0">
            <a:spAutoFit/>
          </a:bodyPr>
          <a:lstStyle/>
          <a:p>
            <a:pPr algn="l">
              <a:lnSpc>
                <a:spcPts val="4620"/>
              </a:lnSpc>
            </a:pPr>
            <a:r>
              <a:rPr lang="en-US" sz="4200" b="true">
                <a:solidFill>
                  <a:srgbClr val="06728A"/>
                </a:solidFill>
                <a:latin typeface="Garet Bold"/>
                <a:ea typeface="Garet Bold"/>
                <a:cs typeface="Garet Bold"/>
                <a:sym typeface="Garet Bold"/>
              </a:rPr>
              <a:t>IT22212122  |  D. DODANWELA</a:t>
            </a:r>
          </a:p>
        </p:txBody>
      </p:sp>
      <p:sp>
        <p:nvSpPr>
          <p:cNvPr name="TextBox 22" id="22"/>
          <p:cNvSpPr txBox="true"/>
          <p:nvPr/>
        </p:nvSpPr>
        <p:spPr>
          <a:xfrm rot="0">
            <a:off x="15521940" y="9822551"/>
            <a:ext cx="1314252" cy="276225"/>
          </a:xfrm>
          <a:prstGeom prst="rect">
            <a:avLst/>
          </a:prstGeom>
        </p:spPr>
        <p:txBody>
          <a:bodyPr anchor="t" rtlCol="false" tIns="0" lIns="0" bIns="0" rIns="0">
            <a:spAutoFit/>
          </a:bodyPr>
          <a:lstStyle/>
          <a:p>
            <a:pPr algn="l">
              <a:lnSpc>
                <a:spcPts val="2160"/>
              </a:lnSpc>
            </a:pPr>
            <a:r>
              <a:rPr lang="en-US" sz="1800" b="true">
                <a:solidFill>
                  <a:srgbClr val="000000"/>
                </a:solidFill>
                <a:latin typeface="Cambria Bold"/>
                <a:ea typeface="Cambria Bold"/>
                <a:cs typeface="Cambria Bold"/>
                <a:sym typeface="Cambria Bold"/>
              </a:rPr>
              <a:t>2026/10/19</a:t>
            </a:r>
          </a:p>
        </p:txBody>
      </p:sp>
      <p:sp>
        <p:nvSpPr>
          <p:cNvPr name="TextBox 23" id="23"/>
          <p:cNvSpPr txBox="true"/>
          <p:nvPr/>
        </p:nvSpPr>
        <p:spPr>
          <a:xfrm rot="0">
            <a:off x="2137334" y="3651304"/>
            <a:ext cx="12873733" cy="617855"/>
          </a:xfrm>
          <a:prstGeom prst="rect">
            <a:avLst/>
          </a:prstGeom>
        </p:spPr>
        <p:txBody>
          <a:bodyPr anchor="t" rtlCol="false" tIns="0" lIns="0" bIns="0" rIns="0">
            <a:spAutoFit/>
          </a:bodyPr>
          <a:lstStyle/>
          <a:p>
            <a:pPr algn="ctr">
              <a:lnSpc>
                <a:spcPts val="4840"/>
              </a:lnSpc>
            </a:pPr>
            <a:r>
              <a:rPr lang="en-US" sz="4400" b="true">
                <a:solidFill>
                  <a:srgbClr val="06728A"/>
                </a:solidFill>
                <a:latin typeface="Garet Bold"/>
                <a:ea typeface="Garet Bold"/>
                <a:cs typeface="Garet Bold"/>
                <a:sym typeface="Garet Bold"/>
              </a:rPr>
              <a:t>Microorganism Detection using Microscopy</a:t>
            </a:r>
          </a:p>
        </p:txBody>
      </p:sp>
      <p:grpSp>
        <p:nvGrpSpPr>
          <p:cNvPr name="Group 24" id="24"/>
          <p:cNvGrpSpPr/>
          <p:nvPr/>
        </p:nvGrpSpPr>
        <p:grpSpPr>
          <a:xfrm rot="0">
            <a:off x="0" y="9551575"/>
            <a:ext cx="3771900" cy="735425"/>
            <a:chOff x="0" y="0"/>
            <a:chExt cx="5029200" cy="980567"/>
          </a:xfrm>
        </p:grpSpPr>
        <p:sp>
          <p:nvSpPr>
            <p:cNvPr name="Freeform 25" id="25"/>
            <p:cNvSpPr/>
            <p:nvPr/>
          </p:nvSpPr>
          <p:spPr>
            <a:xfrm flipH="false" flipV="false" rot="0">
              <a:off x="0" y="0"/>
              <a:ext cx="5029200" cy="980567"/>
            </a:xfrm>
            <a:custGeom>
              <a:avLst/>
              <a:gdLst/>
              <a:ahLst/>
              <a:cxnLst/>
              <a:rect r="r" b="b" t="t" l="l"/>
              <a:pathLst>
                <a:path h="980567" w="5029200">
                  <a:moveTo>
                    <a:pt x="0" y="0"/>
                  </a:moveTo>
                  <a:lnTo>
                    <a:pt x="5029200" y="0"/>
                  </a:lnTo>
                  <a:lnTo>
                    <a:pt x="5029200" y="980567"/>
                  </a:lnTo>
                  <a:lnTo>
                    <a:pt x="0" y="980567"/>
                  </a:lnTo>
                  <a:lnTo>
                    <a:pt x="0" y="0"/>
                  </a:lnTo>
                  <a:close/>
                </a:path>
              </a:pathLst>
            </a:custGeom>
            <a:blipFill>
              <a:blip r:embed="rId8"/>
              <a:stretch>
                <a:fillRect l="0" t="-151" r="0" b="-151"/>
              </a:stretch>
            </a:blipFill>
          </p:spPr>
        </p:sp>
      </p:grpSp>
      <p:sp>
        <p:nvSpPr>
          <p:cNvPr name="TextBox 26" id="26"/>
          <p:cNvSpPr txBox="true"/>
          <p:nvPr/>
        </p:nvSpPr>
        <p:spPr>
          <a:xfrm rot="0">
            <a:off x="1329904" y="6062007"/>
            <a:ext cx="15088829" cy="1725295"/>
          </a:xfrm>
          <a:prstGeom prst="rect">
            <a:avLst/>
          </a:prstGeom>
        </p:spPr>
        <p:txBody>
          <a:bodyPr anchor="t" rtlCol="false" tIns="0" lIns="0" bIns="0" rIns="0">
            <a:spAutoFit/>
          </a:bodyPr>
          <a:lstStyle/>
          <a:p>
            <a:pPr algn="ctr">
              <a:lnSpc>
                <a:spcPts val="3410"/>
              </a:lnSpc>
            </a:pPr>
            <a:r>
              <a:rPr lang="en-US" sz="3100" b="true">
                <a:solidFill>
                  <a:srgbClr val="06728A"/>
                </a:solidFill>
                <a:latin typeface="Garet Bold"/>
                <a:ea typeface="Garet Bold"/>
                <a:cs typeface="Garet Bold"/>
                <a:sym typeface="Garet Bold"/>
              </a:rPr>
              <a:t>Analyses microscope images to locate bacteria and other microorganisms. It provides bounding boxes and predicted genus or species labels where the imagery and reference data support identification, while flagging uncertain findings.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8785" r="0" b="-8785"/>
              </a:stretch>
            </a:blipFill>
          </p:spPr>
        </p:sp>
      </p:grpSp>
      <p:grpSp>
        <p:nvGrpSpPr>
          <p:cNvPr name="Group 4" id="4"/>
          <p:cNvGrpSpPr/>
          <p:nvPr/>
        </p:nvGrpSpPr>
        <p:grpSpPr>
          <a:xfrm rot="577740">
            <a:off x="1065971" y="2839431"/>
            <a:ext cx="486623" cy="486623"/>
            <a:chOff x="0" y="0"/>
            <a:chExt cx="648830" cy="648830"/>
          </a:xfrm>
        </p:grpSpPr>
        <p:sp>
          <p:nvSpPr>
            <p:cNvPr name="Freeform 5" id="5"/>
            <p:cNvSpPr/>
            <p:nvPr/>
          </p:nvSpPr>
          <p:spPr>
            <a:xfrm flipH="false" flipV="false" rot="0">
              <a:off x="0" y="0"/>
              <a:ext cx="648843" cy="648843"/>
            </a:xfrm>
            <a:custGeom>
              <a:avLst/>
              <a:gdLst/>
              <a:ahLst/>
              <a:cxnLst/>
              <a:rect r="r" b="b" t="t" l="l"/>
              <a:pathLst>
                <a:path h="648843" w="648843">
                  <a:moveTo>
                    <a:pt x="0" y="0"/>
                  </a:moveTo>
                  <a:lnTo>
                    <a:pt x="648843" y="0"/>
                  </a:lnTo>
                  <a:lnTo>
                    <a:pt x="648843" y="648843"/>
                  </a:lnTo>
                  <a:lnTo>
                    <a:pt x="0" y="648843"/>
                  </a:lnTo>
                  <a:lnTo>
                    <a:pt x="0" y="0"/>
                  </a:lnTo>
                  <a:close/>
                </a:path>
              </a:pathLst>
            </a:custGeom>
            <a:solidFill>
              <a:srgbClr val="00C4CC"/>
            </a:solidFill>
          </p:spPr>
        </p:sp>
      </p:grpSp>
      <p:grpSp>
        <p:nvGrpSpPr>
          <p:cNvPr name="Group 6" id="6"/>
          <p:cNvGrpSpPr/>
          <p:nvPr/>
        </p:nvGrpSpPr>
        <p:grpSpPr>
          <a:xfrm rot="-557640">
            <a:off x="16175422" y="1675371"/>
            <a:ext cx="486623" cy="486623"/>
            <a:chOff x="0" y="0"/>
            <a:chExt cx="648830" cy="648830"/>
          </a:xfrm>
        </p:grpSpPr>
        <p:sp>
          <p:nvSpPr>
            <p:cNvPr name="Freeform 7" id="7"/>
            <p:cNvSpPr/>
            <p:nvPr/>
          </p:nvSpPr>
          <p:spPr>
            <a:xfrm flipH="false" flipV="false" rot="0">
              <a:off x="0" y="0"/>
              <a:ext cx="648843" cy="648843"/>
            </a:xfrm>
            <a:custGeom>
              <a:avLst/>
              <a:gdLst/>
              <a:ahLst/>
              <a:cxnLst/>
              <a:rect r="r" b="b" t="t" l="l"/>
              <a:pathLst>
                <a:path h="648843" w="648843">
                  <a:moveTo>
                    <a:pt x="0" y="0"/>
                  </a:moveTo>
                  <a:lnTo>
                    <a:pt x="648843" y="0"/>
                  </a:lnTo>
                  <a:lnTo>
                    <a:pt x="648843" y="648843"/>
                  </a:lnTo>
                  <a:lnTo>
                    <a:pt x="0" y="648843"/>
                  </a:lnTo>
                  <a:lnTo>
                    <a:pt x="0" y="0"/>
                  </a:lnTo>
                  <a:close/>
                </a:path>
              </a:pathLst>
            </a:custGeom>
            <a:solidFill>
              <a:srgbClr val="00C4CC"/>
            </a:solidFill>
          </p:spPr>
        </p:sp>
      </p:grpSp>
      <p:grpSp>
        <p:nvGrpSpPr>
          <p:cNvPr name="Group 8" id="8"/>
          <p:cNvGrpSpPr/>
          <p:nvPr/>
        </p:nvGrpSpPr>
        <p:grpSpPr>
          <a:xfrm rot="248760">
            <a:off x="16755723" y="8524989"/>
            <a:ext cx="486623" cy="486623"/>
            <a:chOff x="0" y="0"/>
            <a:chExt cx="648830" cy="648830"/>
          </a:xfrm>
        </p:grpSpPr>
        <p:sp>
          <p:nvSpPr>
            <p:cNvPr name="Freeform 9" id="9"/>
            <p:cNvSpPr/>
            <p:nvPr/>
          </p:nvSpPr>
          <p:spPr>
            <a:xfrm flipH="false" flipV="false" rot="0">
              <a:off x="0" y="0"/>
              <a:ext cx="648843" cy="648843"/>
            </a:xfrm>
            <a:custGeom>
              <a:avLst/>
              <a:gdLst/>
              <a:ahLst/>
              <a:cxnLst/>
              <a:rect r="r" b="b" t="t" l="l"/>
              <a:pathLst>
                <a:path h="648843" w="648843">
                  <a:moveTo>
                    <a:pt x="0" y="0"/>
                  </a:moveTo>
                  <a:lnTo>
                    <a:pt x="648843" y="0"/>
                  </a:lnTo>
                  <a:lnTo>
                    <a:pt x="648843" y="648843"/>
                  </a:lnTo>
                  <a:lnTo>
                    <a:pt x="0" y="648843"/>
                  </a:lnTo>
                  <a:lnTo>
                    <a:pt x="0" y="0"/>
                  </a:lnTo>
                  <a:close/>
                </a:path>
              </a:pathLst>
            </a:custGeom>
            <a:solidFill>
              <a:srgbClr val="00C4CC"/>
            </a:solidFill>
          </p:spPr>
        </p:sp>
      </p:grpSp>
      <p:grpSp>
        <p:nvGrpSpPr>
          <p:cNvPr name="Group 10" id="10"/>
          <p:cNvGrpSpPr/>
          <p:nvPr/>
        </p:nvGrpSpPr>
        <p:grpSpPr>
          <a:xfrm rot="0">
            <a:off x="0" y="9559957"/>
            <a:ext cx="3771900" cy="735425"/>
            <a:chOff x="0" y="0"/>
            <a:chExt cx="5029200" cy="980567"/>
          </a:xfrm>
        </p:grpSpPr>
        <p:sp>
          <p:nvSpPr>
            <p:cNvPr name="Freeform 11" id="11" descr="A picture containing photo, table, person, monitor  Description automatically generated"/>
            <p:cNvSpPr/>
            <p:nvPr/>
          </p:nvSpPr>
          <p:spPr>
            <a:xfrm flipH="false" flipV="false" rot="0">
              <a:off x="0" y="0"/>
              <a:ext cx="5029200" cy="980567"/>
            </a:xfrm>
            <a:custGeom>
              <a:avLst/>
              <a:gdLst/>
              <a:ahLst/>
              <a:cxnLst/>
              <a:rect r="r" b="b" t="t" l="l"/>
              <a:pathLst>
                <a:path h="980567" w="5029200">
                  <a:moveTo>
                    <a:pt x="0" y="0"/>
                  </a:moveTo>
                  <a:lnTo>
                    <a:pt x="5029200" y="0"/>
                  </a:lnTo>
                  <a:lnTo>
                    <a:pt x="5029200" y="980567"/>
                  </a:lnTo>
                  <a:lnTo>
                    <a:pt x="0" y="980567"/>
                  </a:lnTo>
                  <a:lnTo>
                    <a:pt x="0" y="0"/>
                  </a:lnTo>
                  <a:close/>
                </a:path>
              </a:pathLst>
            </a:custGeom>
            <a:blipFill>
              <a:blip r:embed="rId3"/>
              <a:stretch>
                <a:fillRect l="0" t="-94156" r="0" b="-94157"/>
              </a:stretch>
            </a:blipFill>
          </p:spPr>
        </p:sp>
      </p:grpSp>
      <p:grpSp>
        <p:nvGrpSpPr>
          <p:cNvPr name="Group 12" id="12"/>
          <p:cNvGrpSpPr/>
          <p:nvPr/>
        </p:nvGrpSpPr>
        <p:grpSpPr>
          <a:xfrm rot="0">
            <a:off x="4781845" y="8768305"/>
            <a:ext cx="10224516" cy="1980248"/>
            <a:chOff x="0" y="0"/>
            <a:chExt cx="13632688" cy="2640330"/>
          </a:xfrm>
        </p:grpSpPr>
        <p:sp>
          <p:nvSpPr>
            <p:cNvPr name="Freeform 13" id="13"/>
            <p:cNvSpPr/>
            <p:nvPr/>
          </p:nvSpPr>
          <p:spPr>
            <a:xfrm flipH="false" flipV="false" rot="0">
              <a:off x="0" y="0"/>
              <a:ext cx="13632687" cy="2640330"/>
            </a:xfrm>
            <a:custGeom>
              <a:avLst/>
              <a:gdLst/>
              <a:ahLst/>
              <a:cxnLst/>
              <a:rect r="r" b="b" t="t" l="l"/>
              <a:pathLst>
                <a:path h="2640330" w="13632687">
                  <a:moveTo>
                    <a:pt x="0" y="0"/>
                  </a:moveTo>
                  <a:lnTo>
                    <a:pt x="13632687" y="0"/>
                  </a:lnTo>
                  <a:lnTo>
                    <a:pt x="13632687" y="2640330"/>
                  </a:lnTo>
                  <a:lnTo>
                    <a:pt x="0" y="2640330"/>
                  </a:lnTo>
                  <a:close/>
                </a:path>
              </a:pathLst>
            </a:custGeom>
            <a:blipFill>
              <a:blip r:embed="rId4">
                <a:alphaModFix amt="0"/>
              </a:blip>
              <a:stretch>
                <a:fillRect l="0" t="-50474" r="0" b="-50473"/>
              </a:stretch>
            </a:blipFill>
          </p:spPr>
        </p:sp>
      </p:grpSp>
      <p:grpSp>
        <p:nvGrpSpPr>
          <p:cNvPr name="Group 14" id="14"/>
          <p:cNvGrpSpPr/>
          <p:nvPr/>
        </p:nvGrpSpPr>
        <p:grpSpPr>
          <a:xfrm rot="0">
            <a:off x="4781845" y="8754018"/>
            <a:ext cx="10224545" cy="1994535"/>
            <a:chOff x="0" y="0"/>
            <a:chExt cx="13632726" cy="2659380"/>
          </a:xfrm>
        </p:grpSpPr>
        <p:sp>
          <p:nvSpPr>
            <p:cNvPr name="Freeform 15" id="15"/>
            <p:cNvSpPr/>
            <p:nvPr/>
          </p:nvSpPr>
          <p:spPr>
            <a:xfrm flipH="false" flipV="false" rot="0">
              <a:off x="0" y="0"/>
              <a:ext cx="13632687" cy="2659380"/>
            </a:xfrm>
            <a:custGeom>
              <a:avLst/>
              <a:gdLst/>
              <a:ahLst/>
              <a:cxnLst/>
              <a:rect r="r" b="b" t="t" l="l"/>
              <a:pathLst>
                <a:path h="2659380" w="13632687">
                  <a:moveTo>
                    <a:pt x="0" y="0"/>
                  </a:moveTo>
                  <a:lnTo>
                    <a:pt x="13632687" y="0"/>
                  </a:lnTo>
                  <a:lnTo>
                    <a:pt x="13632687" y="2659380"/>
                  </a:lnTo>
                  <a:lnTo>
                    <a:pt x="0" y="2659380"/>
                  </a:lnTo>
                  <a:close/>
                </a:path>
              </a:pathLst>
            </a:custGeom>
            <a:blipFill>
              <a:blip r:embed="rId5">
                <a:alphaModFix amt="0"/>
              </a:blip>
              <a:stretch>
                <a:fillRect l="0" t="-49816" r="0" b="-49816"/>
              </a:stretch>
            </a:blipFill>
          </p:spPr>
        </p:sp>
      </p:grpSp>
      <p:grpSp>
        <p:nvGrpSpPr>
          <p:cNvPr name="Group 16" id="16"/>
          <p:cNvGrpSpPr/>
          <p:nvPr/>
        </p:nvGrpSpPr>
        <p:grpSpPr>
          <a:xfrm rot="0">
            <a:off x="4781845" y="8739730"/>
            <a:ext cx="10224545" cy="2008823"/>
            <a:chOff x="0" y="0"/>
            <a:chExt cx="13632726" cy="2678430"/>
          </a:xfrm>
        </p:grpSpPr>
        <p:sp>
          <p:nvSpPr>
            <p:cNvPr name="Freeform 17" id="17"/>
            <p:cNvSpPr/>
            <p:nvPr/>
          </p:nvSpPr>
          <p:spPr>
            <a:xfrm flipH="false" flipV="false" rot="0">
              <a:off x="0" y="0"/>
              <a:ext cx="13632726" cy="2678430"/>
            </a:xfrm>
            <a:custGeom>
              <a:avLst/>
              <a:gdLst/>
              <a:ahLst/>
              <a:cxnLst/>
              <a:rect r="r" b="b" t="t" l="l"/>
              <a:pathLst>
                <a:path h="2678430" w="13632726">
                  <a:moveTo>
                    <a:pt x="0" y="0"/>
                  </a:moveTo>
                  <a:lnTo>
                    <a:pt x="13632726" y="0"/>
                  </a:lnTo>
                  <a:lnTo>
                    <a:pt x="13632726" y="2678430"/>
                  </a:lnTo>
                  <a:lnTo>
                    <a:pt x="0" y="2678430"/>
                  </a:lnTo>
                  <a:close/>
                </a:path>
              </a:pathLst>
            </a:custGeom>
            <a:blipFill>
              <a:blip r:embed="rId6">
                <a:alphaModFix amt="0"/>
              </a:blip>
              <a:stretch>
                <a:fillRect l="0" t="-49175" r="0" b="-49175"/>
              </a:stretch>
            </a:blipFill>
          </p:spPr>
        </p:sp>
        <p:sp>
          <p:nvSpPr>
            <p:cNvPr name="TextBox 18" id="18"/>
            <p:cNvSpPr txBox="true"/>
            <p:nvPr/>
          </p:nvSpPr>
          <p:spPr>
            <a:xfrm>
              <a:off x="0" y="-19050"/>
              <a:ext cx="13632726" cy="2697480"/>
            </a:xfrm>
            <a:prstGeom prst="rect">
              <a:avLst/>
            </a:prstGeom>
          </p:spPr>
          <p:txBody>
            <a:bodyPr anchor="ctr" rtlCol="false" tIns="0" lIns="0" bIns="0" rIns="0"/>
            <a:lstStyle/>
            <a:p>
              <a:pPr algn="l">
                <a:lnSpc>
                  <a:spcPts val="3240"/>
                </a:lnSpc>
              </a:pPr>
              <a:r>
                <a:rPr lang="en-US" sz="2700" b="true">
                  <a:solidFill>
                    <a:srgbClr val="000000"/>
                  </a:solidFill>
                  <a:latin typeface="Cambria Bold"/>
                  <a:ea typeface="Cambria Bold"/>
                  <a:cs typeface="Cambria Bold"/>
                  <a:sym typeface="Cambria Bold"/>
                </a:rPr>
                <a:t>IT22211750</a:t>
              </a:r>
              <a:r>
                <a:rPr lang="en-US" sz="2700">
                  <a:solidFill>
                    <a:srgbClr val="000000"/>
                  </a:solidFill>
                  <a:latin typeface="Cambria"/>
                  <a:ea typeface="Cambria"/>
                  <a:cs typeface="Cambria"/>
                  <a:sym typeface="Cambria"/>
                </a:rPr>
                <a:t>   |   DE SILVA W.N.N   |   R26-IT-005</a:t>
              </a:r>
            </a:p>
          </p:txBody>
        </p:sp>
      </p:grpSp>
      <p:grpSp>
        <p:nvGrpSpPr>
          <p:cNvPr name="Group 19" id="19"/>
          <p:cNvGrpSpPr/>
          <p:nvPr/>
        </p:nvGrpSpPr>
        <p:grpSpPr>
          <a:xfrm rot="0">
            <a:off x="14538750" y="-95745"/>
            <a:ext cx="3749231" cy="4579906"/>
            <a:chOff x="0" y="0"/>
            <a:chExt cx="4998974" cy="6106541"/>
          </a:xfrm>
        </p:grpSpPr>
        <p:sp>
          <p:nvSpPr>
            <p:cNvPr name="Freeform 20" id="20"/>
            <p:cNvSpPr/>
            <p:nvPr/>
          </p:nvSpPr>
          <p:spPr>
            <a:xfrm flipH="false" flipV="false" rot="0">
              <a:off x="0" y="0"/>
              <a:ext cx="4998974" cy="6106541"/>
            </a:xfrm>
            <a:custGeom>
              <a:avLst/>
              <a:gdLst/>
              <a:ahLst/>
              <a:cxnLst/>
              <a:rect r="r" b="b" t="t" l="l"/>
              <a:pathLst>
                <a:path h="6106541" w="4998974">
                  <a:moveTo>
                    <a:pt x="0" y="0"/>
                  </a:moveTo>
                  <a:lnTo>
                    <a:pt x="4998974" y="0"/>
                  </a:lnTo>
                  <a:lnTo>
                    <a:pt x="4998974" y="6106541"/>
                  </a:lnTo>
                  <a:lnTo>
                    <a:pt x="0" y="6106541"/>
                  </a:lnTo>
                  <a:lnTo>
                    <a:pt x="0" y="0"/>
                  </a:lnTo>
                  <a:close/>
                </a:path>
              </a:pathLst>
            </a:custGeom>
            <a:blipFill>
              <a:blip r:embed="rId7"/>
              <a:stretch>
                <a:fillRect l="0" t="-4518" r="0" b="-4518"/>
              </a:stretch>
            </a:blipFill>
          </p:spPr>
        </p:sp>
      </p:grpSp>
      <p:sp>
        <p:nvSpPr>
          <p:cNvPr name="TextBox 21" id="21"/>
          <p:cNvSpPr txBox="true"/>
          <p:nvPr/>
        </p:nvSpPr>
        <p:spPr>
          <a:xfrm rot="0">
            <a:off x="4549978" y="1385926"/>
            <a:ext cx="7992066" cy="574405"/>
          </a:xfrm>
          <a:prstGeom prst="rect">
            <a:avLst/>
          </a:prstGeom>
        </p:spPr>
        <p:txBody>
          <a:bodyPr anchor="t" rtlCol="false" tIns="0" lIns="0" bIns="0" rIns="0">
            <a:spAutoFit/>
          </a:bodyPr>
          <a:lstStyle/>
          <a:p>
            <a:pPr algn="ctr">
              <a:lnSpc>
                <a:spcPts val="4642"/>
              </a:lnSpc>
            </a:pPr>
            <a:r>
              <a:rPr lang="en-US" sz="4200" b="true">
                <a:solidFill>
                  <a:srgbClr val="06728A"/>
                </a:solidFill>
                <a:latin typeface="Garet Bold"/>
                <a:ea typeface="Garet Bold"/>
                <a:cs typeface="Garet Bold"/>
                <a:sym typeface="Garet Bold"/>
              </a:rPr>
              <a:t>IT22211750 |  DE SILVA W.N.N.</a:t>
            </a:r>
          </a:p>
        </p:txBody>
      </p:sp>
      <p:sp>
        <p:nvSpPr>
          <p:cNvPr name="TextBox 22" id="22"/>
          <p:cNvSpPr txBox="true"/>
          <p:nvPr/>
        </p:nvSpPr>
        <p:spPr>
          <a:xfrm rot="0">
            <a:off x="15521940" y="9822551"/>
            <a:ext cx="1314252" cy="276225"/>
          </a:xfrm>
          <a:prstGeom prst="rect">
            <a:avLst/>
          </a:prstGeom>
        </p:spPr>
        <p:txBody>
          <a:bodyPr anchor="t" rtlCol="false" tIns="0" lIns="0" bIns="0" rIns="0">
            <a:spAutoFit/>
          </a:bodyPr>
          <a:lstStyle/>
          <a:p>
            <a:pPr algn="l">
              <a:lnSpc>
                <a:spcPts val="2160"/>
              </a:lnSpc>
            </a:pPr>
            <a:r>
              <a:rPr lang="en-US" sz="1800" b="true">
                <a:solidFill>
                  <a:srgbClr val="000000"/>
                </a:solidFill>
                <a:latin typeface="Cambria Bold"/>
                <a:ea typeface="Cambria Bold"/>
                <a:cs typeface="Cambria Bold"/>
                <a:sym typeface="Cambria Bold"/>
              </a:rPr>
              <a:t>2026/10/19</a:t>
            </a:r>
          </a:p>
        </p:txBody>
      </p:sp>
      <p:sp>
        <p:nvSpPr>
          <p:cNvPr name="TextBox 23" id="23"/>
          <p:cNvSpPr txBox="true"/>
          <p:nvPr/>
        </p:nvSpPr>
        <p:spPr>
          <a:xfrm rot="0">
            <a:off x="3069922" y="3133262"/>
            <a:ext cx="10952178" cy="1463142"/>
          </a:xfrm>
          <a:prstGeom prst="rect">
            <a:avLst/>
          </a:prstGeom>
        </p:spPr>
        <p:txBody>
          <a:bodyPr anchor="t" rtlCol="false" tIns="0" lIns="0" bIns="0" rIns="0">
            <a:spAutoFit/>
          </a:bodyPr>
          <a:lstStyle/>
          <a:p>
            <a:pPr algn="ctr">
              <a:lnSpc>
                <a:spcPts val="5909"/>
              </a:lnSpc>
            </a:pPr>
            <a:r>
              <a:rPr lang="en-US" sz="4400" b="true">
                <a:solidFill>
                  <a:srgbClr val="06728A"/>
                </a:solidFill>
                <a:latin typeface="Garet Bold"/>
                <a:ea typeface="Garet Bold"/>
                <a:cs typeface="Garet Bold"/>
                <a:sym typeface="Garet Bold"/>
              </a:rPr>
              <a:t>Water Quality Classification using Machine Learning</a:t>
            </a:r>
          </a:p>
        </p:txBody>
      </p:sp>
      <p:grpSp>
        <p:nvGrpSpPr>
          <p:cNvPr name="Group 24" id="24"/>
          <p:cNvGrpSpPr/>
          <p:nvPr/>
        </p:nvGrpSpPr>
        <p:grpSpPr>
          <a:xfrm rot="0">
            <a:off x="0" y="9551575"/>
            <a:ext cx="3771900" cy="735425"/>
            <a:chOff x="0" y="0"/>
            <a:chExt cx="5029200" cy="980567"/>
          </a:xfrm>
        </p:grpSpPr>
        <p:sp>
          <p:nvSpPr>
            <p:cNvPr name="Freeform 25" id="25"/>
            <p:cNvSpPr/>
            <p:nvPr/>
          </p:nvSpPr>
          <p:spPr>
            <a:xfrm flipH="false" flipV="false" rot="0">
              <a:off x="0" y="0"/>
              <a:ext cx="5029200" cy="980567"/>
            </a:xfrm>
            <a:custGeom>
              <a:avLst/>
              <a:gdLst/>
              <a:ahLst/>
              <a:cxnLst/>
              <a:rect r="r" b="b" t="t" l="l"/>
              <a:pathLst>
                <a:path h="980567" w="5029200">
                  <a:moveTo>
                    <a:pt x="0" y="0"/>
                  </a:moveTo>
                  <a:lnTo>
                    <a:pt x="5029200" y="0"/>
                  </a:lnTo>
                  <a:lnTo>
                    <a:pt x="5029200" y="980567"/>
                  </a:lnTo>
                  <a:lnTo>
                    <a:pt x="0" y="980567"/>
                  </a:lnTo>
                  <a:lnTo>
                    <a:pt x="0" y="0"/>
                  </a:lnTo>
                  <a:close/>
                </a:path>
              </a:pathLst>
            </a:custGeom>
            <a:blipFill>
              <a:blip r:embed="rId8"/>
              <a:stretch>
                <a:fillRect l="0" t="-151" r="0" b="-151"/>
              </a:stretch>
            </a:blipFill>
          </p:spPr>
        </p:sp>
      </p:grpSp>
      <p:sp>
        <p:nvSpPr>
          <p:cNvPr name="TextBox 26" id="26"/>
          <p:cNvSpPr txBox="true"/>
          <p:nvPr/>
        </p:nvSpPr>
        <p:spPr>
          <a:xfrm rot="0">
            <a:off x="2419417" y="6011317"/>
            <a:ext cx="13449167" cy="2153920"/>
          </a:xfrm>
          <a:prstGeom prst="rect">
            <a:avLst/>
          </a:prstGeom>
        </p:spPr>
        <p:txBody>
          <a:bodyPr anchor="t" rtlCol="false" tIns="0" lIns="0" bIns="0" rIns="0">
            <a:spAutoFit/>
          </a:bodyPr>
          <a:lstStyle/>
          <a:p>
            <a:pPr algn="ctr">
              <a:lnSpc>
                <a:spcPts val="3409"/>
              </a:lnSpc>
            </a:pPr>
            <a:r>
              <a:rPr lang="en-US" sz="3099" b="true">
                <a:solidFill>
                  <a:srgbClr val="06728A"/>
                </a:solidFill>
                <a:latin typeface="Garet Bold"/>
                <a:ea typeface="Garet Bold"/>
                <a:cs typeface="Garet Bold"/>
                <a:sym typeface="Garet Bold"/>
              </a:rPr>
              <a:t>Applies machine-learning models, such as Random Forest or Gradient Boosting, to measured parameters including pH, hardness, turbidity, TDS and fluoride. It produces a water-quality category and parameter-level flags indicating potential concerns.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8785" r="0" b="-8785"/>
              </a:stretch>
            </a:blipFill>
          </p:spPr>
        </p:sp>
      </p:grpSp>
      <p:grpSp>
        <p:nvGrpSpPr>
          <p:cNvPr name="Group 4" id="4"/>
          <p:cNvGrpSpPr/>
          <p:nvPr/>
        </p:nvGrpSpPr>
        <p:grpSpPr>
          <a:xfrm rot="577740">
            <a:off x="1065971" y="2839431"/>
            <a:ext cx="486623" cy="486623"/>
            <a:chOff x="0" y="0"/>
            <a:chExt cx="648830" cy="648830"/>
          </a:xfrm>
        </p:grpSpPr>
        <p:sp>
          <p:nvSpPr>
            <p:cNvPr name="Freeform 5" id="5"/>
            <p:cNvSpPr/>
            <p:nvPr/>
          </p:nvSpPr>
          <p:spPr>
            <a:xfrm flipH="false" flipV="false" rot="0">
              <a:off x="0" y="0"/>
              <a:ext cx="648843" cy="648843"/>
            </a:xfrm>
            <a:custGeom>
              <a:avLst/>
              <a:gdLst/>
              <a:ahLst/>
              <a:cxnLst/>
              <a:rect r="r" b="b" t="t" l="l"/>
              <a:pathLst>
                <a:path h="648843" w="648843">
                  <a:moveTo>
                    <a:pt x="0" y="0"/>
                  </a:moveTo>
                  <a:lnTo>
                    <a:pt x="648843" y="0"/>
                  </a:lnTo>
                  <a:lnTo>
                    <a:pt x="648843" y="648843"/>
                  </a:lnTo>
                  <a:lnTo>
                    <a:pt x="0" y="648843"/>
                  </a:lnTo>
                  <a:lnTo>
                    <a:pt x="0" y="0"/>
                  </a:lnTo>
                  <a:close/>
                </a:path>
              </a:pathLst>
            </a:custGeom>
            <a:solidFill>
              <a:srgbClr val="00C4CC"/>
            </a:solidFill>
          </p:spPr>
        </p:sp>
      </p:grpSp>
      <p:grpSp>
        <p:nvGrpSpPr>
          <p:cNvPr name="Group 6" id="6"/>
          <p:cNvGrpSpPr/>
          <p:nvPr/>
        </p:nvGrpSpPr>
        <p:grpSpPr>
          <a:xfrm rot="-557640">
            <a:off x="16175422" y="1675371"/>
            <a:ext cx="486623" cy="486623"/>
            <a:chOff x="0" y="0"/>
            <a:chExt cx="648830" cy="648830"/>
          </a:xfrm>
        </p:grpSpPr>
        <p:sp>
          <p:nvSpPr>
            <p:cNvPr name="Freeform 7" id="7"/>
            <p:cNvSpPr/>
            <p:nvPr/>
          </p:nvSpPr>
          <p:spPr>
            <a:xfrm flipH="false" flipV="false" rot="0">
              <a:off x="0" y="0"/>
              <a:ext cx="648843" cy="648843"/>
            </a:xfrm>
            <a:custGeom>
              <a:avLst/>
              <a:gdLst/>
              <a:ahLst/>
              <a:cxnLst/>
              <a:rect r="r" b="b" t="t" l="l"/>
              <a:pathLst>
                <a:path h="648843" w="648843">
                  <a:moveTo>
                    <a:pt x="0" y="0"/>
                  </a:moveTo>
                  <a:lnTo>
                    <a:pt x="648843" y="0"/>
                  </a:lnTo>
                  <a:lnTo>
                    <a:pt x="648843" y="648843"/>
                  </a:lnTo>
                  <a:lnTo>
                    <a:pt x="0" y="648843"/>
                  </a:lnTo>
                  <a:lnTo>
                    <a:pt x="0" y="0"/>
                  </a:lnTo>
                  <a:close/>
                </a:path>
              </a:pathLst>
            </a:custGeom>
            <a:solidFill>
              <a:srgbClr val="00C4CC"/>
            </a:solidFill>
          </p:spPr>
        </p:sp>
      </p:grpSp>
      <p:grpSp>
        <p:nvGrpSpPr>
          <p:cNvPr name="Group 8" id="8"/>
          <p:cNvGrpSpPr/>
          <p:nvPr/>
        </p:nvGrpSpPr>
        <p:grpSpPr>
          <a:xfrm rot="248760">
            <a:off x="16755723" y="8524989"/>
            <a:ext cx="486623" cy="486623"/>
            <a:chOff x="0" y="0"/>
            <a:chExt cx="648830" cy="648830"/>
          </a:xfrm>
        </p:grpSpPr>
        <p:sp>
          <p:nvSpPr>
            <p:cNvPr name="Freeform 9" id="9"/>
            <p:cNvSpPr/>
            <p:nvPr/>
          </p:nvSpPr>
          <p:spPr>
            <a:xfrm flipH="false" flipV="false" rot="0">
              <a:off x="0" y="0"/>
              <a:ext cx="648843" cy="648843"/>
            </a:xfrm>
            <a:custGeom>
              <a:avLst/>
              <a:gdLst/>
              <a:ahLst/>
              <a:cxnLst/>
              <a:rect r="r" b="b" t="t" l="l"/>
              <a:pathLst>
                <a:path h="648843" w="648843">
                  <a:moveTo>
                    <a:pt x="0" y="0"/>
                  </a:moveTo>
                  <a:lnTo>
                    <a:pt x="648843" y="0"/>
                  </a:lnTo>
                  <a:lnTo>
                    <a:pt x="648843" y="648843"/>
                  </a:lnTo>
                  <a:lnTo>
                    <a:pt x="0" y="648843"/>
                  </a:lnTo>
                  <a:lnTo>
                    <a:pt x="0" y="0"/>
                  </a:lnTo>
                  <a:close/>
                </a:path>
              </a:pathLst>
            </a:custGeom>
            <a:solidFill>
              <a:srgbClr val="00C4CC"/>
            </a:solidFill>
          </p:spPr>
        </p:sp>
      </p:grpSp>
      <p:sp>
        <p:nvSpPr>
          <p:cNvPr name="TextBox 10" id="10"/>
          <p:cNvSpPr txBox="true"/>
          <p:nvPr/>
        </p:nvSpPr>
        <p:spPr>
          <a:xfrm rot="0">
            <a:off x="3901373" y="1179176"/>
            <a:ext cx="11985479" cy="460096"/>
          </a:xfrm>
          <a:prstGeom prst="rect">
            <a:avLst/>
          </a:prstGeom>
        </p:spPr>
        <p:txBody>
          <a:bodyPr anchor="t" rtlCol="false" tIns="0" lIns="0" bIns="0" rIns="0">
            <a:spAutoFit/>
          </a:bodyPr>
          <a:lstStyle/>
          <a:p>
            <a:pPr algn="l">
              <a:lnSpc>
                <a:spcPts val="4375"/>
              </a:lnSpc>
            </a:pPr>
            <a:r>
              <a:rPr lang="en-US" sz="3977" b="true">
                <a:solidFill>
                  <a:srgbClr val="06728A"/>
                </a:solidFill>
                <a:latin typeface="Garet Bold"/>
                <a:ea typeface="Garet Bold"/>
                <a:cs typeface="Garet Bold"/>
                <a:sym typeface="Garet Bold"/>
              </a:rPr>
              <a:t>IT22193940  |  R.M.N.A.RATHNAYAKE</a:t>
            </a:r>
          </a:p>
        </p:txBody>
      </p:sp>
      <p:grpSp>
        <p:nvGrpSpPr>
          <p:cNvPr name="Group 11" id="11"/>
          <p:cNvGrpSpPr/>
          <p:nvPr/>
        </p:nvGrpSpPr>
        <p:grpSpPr>
          <a:xfrm rot="0">
            <a:off x="14970033" y="0"/>
            <a:ext cx="3317938" cy="3934778"/>
            <a:chOff x="0" y="0"/>
            <a:chExt cx="4423918" cy="5246370"/>
          </a:xfrm>
        </p:grpSpPr>
        <p:sp>
          <p:nvSpPr>
            <p:cNvPr name="Freeform 12" id="12"/>
            <p:cNvSpPr/>
            <p:nvPr/>
          </p:nvSpPr>
          <p:spPr>
            <a:xfrm flipH="false" flipV="false" rot="0">
              <a:off x="0" y="0"/>
              <a:ext cx="4423918" cy="5246370"/>
            </a:xfrm>
            <a:custGeom>
              <a:avLst/>
              <a:gdLst/>
              <a:ahLst/>
              <a:cxnLst/>
              <a:rect r="r" b="b" t="t" l="l"/>
              <a:pathLst>
                <a:path h="5246370" w="4423918">
                  <a:moveTo>
                    <a:pt x="0" y="0"/>
                  </a:moveTo>
                  <a:lnTo>
                    <a:pt x="4423918" y="0"/>
                  </a:lnTo>
                  <a:lnTo>
                    <a:pt x="4423918" y="5246370"/>
                  </a:lnTo>
                  <a:lnTo>
                    <a:pt x="0" y="5246370"/>
                  </a:lnTo>
                  <a:lnTo>
                    <a:pt x="0" y="0"/>
                  </a:lnTo>
                  <a:close/>
                </a:path>
              </a:pathLst>
            </a:custGeom>
            <a:blipFill>
              <a:blip r:embed="rId3"/>
              <a:stretch>
                <a:fillRect l="0" t="-13242" r="0" b="-13242"/>
              </a:stretch>
            </a:blipFill>
          </p:spPr>
        </p:sp>
      </p:grpSp>
      <p:grpSp>
        <p:nvGrpSpPr>
          <p:cNvPr name="Group 13" id="13"/>
          <p:cNvGrpSpPr/>
          <p:nvPr/>
        </p:nvGrpSpPr>
        <p:grpSpPr>
          <a:xfrm rot="0">
            <a:off x="0" y="9559957"/>
            <a:ext cx="3771900" cy="735425"/>
            <a:chOff x="0" y="0"/>
            <a:chExt cx="5029200" cy="980567"/>
          </a:xfrm>
        </p:grpSpPr>
        <p:sp>
          <p:nvSpPr>
            <p:cNvPr name="Freeform 14" id="14" descr="A picture containing photo, table, person, monitor  Description automatically generated"/>
            <p:cNvSpPr/>
            <p:nvPr/>
          </p:nvSpPr>
          <p:spPr>
            <a:xfrm flipH="false" flipV="false" rot="0">
              <a:off x="0" y="0"/>
              <a:ext cx="5029200" cy="980567"/>
            </a:xfrm>
            <a:custGeom>
              <a:avLst/>
              <a:gdLst/>
              <a:ahLst/>
              <a:cxnLst/>
              <a:rect r="r" b="b" t="t" l="l"/>
              <a:pathLst>
                <a:path h="980567" w="5029200">
                  <a:moveTo>
                    <a:pt x="0" y="0"/>
                  </a:moveTo>
                  <a:lnTo>
                    <a:pt x="5029200" y="0"/>
                  </a:lnTo>
                  <a:lnTo>
                    <a:pt x="5029200" y="980567"/>
                  </a:lnTo>
                  <a:lnTo>
                    <a:pt x="0" y="980567"/>
                  </a:lnTo>
                  <a:lnTo>
                    <a:pt x="0" y="0"/>
                  </a:lnTo>
                  <a:close/>
                </a:path>
              </a:pathLst>
            </a:custGeom>
            <a:blipFill>
              <a:blip r:embed="rId4"/>
              <a:stretch>
                <a:fillRect l="0" t="-94156" r="0" b="-94157"/>
              </a:stretch>
            </a:blipFill>
          </p:spPr>
        </p:sp>
      </p:grpSp>
      <p:sp>
        <p:nvSpPr>
          <p:cNvPr name="TextBox 15" id="15"/>
          <p:cNvSpPr txBox="true"/>
          <p:nvPr/>
        </p:nvSpPr>
        <p:spPr>
          <a:xfrm rot="0">
            <a:off x="15521940" y="9822551"/>
            <a:ext cx="1314252" cy="276225"/>
          </a:xfrm>
          <a:prstGeom prst="rect">
            <a:avLst/>
          </a:prstGeom>
        </p:spPr>
        <p:txBody>
          <a:bodyPr anchor="t" rtlCol="false" tIns="0" lIns="0" bIns="0" rIns="0">
            <a:spAutoFit/>
          </a:bodyPr>
          <a:lstStyle/>
          <a:p>
            <a:pPr algn="l">
              <a:lnSpc>
                <a:spcPts val="2160"/>
              </a:lnSpc>
            </a:pPr>
            <a:r>
              <a:rPr lang="en-US" sz="1800" b="true">
                <a:solidFill>
                  <a:srgbClr val="000000"/>
                </a:solidFill>
                <a:latin typeface="Cambria Bold"/>
                <a:ea typeface="Cambria Bold"/>
                <a:cs typeface="Cambria Bold"/>
                <a:sym typeface="Cambria Bold"/>
              </a:rPr>
              <a:t>2026/10/19</a:t>
            </a:r>
          </a:p>
        </p:txBody>
      </p:sp>
      <p:grpSp>
        <p:nvGrpSpPr>
          <p:cNvPr name="Group 16" id="16"/>
          <p:cNvGrpSpPr/>
          <p:nvPr/>
        </p:nvGrpSpPr>
        <p:grpSpPr>
          <a:xfrm rot="0">
            <a:off x="4781845" y="8768305"/>
            <a:ext cx="10224516" cy="1980248"/>
            <a:chOff x="0" y="0"/>
            <a:chExt cx="13632688" cy="2640330"/>
          </a:xfrm>
        </p:grpSpPr>
        <p:sp>
          <p:nvSpPr>
            <p:cNvPr name="Freeform 17" id="17"/>
            <p:cNvSpPr/>
            <p:nvPr/>
          </p:nvSpPr>
          <p:spPr>
            <a:xfrm flipH="false" flipV="false" rot="0">
              <a:off x="0" y="0"/>
              <a:ext cx="13632687" cy="2640330"/>
            </a:xfrm>
            <a:custGeom>
              <a:avLst/>
              <a:gdLst/>
              <a:ahLst/>
              <a:cxnLst/>
              <a:rect r="r" b="b" t="t" l="l"/>
              <a:pathLst>
                <a:path h="2640330" w="13632687">
                  <a:moveTo>
                    <a:pt x="0" y="0"/>
                  </a:moveTo>
                  <a:lnTo>
                    <a:pt x="13632687" y="0"/>
                  </a:lnTo>
                  <a:lnTo>
                    <a:pt x="13632687" y="2640330"/>
                  </a:lnTo>
                  <a:lnTo>
                    <a:pt x="0" y="2640330"/>
                  </a:lnTo>
                  <a:close/>
                </a:path>
              </a:pathLst>
            </a:custGeom>
            <a:blipFill>
              <a:blip r:embed="rId5">
                <a:alphaModFix amt="0"/>
              </a:blip>
              <a:stretch>
                <a:fillRect l="0" t="-50474" r="0" b="-50473"/>
              </a:stretch>
            </a:blipFill>
          </p:spPr>
        </p:sp>
      </p:grpSp>
      <p:grpSp>
        <p:nvGrpSpPr>
          <p:cNvPr name="Group 18" id="18"/>
          <p:cNvGrpSpPr/>
          <p:nvPr/>
        </p:nvGrpSpPr>
        <p:grpSpPr>
          <a:xfrm rot="0">
            <a:off x="4781845" y="8754018"/>
            <a:ext cx="10224545" cy="1994535"/>
            <a:chOff x="0" y="0"/>
            <a:chExt cx="13632726" cy="2659380"/>
          </a:xfrm>
        </p:grpSpPr>
        <p:sp>
          <p:nvSpPr>
            <p:cNvPr name="Freeform 19" id="19"/>
            <p:cNvSpPr/>
            <p:nvPr/>
          </p:nvSpPr>
          <p:spPr>
            <a:xfrm flipH="false" flipV="false" rot="0">
              <a:off x="0" y="0"/>
              <a:ext cx="13632687" cy="2659380"/>
            </a:xfrm>
            <a:custGeom>
              <a:avLst/>
              <a:gdLst/>
              <a:ahLst/>
              <a:cxnLst/>
              <a:rect r="r" b="b" t="t" l="l"/>
              <a:pathLst>
                <a:path h="2659380" w="13632687">
                  <a:moveTo>
                    <a:pt x="0" y="0"/>
                  </a:moveTo>
                  <a:lnTo>
                    <a:pt x="13632687" y="0"/>
                  </a:lnTo>
                  <a:lnTo>
                    <a:pt x="13632687" y="2659380"/>
                  </a:lnTo>
                  <a:lnTo>
                    <a:pt x="0" y="2659380"/>
                  </a:lnTo>
                  <a:close/>
                </a:path>
              </a:pathLst>
            </a:custGeom>
            <a:blipFill>
              <a:blip r:embed="rId6">
                <a:alphaModFix amt="0"/>
              </a:blip>
              <a:stretch>
                <a:fillRect l="0" t="-49816" r="0" b="-49816"/>
              </a:stretch>
            </a:blipFill>
          </p:spPr>
        </p:sp>
      </p:grpSp>
      <p:grpSp>
        <p:nvGrpSpPr>
          <p:cNvPr name="Group 20" id="20"/>
          <p:cNvGrpSpPr/>
          <p:nvPr/>
        </p:nvGrpSpPr>
        <p:grpSpPr>
          <a:xfrm rot="0">
            <a:off x="4781845" y="8739730"/>
            <a:ext cx="10224545" cy="2008823"/>
            <a:chOff x="0" y="0"/>
            <a:chExt cx="13632726" cy="2678430"/>
          </a:xfrm>
        </p:grpSpPr>
        <p:sp>
          <p:nvSpPr>
            <p:cNvPr name="Freeform 21" id="21"/>
            <p:cNvSpPr/>
            <p:nvPr/>
          </p:nvSpPr>
          <p:spPr>
            <a:xfrm flipH="false" flipV="false" rot="0">
              <a:off x="0" y="0"/>
              <a:ext cx="13632726" cy="2678430"/>
            </a:xfrm>
            <a:custGeom>
              <a:avLst/>
              <a:gdLst/>
              <a:ahLst/>
              <a:cxnLst/>
              <a:rect r="r" b="b" t="t" l="l"/>
              <a:pathLst>
                <a:path h="2678430" w="13632726">
                  <a:moveTo>
                    <a:pt x="0" y="0"/>
                  </a:moveTo>
                  <a:lnTo>
                    <a:pt x="13632726" y="0"/>
                  </a:lnTo>
                  <a:lnTo>
                    <a:pt x="13632726" y="2678430"/>
                  </a:lnTo>
                  <a:lnTo>
                    <a:pt x="0" y="2678430"/>
                  </a:lnTo>
                  <a:close/>
                </a:path>
              </a:pathLst>
            </a:custGeom>
            <a:blipFill>
              <a:blip r:embed="rId7">
                <a:alphaModFix amt="0"/>
              </a:blip>
              <a:stretch>
                <a:fillRect l="0" t="-49175" r="0" b="-49175"/>
              </a:stretch>
            </a:blipFill>
          </p:spPr>
        </p:sp>
        <p:sp>
          <p:nvSpPr>
            <p:cNvPr name="TextBox 22" id="22"/>
            <p:cNvSpPr txBox="true"/>
            <p:nvPr/>
          </p:nvSpPr>
          <p:spPr>
            <a:xfrm>
              <a:off x="0" y="-19050"/>
              <a:ext cx="13632726" cy="2697480"/>
            </a:xfrm>
            <a:prstGeom prst="rect">
              <a:avLst/>
            </a:prstGeom>
          </p:spPr>
          <p:txBody>
            <a:bodyPr anchor="ctr" rtlCol="false" tIns="0" lIns="0" bIns="0" rIns="0"/>
            <a:lstStyle/>
            <a:p>
              <a:pPr algn="l">
                <a:lnSpc>
                  <a:spcPts val="3240"/>
                </a:lnSpc>
              </a:pPr>
              <a:r>
                <a:rPr lang="en-US" sz="2700" b="true">
                  <a:solidFill>
                    <a:srgbClr val="000000"/>
                  </a:solidFill>
                  <a:latin typeface="Cambria Bold"/>
                  <a:ea typeface="Cambria Bold"/>
                  <a:cs typeface="Cambria Bold"/>
                  <a:sym typeface="Cambria Bold"/>
                </a:rPr>
                <a:t>IT22193940</a:t>
              </a:r>
              <a:r>
                <a:rPr lang="en-US" sz="2700">
                  <a:solidFill>
                    <a:srgbClr val="000000"/>
                  </a:solidFill>
                  <a:latin typeface="Cambria"/>
                  <a:ea typeface="Cambria"/>
                  <a:cs typeface="Cambria"/>
                  <a:sym typeface="Cambria"/>
                </a:rPr>
                <a:t>   |   R.M.N.A. RATHNAYAKE</a:t>
              </a:r>
              <a:r>
                <a:rPr lang="en-US" sz="2700" b="true">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   R26-IT-005</a:t>
              </a:r>
            </a:p>
          </p:txBody>
        </p:sp>
      </p:grpSp>
      <p:sp>
        <p:nvSpPr>
          <p:cNvPr name="TextBox 23" id="23"/>
          <p:cNvSpPr txBox="true"/>
          <p:nvPr/>
        </p:nvSpPr>
        <p:spPr>
          <a:xfrm rot="0">
            <a:off x="2419417" y="3168463"/>
            <a:ext cx="12550616" cy="1227483"/>
          </a:xfrm>
          <a:prstGeom prst="rect">
            <a:avLst/>
          </a:prstGeom>
        </p:spPr>
        <p:txBody>
          <a:bodyPr anchor="t" rtlCol="false" tIns="0" lIns="0" bIns="0" rIns="0">
            <a:spAutoFit/>
          </a:bodyPr>
          <a:lstStyle/>
          <a:p>
            <a:pPr algn="ctr">
              <a:lnSpc>
                <a:spcPts val="4839"/>
              </a:lnSpc>
            </a:pPr>
            <a:r>
              <a:rPr lang="en-US" sz="4400" b="true">
                <a:solidFill>
                  <a:srgbClr val="06728A"/>
                </a:solidFill>
                <a:latin typeface="Garet Bold"/>
                <a:ea typeface="Garet Bold"/>
                <a:cs typeface="Garet Bold"/>
                <a:sym typeface="Garet Bold"/>
              </a:rPr>
              <a:t>Water Safety Report and Purification Advisor using GenAI and RAG</a:t>
            </a:r>
          </a:p>
        </p:txBody>
      </p:sp>
      <p:grpSp>
        <p:nvGrpSpPr>
          <p:cNvPr name="Group 24" id="24"/>
          <p:cNvGrpSpPr/>
          <p:nvPr/>
        </p:nvGrpSpPr>
        <p:grpSpPr>
          <a:xfrm rot="0">
            <a:off x="0" y="9551575"/>
            <a:ext cx="3771900" cy="735425"/>
            <a:chOff x="0" y="0"/>
            <a:chExt cx="5029200" cy="980567"/>
          </a:xfrm>
        </p:grpSpPr>
        <p:sp>
          <p:nvSpPr>
            <p:cNvPr name="Freeform 25" id="25"/>
            <p:cNvSpPr/>
            <p:nvPr/>
          </p:nvSpPr>
          <p:spPr>
            <a:xfrm flipH="false" flipV="false" rot="0">
              <a:off x="0" y="0"/>
              <a:ext cx="5029200" cy="980567"/>
            </a:xfrm>
            <a:custGeom>
              <a:avLst/>
              <a:gdLst/>
              <a:ahLst/>
              <a:cxnLst/>
              <a:rect r="r" b="b" t="t" l="l"/>
              <a:pathLst>
                <a:path h="980567" w="5029200">
                  <a:moveTo>
                    <a:pt x="0" y="0"/>
                  </a:moveTo>
                  <a:lnTo>
                    <a:pt x="5029200" y="0"/>
                  </a:lnTo>
                  <a:lnTo>
                    <a:pt x="5029200" y="980567"/>
                  </a:lnTo>
                  <a:lnTo>
                    <a:pt x="0" y="980567"/>
                  </a:lnTo>
                  <a:lnTo>
                    <a:pt x="0" y="0"/>
                  </a:lnTo>
                  <a:close/>
                </a:path>
              </a:pathLst>
            </a:custGeom>
            <a:blipFill>
              <a:blip r:embed="rId8"/>
              <a:stretch>
                <a:fillRect l="0" t="-151" r="0" b="-151"/>
              </a:stretch>
            </a:blipFill>
          </p:spPr>
        </p:sp>
      </p:grpSp>
      <p:sp>
        <p:nvSpPr>
          <p:cNvPr name="TextBox 26" id="26"/>
          <p:cNvSpPr txBox="true"/>
          <p:nvPr/>
        </p:nvSpPr>
        <p:spPr>
          <a:xfrm rot="0">
            <a:off x="2003483" y="5910421"/>
            <a:ext cx="14694662" cy="2153920"/>
          </a:xfrm>
          <a:prstGeom prst="rect">
            <a:avLst/>
          </a:prstGeom>
        </p:spPr>
        <p:txBody>
          <a:bodyPr anchor="t" rtlCol="false" tIns="0" lIns="0" bIns="0" rIns="0">
            <a:spAutoFit/>
          </a:bodyPr>
          <a:lstStyle/>
          <a:p>
            <a:pPr algn="ctr">
              <a:lnSpc>
                <a:spcPts val="3409"/>
              </a:lnSpc>
            </a:pPr>
            <a:r>
              <a:rPr lang="en-US" sz="3099" b="true">
                <a:solidFill>
                  <a:srgbClr val="06728A"/>
                </a:solidFill>
                <a:latin typeface="Garet Bold"/>
                <a:ea typeface="Garet Bold"/>
                <a:cs typeface="Garet Bold"/>
                <a:sym typeface="Garet Bold"/>
              </a:rPr>
              <a:t>Combines outputs from the other three components into an understandable report. GenAI with RAG retrieves reference information to explain findings and support purification guidance, while validation rules and deterministic calculations address missing evidence, conflicting results and recommendation suitability.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8785" r="0" b="-8785"/>
              </a:stretch>
            </a:blipFill>
          </p:spPr>
        </p:sp>
      </p:grpSp>
      <p:grpSp>
        <p:nvGrpSpPr>
          <p:cNvPr name="Group 4" id="4"/>
          <p:cNvGrpSpPr/>
          <p:nvPr/>
        </p:nvGrpSpPr>
        <p:grpSpPr>
          <a:xfrm rot="9551400">
            <a:off x="15235485" y="1087698"/>
            <a:ext cx="3982784" cy="5390293"/>
            <a:chOff x="0" y="0"/>
            <a:chExt cx="5310378" cy="7187057"/>
          </a:xfrm>
        </p:grpSpPr>
        <p:sp>
          <p:nvSpPr>
            <p:cNvPr name="Freeform 5" id="5"/>
            <p:cNvSpPr/>
            <p:nvPr/>
          </p:nvSpPr>
          <p:spPr>
            <a:xfrm flipH="true" flipV="false" rot="0">
              <a:off x="0" y="0"/>
              <a:ext cx="5310378" cy="7187057"/>
            </a:xfrm>
            <a:custGeom>
              <a:avLst/>
              <a:gdLst/>
              <a:ahLst/>
              <a:cxnLst/>
              <a:rect r="r" b="b" t="t" l="l"/>
              <a:pathLst>
                <a:path h="7187057" w="5310378">
                  <a:moveTo>
                    <a:pt x="5310378" y="0"/>
                  </a:moveTo>
                  <a:lnTo>
                    <a:pt x="0" y="0"/>
                  </a:lnTo>
                  <a:lnTo>
                    <a:pt x="0" y="7187057"/>
                  </a:lnTo>
                  <a:lnTo>
                    <a:pt x="5310378" y="7187057"/>
                  </a:lnTo>
                  <a:lnTo>
                    <a:pt x="5310378" y="0"/>
                  </a:lnTo>
                  <a:close/>
                </a:path>
              </a:pathLst>
            </a:custGeom>
            <a:blipFill>
              <a:blip r:embed="rId3"/>
              <a:stretch>
                <a:fillRect l="0" t="-914" r="0" b="-914"/>
              </a:stretch>
            </a:blipFill>
          </p:spPr>
        </p:sp>
      </p:grpSp>
      <p:grpSp>
        <p:nvGrpSpPr>
          <p:cNvPr name="Group 6" id="6"/>
          <p:cNvGrpSpPr/>
          <p:nvPr/>
        </p:nvGrpSpPr>
        <p:grpSpPr>
          <a:xfrm rot="0">
            <a:off x="0" y="9559957"/>
            <a:ext cx="3771900" cy="735425"/>
            <a:chOff x="0" y="0"/>
            <a:chExt cx="5029200" cy="980567"/>
          </a:xfrm>
        </p:grpSpPr>
        <p:sp>
          <p:nvSpPr>
            <p:cNvPr name="Freeform 7" id="7" descr="A picture containing photo, table, person, monitor  Description automatically generated"/>
            <p:cNvSpPr/>
            <p:nvPr/>
          </p:nvSpPr>
          <p:spPr>
            <a:xfrm flipH="false" flipV="false" rot="0">
              <a:off x="0" y="0"/>
              <a:ext cx="5029200" cy="980567"/>
            </a:xfrm>
            <a:custGeom>
              <a:avLst/>
              <a:gdLst/>
              <a:ahLst/>
              <a:cxnLst/>
              <a:rect r="r" b="b" t="t" l="l"/>
              <a:pathLst>
                <a:path h="980567" w="5029200">
                  <a:moveTo>
                    <a:pt x="0" y="0"/>
                  </a:moveTo>
                  <a:lnTo>
                    <a:pt x="5029200" y="0"/>
                  </a:lnTo>
                  <a:lnTo>
                    <a:pt x="5029200" y="980567"/>
                  </a:lnTo>
                  <a:lnTo>
                    <a:pt x="0" y="980567"/>
                  </a:lnTo>
                  <a:lnTo>
                    <a:pt x="0" y="0"/>
                  </a:lnTo>
                  <a:close/>
                </a:path>
              </a:pathLst>
            </a:custGeom>
            <a:blipFill>
              <a:blip r:embed="rId4"/>
              <a:stretch>
                <a:fillRect l="0" t="-94156" r="0" b="-94157"/>
              </a:stretch>
            </a:blipFill>
          </p:spPr>
        </p:sp>
      </p:grpSp>
      <p:grpSp>
        <p:nvGrpSpPr>
          <p:cNvPr name="Group 8" id="8"/>
          <p:cNvGrpSpPr/>
          <p:nvPr/>
        </p:nvGrpSpPr>
        <p:grpSpPr>
          <a:xfrm rot="0">
            <a:off x="3948655" y="9739312"/>
            <a:ext cx="10224516" cy="547688"/>
            <a:chOff x="0" y="0"/>
            <a:chExt cx="13632688" cy="730250"/>
          </a:xfrm>
        </p:grpSpPr>
        <p:sp>
          <p:nvSpPr>
            <p:cNvPr name="Freeform 9" id="9"/>
            <p:cNvSpPr/>
            <p:nvPr/>
          </p:nvSpPr>
          <p:spPr>
            <a:xfrm flipH="false" flipV="false" rot="0">
              <a:off x="0" y="0"/>
              <a:ext cx="13632687" cy="730250"/>
            </a:xfrm>
            <a:custGeom>
              <a:avLst/>
              <a:gdLst/>
              <a:ahLst/>
              <a:cxnLst/>
              <a:rect r="r" b="b" t="t" l="l"/>
              <a:pathLst>
                <a:path h="730250" w="13632687">
                  <a:moveTo>
                    <a:pt x="0" y="0"/>
                  </a:moveTo>
                  <a:lnTo>
                    <a:pt x="13632687" y="0"/>
                  </a:lnTo>
                  <a:lnTo>
                    <a:pt x="13632687" y="730250"/>
                  </a:lnTo>
                  <a:lnTo>
                    <a:pt x="0" y="730250"/>
                  </a:lnTo>
                  <a:close/>
                </a:path>
              </a:pathLst>
            </a:custGeom>
            <a:blipFill>
              <a:blip r:embed="rId5">
                <a:alphaModFix amt="0"/>
              </a:blip>
              <a:stretch>
                <a:fillRect l="0" t="-313280" r="0" b="-313278"/>
              </a:stretch>
            </a:blipFill>
          </p:spPr>
        </p:sp>
      </p:grpSp>
      <p:grpSp>
        <p:nvGrpSpPr>
          <p:cNvPr name="Group 10" id="10"/>
          <p:cNvGrpSpPr/>
          <p:nvPr/>
        </p:nvGrpSpPr>
        <p:grpSpPr>
          <a:xfrm rot="0">
            <a:off x="3948655" y="9725025"/>
            <a:ext cx="10224545" cy="561975"/>
            <a:chOff x="0" y="0"/>
            <a:chExt cx="13632726" cy="749300"/>
          </a:xfrm>
        </p:grpSpPr>
        <p:sp>
          <p:nvSpPr>
            <p:cNvPr name="Freeform 11" id="11"/>
            <p:cNvSpPr/>
            <p:nvPr/>
          </p:nvSpPr>
          <p:spPr>
            <a:xfrm flipH="false" flipV="false" rot="0">
              <a:off x="0" y="0"/>
              <a:ext cx="13632687" cy="749300"/>
            </a:xfrm>
            <a:custGeom>
              <a:avLst/>
              <a:gdLst/>
              <a:ahLst/>
              <a:cxnLst/>
              <a:rect r="r" b="b" t="t" l="l"/>
              <a:pathLst>
                <a:path h="749300" w="13632687">
                  <a:moveTo>
                    <a:pt x="0" y="0"/>
                  </a:moveTo>
                  <a:lnTo>
                    <a:pt x="13632687" y="0"/>
                  </a:lnTo>
                  <a:lnTo>
                    <a:pt x="13632687" y="749300"/>
                  </a:lnTo>
                  <a:lnTo>
                    <a:pt x="0" y="749300"/>
                  </a:lnTo>
                  <a:close/>
                </a:path>
              </a:pathLst>
            </a:custGeom>
            <a:blipFill>
              <a:blip r:embed="rId6">
                <a:alphaModFix amt="0"/>
              </a:blip>
              <a:stretch>
                <a:fillRect l="0" t="-304262" r="0" b="-304264"/>
              </a:stretch>
            </a:blipFill>
          </p:spPr>
        </p:sp>
      </p:grpSp>
      <p:grpSp>
        <p:nvGrpSpPr>
          <p:cNvPr name="Group 12" id="12"/>
          <p:cNvGrpSpPr/>
          <p:nvPr/>
        </p:nvGrpSpPr>
        <p:grpSpPr>
          <a:xfrm rot="0">
            <a:off x="3948655" y="9710738"/>
            <a:ext cx="10224545" cy="576262"/>
            <a:chOff x="0" y="0"/>
            <a:chExt cx="13632726" cy="768350"/>
          </a:xfrm>
        </p:grpSpPr>
        <p:sp>
          <p:nvSpPr>
            <p:cNvPr name="Freeform 13" id="13"/>
            <p:cNvSpPr/>
            <p:nvPr/>
          </p:nvSpPr>
          <p:spPr>
            <a:xfrm flipH="false" flipV="false" rot="0">
              <a:off x="0" y="0"/>
              <a:ext cx="13632726" cy="768350"/>
            </a:xfrm>
            <a:custGeom>
              <a:avLst/>
              <a:gdLst/>
              <a:ahLst/>
              <a:cxnLst/>
              <a:rect r="r" b="b" t="t" l="l"/>
              <a:pathLst>
                <a:path h="768350" w="13632726">
                  <a:moveTo>
                    <a:pt x="0" y="0"/>
                  </a:moveTo>
                  <a:lnTo>
                    <a:pt x="13632726" y="0"/>
                  </a:lnTo>
                  <a:lnTo>
                    <a:pt x="13632726" y="768350"/>
                  </a:lnTo>
                  <a:lnTo>
                    <a:pt x="0" y="768350"/>
                  </a:lnTo>
                  <a:close/>
                </a:path>
              </a:pathLst>
            </a:custGeom>
            <a:blipFill>
              <a:blip r:embed="rId7">
                <a:alphaModFix amt="0"/>
              </a:blip>
              <a:stretch>
                <a:fillRect l="0" t="-295720" r="0" b="-295720"/>
              </a:stretch>
            </a:blipFill>
          </p:spPr>
        </p:sp>
        <p:sp>
          <p:nvSpPr>
            <p:cNvPr name="TextBox 14" id="14"/>
            <p:cNvSpPr txBox="true"/>
            <p:nvPr/>
          </p:nvSpPr>
          <p:spPr>
            <a:xfrm>
              <a:off x="0" y="-19050"/>
              <a:ext cx="13632726" cy="787400"/>
            </a:xfrm>
            <a:prstGeom prst="rect">
              <a:avLst/>
            </a:prstGeom>
          </p:spPr>
          <p:txBody>
            <a:bodyPr anchor="ctr" rtlCol="false" tIns="0" lIns="0" bIns="0" rIns="0"/>
            <a:lstStyle/>
            <a:p>
              <a:pPr algn="ctr">
                <a:lnSpc>
                  <a:spcPts val="3240"/>
                </a:lnSpc>
              </a:pPr>
              <a:r>
                <a:rPr lang="en-US" sz="2700">
                  <a:solidFill>
                    <a:srgbClr val="000000"/>
                  </a:solidFill>
                  <a:latin typeface="Cambria"/>
                  <a:ea typeface="Cambria"/>
                  <a:cs typeface="Cambria"/>
                  <a:sym typeface="Cambria"/>
                </a:rPr>
                <a:t>R26-IT-005</a:t>
              </a:r>
            </a:p>
          </p:txBody>
        </p:sp>
      </p:grpSp>
      <p:sp>
        <p:nvSpPr>
          <p:cNvPr name="TextBox 15" id="15"/>
          <p:cNvSpPr txBox="true"/>
          <p:nvPr/>
        </p:nvSpPr>
        <p:spPr>
          <a:xfrm rot="0">
            <a:off x="15521940" y="9822551"/>
            <a:ext cx="1314252" cy="276225"/>
          </a:xfrm>
          <a:prstGeom prst="rect">
            <a:avLst/>
          </a:prstGeom>
        </p:spPr>
        <p:txBody>
          <a:bodyPr anchor="t" rtlCol="false" tIns="0" lIns="0" bIns="0" rIns="0">
            <a:spAutoFit/>
          </a:bodyPr>
          <a:lstStyle/>
          <a:p>
            <a:pPr algn="l">
              <a:lnSpc>
                <a:spcPts val="2160"/>
              </a:lnSpc>
            </a:pPr>
            <a:r>
              <a:rPr lang="en-US" sz="1800" b="true">
                <a:solidFill>
                  <a:srgbClr val="000000"/>
                </a:solidFill>
                <a:latin typeface="Cambria Bold"/>
                <a:ea typeface="Cambria Bold"/>
                <a:cs typeface="Cambria Bold"/>
                <a:sym typeface="Cambria Bold"/>
              </a:rPr>
              <a:t>2026/10/19</a:t>
            </a:r>
          </a:p>
        </p:txBody>
      </p:sp>
      <p:sp>
        <p:nvSpPr>
          <p:cNvPr name="TextBox 16" id="16"/>
          <p:cNvSpPr txBox="true"/>
          <p:nvPr/>
        </p:nvSpPr>
        <p:spPr>
          <a:xfrm rot="0">
            <a:off x="14654212" y="600046"/>
            <a:ext cx="3195447" cy="250441"/>
          </a:xfrm>
          <a:prstGeom prst="rect">
            <a:avLst/>
          </a:prstGeom>
        </p:spPr>
        <p:txBody>
          <a:bodyPr anchor="t" rtlCol="false" tIns="0" lIns="0" bIns="0" rIns="0">
            <a:spAutoFit/>
          </a:bodyPr>
          <a:lstStyle/>
          <a:p>
            <a:pPr algn="ctr">
              <a:lnSpc>
                <a:spcPts val="2200"/>
              </a:lnSpc>
            </a:pPr>
            <a:r>
              <a:rPr lang="en-US" sz="2000" b="true">
                <a:solidFill>
                  <a:srgbClr val="06728A"/>
                </a:solidFill>
                <a:latin typeface="Garet Bold"/>
                <a:ea typeface="Garet Bold"/>
                <a:cs typeface="Garet Bold"/>
                <a:sym typeface="Garet Bold"/>
              </a:rPr>
              <a:t>WATER PURIFICATION </a:t>
            </a:r>
          </a:p>
        </p:txBody>
      </p:sp>
      <p:grpSp>
        <p:nvGrpSpPr>
          <p:cNvPr name="Group 17" id="17"/>
          <p:cNvGrpSpPr/>
          <p:nvPr/>
        </p:nvGrpSpPr>
        <p:grpSpPr>
          <a:xfrm rot="0">
            <a:off x="0" y="9551575"/>
            <a:ext cx="3771900" cy="735425"/>
            <a:chOff x="0" y="0"/>
            <a:chExt cx="5029200" cy="980567"/>
          </a:xfrm>
        </p:grpSpPr>
        <p:sp>
          <p:nvSpPr>
            <p:cNvPr name="Freeform 18" id="18"/>
            <p:cNvSpPr/>
            <p:nvPr/>
          </p:nvSpPr>
          <p:spPr>
            <a:xfrm flipH="false" flipV="false" rot="0">
              <a:off x="0" y="0"/>
              <a:ext cx="5029200" cy="980567"/>
            </a:xfrm>
            <a:custGeom>
              <a:avLst/>
              <a:gdLst/>
              <a:ahLst/>
              <a:cxnLst/>
              <a:rect r="r" b="b" t="t" l="l"/>
              <a:pathLst>
                <a:path h="980567" w="5029200">
                  <a:moveTo>
                    <a:pt x="0" y="0"/>
                  </a:moveTo>
                  <a:lnTo>
                    <a:pt x="5029200" y="0"/>
                  </a:lnTo>
                  <a:lnTo>
                    <a:pt x="5029200" y="980567"/>
                  </a:lnTo>
                  <a:lnTo>
                    <a:pt x="0" y="980567"/>
                  </a:lnTo>
                  <a:lnTo>
                    <a:pt x="0" y="0"/>
                  </a:lnTo>
                  <a:close/>
                </a:path>
              </a:pathLst>
            </a:custGeom>
            <a:blipFill>
              <a:blip r:embed="rId8"/>
              <a:stretch>
                <a:fillRect l="0" t="-151" r="0" b="-151"/>
              </a:stretch>
            </a:blipFill>
          </p:spPr>
        </p:sp>
      </p:grpSp>
      <p:sp>
        <p:nvSpPr>
          <p:cNvPr name="TextBox 19" id="19"/>
          <p:cNvSpPr txBox="true"/>
          <p:nvPr/>
        </p:nvSpPr>
        <p:spPr>
          <a:xfrm rot="0">
            <a:off x="1370876" y="1285294"/>
            <a:ext cx="1774428" cy="512445"/>
          </a:xfrm>
          <a:prstGeom prst="rect">
            <a:avLst/>
          </a:prstGeom>
        </p:spPr>
        <p:txBody>
          <a:bodyPr anchor="t" rtlCol="false" tIns="0" lIns="0" bIns="0" rIns="0">
            <a:spAutoFit/>
          </a:bodyPr>
          <a:lstStyle/>
          <a:p>
            <a:pPr algn="l">
              <a:lnSpc>
                <a:spcPts val="3960"/>
              </a:lnSpc>
            </a:pPr>
            <a:r>
              <a:rPr lang="en-US" sz="3600" b="true">
                <a:solidFill>
                  <a:srgbClr val="06728A"/>
                </a:solidFill>
                <a:latin typeface="Garet Bold"/>
                <a:ea typeface="Garet Bold"/>
                <a:cs typeface="Garet Bold"/>
                <a:sym typeface="Garet Bold"/>
              </a:rPr>
              <a:t>Results</a:t>
            </a:r>
          </a:p>
        </p:txBody>
      </p:sp>
      <p:sp>
        <p:nvSpPr>
          <p:cNvPr name="TextBox 20" id="20"/>
          <p:cNvSpPr txBox="true"/>
          <p:nvPr/>
        </p:nvSpPr>
        <p:spPr>
          <a:xfrm rot="0">
            <a:off x="1370876" y="2016062"/>
            <a:ext cx="13536517" cy="1710042"/>
          </a:xfrm>
          <a:prstGeom prst="rect">
            <a:avLst/>
          </a:prstGeom>
        </p:spPr>
        <p:txBody>
          <a:bodyPr anchor="t" rtlCol="false" tIns="0" lIns="0" bIns="0" rIns="0">
            <a:spAutoFit/>
          </a:bodyPr>
          <a:lstStyle/>
          <a:p>
            <a:pPr algn="l" marL="528956" indent="-264478" lvl="1">
              <a:lnSpc>
                <a:spcPts val="3425"/>
              </a:lnSpc>
              <a:buFont typeface="Arial"/>
              <a:buChar char="•"/>
            </a:pPr>
            <a:r>
              <a:rPr lang="en-US" b="true" sz="2450">
                <a:solidFill>
                  <a:srgbClr val="1B3957"/>
                </a:solidFill>
                <a:latin typeface="Arimo Bold"/>
                <a:ea typeface="Arimo Bold"/>
                <a:cs typeface="Arimo Bold"/>
                <a:sym typeface="Arimo Bold"/>
              </a:rPr>
              <a:t>The proposed system combines three water-analysis components with automated reporting and purification guidance.</a:t>
            </a:r>
          </a:p>
          <a:p>
            <a:pPr algn="l" marL="528956" indent="-264478" lvl="1">
              <a:lnSpc>
                <a:spcPts val="3425"/>
              </a:lnSpc>
              <a:buFont typeface="Arial"/>
              <a:buChar char="•"/>
            </a:pPr>
            <a:r>
              <a:rPr lang="en-US" b="true" sz="2450">
                <a:solidFill>
                  <a:srgbClr val="1B3957"/>
                </a:solidFill>
                <a:latin typeface="Arimo Bold"/>
                <a:ea typeface="Arimo Bold"/>
                <a:cs typeface="Arimo Bold"/>
                <a:sym typeface="Arimo Bold"/>
              </a:rPr>
              <a:t>Detection accuracy, classification performance and report reliability require validation; no confirmed results have been provided.</a:t>
            </a:r>
          </a:p>
        </p:txBody>
      </p:sp>
      <p:sp>
        <p:nvSpPr>
          <p:cNvPr name="TextBox 21" id="21"/>
          <p:cNvSpPr txBox="true"/>
          <p:nvPr/>
        </p:nvSpPr>
        <p:spPr>
          <a:xfrm rot="0">
            <a:off x="1370876" y="4164330"/>
            <a:ext cx="4150023" cy="512445"/>
          </a:xfrm>
          <a:prstGeom prst="rect">
            <a:avLst/>
          </a:prstGeom>
        </p:spPr>
        <p:txBody>
          <a:bodyPr anchor="t" rtlCol="false" tIns="0" lIns="0" bIns="0" rIns="0">
            <a:spAutoFit/>
          </a:bodyPr>
          <a:lstStyle/>
          <a:p>
            <a:pPr algn="l">
              <a:lnSpc>
                <a:spcPts val="3960"/>
              </a:lnSpc>
            </a:pPr>
            <a:r>
              <a:rPr lang="en-US" sz="3600" b="true">
                <a:solidFill>
                  <a:srgbClr val="06728A"/>
                </a:solidFill>
                <a:latin typeface="Garet Bold"/>
                <a:ea typeface="Garet Bold"/>
                <a:cs typeface="Garet Bold"/>
                <a:sym typeface="Garet Bold"/>
              </a:rPr>
              <a:t>User Acceptance</a:t>
            </a:r>
          </a:p>
        </p:txBody>
      </p:sp>
      <p:sp>
        <p:nvSpPr>
          <p:cNvPr name="TextBox 22" id="22"/>
          <p:cNvSpPr txBox="true"/>
          <p:nvPr/>
        </p:nvSpPr>
        <p:spPr>
          <a:xfrm rot="0">
            <a:off x="1370876" y="4772025"/>
            <a:ext cx="13999026" cy="1281417"/>
          </a:xfrm>
          <a:prstGeom prst="rect">
            <a:avLst/>
          </a:prstGeom>
        </p:spPr>
        <p:txBody>
          <a:bodyPr anchor="t" rtlCol="false" tIns="0" lIns="0" bIns="0" rIns="0">
            <a:spAutoFit/>
          </a:bodyPr>
          <a:lstStyle/>
          <a:p>
            <a:pPr algn="l" marL="528956" indent="-264478" lvl="1">
              <a:lnSpc>
                <a:spcPts val="3425"/>
              </a:lnSpc>
              <a:buFont typeface="Arial"/>
              <a:buChar char="•"/>
            </a:pPr>
            <a:r>
              <a:rPr lang="en-US" b="true" sz="2450">
                <a:solidFill>
                  <a:srgbClr val="1B3957"/>
                </a:solidFill>
                <a:latin typeface="Arimo Bold"/>
                <a:ea typeface="Arimo Bold"/>
                <a:cs typeface="Arimo Bold"/>
                <a:sym typeface="Arimo Bold"/>
              </a:rPr>
              <a:t>Evaluate ease of use, report clarity, usefulness and trust through user feedback.</a:t>
            </a:r>
          </a:p>
          <a:p>
            <a:pPr algn="l" marL="528956" indent="-264478" lvl="1">
              <a:lnSpc>
                <a:spcPts val="3425"/>
              </a:lnSpc>
              <a:buFont typeface="Arial"/>
              <a:buChar char="•"/>
            </a:pPr>
            <a:r>
              <a:rPr lang="en-US" b="true" sz="2450">
                <a:solidFill>
                  <a:srgbClr val="1B3957"/>
                </a:solidFill>
                <a:latin typeface="Arimo Bold"/>
                <a:ea typeface="Arimo Bold"/>
                <a:cs typeface="Arimo Bold"/>
                <a:sym typeface="Arimo Bold"/>
              </a:rPr>
              <a:t>Obtain expert reviews of recommendation suitability. Acceptance findings are not yet available.</a:t>
            </a:r>
          </a:p>
        </p:txBody>
      </p:sp>
      <p:sp>
        <p:nvSpPr>
          <p:cNvPr name="TextBox 23" id="23"/>
          <p:cNvSpPr txBox="true"/>
          <p:nvPr/>
        </p:nvSpPr>
        <p:spPr>
          <a:xfrm rot="0">
            <a:off x="1370876" y="6491592"/>
            <a:ext cx="2720380" cy="512445"/>
          </a:xfrm>
          <a:prstGeom prst="rect">
            <a:avLst/>
          </a:prstGeom>
        </p:spPr>
        <p:txBody>
          <a:bodyPr anchor="t" rtlCol="false" tIns="0" lIns="0" bIns="0" rIns="0">
            <a:spAutoFit/>
          </a:bodyPr>
          <a:lstStyle/>
          <a:p>
            <a:pPr algn="l">
              <a:lnSpc>
                <a:spcPts val="3960"/>
              </a:lnSpc>
            </a:pPr>
            <a:r>
              <a:rPr lang="en-US" sz="3600" b="true">
                <a:solidFill>
                  <a:srgbClr val="06728A"/>
                </a:solidFill>
                <a:latin typeface="Garet Bold"/>
                <a:ea typeface="Garet Bold"/>
                <a:cs typeface="Garet Bold"/>
                <a:sym typeface="Garet Bold"/>
              </a:rPr>
              <a:t>Limitations</a:t>
            </a:r>
          </a:p>
        </p:txBody>
      </p:sp>
      <p:sp>
        <p:nvSpPr>
          <p:cNvPr name="TextBox 24" id="24"/>
          <p:cNvSpPr txBox="true"/>
          <p:nvPr/>
        </p:nvSpPr>
        <p:spPr>
          <a:xfrm rot="0">
            <a:off x="1370876" y="7228726"/>
            <a:ext cx="13999026" cy="1710042"/>
          </a:xfrm>
          <a:prstGeom prst="rect">
            <a:avLst/>
          </a:prstGeom>
        </p:spPr>
        <p:txBody>
          <a:bodyPr anchor="t" rtlCol="false" tIns="0" lIns="0" bIns="0" rIns="0">
            <a:spAutoFit/>
          </a:bodyPr>
          <a:lstStyle/>
          <a:p>
            <a:pPr algn="l" marL="528956" indent="-264478" lvl="1">
              <a:lnSpc>
                <a:spcPts val="3425"/>
              </a:lnSpc>
              <a:buFont typeface="Arial"/>
              <a:buChar char="•"/>
            </a:pPr>
            <a:r>
              <a:rPr lang="en-US" b="true" sz="2450">
                <a:solidFill>
                  <a:srgbClr val="1B3957"/>
                </a:solidFill>
                <a:latin typeface="Arimo Bold"/>
                <a:ea typeface="Arimo Bold"/>
                <a:cs typeface="Arimo Bold"/>
                <a:sym typeface="Arimo Bold"/>
              </a:rPr>
              <a:t>Performance depends on dataset quality, image clarity and measurement accuracy.</a:t>
            </a:r>
          </a:p>
          <a:p>
            <a:pPr algn="l" marL="528956" indent="-264478" lvl="1">
              <a:lnSpc>
                <a:spcPts val="3425"/>
              </a:lnSpc>
              <a:buFont typeface="Arial"/>
              <a:buChar char="•"/>
            </a:pPr>
            <a:r>
              <a:rPr lang="en-US" b="true" sz="2450">
                <a:solidFill>
                  <a:srgbClr val="1B3957"/>
                </a:solidFill>
                <a:latin typeface="Arimo Bold"/>
                <a:ea typeface="Arimo Bold"/>
                <a:cs typeface="Arimo Bold"/>
                <a:sym typeface="Arimo Bold"/>
              </a:rPr>
              <a:t>Visual and microscopy predictions cannot independently confirm drinking-water safety.</a:t>
            </a:r>
          </a:p>
          <a:p>
            <a:pPr algn="l" marL="528956" indent="-264478" lvl="1">
              <a:lnSpc>
                <a:spcPts val="3425"/>
              </a:lnSpc>
              <a:buFont typeface="Arial"/>
              <a:buChar char="•"/>
            </a:pPr>
            <a:r>
              <a:rPr lang="en-US" b="true" sz="2450">
                <a:solidFill>
                  <a:srgbClr val="1B3957"/>
                </a:solidFill>
                <a:latin typeface="Arimo Bold"/>
                <a:ea typeface="Arimo Bold"/>
                <a:cs typeface="Arimo Bold"/>
                <a:sym typeface="Arimo Bold"/>
              </a:rPr>
              <a:t>RAG guidance depends on reference quality and sufficient sample evidence.</a:t>
            </a:r>
          </a:p>
          <a:p>
            <a:pPr algn="l" marL="528956" indent="-264478" lvl="1">
              <a:lnSpc>
                <a:spcPts val="3425"/>
              </a:lnSpc>
              <a:buFont typeface="Arial"/>
              <a:buChar char="•"/>
            </a:pPr>
            <a:r>
              <a:rPr lang="en-US" b="true" sz="2450">
                <a:solidFill>
                  <a:srgbClr val="1B3957"/>
                </a:solidFill>
                <a:latin typeface="Arimo Bold"/>
                <a:ea typeface="Arimo Bold"/>
                <a:cs typeface="Arimo Bold"/>
                <a:sym typeface="Arimo Bold"/>
              </a:rPr>
              <a:t>Real-world validation and expert oversight remain necessary.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8785" r="0" b="-8785"/>
              </a:stretch>
            </a:blipFill>
          </p:spPr>
        </p:sp>
      </p:grpSp>
      <p:sp>
        <p:nvSpPr>
          <p:cNvPr name="TextBox 4" id="4"/>
          <p:cNvSpPr txBox="true"/>
          <p:nvPr/>
        </p:nvSpPr>
        <p:spPr>
          <a:xfrm rot="0">
            <a:off x="10615174" y="2739981"/>
            <a:ext cx="4229491" cy="3049000"/>
          </a:xfrm>
          <a:prstGeom prst="rect">
            <a:avLst/>
          </a:prstGeom>
        </p:spPr>
        <p:txBody>
          <a:bodyPr anchor="t" rtlCol="false" tIns="0" lIns="0" bIns="0" rIns="0">
            <a:spAutoFit/>
          </a:bodyPr>
          <a:lstStyle/>
          <a:p>
            <a:pPr algn="r">
              <a:lnSpc>
                <a:spcPts val="20417"/>
              </a:lnSpc>
            </a:pPr>
            <a:r>
              <a:rPr lang="en-US" sz="14582" b="true">
                <a:solidFill>
                  <a:srgbClr val="1B3957"/>
                </a:solidFill>
                <a:latin typeface="Garet Bold"/>
                <a:ea typeface="Garet Bold"/>
                <a:cs typeface="Garet Bold"/>
                <a:sym typeface="Garet Bold"/>
              </a:rPr>
              <a:t>YOU</a:t>
            </a:r>
          </a:p>
        </p:txBody>
      </p:sp>
      <p:sp>
        <p:nvSpPr>
          <p:cNvPr name="TextBox 5" id="5"/>
          <p:cNvSpPr txBox="true"/>
          <p:nvPr/>
        </p:nvSpPr>
        <p:spPr>
          <a:xfrm rot="0">
            <a:off x="3443345" y="2739981"/>
            <a:ext cx="6808565" cy="3049000"/>
          </a:xfrm>
          <a:prstGeom prst="rect">
            <a:avLst/>
          </a:prstGeom>
        </p:spPr>
        <p:txBody>
          <a:bodyPr anchor="t" rtlCol="false" tIns="0" lIns="0" bIns="0" rIns="0">
            <a:spAutoFit/>
          </a:bodyPr>
          <a:lstStyle/>
          <a:p>
            <a:pPr algn="l">
              <a:lnSpc>
                <a:spcPts val="20417"/>
              </a:lnSpc>
            </a:pPr>
            <a:r>
              <a:rPr lang="en-US" sz="14582" b="true">
                <a:solidFill>
                  <a:srgbClr val="06728A"/>
                </a:solidFill>
                <a:latin typeface="Garet Bold"/>
                <a:ea typeface="Garet Bold"/>
                <a:cs typeface="Garet Bold"/>
                <a:sym typeface="Garet Bold"/>
              </a:rPr>
              <a:t>THANK </a:t>
            </a:r>
          </a:p>
        </p:txBody>
      </p:sp>
      <p:grpSp>
        <p:nvGrpSpPr>
          <p:cNvPr name="Group 6" id="6"/>
          <p:cNvGrpSpPr/>
          <p:nvPr/>
        </p:nvGrpSpPr>
        <p:grpSpPr>
          <a:xfrm rot="0">
            <a:off x="4026722" y="5935380"/>
            <a:ext cx="10530802" cy="1059609"/>
            <a:chOff x="0" y="0"/>
            <a:chExt cx="14041069" cy="1412812"/>
          </a:xfrm>
        </p:grpSpPr>
        <p:sp>
          <p:nvSpPr>
            <p:cNvPr name="Freeform 7" id="7"/>
            <p:cNvSpPr/>
            <p:nvPr/>
          </p:nvSpPr>
          <p:spPr>
            <a:xfrm flipH="false" flipV="false" rot="0">
              <a:off x="0" y="0"/>
              <a:ext cx="14041120" cy="1412875"/>
            </a:xfrm>
            <a:custGeom>
              <a:avLst/>
              <a:gdLst/>
              <a:ahLst/>
              <a:cxnLst/>
              <a:rect r="r" b="b" t="t" l="l"/>
              <a:pathLst>
                <a:path h="1412875" w="14041120">
                  <a:moveTo>
                    <a:pt x="0" y="0"/>
                  </a:moveTo>
                  <a:lnTo>
                    <a:pt x="14041120" y="0"/>
                  </a:lnTo>
                  <a:lnTo>
                    <a:pt x="14041120" y="1412875"/>
                  </a:lnTo>
                  <a:lnTo>
                    <a:pt x="0" y="1412875"/>
                  </a:lnTo>
                  <a:lnTo>
                    <a:pt x="0" y="0"/>
                  </a:lnTo>
                  <a:close/>
                </a:path>
              </a:pathLst>
            </a:custGeom>
            <a:solidFill>
              <a:srgbClr val="00C4CC"/>
            </a:solidFill>
          </p:spPr>
        </p:sp>
      </p:grpSp>
      <p:sp>
        <p:nvSpPr>
          <p:cNvPr name="TextBox 8" id="8"/>
          <p:cNvSpPr txBox="true"/>
          <p:nvPr/>
        </p:nvSpPr>
        <p:spPr>
          <a:xfrm rot="0">
            <a:off x="4308529" y="6025582"/>
            <a:ext cx="9967170" cy="831552"/>
          </a:xfrm>
          <a:prstGeom prst="rect">
            <a:avLst/>
          </a:prstGeom>
        </p:spPr>
        <p:txBody>
          <a:bodyPr anchor="t" rtlCol="false" tIns="0" lIns="0" bIns="0" rIns="0">
            <a:spAutoFit/>
          </a:bodyPr>
          <a:lstStyle/>
          <a:p>
            <a:pPr algn="ctr">
              <a:lnSpc>
                <a:spcPts val="5616"/>
              </a:lnSpc>
            </a:pPr>
            <a:r>
              <a:rPr lang="en-US" sz="4011" b="true">
                <a:solidFill>
                  <a:srgbClr val="FFFFFF"/>
                </a:solidFill>
                <a:latin typeface="Glacial Indifference Bold"/>
                <a:ea typeface="Glacial Indifference Bold"/>
                <a:cs typeface="Glacial Indifference Bold"/>
                <a:sym typeface="Glacial Indifference Bold"/>
              </a:rPr>
              <a:t>ANY QUESTIONS ?</a:t>
            </a:r>
          </a:p>
        </p:txBody>
      </p:sp>
      <p:grpSp>
        <p:nvGrpSpPr>
          <p:cNvPr name="Group 9" id="9"/>
          <p:cNvGrpSpPr/>
          <p:nvPr/>
        </p:nvGrpSpPr>
        <p:grpSpPr>
          <a:xfrm rot="-2700000">
            <a:off x="12234758" y="-2607840"/>
            <a:ext cx="4998339" cy="6764750"/>
            <a:chOff x="0" y="0"/>
            <a:chExt cx="6664452" cy="9019667"/>
          </a:xfrm>
        </p:grpSpPr>
        <p:sp>
          <p:nvSpPr>
            <p:cNvPr name="Freeform 10" id="10"/>
            <p:cNvSpPr/>
            <p:nvPr/>
          </p:nvSpPr>
          <p:spPr>
            <a:xfrm flipH="true" flipV="false" rot="0">
              <a:off x="0" y="0"/>
              <a:ext cx="6664452" cy="9019667"/>
            </a:xfrm>
            <a:custGeom>
              <a:avLst/>
              <a:gdLst/>
              <a:ahLst/>
              <a:cxnLst/>
              <a:rect r="r" b="b" t="t" l="l"/>
              <a:pathLst>
                <a:path h="9019667" w="6664452">
                  <a:moveTo>
                    <a:pt x="6664452" y="0"/>
                  </a:moveTo>
                  <a:lnTo>
                    <a:pt x="0" y="0"/>
                  </a:lnTo>
                  <a:lnTo>
                    <a:pt x="0" y="9019667"/>
                  </a:lnTo>
                  <a:lnTo>
                    <a:pt x="6664452" y="9019667"/>
                  </a:lnTo>
                  <a:lnTo>
                    <a:pt x="6664452" y="0"/>
                  </a:lnTo>
                  <a:close/>
                </a:path>
              </a:pathLst>
            </a:custGeom>
            <a:blipFill>
              <a:blip r:embed="rId3"/>
              <a:stretch>
                <a:fillRect l="0" t="-914" r="0" b="-914"/>
              </a:stretch>
            </a:blipFill>
          </p:spPr>
        </p:sp>
      </p:grpSp>
      <p:grpSp>
        <p:nvGrpSpPr>
          <p:cNvPr name="Group 11" id="11"/>
          <p:cNvGrpSpPr/>
          <p:nvPr/>
        </p:nvGrpSpPr>
        <p:grpSpPr>
          <a:xfrm rot="7263300">
            <a:off x="-1281541" y="5252095"/>
            <a:ext cx="4095464" cy="5542788"/>
            <a:chOff x="0" y="0"/>
            <a:chExt cx="5460619" cy="7390384"/>
          </a:xfrm>
        </p:grpSpPr>
        <p:sp>
          <p:nvSpPr>
            <p:cNvPr name="Freeform 12" id="12"/>
            <p:cNvSpPr/>
            <p:nvPr/>
          </p:nvSpPr>
          <p:spPr>
            <a:xfrm flipH="true" flipV="false" rot="0">
              <a:off x="0" y="0"/>
              <a:ext cx="5460619" cy="7390384"/>
            </a:xfrm>
            <a:custGeom>
              <a:avLst/>
              <a:gdLst/>
              <a:ahLst/>
              <a:cxnLst/>
              <a:rect r="r" b="b" t="t" l="l"/>
              <a:pathLst>
                <a:path h="7390384" w="5460619">
                  <a:moveTo>
                    <a:pt x="5460619" y="0"/>
                  </a:moveTo>
                  <a:lnTo>
                    <a:pt x="0" y="0"/>
                  </a:lnTo>
                  <a:lnTo>
                    <a:pt x="0" y="7390384"/>
                  </a:lnTo>
                  <a:lnTo>
                    <a:pt x="5460619" y="7390384"/>
                  </a:lnTo>
                  <a:lnTo>
                    <a:pt x="5460619" y="0"/>
                  </a:lnTo>
                  <a:close/>
                </a:path>
              </a:pathLst>
            </a:custGeom>
            <a:blipFill>
              <a:blip r:embed="rId3"/>
              <a:stretch>
                <a:fillRect l="0" t="-914" r="0" b="-914"/>
              </a:stretch>
            </a:blipFill>
          </p:spPr>
        </p:sp>
      </p:grpSp>
      <p:grpSp>
        <p:nvGrpSpPr>
          <p:cNvPr name="Group 13" id="13"/>
          <p:cNvGrpSpPr/>
          <p:nvPr/>
        </p:nvGrpSpPr>
        <p:grpSpPr>
          <a:xfrm rot="-3562860">
            <a:off x="3437496" y="8103118"/>
            <a:ext cx="2664333" cy="4367784"/>
            <a:chOff x="0" y="0"/>
            <a:chExt cx="3552444" cy="5823712"/>
          </a:xfrm>
        </p:grpSpPr>
        <p:sp>
          <p:nvSpPr>
            <p:cNvPr name="Freeform 14" id="14"/>
            <p:cNvSpPr/>
            <p:nvPr/>
          </p:nvSpPr>
          <p:spPr>
            <a:xfrm flipH="true" flipV="false" rot="0">
              <a:off x="0" y="0"/>
              <a:ext cx="3552444" cy="5823712"/>
            </a:xfrm>
            <a:custGeom>
              <a:avLst/>
              <a:gdLst/>
              <a:ahLst/>
              <a:cxnLst/>
              <a:rect r="r" b="b" t="t" l="l"/>
              <a:pathLst>
                <a:path h="5823712" w="3552444">
                  <a:moveTo>
                    <a:pt x="3552444" y="0"/>
                  </a:moveTo>
                  <a:lnTo>
                    <a:pt x="0" y="0"/>
                  </a:lnTo>
                  <a:lnTo>
                    <a:pt x="0" y="5823712"/>
                  </a:lnTo>
                  <a:lnTo>
                    <a:pt x="3552444" y="5823712"/>
                  </a:lnTo>
                  <a:lnTo>
                    <a:pt x="3552444" y="0"/>
                  </a:lnTo>
                  <a:close/>
                </a:path>
              </a:pathLst>
            </a:custGeom>
            <a:blipFill>
              <a:blip r:embed="rId4"/>
              <a:stretch>
                <a:fillRect l="-67" t="0" r="-67" b="0"/>
              </a:stretch>
            </a:blipFill>
          </p:spPr>
        </p:sp>
      </p:grpSp>
      <p:grpSp>
        <p:nvGrpSpPr>
          <p:cNvPr name="Group 15" id="15"/>
          <p:cNvGrpSpPr/>
          <p:nvPr/>
        </p:nvGrpSpPr>
        <p:grpSpPr>
          <a:xfrm rot="-1515960">
            <a:off x="15112174" y="8307572"/>
            <a:ext cx="486623" cy="486623"/>
            <a:chOff x="0" y="0"/>
            <a:chExt cx="648830" cy="648830"/>
          </a:xfrm>
        </p:grpSpPr>
        <p:sp>
          <p:nvSpPr>
            <p:cNvPr name="Freeform 16" id="16"/>
            <p:cNvSpPr/>
            <p:nvPr/>
          </p:nvSpPr>
          <p:spPr>
            <a:xfrm flipH="false" flipV="false" rot="0">
              <a:off x="0" y="0"/>
              <a:ext cx="648843" cy="648843"/>
            </a:xfrm>
            <a:custGeom>
              <a:avLst/>
              <a:gdLst/>
              <a:ahLst/>
              <a:cxnLst/>
              <a:rect r="r" b="b" t="t" l="l"/>
              <a:pathLst>
                <a:path h="648843" w="648843">
                  <a:moveTo>
                    <a:pt x="0" y="0"/>
                  </a:moveTo>
                  <a:lnTo>
                    <a:pt x="648843" y="0"/>
                  </a:lnTo>
                  <a:lnTo>
                    <a:pt x="648843" y="648843"/>
                  </a:lnTo>
                  <a:lnTo>
                    <a:pt x="0" y="648843"/>
                  </a:lnTo>
                  <a:lnTo>
                    <a:pt x="0" y="0"/>
                  </a:lnTo>
                  <a:close/>
                </a:path>
              </a:pathLst>
            </a:custGeom>
            <a:solidFill>
              <a:srgbClr val="00C4CC"/>
            </a:solidFill>
          </p:spPr>
        </p:sp>
      </p:grpSp>
      <p:grpSp>
        <p:nvGrpSpPr>
          <p:cNvPr name="Group 17" id="17"/>
          <p:cNvGrpSpPr/>
          <p:nvPr/>
        </p:nvGrpSpPr>
        <p:grpSpPr>
          <a:xfrm rot="672060">
            <a:off x="3024835" y="1674971"/>
            <a:ext cx="486623" cy="486623"/>
            <a:chOff x="0" y="0"/>
            <a:chExt cx="648830" cy="648830"/>
          </a:xfrm>
        </p:grpSpPr>
        <p:sp>
          <p:nvSpPr>
            <p:cNvPr name="Freeform 18" id="18"/>
            <p:cNvSpPr/>
            <p:nvPr/>
          </p:nvSpPr>
          <p:spPr>
            <a:xfrm flipH="false" flipV="false" rot="0">
              <a:off x="0" y="0"/>
              <a:ext cx="648843" cy="648843"/>
            </a:xfrm>
            <a:custGeom>
              <a:avLst/>
              <a:gdLst/>
              <a:ahLst/>
              <a:cxnLst/>
              <a:rect r="r" b="b" t="t" l="l"/>
              <a:pathLst>
                <a:path h="648843" w="648843">
                  <a:moveTo>
                    <a:pt x="0" y="0"/>
                  </a:moveTo>
                  <a:lnTo>
                    <a:pt x="648843" y="0"/>
                  </a:lnTo>
                  <a:lnTo>
                    <a:pt x="648843" y="648843"/>
                  </a:lnTo>
                  <a:lnTo>
                    <a:pt x="0" y="648843"/>
                  </a:lnTo>
                  <a:lnTo>
                    <a:pt x="0" y="0"/>
                  </a:lnTo>
                  <a:close/>
                </a:path>
              </a:pathLst>
            </a:custGeom>
            <a:solidFill>
              <a:srgbClr val="00C4CC"/>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DAHYVzOydqs</dc:identifier>
  <dcterms:modified xsi:type="dcterms:W3CDTF">2011-08-01T06:04:30Z</dcterms:modified>
  <cp:revision>1</cp:revision>
  <dc:title>R26-IT-005 Final Presentation </dc:title>
</cp:coreProperties>
</file>
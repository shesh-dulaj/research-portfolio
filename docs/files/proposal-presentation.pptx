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07" r:id="rId14"/>
    <p:sldId id="269" r:id="rId15"/>
    <p:sldId id="308"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3"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8.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4.sv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6.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8.jpe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6.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8.jpe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jpe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6.png"/><Relationship Id="rId4" Type="http://schemas.openxmlformats.org/officeDocument/2006/relationships/image" Target="../media/image8.jpe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8.jpe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jpe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image" Target="../media/image5.sv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6.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8.jpe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8.jpe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3.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6.png"/><Relationship Id="rId4" Type="http://schemas.openxmlformats.org/officeDocument/2006/relationships/image" Target="../media/image5.sv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8.jpe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8.jpeg"/><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8.jpe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6.png"/><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8.jpeg"/><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842277" flipH="1">
            <a:off x="10911433" y="82469"/>
            <a:ext cx="6002465" cy="8123748"/>
          </a:xfrm>
          <a:custGeom>
            <a:avLst/>
            <a:gdLst/>
            <a:ahLst/>
            <a:cxnLst/>
            <a:rect l="l" t="t" r="r" b="b"/>
            <a:pathLst>
              <a:path w="6002465" h="8123748">
                <a:moveTo>
                  <a:pt x="6002465" y="0"/>
                </a:moveTo>
                <a:lnTo>
                  <a:pt x="0" y="0"/>
                </a:lnTo>
                <a:lnTo>
                  <a:pt x="0" y="8123748"/>
                </a:lnTo>
                <a:lnTo>
                  <a:pt x="6002465" y="8123748"/>
                </a:lnTo>
                <a:lnTo>
                  <a:pt x="6002465" y="0"/>
                </a:lnTo>
                <a:close/>
              </a:path>
            </a:pathLst>
          </a:custGeom>
          <a:blipFill>
            <a:blip r:embed="rId3"/>
            <a:stretch>
              <a:fillRect b="-1914"/>
            </a:stretch>
          </a:blipFill>
        </p:spPr>
        <p:txBody>
          <a:bodyPr/>
          <a:lstStyle/>
          <a:p>
            <a:endParaRPr lang="en-US"/>
          </a:p>
        </p:txBody>
      </p:sp>
      <p:grpSp>
        <p:nvGrpSpPr>
          <p:cNvPr id="4" name="Group 4"/>
          <p:cNvGrpSpPr/>
          <p:nvPr/>
        </p:nvGrpSpPr>
        <p:grpSpPr>
          <a:xfrm>
            <a:off x="3835599" y="6933408"/>
            <a:ext cx="6654109" cy="1256415"/>
            <a:chOff x="0" y="-42863"/>
            <a:chExt cx="1752523" cy="330907"/>
          </a:xfrm>
        </p:grpSpPr>
        <p:sp>
          <p:nvSpPr>
            <p:cNvPr id="5" name="Freeform 5"/>
            <p:cNvSpPr/>
            <p:nvPr/>
          </p:nvSpPr>
          <p:spPr>
            <a:xfrm>
              <a:off x="0" y="0"/>
              <a:ext cx="1752522" cy="245182"/>
            </a:xfrm>
            <a:custGeom>
              <a:avLst/>
              <a:gdLst/>
              <a:ahLst/>
              <a:cxnLst/>
              <a:rect l="l" t="t" r="r" b="b"/>
              <a:pathLst>
                <a:path w="1752522" h="245182">
                  <a:moveTo>
                    <a:pt x="81444" y="0"/>
                  </a:moveTo>
                  <a:lnTo>
                    <a:pt x="1671079" y="0"/>
                  </a:lnTo>
                  <a:cubicBezTo>
                    <a:pt x="1716059" y="0"/>
                    <a:pt x="1752522" y="36464"/>
                    <a:pt x="1752522" y="81444"/>
                  </a:cubicBezTo>
                  <a:lnTo>
                    <a:pt x="1752522" y="163739"/>
                  </a:lnTo>
                  <a:cubicBezTo>
                    <a:pt x="1752522" y="208719"/>
                    <a:pt x="1716059" y="245182"/>
                    <a:pt x="1671079" y="245182"/>
                  </a:cubicBezTo>
                  <a:lnTo>
                    <a:pt x="81444" y="245182"/>
                  </a:lnTo>
                  <a:cubicBezTo>
                    <a:pt x="36464" y="245182"/>
                    <a:pt x="0" y="208719"/>
                    <a:pt x="0" y="163739"/>
                  </a:cubicBezTo>
                  <a:lnTo>
                    <a:pt x="0" y="81444"/>
                  </a:lnTo>
                  <a:cubicBezTo>
                    <a:pt x="0" y="36464"/>
                    <a:pt x="36464" y="0"/>
                    <a:pt x="81444" y="0"/>
                  </a:cubicBezTo>
                  <a:close/>
                </a:path>
              </a:pathLst>
            </a:custGeom>
            <a:solidFill>
              <a:srgbClr val="06728A"/>
            </a:solidFill>
          </p:spPr>
          <p:txBody>
            <a:bodyPr/>
            <a:lstStyle/>
            <a:p>
              <a:endParaRPr lang="en-US"/>
            </a:p>
          </p:txBody>
        </p:sp>
        <p:sp>
          <p:nvSpPr>
            <p:cNvPr id="6" name="TextBox 6"/>
            <p:cNvSpPr txBox="1"/>
            <p:nvPr/>
          </p:nvSpPr>
          <p:spPr>
            <a:xfrm>
              <a:off x="0" y="-42863"/>
              <a:ext cx="1752523" cy="330907"/>
            </a:xfrm>
            <a:prstGeom prst="rect">
              <a:avLst/>
            </a:prstGeom>
          </p:spPr>
          <p:txBody>
            <a:bodyPr lIns="50800" tIns="50800" rIns="50800" bIns="50800" rtlCol="0" anchor="ctr"/>
            <a:lstStyle/>
            <a:p>
              <a:pPr algn="ctr">
                <a:lnSpc>
                  <a:spcPts val="6019"/>
                </a:lnSpc>
              </a:pPr>
              <a:r>
                <a:rPr lang="en-US" sz="4299" b="1" spc="-171" dirty="0">
                  <a:solidFill>
                    <a:srgbClr val="FFFFFF"/>
                  </a:solidFill>
                  <a:latin typeface="Open Sauce Bold"/>
                  <a:ea typeface="Open Sauce Bold"/>
                  <a:cs typeface="Open Sauce Bold"/>
                  <a:sym typeface="Open Sauce Bold"/>
                </a:rPr>
                <a:t>R26-IT-005</a:t>
              </a:r>
            </a:p>
          </p:txBody>
        </p:sp>
      </p:grpSp>
      <p:sp>
        <p:nvSpPr>
          <p:cNvPr id="7" name="Freeform 7"/>
          <p:cNvSpPr/>
          <p:nvPr/>
        </p:nvSpPr>
        <p:spPr>
          <a:xfrm rot="1031399" flipH="1">
            <a:off x="9509174" y="7186658"/>
            <a:ext cx="3244114" cy="5318220"/>
          </a:xfrm>
          <a:custGeom>
            <a:avLst/>
            <a:gdLst/>
            <a:ahLst/>
            <a:cxnLst/>
            <a:rect l="l" t="t" r="r" b="b"/>
            <a:pathLst>
              <a:path w="3244114" h="5318220">
                <a:moveTo>
                  <a:pt x="3244114" y="0"/>
                </a:moveTo>
                <a:lnTo>
                  <a:pt x="0" y="0"/>
                </a:lnTo>
                <a:lnTo>
                  <a:pt x="0" y="5318221"/>
                </a:lnTo>
                <a:lnTo>
                  <a:pt x="3244114" y="5318221"/>
                </a:lnTo>
                <a:lnTo>
                  <a:pt x="3244114" y="0"/>
                </a:lnTo>
                <a:close/>
              </a:path>
            </a:pathLst>
          </a:custGeom>
          <a:blipFill>
            <a:blip r:embed="rId4"/>
            <a:stretch>
              <a:fillRect/>
            </a:stretch>
          </a:blipFill>
        </p:spPr>
        <p:txBody>
          <a:bodyPr/>
          <a:lstStyle/>
          <a:p>
            <a:endParaRPr lang="en-US"/>
          </a:p>
        </p:txBody>
      </p:sp>
      <p:sp>
        <p:nvSpPr>
          <p:cNvPr id="8" name="Freeform 8"/>
          <p:cNvSpPr/>
          <p:nvPr/>
        </p:nvSpPr>
        <p:spPr>
          <a:xfrm rot="577729">
            <a:off x="15945525" y="8364393"/>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9" name="Freeform 9"/>
          <p:cNvSpPr/>
          <p:nvPr/>
        </p:nvSpPr>
        <p:spPr>
          <a:xfrm rot="248758">
            <a:off x="7179609" y="1292851"/>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10" name="Freeform 10"/>
          <p:cNvSpPr/>
          <p:nvPr/>
        </p:nvSpPr>
        <p:spPr>
          <a:xfrm rot="-409794">
            <a:off x="2718191" y="7318308"/>
            <a:ext cx="486621" cy="486621"/>
          </a:xfrm>
          <a:custGeom>
            <a:avLst/>
            <a:gdLst/>
            <a:ahLst/>
            <a:cxnLst/>
            <a:rect l="l" t="t" r="r" b="b"/>
            <a:pathLst>
              <a:path w="486621" h="486621">
                <a:moveTo>
                  <a:pt x="0" y="0"/>
                </a:moveTo>
                <a:lnTo>
                  <a:pt x="486620" y="0"/>
                </a:lnTo>
                <a:lnTo>
                  <a:pt x="486620" y="486621"/>
                </a:lnTo>
                <a:lnTo>
                  <a:pt x="0" y="486621"/>
                </a:lnTo>
                <a:lnTo>
                  <a:pt x="0" y="0"/>
                </a:lnTo>
                <a:close/>
              </a:path>
            </a:pathLst>
          </a:custGeom>
          <a:blipFill>
            <a:blip>
              <a:alphaModFix amt="50000"/>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11" name="TextBox 11"/>
          <p:cNvSpPr txBox="1"/>
          <p:nvPr/>
        </p:nvSpPr>
        <p:spPr>
          <a:xfrm>
            <a:off x="348718" y="4331355"/>
            <a:ext cx="14148403" cy="2494701"/>
          </a:xfrm>
          <a:prstGeom prst="rect">
            <a:avLst/>
          </a:prstGeom>
        </p:spPr>
        <p:txBody>
          <a:bodyPr lIns="0" tIns="0" rIns="0" bIns="0" rtlCol="0" anchor="t">
            <a:spAutoFit/>
          </a:bodyPr>
          <a:lstStyle/>
          <a:p>
            <a:pPr algn="l">
              <a:lnSpc>
                <a:spcPts val="20418"/>
              </a:lnSpc>
              <a:spcBef>
                <a:spcPct val="0"/>
              </a:spcBef>
            </a:pPr>
            <a:r>
              <a:rPr lang="en-US" sz="14584" b="1">
                <a:solidFill>
                  <a:srgbClr val="1B3957"/>
                </a:solidFill>
                <a:latin typeface="Garet Bold"/>
                <a:ea typeface="Garet Bold"/>
                <a:cs typeface="Garet Bold"/>
                <a:sym typeface="Garet Bold"/>
              </a:rPr>
              <a:t>PURIFICATION</a:t>
            </a:r>
          </a:p>
        </p:txBody>
      </p:sp>
      <p:sp>
        <p:nvSpPr>
          <p:cNvPr id="12" name="TextBox 12"/>
          <p:cNvSpPr txBox="1"/>
          <p:nvPr/>
        </p:nvSpPr>
        <p:spPr>
          <a:xfrm>
            <a:off x="602253" y="2406025"/>
            <a:ext cx="8541747" cy="2494701"/>
          </a:xfrm>
          <a:prstGeom prst="rect">
            <a:avLst/>
          </a:prstGeom>
        </p:spPr>
        <p:txBody>
          <a:bodyPr lIns="0" tIns="0" rIns="0" bIns="0" rtlCol="0" anchor="t">
            <a:spAutoFit/>
          </a:bodyPr>
          <a:lstStyle/>
          <a:p>
            <a:pPr algn="l">
              <a:lnSpc>
                <a:spcPts val="20418"/>
              </a:lnSpc>
              <a:spcBef>
                <a:spcPct val="0"/>
              </a:spcBef>
            </a:pPr>
            <a:r>
              <a:rPr lang="en-US" sz="14584" b="1">
                <a:solidFill>
                  <a:srgbClr val="06728A"/>
                </a:solidFill>
                <a:latin typeface="Garet Bold"/>
                <a:ea typeface="Garet Bold"/>
                <a:cs typeface="Garet Bold"/>
                <a:sym typeface="Garet Bold"/>
              </a:rPr>
              <a:t>WATER</a:t>
            </a:r>
          </a:p>
        </p:txBody>
      </p:sp>
      <p:grpSp>
        <p:nvGrpSpPr>
          <p:cNvPr id="13" name="Group 13"/>
          <p:cNvGrpSpPr/>
          <p:nvPr/>
        </p:nvGrpSpPr>
        <p:grpSpPr>
          <a:xfrm>
            <a:off x="0" y="9559957"/>
            <a:ext cx="3771900" cy="735463"/>
            <a:chOff x="0" y="0"/>
            <a:chExt cx="5029200" cy="980618"/>
          </a:xfrm>
        </p:grpSpPr>
        <p:sp>
          <p:nvSpPr>
            <p:cNvPr id="14" name="Freeform 14"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929488" r="-256844" b="-5"/>
              </a:stretch>
            </a:blipFill>
          </p:spPr>
          <p:txBody>
            <a:bodyPr/>
            <a:lstStyle/>
            <a:p>
              <a:endParaRPr lang="en-US"/>
            </a:p>
          </p:txBody>
        </p:sp>
      </p:grpSp>
      <p:sp>
        <p:nvSpPr>
          <p:cNvPr id="15" name="TextBox 15"/>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766788">
            <a:off x="16160689" y="874374"/>
            <a:ext cx="322073" cy="322073"/>
          </a:xfrm>
          <a:custGeom>
            <a:avLst/>
            <a:gdLst/>
            <a:ahLst/>
            <a:cxnLst/>
            <a:rect l="l" t="t" r="r" b="b"/>
            <a:pathLst>
              <a:path w="322073" h="322073">
                <a:moveTo>
                  <a:pt x="0" y="0"/>
                </a:moveTo>
                <a:lnTo>
                  <a:pt x="322074" y="0"/>
                </a:lnTo>
                <a:lnTo>
                  <a:pt x="322074" y="322073"/>
                </a:lnTo>
                <a:lnTo>
                  <a:pt x="0" y="322073"/>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grpSp>
        <p:nvGrpSpPr>
          <p:cNvPr id="4" name="Group 4"/>
          <p:cNvGrpSpPr/>
          <p:nvPr/>
        </p:nvGrpSpPr>
        <p:grpSpPr>
          <a:xfrm>
            <a:off x="12267177" y="2069846"/>
            <a:ext cx="4992123" cy="6959081"/>
            <a:chOff x="0" y="0"/>
            <a:chExt cx="773410" cy="1078144"/>
          </a:xfrm>
        </p:grpSpPr>
        <p:sp>
          <p:nvSpPr>
            <p:cNvPr id="5" name="Freeform 5"/>
            <p:cNvSpPr/>
            <p:nvPr/>
          </p:nvSpPr>
          <p:spPr>
            <a:xfrm>
              <a:off x="0" y="0"/>
              <a:ext cx="773410" cy="1078144"/>
            </a:xfrm>
            <a:custGeom>
              <a:avLst/>
              <a:gdLst/>
              <a:ahLst/>
              <a:cxnLst/>
              <a:rect l="l" t="t" r="r" b="b"/>
              <a:pathLst>
                <a:path w="773410" h="1078144">
                  <a:moveTo>
                    <a:pt x="108558" y="0"/>
                  </a:moveTo>
                  <a:lnTo>
                    <a:pt x="664853" y="0"/>
                  </a:lnTo>
                  <a:cubicBezTo>
                    <a:pt x="693644" y="0"/>
                    <a:pt x="721256" y="11437"/>
                    <a:pt x="741615" y="31796"/>
                  </a:cubicBezTo>
                  <a:cubicBezTo>
                    <a:pt x="761973" y="52154"/>
                    <a:pt x="773410" y="79767"/>
                    <a:pt x="773410" y="108558"/>
                  </a:cubicBezTo>
                  <a:lnTo>
                    <a:pt x="773410" y="969586"/>
                  </a:lnTo>
                  <a:cubicBezTo>
                    <a:pt x="773410" y="1029541"/>
                    <a:pt x="724807" y="1078144"/>
                    <a:pt x="664853" y="1078144"/>
                  </a:cubicBezTo>
                  <a:lnTo>
                    <a:pt x="108558" y="1078144"/>
                  </a:lnTo>
                  <a:cubicBezTo>
                    <a:pt x="48603" y="1078144"/>
                    <a:pt x="0" y="1029541"/>
                    <a:pt x="0" y="969586"/>
                  </a:cubicBezTo>
                  <a:lnTo>
                    <a:pt x="0" y="108558"/>
                  </a:lnTo>
                  <a:cubicBezTo>
                    <a:pt x="0" y="48603"/>
                    <a:pt x="48603" y="0"/>
                    <a:pt x="108558" y="0"/>
                  </a:cubicBezTo>
                  <a:close/>
                </a:path>
              </a:pathLst>
            </a:custGeom>
            <a:blipFill>
              <a:blip r:embed="rId4"/>
              <a:stretch>
                <a:fillRect l="-46776" r="-62455"/>
              </a:stretch>
            </a:blipFill>
          </p:spPr>
          <p:txBody>
            <a:bodyPr/>
            <a:lstStyle/>
            <a:p>
              <a:endParaRPr lang="en-US"/>
            </a:p>
          </p:txBody>
        </p:sp>
      </p:grpSp>
      <p:sp>
        <p:nvSpPr>
          <p:cNvPr id="6" name="Freeform 6"/>
          <p:cNvSpPr/>
          <p:nvPr/>
        </p:nvSpPr>
        <p:spPr>
          <a:xfrm rot="4485258" flipH="1">
            <a:off x="8637444" y="-1373963"/>
            <a:ext cx="4246423" cy="5747118"/>
          </a:xfrm>
          <a:custGeom>
            <a:avLst/>
            <a:gdLst/>
            <a:ahLst/>
            <a:cxnLst/>
            <a:rect l="l" t="t" r="r" b="b"/>
            <a:pathLst>
              <a:path w="4246423" h="5747118">
                <a:moveTo>
                  <a:pt x="4246423" y="0"/>
                </a:moveTo>
                <a:lnTo>
                  <a:pt x="0" y="0"/>
                </a:lnTo>
                <a:lnTo>
                  <a:pt x="0" y="5747118"/>
                </a:lnTo>
                <a:lnTo>
                  <a:pt x="4246423" y="5747118"/>
                </a:lnTo>
                <a:lnTo>
                  <a:pt x="4246423" y="0"/>
                </a:lnTo>
                <a:close/>
              </a:path>
            </a:pathLst>
          </a:custGeom>
          <a:blipFill>
            <a:blip r:embed="rId5"/>
            <a:stretch>
              <a:fillRect b="-1914"/>
            </a:stretch>
          </a:blipFill>
        </p:spPr>
        <p:txBody>
          <a:bodyPr/>
          <a:lstStyle/>
          <a:p>
            <a:endParaRPr lang="en-US"/>
          </a:p>
        </p:txBody>
      </p:sp>
      <p:sp>
        <p:nvSpPr>
          <p:cNvPr id="7" name="TextBox 7"/>
          <p:cNvSpPr txBox="1"/>
          <p:nvPr/>
        </p:nvSpPr>
        <p:spPr>
          <a:xfrm>
            <a:off x="2169213" y="1575796"/>
            <a:ext cx="9179856" cy="2254250"/>
          </a:xfrm>
          <a:prstGeom prst="rect">
            <a:avLst/>
          </a:prstGeom>
        </p:spPr>
        <p:txBody>
          <a:bodyPr lIns="0" tIns="0" rIns="0" bIns="0" rtlCol="0" anchor="t">
            <a:spAutoFit/>
          </a:bodyPr>
          <a:lstStyle/>
          <a:p>
            <a:pPr algn="l">
              <a:lnSpc>
                <a:spcPts val="8800"/>
              </a:lnSpc>
            </a:pPr>
            <a:r>
              <a:rPr lang="en-US" sz="8000" b="1">
                <a:solidFill>
                  <a:srgbClr val="1B3957"/>
                </a:solidFill>
                <a:latin typeface="Garet Bold"/>
                <a:ea typeface="Garet Bold"/>
                <a:cs typeface="Garet Bold"/>
                <a:sym typeface="Garet Bold"/>
              </a:rPr>
              <a:t>PROBLEM</a:t>
            </a:r>
          </a:p>
          <a:p>
            <a:pPr marL="0" lvl="0" indent="0" algn="l">
              <a:lnSpc>
                <a:spcPts val="8800"/>
              </a:lnSpc>
              <a:spcBef>
                <a:spcPct val="0"/>
              </a:spcBef>
            </a:pPr>
            <a:endParaRPr lang="en-US" sz="8000" b="1">
              <a:solidFill>
                <a:srgbClr val="1B3957"/>
              </a:solidFill>
              <a:latin typeface="Garet Bold"/>
              <a:ea typeface="Garet Bold"/>
              <a:cs typeface="Garet Bold"/>
              <a:sym typeface="Garet Bold"/>
            </a:endParaRPr>
          </a:p>
        </p:txBody>
      </p:sp>
      <p:sp>
        <p:nvSpPr>
          <p:cNvPr id="8" name="TextBox 8"/>
          <p:cNvSpPr txBox="1"/>
          <p:nvPr/>
        </p:nvSpPr>
        <p:spPr>
          <a:xfrm>
            <a:off x="1028700" y="3763371"/>
            <a:ext cx="9731956" cy="6040050"/>
          </a:xfrm>
          <a:prstGeom prst="rect">
            <a:avLst/>
          </a:prstGeom>
        </p:spPr>
        <p:txBody>
          <a:bodyPr lIns="0" tIns="0" rIns="0" bIns="0" rtlCol="0" anchor="t">
            <a:spAutoFit/>
          </a:bodyPr>
          <a:lstStyle/>
          <a:p>
            <a:pPr algn="just">
              <a:lnSpc>
                <a:spcPts val="4180"/>
              </a:lnSpc>
            </a:pPr>
            <a:r>
              <a:rPr lang="en-US" sz="2986" b="1">
                <a:solidFill>
                  <a:srgbClr val="1B3957"/>
                </a:solidFill>
                <a:latin typeface="Arimo Bold"/>
                <a:ea typeface="Arimo Bold"/>
                <a:cs typeface="Arimo Bold"/>
                <a:sym typeface="Arimo Bold"/>
              </a:rPr>
              <a:t>Despite technological advances, safe drinking water is a global challenge due to urbanization, industrial discharge, and climate change.</a:t>
            </a:r>
          </a:p>
          <a:p>
            <a:pPr algn="just">
              <a:lnSpc>
                <a:spcPts val="4180"/>
              </a:lnSpc>
            </a:pPr>
            <a:r>
              <a:rPr lang="en-US" sz="2986" b="1">
                <a:solidFill>
                  <a:srgbClr val="1B3957"/>
                </a:solidFill>
                <a:latin typeface="Arimo Bold"/>
                <a:ea typeface="Arimo Bold"/>
                <a:cs typeface="Arimo Bold"/>
                <a:sym typeface="Arimo Bold"/>
              </a:rPr>
              <a:t>In Sri Lanka, the situation is critical: contaminated groundwater with fluoride and heavy metals is linked to Chronic Kidney Disease of unknown origin.</a:t>
            </a:r>
          </a:p>
          <a:p>
            <a:pPr algn="just">
              <a:lnSpc>
                <a:spcPts val="4180"/>
              </a:lnSpc>
            </a:pPr>
            <a:r>
              <a:rPr lang="en-US" sz="2986" b="1">
                <a:solidFill>
                  <a:srgbClr val="1B3957"/>
                </a:solidFill>
                <a:latin typeface="Arimo Bold"/>
                <a:ea typeface="Arimo Bold"/>
                <a:cs typeface="Arimo Bold"/>
                <a:sym typeface="Arimo Bold"/>
              </a:rPr>
              <a:t>Current methods are inefficient, waste water/energy, and lack intelligent monitoring.</a:t>
            </a:r>
          </a:p>
          <a:p>
            <a:pPr algn="just">
              <a:lnSpc>
                <a:spcPts val="2909"/>
              </a:lnSpc>
            </a:pPr>
            <a:endParaRPr lang="en-US" sz="2986" b="1">
              <a:solidFill>
                <a:srgbClr val="1B3957"/>
              </a:solidFill>
              <a:latin typeface="Arimo Bold"/>
              <a:ea typeface="Arimo Bold"/>
              <a:cs typeface="Arimo Bold"/>
              <a:sym typeface="Arimo Bold"/>
            </a:endParaRPr>
          </a:p>
          <a:p>
            <a:pPr algn="just">
              <a:lnSpc>
                <a:spcPts val="2909"/>
              </a:lnSpc>
            </a:pPr>
            <a:endParaRPr lang="en-US" sz="2986" b="1">
              <a:solidFill>
                <a:srgbClr val="1B3957"/>
              </a:solidFill>
              <a:latin typeface="Arimo Bold"/>
              <a:ea typeface="Arimo Bold"/>
              <a:cs typeface="Arimo Bold"/>
              <a:sym typeface="Arimo Bold"/>
            </a:endParaRPr>
          </a:p>
          <a:p>
            <a:pPr algn="just">
              <a:lnSpc>
                <a:spcPts val="2909"/>
              </a:lnSpc>
            </a:pPr>
            <a:endParaRPr lang="en-US" sz="2986" b="1">
              <a:solidFill>
                <a:srgbClr val="1B3957"/>
              </a:solidFill>
              <a:latin typeface="Arimo Bold"/>
              <a:ea typeface="Arimo Bold"/>
              <a:cs typeface="Arimo Bold"/>
              <a:sym typeface="Arimo Bold"/>
            </a:endParaRPr>
          </a:p>
          <a:p>
            <a:pPr algn="just">
              <a:lnSpc>
                <a:spcPts val="2909"/>
              </a:lnSpc>
            </a:pPr>
            <a:endParaRPr lang="en-US" sz="2986" b="1">
              <a:solidFill>
                <a:srgbClr val="1B3957"/>
              </a:solidFill>
              <a:latin typeface="Arimo Bold"/>
              <a:ea typeface="Arimo Bold"/>
              <a:cs typeface="Arimo Bold"/>
              <a:sym typeface="Arimo Bold"/>
            </a:endParaRPr>
          </a:p>
          <a:p>
            <a:pPr algn="just">
              <a:lnSpc>
                <a:spcPts val="2909"/>
              </a:lnSpc>
            </a:pPr>
            <a:endParaRPr lang="en-US" sz="2986" b="1">
              <a:solidFill>
                <a:srgbClr val="1B3957"/>
              </a:solidFill>
              <a:latin typeface="Arimo Bold"/>
              <a:ea typeface="Arimo Bold"/>
              <a:cs typeface="Arimo Bold"/>
              <a:sym typeface="Arimo Bold"/>
            </a:endParaRPr>
          </a:p>
        </p:txBody>
      </p:sp>
      <p:grpSp>
        <p:nvGrpSpPr>
          <p:cNvPr id="9" name="Group 9"/>
          <p:cNvGrpSpPr/>
          <p:nvPr/>
        </p:nvGrpSpPr>
        <p:grpSpPr>
          <a:xfrm>
            <a:off x="0" y="9559957"/>
            <a:ext cx="3771900" cy="735463"/>
            <a:chOff x="0" y="0"/>
            <a:chExt cx="5029200" cy="980618"/>
          </a:xfrm>
        </p:grpSpPr>
        <p:sp>
          <p:nvSpPr>
            <p:cNvPr id="10" name="Freeform 10"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6"/>
              <a:stretch>
                <a:fillRect t="-929488" r="-256844" b="-5"/>
              </a:stretch>
            </a:blipFill>
          </p:spPr>
          <p:txBody>
            <a:bodyPr/>
            <a:lstStyle/>
            <a:p>
              <a:endParaRPr lang="en-US"/>
            </a:p>
          </p:txBody>
        </p:sp>
      </p:gr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grpSp>
        <p:nvGrpSpPr>
          <p:cNvPr id="12" name="Group 12"/>
          <p:cNvGrpSpPr/>
          <p:nvPr/>
        </p:nvGrpSpPr>
        <p:grpSpPr>
          <a:xfrm>
            <a:off x="3948655" y="9739312"/>
            <a:ext cx="10224545" cy="547688"/>
            <a:chOff x="0" y="0"/>
            <a:chExt cx="13632726" cy="730250"/>
          </a:xfrm>
        </p:grpSpPr>
        <p:sp>
          <p:nvSpPr>
            <p:cNvPr id="13" name="Freeform 13"/>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7">
                <a:alphaModFix amt="0"/>
              </a:blip>
              <a:stretch>
                <a:fillRect t="-313757" b="-313757"/>
              </a:stretch>
            </a:blipFill>
          </p:spPr>
          <p:txBody>
            <a:bodyPr/>
            <a:lstStyle/>
            <a:p>
              <a:endParaRPr lang="en-US"/>
            </a:p>
          </p:txBody>
        </p:sp>
        <p:sp>
          <p:nvSpPr>
            <p:cNvPr id="14" name="TextBox 14"/>
            <p:cNvSpPr txBox="1"/>
            <p:nvPr/>
          </p:nvSpPr>
          <p:spPr>
            <a:xfrm>
              <a:off x="0" y="-19050"/>
              <a:ext cx="13632726" cy="74930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sp>
        <p:nvSpPr>
          <p:cNvPr id="15" name="TextBox 15"/>
          <p:cNvSpPr txBox="1"/>
          <p:nvPr/>
        </p:nvSpPr>
        <p:spPr>
          <a:xfrm>
            <a:off x="14591978" y="523232"/>
            <a:ext cx="3195446" cy="288541"/>
          </a:xfrm>
          <a:prstGeom prst="rect">
            <a:avLst/>
          </a:prstGeom>
        </p:spPr>
        <p:txBody>
          <a:bodyPr wrap="square"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WATER PURIFICATION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557633">
            <a:off x="17015990" y="3533465"/>
            <a:ext cx="486621" cy="486621"/>
          </a:xfrm>
          <a:custGeom>
            <a:avLst/>
            <a:gdLst/>
            <a:ahLst/>
            <a:cxnLst/>
            <a:rect l="l" t="t" r="r" b="b"/>
            <a:pathLst>
              <a:path w="486621" h="486621">
                <a:moveTo>
                  <a:pt x="0" y="0"/>
                </a:moveTo>
                <a:lnTo>
                  <a:pt x="486620" y="0"/>
                </a:lnTo>
                <a:lnTo>
                  <a:pt x="486620" y="486621"/>
                </a:lnTo>
                <a:lnTo>
                  <a:pt x="0" y="486621"/>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rot="248758">
            <a:off x="946580" y="5242242"/>
            <a:ext cx="486621" cy="486621"/>
          </a:xfrm>
          <a:custGeom>
            <a:avLst/>
            <a:gdLst/>
            <a:ahLst/>
            <a:cxnLst/>
            <a:rect l="l" t="t" r="r" b="b"/>
            <a:pathLst>
              <a:path w="486621" h="486621">
                <a:moveTo>
                  <a:pt x="0" y="0"/>
                </a:moveTo>
                <a:lnTo>
                  <a:pt x="486620" y="0"/>
                </a:lnTo>
                <a:lnTo>
                  <a:pt x="486620" y="486621"/>
                </a:lnTo>
                <a:lnTo>
                  <a:pt x="0" y="486621"/>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grpSp>
        <p:nvGrpSpPr>
          <p:cNvPr id="5" name="Group 5"/>
          <p:cNvGrpSpPr/>
          <p:nvPr/>
        </p:nvGrpSpPr>
        <p:grpSpPr>
          <a:xfrm>
            <a:off x="348737" y="511234"/>
            <a:ext cx="4368177" cy="2462886"/>
            <a:chOff x="0" y="0"/>
            <a:chExt cx="1029300" cy="580345"/>
          </a:xfrm>
        </p:grpSpPr>
        <p:sp>
          <p:nvSpPr>
            <p:cNvPr id="6" name="Freeform 6"/>
            <p:cNvSpPr/>
            <p:nvPr/>
          </p:nvSpPr>
          <p:spPr>
            <a:xfrm>
              <a:off x="0" y="0"/>
              <a:ext cx="1029300" cy="580345"/>
            </a:xfrm>
            <a:custGeom>
              <a:avLst/>
              <a:gdLst/>
              <a:ahLst/>
              <a:cxnLst/>
              <a:rect l="l" t="t" r="r" b="b"/>
              <a:pathLst>
                <a:path w="1029300" h="580345">
                  <a:moveTo>
                    <a:pt x="124064" y="0"/>
                  </a:moveTo>
                  <a:lnTo>
                    <a:pt x="905236" y="0"/>
                  </a:lnTo>
                  <a:cubicBezTo>
                    <a:pt x="938140" y="0"/>
                    <a:pt x="969696" y="13071"/>
                    <a:pt x="992962" y="36338"/>
                  </a:cubicBezTo>
                  <a:cubicBezTo>
                    <a:pt x="1016229" y="59604"/>
                    <a:pt x="1029300" y="91160"/>
                    <a:pt x="1029300" y="124064"/>
                  </a:cubicBezTo>
                  <a:lnTo>
                    <a:pt x="1029300" y="456280"/>
                  </a:lnTo>
                  <a:cubicBezTo>
                    <a:pt x="1029300" y="489184"/>
                    <a:pt x="1016229" y="520740"/>
                    <a:pt x="992962" y="544007"/>
                  </a:cubicBezTo>
                  <a:cubicBezTo>
                    <a:pt x="969696" y="567274"/>
                    <a:pt x="938140" y="580345"/>
                    <a:pt x="905236" y="580345"/>
                  </a:cubicBezTo>
                  <a:lnTo>
                    <a:pt x="124064" y="580345"/>
                  </a:lnTo>
                  <a:cubicBezTo>
                    <a:pt x="91160" y="580345"/>
                    <a:pt x="59604" y="567274"/>
                    <a:pt x="36338" y="544007"/>
                  </a:cubicBezTo>
                  <a:cubicBezTo>
                    <a:pt x="13071" y="520740"/>
                    <a:pt x="0" y="489184"/>
                    <a:pt x="0" y="456280"/>
                  </a:cubicBezTo>
                  <a:lnTo>
                    <a:pt x="0" y="124064"/>
                  </a:lnTo>
                  <a:cubicBezTo>
                    <a:pt x="0" y="91160"/>
                    <a:pt x="13071" y="59604"/>
                    <a:pt x="36338" y="36338"/>
                  </a:cubicBezTo>
                  <a:cubicBezTo>
                    <a:pt x="59604" y="13071"/>
                    <a:pt x="91160" y="0"/>
                    <a:pt x="124064" y="0"/>
                  </a:cubicBezTo>
                  <a:close/>
                </a:path>
              </a:pathLst>
            </a:custGeom>
            <a:blipFill>
              <a:blip r:embed="rId5"/>
              <a:stretch>
                <a:fillRect t="-94255" b="-71951"/>
              </a:stretch>
            </a:blipFill>
          </p:spPr>
          <p:txBody>
            <a:bodyPr/>
            <a:lstStyle/>
            <a:p>
              <a:endParaRPr lang="en-US"/>
            </a:p>
          </p:txBody>
        </p:sp>
      </p:grpSp>
      <p:grpSp>
        <p:nvGrpSpPr>
          <p:cNvPr id="7" name="Group 7"/>
          <p:cNvGrpSpPr/>
          <p:nvPr/>
        </p:nvGrpSpPr>
        <p:grpSpPr>
          <a:xfrm>
            <a:off x="13901801" y="6785253"/>
            <a:ext cx="4386199" cy="2473047"/>
            <a:chOff x="0" y="0"/>
            <a:chExt cx="1029300" cy="580345"/>
          </a:xfrm>
        </p:grpSpPr>
        <p:sp>
          <p:nvSpPr>
            <p:cNvPr id="8" name="Freeform 8"/>
            <p:cNvSpPr/>
            <p:nvPr/>
          </p:nvSpPr>
          <p:spPr>
            <a:xfrm>
              <a:off x="0" y="0"/>
              <a:ext cx="1029300" cy="580345"/>
            </a:xfrm>
            <a:custGeom>
              <a:avLst/>
              <a:gdLst/>
              <a:ahLst/>
              <a:cxnLst/>
              <a:rect l="l" t="t" r="r" b="b"/>
              <a:pathLst>
                <a:path w="1029300" h="580345">
                  <a:moveTo>
                    <a:pt x="123554" y="0"/>
                  </a:moveTo>
                  <a:lnTo>
                    <a:pt x="905745" y="0"/>
                  </a:lnTo>
                  <a:cubicBezTo>
                    <a:pt x="973983" y="0"/>
                    <a:pt x="1029300" y="55317"/>
                    <a:pt x="1029300" y="123554"/>
                  </a:cubicBezTo>
                  <a:lnTo>
                    <a:pt x="1029300" y="456790"/>
                  </a:lnTo>
                  <a:cubicBezTo>
                    <a:pt x="1029300" y="489559"/>
                    <a:pt x="1016283" y="520985"/>
                    <a:pt x="993112" y="544156"/>
                  </a:cubicBezTo>
                  <a:cubicBezTo>
                    <a:pt x="969941" y="567327"/>
                    <a:pt x="938514" y="580345"/>
                    <a:pt x="905745" y="580345"/>
                  </a:cubicBezTo>
                  <a:lnTo>
                    <a:pt x="123554" y="580345"/>
                  </a:lnTo>
                  <a:cubicBezTo>
                    <a:pt x="55317" y="580345"/>
                    <a:pt x="0" y="525027"/>
                    <a:pt x="0" y="456790"/>
                  </a:cubicBezTo>
                  <a:lnTo>
                    <a:pt x="0" y="123554"/>
                  </a:lnTo>
                  <a:cubicBezTo>
                    <a:pt x="0" y="90786"/>
                    <a:pt x="13017" y="59359"/>
                    <a:pt x="36188" y="36188"/>
                  </a:cubicBezTo>
                  <a:cubicBezTo>
                    <a:pt x="59359" y="13017"/>
                    <a:pt x="90786" y="0"/>
                    <a:pt x="123554" y="0"/>
                  </a:cubicBezTo>
                  <a:close/>
                </a:path>
              </a:pathLst>
            </a:custGeom>
            <a:blipFill>
              <a:blip r:embed="rId6"/>
              <a:stretch>
                <a:fillRect l="-29757" b="-53329"/>
              </a:stretch>
            </a:blipFill>
          </p:spPr>
          <p:txBody>
            <a:bodyPr/>
            <a:lstStyle/>
            <a:p>
              <a:endParaRPr lang="en-US"/>
            </a:p>
          </p:txBody>
        </p:sp>
      </p:grpSp>
      <p:graphicFrame>
        <p:nvGraphicFramePr>
          <p:cNvPr id="9" name="Table 9"/>
          <p:cNvGraphicFramePr>
            <a:graphicFrameLocks noGrp="1"/>
          </p:cNvGraphicFramePr>
          <p:nvPr/>
        </p:nvGraphicFramePr>
        <p:xfrm>
          <a:off x="5557422" y="3404113"/>
          <a:ext cx="7315200" cy="364235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1249958">
                <a:tc>
                  <a:txBody>
                    <a:bodyPr/>
                    <a:lstStyle/>
                    <a:p>
                      <a:pPr algn="ctr">
                        <a:lnSpc>
                          <a:spcPts val="3499"/>
                        </a:lnSpc>
                        <a:defRPr/>
                      </a:pPr>
                      <a:r>
                        <a:rPr lang="en-US" sz="2499" b="1">
                          <a:solidFill>
                            <a:srgbClr val="FFFFFF"/>
                          </a:solidFill>
                          <a:latin typeface="Arimo Bold"/>
                          <a:ea typeface="Arimo Bold"/>
                          <a:cs typeface="Arimo Bold"/>
                          <a:sym typeface="Arimo Bold"/>
                        </a:rPr>
                        <a:t>USERS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06728A"/>
                    </a:solidFill>
                  </a:tcPr>
                </a:tc>
                <a:tc>
                  <a:txBody>
                    <a:bodyPr/>
                    <a:lstStyle/>
                    <a:p>
                      <a:pPr algn="ctr">
                        <a:lnSpc>
                          <a:spcPts val="3499"/>
                        </a:lnSpc>
                        <a:defRPr/>
                      </a:pPr>
                      <a:r>
                        <a:rPr lang="en-US" sz="2499" b="1">
                          <a:solidFill>
                            <a:srgbClr val="FFFFFF"/>
                          </a:solidFill>
                          <a:latin typeface="Arimo Bold"/>
                          <a:ea typeface="Arimo Bold"/>
                          <a:cs typeface="Arimo Bold"/>
                          <a:sym typeface="Arimo Bold"/>
                        </a:rPr>
                        <a:t>STAKEHOLDERS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06728A"/>
                    </a:solidFill>
                  </a:tcPr>
                </a:tc>
                <a:extLst>
                  <a:ext uri="{0D108BD9-81ED-4DB2-BD59-A6C34878D82A}">
                    <a16:rowId xmlns:a16="http://schemas.microsoft.com/office/drawing/2014/main" val="10000"/>
                  </a:ext>
                </a:extLst>
              </a:tr>
              <a:tr h="2392392">
                <a:tc>
                  <a:txBody>
                    <a:bodyPr/>
                    <a:lstStyle/>
                    <a:p>
                      <a:pPr algn="ctr">
                        <a:lnSpc>
                          <a:spcPts val="2799"/>
                        </a:lnSpc>
                        <a:defRPr/>
                      </a:pPr>
                      <a:r>
                        <a:rPr lang="en-US" sz="1999" b="1">
                          <a:solidFill>
                            <a:srgbClr val="000000"/>
                          </a:solidFill>
                          <a:latin typeface="Arimo Bold"/>
                          <a:ea typeface="Arimo Bold"/>
                          <a:cs typeface="Arimo Bold"/>
                          <a:sym typeface="Arimo Bold"/>
                        </a:rPr>
                        <a:t>Urban and rural households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tc>
                  <a:txBody>
                    <a:bodyPr/>
                    <a:lstStyle/>
                    <a:p>
                      <a:pPr algn="ctr">
                        <a:lnSpc>
                          <a:spcPts val="2799"/>
                        </a:lnSpc>
                        <a:defRPr/>
                      </a:pPr>
                      <a:r>
                        <a:rPr lang="en-US" sz="1999" b="1">
                          <a:solidFill>
                            <a:srgbClr val="000000"/>
                          </a:solidFill>
                          <a:latin typeface="Arimo Bold"/>
                          <a:ea typeface="Arimo Bold"/>
                          <a:cs typeface="Arimo Bold"/>
                          <a:sym typeface="Arimo Bold"/>
                        </a:rPr>
                        <a:t>Water supply boards</a:t>
                      </a:r>
                      <a:endParaRPr lang="en-US" sz="1100"/>
                    </a:p>
                    <a:p>
                      <a:pPr algn="ctr">
                        <a:lnSpc>
                          <a:spcPts val="2799"/>
                        </a:lnSpc>
                      </a:pPr>
                      <a:r>
                        <a:rPr lang="en-US" sz="1999" b="1">
                          <a:solidFill>
                            <a:srgbClr val="000000"/>
                          </a:solidFill>
                          <a:latin typeface="Arimo Bold"/>
                          <a:ea typeface="Arimo Bold"/>
                          <a:cs typeface="Arimo Bold"/>
                          <a:sym typeface="Arimo Bold"/>
                        </a:rPr>
                        <a:t>Public health authorities</a:t>
                      </a:r>
                    </a:p>
                    <a:p>
                      <a:pPr algn="ctr">
                        <a:lnSpc>
                          <a:spcPts val="2799"/>
                        </a:lnSpc>
                      </a:pPr>
                      <a:r>
                        <a:rPr lang="en-US" sz="1999" b="1">
                          <a:solidFill>
                            <a:srgbClr val="000000"/>
                          </a:solidFill>
                          <a:latin typeface="Arimo Bold"/>
                          <a:ea typeface="Arimo Bold"/>
                          <a:cs typeface="Arimo Bold"/>
                          <a:sym typeface="Arimo Bold"/>
                        </a:rPr>
                        <a:t>NGOs</a:t>
                      </a:r>
                    </a:p>
                    <a:p>
                      <a:pPr algn="ctr">
                        <a:lnSpc>
                          <a:spcPts val="2799"/>
                        </a:lnSpc>
                      </a:pPr>
                      <a:r>
                        <a:rPr lang="en-US" sz="1999" b="1">
                          <a:solidFill>
                            <a:srgbClr val="000000"/>
                          </a:solidFill>
                          <a:latin typeface="Arimo Bold"/>
                          <a:ea typeface="Arimo Bold"/>
                          <a:cs typeface="Arimo Bold"/>
                          <a:sym typeface="Arimo Bold"/>
                        </a:rPr>
                        <a:t>Environmental agencies</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A4C5E7"/>
                    </a:solidFill>
                  </a:tcPr>
                </a:tc>
                <a:extLst>
                  <a:ext uri="{0D108BD9-81ED-4DB2-BD59-A6C34878D82A}">
                    <a16:rowId xmlns:a16="http://schemas.microsoft.com/office/drawing/2014/main" val="10001"/>
                  </a:ext>
                </a:extLst>
              </a:tr>
            </a:tbl>
          </a:graphicData>
        </a:graphic>
      </p:graphicFrame>
      <p:sp>
        <p:nvSpPr>
          <p:cNvPr id="10" name="TextBox 10"/>
          <p:cNvSpPr txBox="1"/>
          <p:nvPr/>
        </p:nvSpPr>
        <p:spPr>
          <a:xfrm>
            <a:off x="4824066" y="1577258"/>
            <a:ext cx="13115197" cy="1139825"/>
          </a:xfrm>
          <a:prstGeom prst="rect">
            <a:avLst/>
          </a:prstGeom>
        </p:spPr>
        <p:txBody>
          <a:bodyPr lIns="0" tIns="0" rIns="0" bIns="0" rtlCol="0" anchor="t">
            <a:spAutoFit/>
          </a:bodyPr>
          <a:lstStyle/>
          <a:p>
            <a:pPr marL="0" lvl="0" indent="0" algn="ctr">
              <a:lnSpc>
                <a:spcPts val="8800"/>
              </a:lnSpc>
              <a:spcBef>
                <a:spcPct val="0"/>
              </a:spcBef>
            </a:pPr>
            <a:r>
              <a:rPr lang="en-US" sz="8000" b="1" dirty="0">
                <a:solidFill>
                  <a:srgbClr val="06728A"/>
                </a:solidFill>
                <a:latin typeface="Garet Bold"/>
                <a:ea typeface="Garet Bold"/>
                <a:cs typeface="Garet Bold"/>
                <a:sym typeface="Garet Bold"/>
              </a:rPr>
              <a:t>USERS &amp; STAKEHOLDERS</a:t>
            </a:r>
            <a:r>
              <a:rPr lang="en-US" sz="8000" b="1" u="none" strike="noStrike" dirty="0">
                <a:solidFill>
                  <a:srgbClr val="06728A"/>
                </a:solidFill>
                <a:latin typeface="Garet Bold"/>
                <a:ea typeface="Garet Bold"/>
                <a:cs typeface="Garet Bold"/>
                <a:sym typeface="Garet Bold"/>
              </a:rPr>
              <a:t/>
            </a:r>
          </a:p>
        </p:txBody>
      </p:sp>
      <p:grpSp>
        <p:nvGrpSpPr>
          <p:cNvPr id="11" name="Group 11"/>
          <p:cNvGrpSpPr/>
          <p:nvPr/>
        </p:nvGrpSpPr>
        <p:grpSpPr>
          <a:xfrm>
            <a:off x="0" y="9559957"/>
            <a:ext cx="3771900" cy="735463"/>
            <a:chOff x="0" y="0"/>
            <a:chExt cx="5029200" cy="980618"/>
          </a:xfrm>
        </p:grpSpPr>
        <p:sp>
          <p:nvSpPr>
            <p:cNvPr id="12" name="Freeform 12"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7"/>
              <a:stretch>
                <a:fillRect t="-929488" r="-256844" b="-5"/>
              </a:stretch>
            </a:blipFill>
          </p:spPr>
          <p:txBody>
            <a:bodyPr/>
            <a:lstStyle/>
            <a:p>
              <a:endParaRPr lang="en-US"/>
            </a:p>
          </p:txBody>
        </p:sp>
      </p:grpSp>
      <p:sp>
        <p:nvSpPr>
          <p:cNvPr id="13" name="TextBox 13"/>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grpSp>
        <p:nvGrpSpPr>
          <p:cNvPr id="14" name="Group 14"/>
          <p:cNvGrpSpPr/>
          <p:nvPr/>
        </p:nvGrpSpPr>
        <p:grpSpPr>
          <a:xfrm>
            <a:off x="3948655" y="9739312"/>
            <a:ext cx="10224545" cy="547688"/>
            <a:chOff x="0" y="0"/>
            <a:chExt cx="13632726" cy="730250"/>
          </a:xfrm>
        </p:grpSpPr>
        <p:sp>
          <p:nvSpPr>
            <p:cNvPr id="15" name="Freeform 15"/>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8">
                <a:alphaModFix amt="0"/>
              </a:blip>
              <a:stretch>
                <a:fillRect t="-313757" b="-313757"/>
              </a:stretch>
            </a:blipFill>
          </p:spPr>
          <p:txBody>
            <a:bodyPr/>
            <a:lstStyle/>
            <a:p>
              <a:endParaRPr lang="en-US"/>
            </a:p>
          </p:txBody>
        </p:sp>
        <p:sp>
          <p:nvSpPr>
            <p:cNvPr id="16" name="TextBox 16"/>
            <p:cNvSpPr txBox="1"/>
            <p:nvPr/>
          </p:nvSpPr>
          <p:spPr>
            <a:xfrm>
              <a:off x="0" y="-19050"/>
              <a:ext cx="13632726" cy="74930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sp>
        <p:nvSpPr>
          <p:cNvPr id="18" name="TextBox 15">
            <a:extLst>
              <a:ext uri="{FF2B5EF4-FFF2-40B4-BE49-F238E27FC236}">
                <a16:creationId xmlns:a16="http://schemas.microsoft.com/office/drawing/2014/main" id="{2EEABC7E-21F0-AC78-5144-2EC23807B218}"/>
              </a:ext>
            </a:extLst>
          </p:cNvPr>
          <p:cNvSpPr txBox="1"/>
          <p:nvPr/>
        </p:nvSpPr>
        <p:spPr>
          <a:xfrm>
            <a:off x="14591978" y="523232"/>
            <a:ext cx="3195446" cy="288541"/>
          </a:xfrm>
          <a:prstGeom prst="rect">
            <a:avLst/>
          </a:prstGeom>
        </p:spPr>
        <p:txBody>
          <a:bodyPr wrap="square"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WATER PURIFICATION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028700" y="1095375"/>
            <a:ext cx="13144500" cy="2044127"/>
          </a:xfrm>
          <a:prstGeom prst="rect">
            <a:avLst/>
          </a:prstGeom>
        </p:spPr>
        <p:txBody>
          <a:bodyPr lIns="0" tIns="0" rIns="0" bIns="0" rtlCol="0" anchor="t">
            <a:spAutoFit/>
          </a:bodyPr>
          <a:lstStyle/>
          <a:p>
            <a:pPr marL="0" lvl="0" indent="0" algn="ctr">
              <a:lnSpc>
                <a:spcPts val="7970"/>
              </a:lnSpc>
              <a:spcBef>
                <a:spcPct val="0"/>
              </a:spcBef>
            </a:pPr>
            <a:r>
              <a:rPr lang="en-US" sz="7246" b="1">
                <a:solidFill>
                  <a:srgbClr val="06728A"/>
                </a:solidFill>
                <a:latin typeface="Garet Bold"/>
                <a:ea typeface="Garet Bold"/>
                <a:cs typeface="Garet Bold"/>
                <a:sym typeface="Garet Bold"/>
              </a:rPr>
              <a:t>IMPACT OF THE PROBLEM TO USER &amp;SOCIETY</a:t>
            </a:r>
          </a:p>
        </p:txBody>
      </p:sp>
      <p:sp>
        <p:nvSpPr>
          <p:cNvPr id="5" name="TextBox 5"/>
          <p:cNvSpPr txBox="1"/>
          <p:nvPr/>
        </p:nvSpPr>
        <p:spPr>
          <a:xfrm>
            <a:off x="1028700" y="4058050"/>
            <a:ext cx="13832091" cy="4035730"/>
          </a:xfrm>
          <a:prstGeom prst="rect">
            <a:avLst/>
          </a:prstGeom>
        </p:spPr>
        <p:txBody>
          <a:bodyPr lIns="0" tIns="0" rIns="0" bIns="0" rtlCol="0" anchor="t">
            <a:spAutoFit/>
          </a:bodyPr>
          <a:lstStyle/>
          <a:p>
            <a:pPr algn="just">
              <a:lnSpc>
                <a:spcPts val="4547"/>
              </a:lnSpc>
            </a:pPr>
            <a:r>
              <a:rPr lang="en-US" sz="3248" b="1">
                <a:solidFill>
                  <a:srgbClr val="1B3957"/>
                </a:solidFill>
                <a:latin typeface="Arimo Bold"/>
                <a:ea typeface="Arimo Bold"/>
                <a:cs typeface="Arimo Bold"/>
                <a:sym typeface="Arimo Bold"/>
              </a:rPr>
              <a:t>Health - Waterborne diseases and long-term health complications (CKDu).</a:t>
            </a:r>
          </a:p>
          <a:p>
            <a:pPr algn="just">
              <a:lnSpc>
                <a:spcPts val="4547"/>
              </a:lnSpc>
            </a:pPr>
            <a:endParaRPr lang="en-US" sz="3248" b="1">
              <a:solidFill>
                <a:srgbClr val="1B3957"/>
              </a:solidFill>
              <a:latin typeface="Arimo Bold"/>
              <a:ea typeface="Arimo Bold"/>
              <a:cs typeface="Arimo Bold"/>
              <a:sym typeface="Arimo Bold"/>
            </a:endParaRPr>
          </a:p>
          <a:p>
            <a:pPr algn="just">
              <a:lnSpc>
                <a:spcPts val="4547"/>
              </a:lnSpc>
            </a:pPr>
            <a:r>
              <a:rPr lang="en-US" sz="3248" b="1">
                <a:solidFill>
                  <a:srgbClr val="1B3957"/>
                </a:solidFill>
                <a:latin typeface="Arimo Bold"/>
                <a:ea typeface="Arimo Bold"/>
                <a:cs typeface="Arimo Bold"/>
                <a:sym typeface="Arimo Bold"/>
              </a:rPr>
              <a:t>Economic - Increased healthcare costs and lost productivity.</a:t>
            </a:r>
          </a:p>
          <a:p>
            <a:pPr algn="just">
              <a:lnSpc>
                <a:spcPts val="4547"/>
              </a:lnSpc>
            </a:pPr>
            <a:endParaRPr lang="en-US" sz="3248" b="1">
              <a:solidFill>
                <a:srgbClr val="1B3957"/>
              </a:solidFill>
              <a:latin typeface="Arimo Bold"/>
              <a:ea typeface="Arimo Bold"/>
              <a:cs typeface="Arimo Bold"/>
              <a:sym typeface="Arimo Bold"/>
            </a:endParaRPr>
          </a:p>
          <a:p>
            <a:pPr algn="just">
              <a:lnSpc>
                <a:spcPts val="4547"/>
              </a:lnSpc>
            </a:pPr>
            <a:r>
              <a:rPr lang="en-US" sz="3248" b="1">
                <a:solidFill>
                  <a:srgbClr val="1B3957"/>
                </a:solidFill>
                <a:latin typeface="Arimo Bold"/>
                <a:ea typeface="Arimo Bold"/>
                <a:cs typeface="Arimo Bold"/>
                <a:sym typeface="Arimo Bold"/>
              </a:rPr>
              <a:t>Environmental - Inefficient water usage and energy waste from existing purifiers.</a:t>
            </a:r>
          </a:p>
        </p:txBody>
      </p:sp>
      <p:grpSp>
        <p:nvGrpSpPr>
          <p:cNvPr id="6" name="Group 6"/>
          <p:cNvGrpSpPr/>
          <p:nvPr/>
        </p:nvGrpSpPr>
        <p:grpSpPr>
          <a:xfrm>
            <a:off x="3948655" y="9739312"/>
            <a:ext cx="10224545" cy="547688"/>
            <a:chOff x="0" y="0"/>
            <a:chExt cx="13632726" cy="730250"/>
          </a:xfrm>
        </p:grpSpPr>
        <p:sp>
          <p:nvSpPr>
            <p:cNvPr id="7" name="Freeform 7"/>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4">
                <a:alphaModFix amt="0"/>
              </a:blip>
              <a:stretch>
                <a:fillRect t="-313757" b="-313757"/>
              </a:stretch>
            </a:blipFill>
          </p:spPr>
          <p:txBody>
            <a:bodyPr/>
            <a:lstStyle/>
            <a:p>
              <a:endParaRPr lang="en-US"/>
            </a:p>
          </p:txBody>
        </p:sp>
        <p:sp>
          <p:nvSpPr>
            <p:cNvPr id="8" name="TextBox 8"/>
            <p:cNvSpPr txBox="1"/>
            <p:nvPr/>
          </p:nvSpPr>
          <p:spPr>
            <a:xfrm>
              <a:off x="0" y="-19050"/>
              <a:ext cx="13632726" cy="74930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grpSp>
        <p:nvGrpSpPr>
          <p:cNvPr id="9" name="Group 9"/>
          <p:cNvGrpSpPr/>
          <p:nvPr/>
        </p:nvGrpSpPr>
        <p:grpSpPr>
          <a:xfrm>
            <a:off x="0" y="9559957"/>
            <a:ext cx="3771900" cy="735463"/>
            <a:chOff x="0" y="0"/>
            <a:chExt cx="5029200" cy="980618"/>
          </a:xfrm>
        </p:grpSpPr>
        <p:sp>
          <p:nvSpPr>
            <p:cNvPr id="10" name="Freeform 10"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3" name="TextBox 15">
            <a:extLst>
              <a:ext uri="{FF2B5EF4-FFF2-40B4-BE49-F238E27FC236}">
                <a16:creationId xmlns:a16="http://schemas.microsoft.com/office/drawing/2014/main" id="{75A6B198-EF80-9BD4-5542-59923AB5E8FD}"/>
              </a:ext>
            </a:extLst>
          </p:cNvPr>
          <p:cNvSpPr txBox="1"/>
          <p:nvPr/>
        </p:nvSpPr>
        <p:spPr>
          <a:xfrm>
            <a:off x="14591978" y="523232"/>
            <a:ext cx="3195446" cy="288541"/>
          </a:xfrm>
          <a:prstGeom prst="rect">
            <a:avLst/>
          </a:prstGeom>
        </p:spPr>
        <p:txBody>
          <a:bodyPr wrap="square"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WATER PURIFICATION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028700" y="1095375"/>
            <a:ext cx="11700283" cy="1975855"/>
          </a:xfrm>
          <a:prstGeom prst="rect">
            <a:avLst/>
          </a:prstGeom>
        </p:spPr>
        <p:txBody>
          <a:bodyPr lIns="0" tIns="0" rIns="0" bIns="0" rtlCol="0" anchor="t">
            <a:spAutoFit/>
          </a:bodyPr>
          <a:lstStyle/>
          <a:p>
            <a:pPr marL="0" lvl="0" indent="0" algn="ctr">
              <a:lnSpc>
                <a:spcPts val="7712"/>
              </a:lnSpc>
              <a:spcBef>
                <a:spcPct val="0"/>
              </a:spcBef>
            </a:pPr>
            <a:r>
              <a:rPr lang="en-US" sz="7011" b="1">
                <a:solidFill>
                  <a:srgbClr val="06728A"/>
                </a:solidFill>
                <a:latin typeface="Garet Bold"/>
                <a:ea typeface="Garet Bold"/>
                <a:cs typeface="Garet Bold"/>
                <a:sym typeface="Garet Bold"/>
              </a:rPr>
              <a:t>EXISTING SOLUTIONS &amp; THEIR LIMITATIONS </a:t>
            </a:r>
          </a:p>
        </p:txBody>
      </p:sp>
      <p:sp>
        <p:nvSpPr>
          <p:cNvPr id="5" name="TextBox 5"/>
          <p:cNvSpPr txBox="1"/>
          <p:nvPr/>
        </p:nvSpPr>
        <p:spPr>
          <a:xfrm>
            <a:off x="1637404" y="3687575"/>
            <a:ext cx="12770458" cy="4339324"/>
          </a:xfrm>
          <a:prstGeom prst="rect">
            <a:avLst/>
          </a:prstGeom>
        </p:spPr>
        <p:txBody>
          <a:bodyPr lIns="0" tIns="0" rIns="0" bIns="0" rtlCol="0" anchor="t">
            <a:spAutoFit/>
          </a:bodyPr>
          <a:lstStyle/>
          <a:p>
            <a:pPr algn="just">
              <a:lnSpc>
                <a:spcPts val="4949"/>
              </a:lnSpc>
            </a:pPr>
            <a:r>
              <a:rPr lang="en-US" sz="3535" b="1" dirty="0">
                <a:solidFill>
                  <a:srgbClr val="06728A"/>
                </a:solidFill>
                <a:latin typeface="Arimo Bold"/>
                <a:ea typeface="Arimo Bold"/>
                <a:cs typeface="Arimo Bold"/>
                <a:sym typeface="Arimo Bold"/>
              </a:rPr>
              <a:t>Solution</a:t>
            </a:r>
            <a:r>
              <a:rPr lang="en-US" sz="3535" b="1" dirty="0">
                <a:solidFill>
                  <a:srgbClr val="1B3957"/>
                </a:solidFill>
                <a:latin typeface="Arimo Bold"/>
                <a:ea typeface="Arimo Bold"/>
                <a:cs typeface="Arimo Bold"/>
                <a:sym typeface="Arimo Bold"/>
              </a:rPr>
              <a:t> - Current purification methods like RO systems waste water and strip essential minerals, distillation is energy-intensive and slow, and chlorination risks harmful by-products.</a:t>
            </a:r>
          </a:p>
          <a:p>
            <a:pPr algn="just">
              <a:lnSpc>
                <a:spcPts val="4949"/>
              </a:lnSpc>
            </a:pPr>
            <a:endParaRPr lang="en-US" sz="3535" b="1" dirty="0">
              <a:solidFill>
                <a:srgbClr val="1B3957"/>
              </a:solidFill>
              <a:latin typeface="Arimo Bold"/>
              <a:ea typeface="Arimo Bold"/>
              <a:cs typeface="Arimo Bold"/>
              <a:sym typeface="Arimo Bold"/>
            </a:endParaRPr>
          </a:p>
          <a:p>
            <a:pPr algn="just">
              <a:lnSpc>
                <a:spcPts val="4949"/>
              </a:lnSpc>
            </a:pPr>
            <a:r>
              <a:rPr lang="en-US" sz="3535" b="1" dirty="0">
                <a:solidFill>
                  <a:srgbClr val="06728A"/>
                </a:solidFill>
                <a:latin typeface="Arimo Bold"/>
                <a:ea typeface="Arimo Bold"/>
                <a:cs typeface="Arimo Bold"/>
                <a:sym typeface="Arimo Bold"/>
              </a:rPr>
              <a:t>Limitation</a:t>
            </a:r>
            <a:r>
              <a:rPr lang="en-US" sz="3535" b="1" dirty="0">
                <a:solidFill>
                  <a:srgbClr val="1B3957"/>
                </a:solidFill>
                <a:latin typeface="Arimo Bold"/>
                <a:ea typeface="Arimo Bold"/>
                <a:cs typeface="Arimo Bold"/>
                <a:sym typeface="Arimo Bold"/>
              </a:rPr>
              <a:t> - They operate in isolation with no real-time monitoring or adaptive control.</a:t>
            </a:r>
          </a:p>
        </p:txBody>
      </p:sp>
      <p:grpSp>
        <p:nvGrpSpPr>
          <p:cNvPr id="6" name="Group 6"/>
          <p:cNvGrpSpPr/>
          <p:nvPr/>
        </p:nvGrpSpPr>
        <p:grpSpPr>
          <a:xfrm>
            <a:off x="3948655" y="9739312"/>
            <a:ext cx="10224545" cy="547688"/>
            <a:chOff x="0" y="0"/>
            <a:chExt cx="13632726" cy="730250"/>
          </a:xfrm>
        </p:grpSpPr>
        <p:sp>
          <p:nvSpPr>
            <p:cNvPr id="7" name="Freeform 7"/>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4">
                <a:alphaModFix amt="0"/>
              </a:blip>
              <a:stretch>
                <a:fillRect t="-313757" b="-313757"/>
              </a:stretch>
            </a:blipFill>
          </p:spPr>
          <p:txBody>
            <a:bodyPr/>
            <a:lstStyle/>
            <a:p>
              <a:endParaRPr lang="en-US"/>
            </a:p>
          </p:txBody>
        </p:sp>
        <p:sp>
          <p:nvSpPr>
            <p:cNvPr id="8" name="TextBox 8"/>
            <p:cNvSpPr txBox="1"/>
            <p:nvPr/>
          </p:nvSpPr>
          <p:spPr>
            <a:xfrm>
              <a:off x="0" y="-19050"/>
              <a:ext cx="13632726" cy="74930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grpSp>
        <p:nvGrpSpPr>
          <p:cNvPr id="9" name="Group 9"/>
          <p:cNvGrpSpPr/>
          <p:nvPr/>
        </p:nvGrpSpPr>
        <p:grpSpPr>
          <a:xfrm>
            <a:off x="0" y="9559957"/>
            <a:ext cx="3771900" cy="735463"/>
            <a:chOff x="0" y="0"/>
            <a:chExt cx="5029200" cy="980618"/>
          </a:xfrm>
        </p:grpSpPr>
        <p:sp>
          <p:nvSpPr>
            <p:cNvPr id="10" name="Freeform 10"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4" name="TextBox 15">
            <a:extLst>
              <a:ext uri="{FF2B5EF4-FFF2-40B4-BE49-F238E27FC236}">
                <a16:creationId xmlns:a16="http://schemas.microsoft.com/office/drawing/2014/main" id="{78D01B64-832D-A6F2-37F5-4B1B70BF3F96}"/>
              </a:ext>
            </a:extLst>
          </p:cNvPr>
          <p:cNvSpPr txBox="1"/>
          <p:nvPr/>
        </p:nvSpPr>
        <p:spPr>
          <a:xfrm>
            <a:off x="14591978" y="523232"/>
            <a:ext cx="3195446" cy="288541"/>
          </a:xfrm>
          <a:prstGeom prst="rect">
            <a:avLst/>
          </a:prstGeom>
        </p:spPr>
        <p:txBody>
          <a:bodyPr wrap="square"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WATER PURIFICATION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885950" y="1392951"/>
            <a:ext cx="11700283" cy="1975855"/>
          </a:xfrm>
          <a:prstGeom prst="rect">
            <a:avLst/>
          </a:prstGeom>
        </p:spPr>
        <p:txBody>
          <a:bodyPr lIns="0" tIns="0" rIns="0" bIns="0" rtlCol="0" anchor="t">
            <a:spAutoFit/>
          </a:bodyPr>
          <a:lstStyle/>
          <a:p>
            <a:pPr marL="0" lvl="0" indent="0" algn="ctr">
              <a:lnSpc>
                <a:spcPts val="7712"/>
              </a:lnSpc>
              <a:spcBef>
                <a:spcPct val="0"/>
              </a:spcBef>
            </a:pPr>
            <a:r>
              <a:rPr lang="en-US" sz="7011" b="1">
                <a:solidFill>
                  <a:srgbClr val="06728A"/>
                </a:solidFill>
                <a:latin typeface="Garet Bold"/>
                <a:ea typeface="Garet Bold"/>
                <a:cs typeface="Garet Bold"/>
                <a:sym typeface="Garet Bold"/>
              </a:rPr>
              <a:t>PROPOSED SOLUTIONS &amp; LIMITATIONS</a:t>
            </a:r>
          </a:p>
        </p:txBody>
      </p:sp>
      <p:sp>
        <p:nvSpPr>
          <p:cNvPr id="5" name="TextBox 5"/>
          <p:cNvSpPr txBox="1"/>
          <p:nvPr/>
        </p:nvSpPr>
        <p:spPr>
          <a:xfrm>
            <a:off x="1973327" y="3450931"/>
            <a:ext cx="12199873" cy="5625087"/>
          </a:xfrm>
          <a:prstGeom prst="rect">
            <a:avLst/>
          </a:prstGeom>
        </p:spPr>
        <p:txBody>
          <a:bodyPr lIns="0" tIns="0" rIns="0" bIns="0" rtlCol="0" anchor="t">
            <a:spAutoFit/>
          </a:bodyPr>
          <a:lstStyle/>
          <a:p>
            <a:pPr algn="just">
              <a:lnSpc>
                <a:spcPts val="4430"/>
              </a:lnSpc>
            </a:pPr>
            <a:r>
              <a:rPr lang="en-US" sz="3164" b="1">
                <a:solidFill>
                  <a:srgbClr val="06728A"/>
                </a:solidFill>
                <a:latin typeface="Arimo Bold"/>
                <a:ea typeface="Arimo Bold"/>
                <a:cs typeface="Arimo Bold"/>
                <a:sym typeface="Arimo Bold"/>
              </a:rPr>
              <a:t>Solution</a:t>
            </a:r>
            <a:r>
              <a:rPr lang="en-US" sz="3164" b="1">
                <a:solidFill>
                  <a:srgbClr val="1B3957"/>
                </a:solidFill>
                <a:latin typeface="Arimo Bold"/>
                <a:ea typeface="Arimo Bold"/>
                <a:cs typeface="Arimo Bold"/>
                <a:sym typeface="Arimo Bold"/>
              </a:rPr>
              <a:t> - An integrated system combining IoT, AI/ML, and autonomous systems will identify water types, optimize purification, maintain safe mineral balance, and monitor environmental sources in real-time.</a:t>
            </a:r>
          </a:p>
          <a:p>
            <a:pPr algn="just">
              <a:lnSpc>
                <a:spcPts val="4430"/>
              </a:lnSpc>
            </a:pPr>
            <a:endParaRPr lang="en-US" sz="3164" b="1">
              <a:solidFill>
                <a:srgbClr val="1B3957"/>
              </a:solidFill>
              <a:latin typeface="Arimo Bold"/>
              <a:ea typeface="Arimo Bold"/>
              <a:cs typeface="Arimo Bold"/>
              <a:sym typeface="Arimo Bold"/>
            </a:endParaRPr>
          </a:p>
          <a:p>
            <a:pPr algn="just">
              <a:lnSpc>
                <a:spcPts val="4430"/>
              </a:lnSpc>
            </a:pPr>
            <a:r>
              <a:rPr lang="en-US" sz="3164" b="1">
                <a:solidFill>
                  <a:srgbClr val="06728A"/>
                </a:solidFill>
                <a:latin typeface="Arimo Bold"/>
                <a:ea typeface="Arimo Bold"/>
                <a:cs typeface="Arimo Bold"/>
                <a:sym typeface="Arimo Bold"/>
              </a:rPr>
              <a:t>Limitation</a:t>
            </a:r>
            <a:r>
              <a:rPr lang="en-US" sz="3164" b="1">
                <a:solidFill>
                  <a:srgbClr val="1B3957"/>
                </a:solidFill>
                <a:latin typeface="Arimo Bold"/>
                <a:ea typeface="Arimo Bold"/>
                <a:cs typeface="Arimo Bold"/>
                <a:sym typeface="Arimo Bold"/>
              </a:rPr>
              <a:t> - This intelligent system uses AI to select the optimal purification method based on real-time data, operates efficiently through low-power distillation and precise mineral dosing, and proactively monitors environmental sources to predict contamination.</a:t>
            </a:r>
          </a:p>
        </p:txBody>
      </p:sp>
      <p:grpSp>
        <p:nvGrpSpPr>
          <p:cNvPr id="6" name="Group 6"/>
          <p:cNvGrpSpPr/>
          <p:nvPr/>
        </p:nvGrpSpPr>
        <p:grpSpPr>
          <a:xfrm>
            <a:off x="3948655" y="9739312"/>
            <a:ext cx="10224545" cy="547688"/>
            <a:chOff x="0" y="0"/>
            <a:chExt cx="13632726" cy="730250"/>
          </a:xfrm>
        </p:grpSpPr>
        <p:sp>
          <p:nvSpPr>
            <p:cNvPr id="7" name="Freeform 7"/>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4">
                <a:alphaModFix amt="0"/>
              </a:blip>
              <a:stretch>
                <a:fillRect t="-313757" b="-313757"/>
              </a:stretch>
            </a:blipFill>
          </p:spPr>
          <p:txBody>
            <a:bodyPr/>
            <a:lstStyle/>
            <a:p>
              <a:endParaRPr lang="en-US"/>
            </a:p>
          </p:txBody>
        </p:sp>
        <p:sp>
          <p:nvSpPr>
            <p:cNvPr id="8" name="TextBox 8"/>
            <p:cNvSpPr txBox="1"/>
            <p:nvPr/>
          </p:nvSpPr>
          <p:spPr>
            <a:xfrm>
              <a:off x="0" y="-19050"/>
              <a:ext cx="13632726" cy="74930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grpSp>
        <p:nvGrpSpPr>
          <p:cNvPr id="9" name="Group 9"/>
          <p:cNvGrpSpPr/>
          <p:nvPr/>
        </p:nvGrpSpPr>
        <p:grpSpPr>
          <a:xfrm>
            <a:off x="0" y="9559957"/>
            <a:ext cx="3771900" cy="735463"/>
            <a:chOff x="0" y="0"/>
            <a:chExt cx="5029200" cy="980618"/>
          </a:xfrm>
        </p:grpSpPr>
        <p:sp>
          <p:nvSpPr>
            <p:cNvPr id="10" name="Freeform 10"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3" name="TextBox 15">
            <a:extLst>
              <a:ext uri="{FF2B5EF4-FFF2-40B4-BE49-F238E27FC236}">
                <a16:creationId xmlns:a16="http://schemas.microsoft.com/office/drawing/2014/main" id="{BAF160D5-449D-7A46-3E5D-9E2CF1D4A158}"/>
              </a:ext>
            </a:extLst>
          </p:cNvPr>
          <p:cNvSpPr txBox="1"/>
          <p:nvPr/>
        </p:nvSpPr>
        <p:spPr>
          <a:xfrm>
            <a:off x="14591978" y="523232"/>
            <a:ext cx="3195446" cy="288541"/>
          </a:xfrm>
          <a:prstGeom prst="rect">
            <a:avLst/>
          </a:prstGeom>
        </p:spPr>
        <p:txBody>
          <a:bodyPr wrap="square"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WATER PURIFICATION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577729">
            <a:off x="1065970" y="2839428"/>
            <a:ext cx="486621" cy="486621"/>
          </a:xfrm>
          <a:custGeom>
            <a:avLst/>
            <a:gdLst/>
            <a:ahLst/>
            <a:cxnLst/>
            <a:rect l="l" t="t" r="r" b="b"/>
            <a:pathLst>
              <a:path w="486621" h="486621">
                <a:moveTo>
                  <a:pt x="0" y="0"/>
                </a:moveTo>
                <a:lnTo>
                  <a:pt x="486620" y="0"/>
                </a:lnTo>
                <a:lnTo>
                  <a:pt x="486620" y="486621"/>
                </a:lnTo>
                <a:lnTo>
                  <a:pt x="0" y="486621"/>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rot="-557633">
            <a:off x="16175419" y="1675372"/>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Freeform 5"/>
          <p:cNvSpPr/>
          <p:nvPr/>
        </p:nvSpPr>
        <p:spPr>
          <a:xfrm rot="248758">
            <a:off x="16755725" y="8524992"/>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sp>
        <p:nvSpPr>
          <p:cNvPr id="8" name="Freeform 8"/>
          <p:cNvSpPr/>
          <p:nvPr/>
        </p:nvSpPr>
        <p:spPr>
          <a:xfrm>
            <a:off x="15447400" y="0"/>
            <a:ext cx="2840600" cy="4645401"/>
          </a:xfrm>
          <a:custGeom>
            <a:avLst/>
            <a:gdLst/>
            <a:ahLst/>
            <a:cxnLst/>
            <a:rect l="l" t="t" r="r" b="b"/>
            <a:pathLst>
              <a:path w="2840600" h="4645401">
                <a:moveTo>
                  <a:pt x="0" y="0"/>
                </a:moveTo>
                <a:lnTo>
                  <a:pt x="2840600" y="0"/>
                </a:lnTo>
                <a:lnTo>
                  <a:pt x="2840600" y="4645401"/>
                </a:lnTo>
                <a:lnTo>
                  <a:pt x="0" y="4645401"/>
                </a:lnTo>
                <a:lnTo>
                  <a:pt x="0" y="0"/>
                </a:lnTo>
                <a:close/>
              </a:path>
            </a:pathLst>
          </a:custGeom>
          <a:blipFill>
            <a:blip r:embed="rId6"/>
            <a:stretch>
              <a:fillRect/>
            </a:stretch>
          </a:blipFill>
        </p:spPr>
        <p:txBody>
          <a:bodyPr/>
          <a:lstStyle/>
          <a:p>
            <a:endParaRPr lang="en-US"/>
          </a:p>
        </p:txBody>
      </p:sp>
      <p:sp>
        <p:nvSpPr>
          <p:cNvPr id="9" name="TextBox 9"/>
          <p:cNvSpPr txBox="1"/>
          <p:nvPr/>
        </p:nvSpPr>
        <p:spPr>
          <a:xfrm>
            <a:off x="4245117" y="3916933"/>
            <a:ext cx="11985483" cy="555346"/>
          </a:xfrm>
          <a:prstGeom prst="rect">
            <a:avLst/>
          </a:prstGeom>
        </p:spPr>
        <p:txBody>
          <a:bodyPr lIns="0" tIns="0" rIns="0" bIns="0" rtlCol="0" anchor="t">
            <a:spAutoFit/>
          </a:bodyPr>
          <a:lstStyle/>
          <a:p>
            <a:pPr marL="0" lvl="0" indent="0" algn="l">
              <a:lnSpc>
                <a:spcPts val="4375"/>
              </a:lnSpc>
            </a:pPr>
            <a:r>
              <a:rPr lang="en-US" sz="3977" b="1">
                <a:solidFill>
                  <a:srgbClr val="06728A"/>
                </a:solidFill>
                <a:latin typeface="Garet Bold"/>
                <a:ea typeface="Garet Bold"/>
                <a:cs typeface="Garet Bold"/>
                <a:sym typeface="Garet Bold"/>
              </a:rPr>
              <a:t>IT22295460  | W.A.S.P.D. WIJESINGHA </a:t>
            </a:r>
          </a:p>
        </p:txBody>
      </p:sp>
      <p:sp>
        <p:nvSpPr>
          <p:cNvPr id="10" name="TextBox 10"/>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1" name="TextBox 11"/>
          <p:cNvSpPr txBox="1"/>
          <p:nvPr/>
        </p:nvSpPr>
        <p:spPr>
          <a:xfrm>
            <a:off x="2469209" y="4812915"/>
            <a:ext cx="13761391" cy="1266828"/>
          </a:xfrm>
          <a:prstGeom prst="rect">
            <a:avLst/>
          </a:prstGeom>
        </p:spPr>
        <p:txBody>
          <a:bodyPr lIns="0" tIns="0" rIns="0" bIns="0" rtlCol="0" anchor="t">
            <a:spAutoFit/>
          </a:bodyPr>
          <a:lstStyle/>
          <a:p>
            <a:pPr marL="0" lvl="0" indent="0" algn="ctr">
              <a:lnSpc>
                <a:spcPts val="4950"/>
              </a:lnSpc>
              <a:spcBef>
                <a:spcPct val="0"/>
              </a:spcBef>
            </a:pPr>
            <a:r>
              <a:rPr lang="en-US" sz="4500" b="1">
                <a:solidFill>
                  <a:srgbClr val="06728A"/>
                </a:solidFill>
                <a:latin typeface="Garet Bold"/>
                <a:ea typeface="Garet Bold"/>
                <a:cs typeface="Garet Bold"/>
                <a:sym typeface="Garet Bold"/>
              </a:rPr>
              <a:t>HOUSEHOLD DISTILLED WATER MAKER WITH LEAST POWER – IOT + MOBILE APP</a:t>
            </a:r>
          </a:p>
        </p:txBody>
      </p:sp>
      <p:grpSp>
        <p:nvGrpSpPr>
          <p:cNvPr id="12" name="Group 12"/>
          <p:cNvGrpSpPr/>
          <p:nvPr/>
        </p:nvGrpSpPr>
        <p:grpSpPr>
          <a:xfrm>
            <a:off x="4781846" y="8768302"/>
            <a:ext cx="10224545" cy="1980251"/>
            <a:chOff x="0" y="0"/>
            <a:chExt cx="13632726" cy="2640335"/>
          </a:xfrm>
        </p:grpSpPr>
        <p:sp>
          <p:nvSpPr>
            <p:cNvPr id="13" name="Freeform 13"/>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7">
                <a:alphaModFix amt="0"/>
              </a:blip>
              <a:stretch>
                <a:fillRect t="-86777" b="-14434"/>
              </a:stretch>
            </a:blipFill>
          </p:spPr>
          <p:txBody>
            <a:bodyPr/>
            <a:lstStyle/>
            <a:p>
              <a:endParaRPr lang="en-US"/>
            </a:p>
          </p:txBody>
        </p:sp>
        <p:sp>
          <p:nvSpPr>
            <p:cNvPr id="14" name="TextBox 14"/>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IT22295460</a:t>
              </a:r>
              <a:r>
                <a:rPr lang="en-US" sz="2700">
                  <a:solidFill>
                    <a:srgbClr val="000000"/>
                  </a:solidFill>
                  <a:latin typeface="Cambria"/>
                  <a:ea typeface="Cambria"/>
                  <a:cs typeface="Cambria"/>
                  <a:sym typeface="Cambria"/>
                </a:rPr>
                <a:t>   |   W.A.S.P.D. WIJESINGHA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5" name="TextBox 15"/>
          <p:cNvSpPr txBox="1"/>
          <p:nvPr/>
        </p:nvSpPr>
        <p:spPr>
          <a:xfrm>
            <a:off x="2789456" y="6928200"/>
            <a:ext cx="12709088" cy="1335362"/>
          </a:xfrm>
          <a:prstGeom prst="rect">
            <a:avLst/>
          </a:prstGeom>
        </p:spPr>
        <p:txBody>
          <a:bodyPr lIns="0" tIns="0" rIns="0" bIns="0" rtlCol="0" anchor="t">
            <a:spAutoFit/>
          </a:bodyPr>
          <a:lstStyle/>
          <a:p>
            <a:pPr algn="ctr">
              <a:lnSpc>
                <a:spcPts val="3572"/>
              </a:lnSpc>
            </a:pPr>
            <a:r>
              <a:rPr lang="en-US" sz="2551" b="1">
                <a:solidFill>
                  <a:srgbClr val="1B3957"/>
                </a:solidFill>
                <a:latin typeface="Arimo Bold"/>
                <a:ea typeface="Arimo Bold"/>
                <a:cs typeface="Arimo Bold"/>
                <a:sym typeface="Arimo Bold"/>
              </a:rPr>
              <a:t>Novelty - The first integration of AI-assisted energy optimization with a household distiller. Unlike passive systems, it learns usage patterns and predicts scaling/faults, transforming a dumb appliance into a smart, sustainable device.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656809" y="162264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PROBLEM</a:t>
            </a:r>
          </a:p>
        </p:txBody>
      </p:sp>
      <p:sp>
        <p:nvSpPr>
          <p:cNvPr id="5" name="TextBox 5"/>
          <p:cNvSpPr txBox="1"/>
          <p:nvPr/>
        </p:nvSpPr>
        <p:spPr>
          <a:xfrm>
            <a:off x="1698773" y="2681127"/>
            <a:ext cx="12709088" cy="1598888"/>
          </a:xfrm>
          <a:prstGeom prst="rect">
            <a:avLst/>
          </a:prstGeom>
        </p:spPr>
        <p:txBody>
          <a:bodyPr lIns="0" tIns="0" rIns="0" bIns="0" rtlCol="0" anchor="t">
            <a:spAutoFit/>
          </a:bodyPr>
          <a:lstStyle/>
          <a:p>
            <a:pPr algn="just">
              <a:lnSpc>
                <a:spcPts val="4272"/>
              </a:lnSpc>
            </a:pPr>
            <a:r>
              <a:rPr lang="en-US" sz="3051" b="1">
                <a:solidFill>
                  <a:srgbClr val="1B3957"/>
                </a:solidFill>
                <a:latin typeface="Arimo Bold"/>
                <a:ea typeface="Arimo Bold"/>
                <a:cs typeface="Arimo Bold"/>
                <a:sym typeface="Arimo Bold"/>
              </a:rPr>
              <a:t>Conventional home distillers consume massive amounts of electricity and lack user control, making them expensive and unsustainable to run.</a:t>
            </a: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9" name="TextBox 9"/>
          <p:cNvSpPr txBox="1"/>
          <p:nvPr/>
        </p:nvSpPr>
        <p:spPr>
          <a:xfrm>
            <a:off x="1656809" y="461458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SOLUTION</a:t>
            </a:r>
          </a:p>
        </p:txBody>
      </p:sp>
      <p:sp>
        <p:nvSpPr>
          <p:cNvPr id="10" name="TextBox 10"/>
          <p:cNvSpPr txBox="1"/>
          <p:nvPr/>
        </p:nvSpPr>
        <p:spPr>
          <a:xfrm>
            <a:off x="1656809" y="5812902"/>
            <a:ext cx="14191672" cy="3199923"/>
          </a:xfrm>
          <a:prstGeom prst="rect">
            <a:avLst/>
          </a:prstGeom>
        </p:spPr>
        <p:txBody>
          <a:bodyPr lIns="0" tIns="0" rIns="0" bIns="0" rtlCol="0" anchor="t">
            <a:spAutoFit/>
          </a:bodyPr>
          <a:lstStyle/>
          <a:p>
            <a:pPr algn="just">
              <a:lnSpc>
                <a:spcPts val="4226"/>
              </a:lnSpc>
            </a:pPr>
            <a:r>
              <a:rPr lang="en-US" sz="3018" b="1">
                <a:solidFill>
                  <a:srgbClr val="1B3957"/>
                </a:solidFill>
                <a:latin typeface="Arimo Bold"/>
                <a:ea typeface="Arimo Bold"/>
                <a:cs typeface="Arimo Bold"/>
                <a:sym typeface="Arimo Bold"/>
              </a:rPr>
              <a:t>An intelligent, IoT-integrated distillation system that optimizes energy consumption through AI-assisted heating control. It features real-time monitoring of temperature and energy usage via ESP32 sensors, adaptive heating cycles based on usage patterns, and a mobile app for remote control and fault prediction dramatically reducing energy costs while transforming traditional distillers into smart, sustainable appliances.</a:t>
            </a:r>
          </a:p>
        </p:txBody>
      </p:sp>
      <p:grpSp>
        <p:nvGrpSpPr>
          <p:cNvPr id="11" name="Group 11"/>
          <p:cNvGrpSpPr/>
          <p:nvPr/>
        </p:nvGrpSpPr>
        <p:grpSpPr>
          <a:xfrm>
            <a:off x="4781846" y="8768302"/>
            <a:ext cx="10224545" cy="1980251"/>
            <a:chOff x="0" y="0"/>
            <a:chExt cx="13632726" cy="2640335"/>
          </a:xfrm>
        </p:grpSpPr>
        <p:sp>
          <p:nvSpPr>
            <p:cNvPr id="12" name="Freeform 12"/>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3" name="TextBox 13"/>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IT22295460</a:t>
              </a:r>
              <a:r>
                <a:rPr lang="en-US" sz="2700">
                  <a:solidFill>
                    <a:srgbClr val="000000"/>
                  </a:solidFill>
                  <a:latin typeface="Cambria"/>
                  <a:ea typeface="Cambria"/>
                  <a:cs typeface="Cambria"/>
                  <a:sym typeface="Cambria"/>
                </a:rPr>
                <a:t>   |   W.A.S.P.D. WIJESINGHA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0443794" y="469896"/>
            <a:ext cx="7844206"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HOUSEHOLD DISTILLED WATER MAKER WITH LEAST POWER – IOT + MOBILE APP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656809" y="1085850"/>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OBJECTIVES</a:t>
            </a:r>
          </a:p>
        </p:txBody>
      </p:sp>
      <p:sp>
        <p:nvSpPr>
          <p:cNvPr id="5" name="TextBox 5"/>
          <p:cNvSpPr txBox="1"/>
          <p:nvPr/>
        </p:nvSpPr>
        <p:spPr>
          <a:xfrm>
            <a:off x="1453907" y="2192200"/>
            <a:ext cx="12751053" cy="2170249"/>
          </a:xfrm>
          <a:prstGeom prst="rect">
            <a:avLst/>
          </a:prstGeom>
        </p:spPr>
        <p:txBody>
          <a:bodyPr lIns="0" tIns="0" rIns="0" bIns="0" rtlCol="0" anchor="t">
            <a:spAutoFit/>
          </a:bodyPr>
          <a:lstStyle/>
          <a:p>
            <a:pPr algn="just">
              <a:lnSpc>
                <a:spcPts val="4279"/>
              </a:lnSpc>
            </a:pPr>
            <a:r>
              <a:rPr lang="en-US" sz="3057" b="1">
                <a:solidFill>
                  <a:srgbClr val="1B3957"/>
                </a:solidFill>
                <a:latin typeface="Arimo Bold"/>
                <a:ea typeface="Arimo Bold"/>
                <a:cs typeface="Arimo Bold"/>
                <a:sym typeface="Arimo Bold"/>
              </a:rPr>
              <a:t>To design, develop, and validate a smart, energy-optimized household distilled water generation system that integrates IoT-based monitoring and mobile application control to enhance user convenience and operational efficiency. </a:t>
            </a: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9" name="TextBox 9"/>
          <p:cNvSpPr txBox="1"/>
          <p:nvPr/>
        </p:nvSpPr>
        <p:spPr>
          <a:xfrm>
            <a:off x="1656809" y="474344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SUB OBJECTIVES</a:t>
            </a:r>
          </a:p>
        </p:txBody>
      </p:sp>
      <p:sp>
        <p:nvSpPr>
          <p:cNvPr id="10" name="TextBox 10"/>
          <p:cNvSpPr txBox="1"/>
          <p:nvPr/>
        </p:nvSpPr>
        <p:spPr>
          <a:xfrm>
            <a:off x="1028700" y="5848351"/>
            <a:ext cx="16116300" cy="3732991"/>
          </a:xfrm>
          <a:prstGeom prst="rect">
            <a:avLst/>
          </a:prstGeom>
        </p:spPr>
        <p:txBody>
          <a:bodyPr wrap="square" lIns="0" tIns="0" rIns="0" bIns="0" rtlCol="0" anchor="t">
            <a:spAutoFit/>
          </a:bodyPr>
          <a:lstStyle/>
          <a:p>
            <a:pPr marL="654574" lvl="1" indent="-327287" algn="l">
              <a:lnSpc>
                <a:spcPts val="4244"/>
              </a:lnSpc>
              <a:buFont typeface="Arial"/>
              <a:buChar char="•"/>
            </a:pPr>
            <a:r>
              <a:rPr lang="en-US" sz="3031" b="1" dirty="0">
                <a:solidFill>
                  <a:srgbClr val="1B3957"/>
                </a:solidFill>
                <a:latin typeface="Arimo Bold"/>
                <a:ea typeface="Arimo Bold"/>
                <a:cs typeface="Arimo Bold"/>
                <a:sym typeface="Arimo Bold"/>
              </a:rPr>
              <a:t>Energy-efficient design: Insulated boiling chamber + counter-flow heat exchanger to preheat feed water.</a:t>
            </a:r>
          </a:p>
          <a:p>
            <a:pPr marL="654574" lvl="1" indent="-327287" algn="l">
              <a:lnSpc>
                <a:spcPts val="4244"/>
              </a:lnSpc>
              <a:buFont typeface="Arial"/>
              <a:buChar char="•"/>
            </a:pPr>
            <a:r>
              <a:rPr lang="en-US" sz="3031" b="1" dirty="0">
                <a:solidFill>
                  <a:srgbClr val="1B3957"/>
                </a:solidFill>
                <a:latin typeface="Arimo Bold"/>
                <a:ea typeface="Arimo Bold"/>
                <a:cs typeface="Arimo Bold"/>
                <a:sym typeface="Arimo Bold"/>
              </a:rPr>
              <a:t>IoT control: ESP32 monitors temp, water levels; PID/PWM optimizes heating cycles.</a:t>
            </a:r>
          </a:p>
          <a:p>
            <a:pPr marL="654574" lvl="1" indent="-327287" algn="l">
              <a:lnSpc>
                <a:spcPts val="4244"/>
              </a:lnSpc>
              <a:buFont typeface="Arial"/>
              <a:buChar char="•"/>
            </a:pPr>
            <a:r>
              <a:rPr lang="en-US" sz="3031" b="1" dirty="0">
                <a:solidFill>
                  <a:srgbClr val="1B3957"/>
                </a:solidFill>
                <a:latin typeface="Arimo Bold"/>
                <a:ea typeface="Arimo Bold"/>
                <a:cs typeface="Arimo Bold"/>
                <a:sym typeface="Arimo Bold"/>
              </a:rPr>
              <a:t>Mobile app: Flutter-based remote control, real-time data, history logs, and alerts.</a:t>
            </a:r>
          </a:p>
          <a:p>
            <a:pPr marL="654574" lvl="1" indent="-327287" algn="just">
              <a:lnSpc>
                <a:spcPts val="4244"/>
              </a:lnSpc>
              <a:buFont typeface="Arial"/>
              <a:buChar char="•"/>
            </a:pPr>
            <a:r>
              <a:rPr lang="en-US" sz="3031" b="1" dirty="0">
                <a:solidFill>
                  <a:srgbClr val="1B3957"/>
                </a:solidFill>
                <a:latin typeface="Arimo Bold"/>
                <a:ea typeface="Arimo Bold"/>
                <a:cs typeface="Arimo Bold"/>
                <a:sym typeface="Arimo Bold"/>
              </a:rPr>
              <a:t>Validation: Energy consumption (kWh/L) compared vs. conventional distillers; sensor accuracy and app reliability tested.</a:t>
            </a:r>
          </a:p>
          <a:p>
            <a:pPr algn="just">
              <a:lnSpc>
                <a:spcPts val="4244"/>
              </a:lnSpc>
            </a:pPr>
            <a:endParaRPr lang="en-US" sz="3031" b="1" dirty="0">
              <a:solidFill>
                <a:srgbClr val="1B3957"/>
              </a:solidFill>
              <a:latin typeface="Arimo Bold"/>
              <a:ea typeface="Arimo Bold"/>
              <a:cs typeface="Arimo Bold"/>
              <a:sym typeface="Arimo Bold"/>
            </a:endParaRPr>
          </a:p>
        </p:txBody>
      </p:sp>
      <p:grpSp>
        <p:nvGrpSpPr>
          <p:cNvPr id="11" name="Group 11"/>
          <p:cNvGrpSpPr/>
          <p:nvPr/>
        </p:nvGrpSpPr>
        <p:grpSpPr>
          <a:xfrm>
            <a:off x="4781846" y="8768302"/>
            <a:ext cx="10224545" cy="1980251"/>
            <a:chOff x="0" y="0"/>
            <a:chExt cx="13632726" cy="2640335"/>
          </a:xfrm>
        </p:grpSpPr>
        <p:sp>
          <p:nvSpPr>
            <p:cNvPr id="12" name="Freeform 12"/>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3" name="TextBox 13"/>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IT22295460</a:t>
              </a:r>
              <a:r>
                <a:rPr lang="en-US" sz="2700">
                  <a:solidFill>
                    <a:srgbClr val="000000"/>
                  </a:solidFill>
                  <a:latin typeface="Cambria"/>
                  <a:ea typeface="Cambria"/>
                  <a:cs typeface="Cambria"/>
                  <a:sym typeface="Cambria"/>
                </a:rPr>
                <a:t>   |   W.A.S.P.D. WIJESINGHA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0443794" y="469896"/>
            <a:ext cx="7844206"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HOUSEHOLD DISTILLED WATER MAKER WITH LEAST POWER – IOT + MOBILE APP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656809" y="195634"/>
            <a:ext cx="13349582" cy="857252"/>
          </a:xfrm>
          <a:prstGeom prst="rect">
            <a:avLst/>
          </a:prstGeom>
        </p:spPr>
        <p:txBody>
          <a:bodyPr lIns="0" tIns="0" rIns="0" bIns="0" rtlCol="0" anchor="t">
            <a:spAutoFit/>
          </a:bodyPr>
          <a:lstStyle/>
          <a:p>
            <a:pPr marL="0" lvl="0" indent="0" algn="ctr">
              <a:lnSpc>
                <a:spcPts val="6600"/>
              </a:lnSpc>
              <a:spcBef>
                <a:spcPct val="0"/>
              </a:spcBef>
            </a:pPr>
            <a:r>
              <a:rPr lang="en-US" sz="6000" b="1" dirty="0">
                <a:solidFill>
                  <a:srgbClr val="06728A"/>
                </a:solidFill>
                <a:latin typeface="Garet Bold"/>
                <a:ea typeface="Garet Bold"/>
                <a:cs typeface="Garet Bold"/>
                <a:sym typeface="Garet Bold"/>
              </a:rPr>
              <a:t>METHODOLOGY</a:t>
            </a:r>
          </a:p>
        </p:txBody>
      </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7" name="TextBox 7"/>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8" name="TextBox 8"/>
          <p:cNvSpPr txBox="1"/>
          <p:nvPr/>
        </p:nvSpPr>
        <p:spPr>
          <a:xfrm>
            <a:off x="1028700" y="1081462"/>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Application of Domain Knowledge </a:t>
            </a:r>
          </a:p>
        </p:txBody>
      </p:sp>
      <p:sp>
        <p:nvSpPr>
          <p:cNvPr id="9" name="TextBox 9"/>
          <p:cNvSpPr txBox="1"/>
          <p:nvPr/>
        </p:nvSpPr>
        <p:spPr>
          <a:xfrm>
            <a:off x="1028700" y="1661523"/>
            <a:ext cx="16918077" cy="2749854"/>
          </a:xfrm>
          <a:prstGeom prst="rect">
            <a:avLst/>
          </a:prstGeom>
        </p:spPr>
        <p:txBody>
          <a:bodyPr lIns="0" tIns="0" rIns="0" bIns="0" rtlCol="0" anchor="t">
            <a:spAutoFit/>
          </a:bodyPr>
          <a:lstStyle/>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Thermodynamics: Heat recovery via heat exchanger; insulated chambers to reduce loss.</a:t>
            </a:r>
          </a:p>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Embedded Systems: ESP32 with sensors, PID/PWM for precise heating control.</a:t>
            </a:r>
          </a:p>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IoT &amp; Cloud: MQTT/Firebase for real-time data sync and remote access.</a:t>
            </a:r>
          </a:p>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Mobile Dev: Flutter app for monitoring, control, logs, and alerts.</a:t>
            </a:r>
          </a:p>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Data Analytics: Usage analysis for predictive maintenance and energy optimization</a:t>
            </a:r>
          </a:p>
          <a:p>
            <a:pPr algn="l">
              <a:lnSpc>
                <a:spcPts val="4113"/>
              </a:lnSpc>
            </a:pPr>
            <a:endParaRPr lang="en-US" sz="2538" b="1" dirty="0">
              <a:solidFill>
                <a:srgbClr val="1B3957"/>
              </a:solidFill>
              <a:latin typeface="Arimo Bold"/>
              <a:ea typeface="Arimo Bold"/>
              <a:cs typeface="Arimo Bold"/>
              <a:sym typeface="Arimo Bold"/>
            </a:endParaRPr>
          </a:p>
        </p:txBody>
      </p:sp>
      <p:sp>
        <p:nvSpPr>
          <p:cNvPr id="10" name="TextBox 10"/>
          <p:cNvSpPr txBox="1"/>
          <p:nvPr/>
        </p:nvSpPr>
        <p:spPr>
          <a:xfrm>
            <a:off x="1028700" y="4211351"/>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Latest Technologies </a:t>
            </a:r>
          </a:p>
        </p:txBody>
      </p:sp>
      <p:sp>
        <p:nvSpPr>
          <p:cNvPr id="11" name="TextBox 11"/>
          <p:cNvSpPr txBox="1"/>
          <p:nvPr/>
        </p:nvSpPr>
        <p:spPr>
          <a:xfrm>
            <a:off x="1028700" y="4729270"/>
            <a:ext cx="15660089" cy="1345234"/>
          </a:xfrm>
          <a:prstGeom prst="rect">
            <a:avLst/>
          </a:prstGeom>
        </p:spPr>
        <p:txBody>
          <a:bodyPr lIns="0" tIns="0" rIns="0" bIns="0" rtlCol="0" anchor="t">
            <a:spAutoFit/>
          </a:bodyPr>
          <a:lstStyle/>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Hardware: Peltier elements or low-wattage heating elements, ESP32/Arduino IoT modules.</a:t>
            </a:r>
          </a:p>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Software: MQTT protocol for IoT communication, Flutter/Kotlin for mobile app development, ML for predictive maintenance (anomaly detection).</a:t>
            </a:r>
          </a:p>
        </p:txBody>
      </p:sp>
      <p:sp>
        <p:nvSpPr>
          <p:cNvPr id="12" name="TextBox 12"/>
          <p:cNvSpPr txBox="1"/>
          <p:nvPr/>
        </p:nvSpPr>
        <p:spPr>
          <a:xfrm>
            <a:off x="1058279" y="6255479"/>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Validation &amp; Evaluation </a:t>
            </a:r>
          </a:p>
        </p:txBody>
      </p:sp>
      <p:sp>
        <p:nvSpPr>
          <p:cNvPr id="13" name="TextBox 13"/>
          <p:cNvSpPr txBox="1"/>
          <p:nvPr/>
        </p:nvSpPr>
        <p:spPr>
          <a:xfrm>
            <a:off x="1058279" y="6668232"/>
            <a:ext cx="15477478" cy="1345234"/>
          </a:xfrm>
          <a:prstGeom prst="rect">
            <a:avLst/>
          </a:prstGeom>
        </p:spPr>
        <p:txBody>
          <a:bodyPr lIns="0" tIns="0" rIns="0" bIns="0" rtlCol="0" anchor="t">
            <a:spAutoFit/>
          </a:bodyPr>
          <a:lstStyle/>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Measure energy consumption (kWh per liter) vs. traditional distillers.</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User satisfaction survey for the mobile app interface.</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Reliability testing for fault prediction algorithms.</a:t>
            </a:r>
          </a:p>
        </p:txBody>
      </p:sp>
      <p:sp>
        <p:nvSpPr>
          <p:cNvPr id="14" name="TextBox 14"/>
          <p:cNvSpPr txBox="1"/>
          <p:nvPr/>
        </p:nvSpPr>
        <p:spPr>
          <a:xfrm>
            <a:off x="1028700" y="8107128"/>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Data &amp; Ethics </a:t>
            </a:r>
          </a:p>
        </p:txBody>
      </p:sp>
      <p:sp>
        <p:nvSpPr>
          <p:cNvPr id="15" name="TextBox 15"/>
          <p:cNvSpPr txBox="1"/>
          <p:nvPr/>
        </p:nvSpPr>
        <p:spPr>
          <a:xfrm>
            <a:off x="1028700" y="8534169"/>
            <a:ext cx="14759370" cy="897559"/>
          </a:xfrm>
          <a:prstGeom prst="rect">
            <a:avLst/>
          </a:prstGeom>
        </p:spPr>
        <p:txBody>
          <a:bodyPr lIns="0" tIns="0" rIns="0" bIns="0" rtlCol="0" anchor="t">
            <a:spAutoFit/>
          </a:bodyPr>
          <a:lstStyle/>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Data: Energy usage data generated during prototype testing.</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Ethics: N/A for hardware performance, but user data from the app will be anonymized.</a:t>
            </a:r>
          </a:p>
        </p:txBody>
      </p:sp>
      <p:grpSp>
        <p:nvGrpSpPr>
          <p:cNvPr id="16" name="Group 16"/>
          <p:cNvGrpSpPr/>
          <p:nvPr/>
        </p:nvGrpSpPr>
        <p:grpSpPr>
          <a:xfrm>
            <a:off x="4781846" y="8768302"/>
            <a:ext cx="10224545" cy="1980251"/>
            <a:chOff x="0" y="0"/>
            <a:chExt cx="13632726" cy="2640335"/>
          </a:xfrm>
        </p:grpSpPr>
        <p:sp>
          <p:nvSpPr>
            <p:cNvPr id="17" name="Freeform 17"/>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8" name="TextBox 18"/>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IT22295460</a:t>
              </a:r>
              <a:r>
                <a:rPr lang="en-US" sz="2700">
                  <a:solidFill>
                    <a:srgbClr val="000000"/>
                  </a:solidFill>
                  <a:latin typeface="Cambria"/>
                  <a:ea typeface="Cambria"/>
                  <a:cs typeface="Cambria"/>
                  <a:sym typeface="Cambria"/>
                </a:rPr>
                <a:t>   |   W.A.S.P.D. WIJESINGHA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9" name="TextBox 19"/>
          <p:cNvSpPr txBox="1"/>
          <p:nvPr/>
        </p:nvSpPr>
        <p:spPr>
          <a:xfrm>
            <a:off x="10485759" y="1071937"/>
            <a:ext cx="7844206" cy="459744"/>
          </a:xfrm>
          <a:prstGeom prst="rect">
            <a:avLst/>
          </a:prstGeom>
        </p:spPr>
        <p:txBody>
          <a:bodyPr lIns="0" tIns="0" rIns="0" bIns="0" rtlCol="0" anchor="t">
            <a:spAutoFit/>
          </a:bodyPr>
          <a:lstStyle/>
          <a:p>
            <a:pPr algn="ctr">
              <a:lnSpc>
                <a:spcPts val="1870"/>
              </a:lnSpc>
              <a:spcBef>
                <a:spcPct val="0"/>
              </a:spcBef>
            </a:pPr>
            <a:r>
              <a:rPr lang="en-US" sz="1700" b="1" dirty="0">
                <a:solidFill>
                  <a:srgbClr val="06728A"/>
                </a:solidFill>
                <a:latin typeface="Garet Bold"/>
                <a:ea typeface="Garet Bold"/>
                <a:cs typeface="Garet Bold"/>
                <a:sym typeface="Garet Bold"/>
              </a:rPr>
              <a:t>HOUSEHOLD DISTILLED WATER MAKER WITH LEAST POWER – IOT + MOBILE APP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grpSp>
        <p:nvGrpSpPr>
          <p:cNvPr id="4" name="Group 4"/>
          <p:cNvGrpSpPr/>
          <p:nvPr/>
        </p:nvGrpSpPr>
        <p:grpSpPr>
          <a:xfrm>
            <a:off x="0" y="9559957"/>
            <a:ext cx="3771900" cy="735463"/>
            <a:chOff x="0" y="0"/>
            <a:chExt cx="5029200" cy="980618"/>
          </a:xfrm>
        </p:grpSpPr>
        <p:sp>
          <p:nvSpPr>
            <p:cNvPr id="5" name="Freeform 5"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6" name="Group 6"/>
          <p:cNvGrpSpPr/>
          <p:nvPr/>
        </p:nvGrpSpPr>
        <p:grpSpPr>
          <a:xfrm>
            <a:off x="4781846" y="8768302"/>
            <a:ext cx="10224545" cy="1980251"/>
            <a:chOff x="0" y="0"/>
            <a:chExt cx="13632726" cy="2640335"/>
          </a:xfrm>
        </p:grpSpPr>
        <p:sp>
          <p:nvSpPr>
            <p:cNvPr id="7" name="Freeform 7"/>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8" name="TextBox 8"/>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IT22295460</a:t>
              </a:r>
              <a:r>
                <a:rPr lang="en-US" sz="2700">
                  <a:solidFill>
                    <a:srgbClr val="000000"/>
                  </a:solidFill>
                  <a:latin typeface="Cambria"/>
                  <a:ea typeface="Cambria"/>
                  <a:cs typeface="Cambria"/>
                  <a:sym typeface="Cambria"/>
                </a:rPr>
                <a:t>   |   W.A.S.P.D. WIJESINGHA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9" name="Freeform 9"/>
          <p:cNvSpPr/>
          <p:nvPr/>
        </p:nvSpPr>
        <p:spPr>
          <a:xfrm>
            <a:off x="2993781" y="1999633"/>
            <a:ext cx="12775068" cy="6968219"/>
          </a:xfrm>
          <a:custGeom>
            <a:avLst/>
            <a:gdLst/>
            <a:ahLst/>
            <a:cxnLst/>
            <a:rect l="l" t="t" r="r" b="b"/>
            <a:pathLst>
              <a:path w="12775068" h="6968219">
                <a:moveTo>
                  <a:pt x="0" y="0"/>
                </a:moveTo>
                <a:lnTo>
                  <a:pt x="12775068" y="0"/>
                </a:lnTo>
                <a:lnTo>
                  <a:pt x="12775068" y="6968219"/>
                </a:lnTo>
                <a:lnTo>
                  <a:pt x="0" y="6968219"/>
                </a:lnTo>
                <a:lnTo>
                  <a:pt x="0" y="0"/>
                </a:lnTo>
                <a:close/>
              </a:path>
            </a:pathLst>
          </a:custGeom>
          <a:blipFill>
            <a:blip r:embed="rId6"/>
            <a:stretch>
              <a:fillRect/>
            </a:stretch>
          </a:blipFill>
          <a:ln cap="sq">
            <a:noFill/>
            <a:prstDash val="solid"/>
            <a:miter/>
          </a:ln>
        </p:spPr>
        <p:txBody>
          <a:bodyPr/>
          <a:lstStyle/>
          <a:p>
            <a:endParaRPr lang="en-US"/>
          </a:p>
        </p:txBody>
      </p:sp>
      <p:sp>
        <p:nvSpPr>
          <p:cNvPr id="10" name="TextBox 10"/>
          <p:cNvSpPr txBox="1"/>
          <p:nvPr/>
        </p:nvSpPr>
        <p:spPr>
          <a:xfrm>
            <a:off x="2469209" y="1046488"/>
            <a:ext cx="13349582" cy="857252"/>
          </a:xfrm>
          <a:prstGeom prst="rect">
            <a:avLst/>
          </a:prstGeom>
        </p:spPr>
        <p:txBody>
          <a:bodyPr lIns="0" tIns="0" rIns="0" bIns="0" rtlCol="0" anchor="t">
            <a:spAutoFit/>
          </a:bodyPr>
          <a:lstStyle/>
          <a:p>
            <a:pPr marL="0" lvl="0" indent="0" algn="ctr">
              <a:lnSpc>
                <a:spcPts val="6600"/>
              </a:lnSpc>
              <a:spcBef>
                <a:spcPct val="0"/>
              </a:spcBef>
            </a:pPr>
            <a:r>
              <a:rPr lang="en-US" sz="6000" b="1">
                <a:solidFill>
                  <a:srgbClr val="06728A"/>
                </a:solidFill>
                <a:latin typeface="Garet Bold"/>
                <a:ea typeface="Garet Bold"/>
                <a:cs typeface="Garet Bold"/>
                <a:sym typeface="Garet Bold"/>
              </a:rPr>
              <a:t>SYSTEM DIAGRAM</a:t>
            </a:r>
          </a:p>
        </p:txBody>
      </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2" name="TextBox 12"/>
          <p:cNvSpPr txBox="1"/>
          <p:nvPr/>
        </p:nvSpPr>
        <p:spPr>
          <a:xfrm>
            <a:off x="10443794" y="334642"/>
            <a:ext cx="7844206"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HOUSEHOLD DISTILLED WATER MAKER WITH LEAST POWER – IOT + MOBILE APP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656809" y="127995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DEPENDENCIES</a:t>
            </a:r>
          </a:p>
        </p:txBody>
      </p:sp>
      <p:sp>
        <p:nvSpPr>
          <p:cNvPr id="5" name="TextBox 5"/>
          <p:cNvSpPr txBox="1"/>
          <p:nvPr/>
        </p:nvSpPr>
        <p:spPr>
          <a:xfrm>
            <a:off x="1656809" y="2622986"/>
            <a:ext cx="12751053" cy="2170249"/>
          </a:xfrm>
          <a:prstGeom prst="rect">
            <a:avLst/>
          </a:prstGeom>
        </p:spPr>
        <p:txBody>
          <a:bodyPr lIns="0" tIns="0" rIns="0" bIns="0" rtlCol="0" anchor="t">
            <a:spAutoFit/>
          </a:bodyPr>
          <a:lstStyle/>
          <a:p>
            <a:pPr marL="660037" lvl="1" indent="-330019" algn="just">
              <a:lnSpc>
                <a:spcPts val="4279"/>
              </a:lnSpc>
              <a:buFont typeface="Arial"/>
              <a:buChar char="•"/>
            </a:pPr>
            <a:r>
              <a:rPr lang="en-US" sz="3057" b="1" dirty="0">
                <a:solidFill>
                  <a:srgbClr val="1B3957"/>
                </a:solidFill>
                <a:latin typeface="Arimo Bold"/>
                <a:ea typeface="Arimo Bold"/>
                <a:cs typeface="Arimo Bold"/>
                <a:sym typeface="Arimo Bold"/>
              </a:rPr>
              <a:t>Requires stable Wi-Fi for remote monitoring and control.</a:t>
            </a:r>
          </a:p>
          <a:p>
            <a:pPr marL="660037" lvl="1" indent="-330019" algn="just">
              <a:lnSpc>
                <a:spcPts val="4279"/>
              </a:lnSpc>
              <a:buFont typeface="Arial"/>
              <a:buChar char="•"/>
            </a:pPr>
            <a:r>
              <a:rPr lang="en-US" sz="3057" b="1" dirty="0">
                <a:solidFill>
                  <a:srgbClr val="1B3957"/>
                </a:solidFill>
                <a:latin typeface="Arimo Bold"/>
                <a:ea typeface="Arimo Bold"/>
                <a:cs typeface="Arimo Bold"/>
                <a:sym typeface="Arimo Bold"/>
              </a:rPr>
              <a:t>Depends on De Silva's water classification for source water quality input.</a:t>
            </a:r>
          </a:p>
          <a:p>
            <a:pPr algn="just">
              <a:lnSpc>
                <a:spcPts val="4279"/>
              </a:lnSpc>
            </a:pPr>
            <a:endParaRPr lang="en-US" sz="3057" b="1" dirty="0">
              <a:solidFill>
                <a:srgbClr val="1B3957"/>
              </a:solidFill>
              <a:latin typeface="Arimo Bold"/>
              <a:ea typeface="Arimo Bold"/>
              <a:cs typeface="Arimo Bold"/>
              <a:sym typeface="Arimo Bold"/>
            </a:endParaRP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dirty="0">
                <a:solidFill>
                  <a:srgbClr val="000000"/>
                </a:solidFill>
                <a:latin typeface="Cambria Bold"/>
                <a:ea typeface="Cambria Bold"/>
                <a:cs typeface="Cambria Bold"/>
                <a:sym typeface="Cambria Bold"/>
              </a:rPr>
              <a:t>2026/03/16</a:t>
            </a:r>
          </a:p>
        </p:txBody>
      </p:sp>
      <p:sp>
        <p:nvSpPr>
          <p:cNvPr id="9" name="TextBox 9"/>
          <p:cNvSpPr txBox="1"/>
          <p:nvPr/>
        </p:nvSpPr>
        <p:spPr>
          <a:xfrm>
            <a:off x="1656809" y="474344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COMMON COMPONENTS</a:t>
            </a:r>
          </a:p>
        </p:txBody>
      </p:sp>
      <p:sp>
        <p:nvSpPr>
          <p:cNvPr id="10" name="TextBox 10"/>
          <p:cNvSpPr txBox="1"/>
          <p:nvPr/>
        </p:nvSpPr>
        <p:spPr>
          <a:xfrm>
            <a:off x="1656809" y="6070258"/>
            <a:ext cx="14573791" cy="2132791"/>
          </a:xfrm>
          <a:prstGeom prst="rect">
            <a:avLst/>
          </a:prstGeom>
        </p:spPr>
        <p:txBody>
          <a:bodyPr lIns="0" tIns="0" rIns="0" bIns="0" rtlCol="0" anchor="t">
            <a:spAutoFit/>
          </a:bodyPr>
          <a:lstStyle/>
          <a:p>
            <a:pPr marL="654574" lvl="1" indent="-327287" algn="l">
              <a:lnSpc>
                <a:spcPts val="4244"/>
              </a:lnSpc>
              <a:buFont typeface="Arial"/>
              <a:buChar char="•"/>
            </a:pPr>
            <a:r>
              <a:rPr lang="en-US" sz="3031" b="1">
                <a:solidFill>
                  <a:srgbClr val="1B3957"/>
                </a:solidFill>
                <a:latin typeface="Arimo Bold"/>
                <a:ea typeface="Arimo Bold"/>
                <a:cs typeface="Arimo Bold"/>
                <a:sym typeface="Arimo Bold"/>
              </a:rPr>
              <a:t>Shares cloud backend (Firebase) with other subsystems.</a:t>
            </a:r>
          </a:p>
          <a:p>
            <a:pPr marL="654574" lvl="1" indent="-327287" algn="l">
              <a:lnSpc>
                <a:spcPts val="4244"/>
              </a:lnSpc>
              <a:buFont typeface="Arial"/>
              <a:buChar char="•"/>
            </a:pPr>
            <a:r>
              <a:rPr lang="en-US" sz="3031" b="1">
                <a:solidFill>
                  <a:srgbClr val="1B3957"/>
                </a:solidFill>
                <a:latin typeface="Arimo Bold"/>
                <a:ea typeface="Arimo Bold"/>
                <a:cs typeface="Arimo Bold"/>
                <a:sym typeface="Arimo Bold"/>
              </a:rPr>
              <a:t>Common database for energy logs and user data.</a:t>
            </a:r>
          </a:p>
          <a:p>
            <a:pPr marL="654574" lvl="1" indent="-327287" algn="l">
              <a:lnSpc>
                <a:spcPts val="4244"/>
              </a:lnSpc>
              <a:buFont typeface="Arial"/>
              <a:buChar char="•"/>
            </a:pPr>
            <a:r>
              <a:rPr lang="en-US" sz="3031" b="1">
                <a:solidFill>
                  <a:srgbClr val="1B3957"/>
                </a:solidFill>
                <a:latin typeface="Arimo Bold"/>
                <a:ea typeface="Arimo Bold"/>
                <a:cs typeface="Arimo Bold"/>
                <a:sym typeface="Arimo Bold"/>
              </a:rPr>
              <a:t>Integrated with overall system dashboard for unified monitoring.</a:t>
            </a:r>
          </a:p>
          <a:p>
            <a:pPr algn="l">
              <a:lnSpc>
                <a:spcPts val="4244"/>
              </a:lnSpc>
            </a:pPr>
            <a:endParaRPr lang="en-US" sz="3031" b="1">
              <a:solidFill>
                <a:srgbClr val="1B3957"/>
              </a:solidFill>
              <a:latin typeface="Arimo Bold"/>
              <a:ea typeface="Arimo Bold"/>
              <a:cs typeface="Arimo Bold"/>
              <a:sym typeface="Arimo Bold"/>
            </a:endParaRPr>
          </a:p>
        </p:txBody>
      </p:sp>
      <p:grpSp>
        <p:nvGrpSpPr>
          <p:cNvPr id="11" name="Group 11"/>
          <p:cNvGrpSpPr/>
          <p:nvPr/>
        </p:nvGrpSpPr>
        <p:grpSpPr>
          <a:xfrm>
            <a:off x="4781846" y="8768302"/>
            <a:ext cx="10224545" cy="1980251"/>
            <a:chOff x="0" y="0"/>
            <a:chExt cx="13632726" cy="2640335"/>
          </a:xfrm>
        </p:grpSpPr>
        <p:sp>
          <p:nvSpPr>
            <p:cNvPr id="12" name="Freeform 12"/>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3" name="TextBox 13"/>
            <p:cNvSpPr txBox="1"/>
            <p:nvPr/>
          </p:nvSpPr>
          <p:spPr>
            <a:xfrm>
              <a:off x="0" y="-19050"/>
              <a:ext cx="13632726" cy="2659385"/>
            </a:xfrm>
            <a:prstGeom prst="rect">
              <a:avLst/>
            </a:prstGeom>
          </p:spPr>
          <p:txBody>
            <a:bodyPr lIns="0" tIns="0" rIns="0" bIns="0" rtlCol="0" anchor="ctr"/>
            <a:lstStyle/>
            <a:p>
              <a:pPr algn="l">
                <a:lnSpc>
                  <a:spcPts val="3240"/>
                </a:lnSpc>
              </a:pPr>
              <a:r>
                <a:rPr lang="en-US" sz="2700" b="1" dirty="0">
                  <a:solidFill>
                    <a:srgbClr val="000000"/>
                  </a:solidFill>
                  <a:latin typeface="Cambria Bold"/>
                  <a:ea typeface="Cambria Bold"/>
                  <a:cs typeface="Cambria Bold"/>
                  <a:sym typeface="Cambria Bold"/>
                </a:rPr>
                <a:t>IT22295460</a:t>
              </a:r>
              <a:r>
                <a:rPr lang="en-US" sz="2700" dirty="0">
                  <a:solidFill>
                    <a:srgbClr val="000000"/>
                  </a:solidFill>
                  <a:latin typeface="Cambria"/>
                  <a:ea typeface="Cambria"/>
                  <a:cs typeface="Cambria"/>
                  <a:sym typeface="Cambria"/>
                </a:rPr>
                <a:t>   |   W.A.S.P.D. WIJESINGHA</a:t>
              </a:r>
              <a:r>
                <a:rPr lang="en-US" sz="2700" b="1" dirty="0">
                  <a:solidFill>
                    <a:srgbClr val="000000"/>
                  </a:solidFill>
                  <a:latin typeface="Cambria Bold"/>
                  <a:ea typeface="Cambria Bold"/>
                  <a:cs typeface="Cambria Bold"/>
                  <a:sym typeface="Cambria Bold"/>
                </a:rPr>
                <a:t/>
              </a:r>
              <a:r>
                <a:rPr lang="en-US" sz="2700" dirty="0">
                  <a:solidFill>
                    <a:srgbClr val="000000"/>
                  </a:solidFill>
                  <a:latin typeface="Cambria"/>
                  <a:ea typeface="Cambria"/>
                  <a:cs typeface="Cambria"/>
                  <a:sym typeface="Cambria"/>
                </a:rPr>
                <a:t>|   R26-IT-005</a:t>
              </a:r>
            </a:p>
          </p:txBody>
        </p:sp>
      </p:grpSp>
      <p:sp>
        <p:nvSpPr>
          <p:cNvPr id="14" name="TextBox 14"/>
          <p:cNvSpPr txBox="1"/>
          <p:nvPr/>
        </p:nvSpPr>
        <p:spPr>
          <a:xfrm>
            <a:off x="10443794" y="469896"/>
            <a:ext cx="7844206" cy="558804"/>
          </a:xfrm>
          <a:prstGeom prst="rect">
            <a:avLst/>
          </a:prstGeom>
        </p:spPr>
        <p:txBody>
          <a:bodyPr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HOUSEHOLD DISTILLED WATER MAKER WITH LEAST POWER – IOT + MOBILE APP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FB14A53-5F7D-6A80-6672-10AF1940BA95}"/>
              </a:ext>
            </a:extLst>
          </p:cNvPr>
          <p:cNvSpPr/>
          <p:nvPr/>
        </p:nvSpPr>
        <p:spPr>
          <a:xfrm>
            <a:off x="33528" y="-5029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grpSp>
        <p:nvGrpSpPr>
          <p:cNvPr id="5" name="Group 6">
            <a:extLst>
              <a:ext uri="{FF2B5EF4-FFF2-40B4-BE49-F238E27FC236}">
                <a16:creationId xmlns:a16="http://schemas.microsoft.com/office/drawing/2014/main" id="{E158D91D-8EBB-87EF-B7E8-5C5D06DC44FB}"/>
              </a:ext>
            </a:extLst>
          </p:cNvPr>
          <p:cNvGrpSpPr/>
          <p:nvPr/>
        </p:nvGrpSpPr>
        <p:grpSpPr>
          <a:xfrm>
            <a:off x="0" y="9559957"/>
            <a:ext cx="3771900" cy="735463"/>
            <a:chOff x="0" y="0"/>
            <a:chExt cx="5029200" cy="980618"/>
          </a:xfrm>
        </p:grpSpPr>
        <p:sp>
          <p:nvSpPr>
            <p:cNvPr id="6" name="Freeform 7" descr="A picture containing photo, table, person, monitor  Description automatically generated">
              <a:extLst>
                <a:ext uri="{FF2B5EF4-FFF2-40B4-BE49-F238E27FC236}">
                  <a16:creationId xmlns:a16="http://schemas.microsoft.com/office/drawing/2014/main" id="{31793479-0CDD-C66A-30A7-67C3CDBDDA8E}"/>
                </a:ext>
              </a:extLst>
            </p:cNvPr>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3"/>
              <a:stretch>
                <a:fillRect t="-929488" r="-256844" b="-5"/>
              </a:stretch>
            </a:blipFill>
          </p:spPr>
          <p:txBody>
            <a:bodyPr/>
            <a:lstStyle/>
            <a:p>
              <a:endParaRPr lang="en-US"/>
            </a:p>
          </p:txBody>
        </p:sp>
      </p:grpSp>
      <p:grpSp>
        <p:nvGrpSpPr>
          <p:cNvPr id="9" name="Group 11">
            <a:extLst>
              <a:ext uri="{FF2B5EF4-FFF2-40B4-BE49-F238E27FC236}">
                <a16:creationId xmlns:a16="http://schemas.microsoft.com/office/drawing/2014/main" id="{C615C61C-12DC-CF18-47FF-26493394AD15}"/>
              </a:ext>
            </a:extLst>
          </p:cNvPr>
          <p:cNvGrpSpPr/>
          <p:nvPr/>
        </p:nvGrpSpPr>
        <p:grpSpPr>
          <a:xfrm>
            <a:off x="4781846" y="8768302"/>
            <a:ext cx="10224545" cy="1980251"/>
            <a:chOff x="0" y="0"/>
            <a:chExt cx="13632726" cy="2640335"/>
          </a:xfrm>
        </p:grpSpPr>
        <p:sp>
          <p:nvSpPr>
            <p:cNvPr id="10" name="Freeform 12">
              <a:extLst>
                <a:ext uri="{FF2B5EF4-FFF2-40B4-BE49-F238E27FC236}">
                  <a16:creationId xmlns:a16="http://schemas.microsoft.com/office/drawing/2014/main" id="{B7E28A05-FDF9-9743-BC70-326941D377A5}"/>
                </a:ext>
              </a:extLst>
            </p:cNvPr>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4">
                <a:alphaModFix amt="0"/>
              </a:blip>
              <a:stretch>
                <a:fillRect t="-86777" b="-14434"/>
              </a:stretch>
            </a:blipFill>
          </p:spPr>
          <p:txBody>
            <a:bodyPr/>
            <a:lstStyle/>
            <a:p>
              <a:endParaRPr lang="en-US"/>
            </a:p>
          </p:txBody>
        </p:sp>
        <p:sp>
          <p:nvSpPr>
            <p:cNvPr id="11" name="TextBox 13">
              <a:extLst>
                <a:ext uri="{FF2B5EF4-FFF2-40B4-BE49-F238E27FC236}">
                  <a16:creationId xmlns:a16="http://schemas.microsoft.com/office/drawing/2014/main" id="{846FB0A0-0EFB-24CF-A8E5-6038CA283E77}"/>
                </a:ext>
              </a:extLst>
            </p:cNvPr>
            <p:cNvSpPr txBox="1"/>
            <p:nvPr/>
          </p:nvSpPr>
          <p:spPr>
            <a:xfrm>
              <a:off x="0" y="-19050"/>
              <a:ext cx="13632726" cy="2659385"/>
            </a:xfrm>
            <a:prstGeom prst="rect">
              <a:avLst/>
            </a:prstGeom>
          </p:spPr>
          <p:txBody>
            <a:bodyPr lIns="0" tIns="0" rIns="0" bIns="0" rtlCol="0" anchor="ctr"/>
            <a:lstStyle/>
            <a:p>
              <a:pPr algn="l">
                <a:lnSpc>
                  <a:spcPts val="3240"/>
                </a:lnSpc>
              </a:pPr>
              <a:r>
                <a:rPr lang="en-US" sz="2700" b="1" dirty="0">
                  <a:solidFill>
                    <a:srgbClr val="000000"/>
                  </a:solidFill>
                  <a:latin typeface="Cambria Bold"/>
                  <a:ea typeface="Cambria Bold"/>
                  <a:cs typeface="Cambria Bold"/>
                  <a:sym typeface="Cambria Bold"/>
                </a:rPr>
                <a:t>IT22295460</a:t>
              </a:r>
              <a:r>
                <a:rPr lang="en-US" sz="2700" dirty="0">
                  <a:solidFill>
                    <a:srgbClr val="000000"/>
                  </a:solidFill>
                  <a:latin typeface="Cambria"/>
                  <a:ea typeface="Cambria"/>
                  <a:cs typeface="Cambria"/>
                  <a:sym typeface="Cambria"/>
                </a:rPr>
                <a:t>   |   W.A.S.P.D. WIJESINGHA</a:t>
              </a:r>
              <a:r>
                <a:rPr lang="en-US" sz="2700" b="1" dirty="0">
                  <a:solidFill>
                    <a:srgbClr val="000000"/>
                  </a:solidFill>
                  <a:latin typeface="Cambria Bold"/>
                  <a:ea typeface="Cambria Bold"/>
                  <a:cs typeface="Cambria Bold"/>
                  <a:sym typeface="Cambria Bold"/>
                </a:rPr>
                <a:t/>
              </a:r>
              <a:r>
                <a:rPr lang="en-US" sz="2700" dirty="0">
                  <a:solidFill>
                    <a:srgbClr val="000000"/>
                  </a:solidFill>
                  <a:latin typeface="Cambria"/>
                  <a:ea typeface="Cambria"/>
                  <a:cs typeface="Cambria"/>
                  <a:sym typeface="Cambria"/>
                </a:rPr>
                <a:t>|   R26-IT-005</a:t>
              </a:r>
            </a:p>
          </p:txBody>
        </p:sp>
      </p:grpSp>
      <p:sp>
        <p:nvSpPr>
          <p:cNvPr id="12" name="TextBox 8">
            <a:extLst>
              <a:ext uri="{FF2B5EF4-FFF2-40B4-BE49-F238E27FC236}">
                <a16:creationId xmlns:a16="http://schemas.microsoft.com/office/drawing/2014/main" id="{D3019C16-9C74-F5C0-0187-0057ADAB6DED}"/>
              </a:ext>
            </a:extLst>
          </p:cNvPr>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dirty="0">
                <a:solidFill>
                  <a:srgbClr val="000000"/>
                </a:solidFill>
                <a:latin typeface="Cambria Bold"/>
                <a:ea typeface="Cambria Bold"/>
                <a:cs typeface="Cambria Bold"/>
                <a:sym typeface="Cambria Bold"/>
              </a:rPr>
              <a:t>2026/03/16</a:t>
            </a:r>
          </a:p>
        </p:txBody>
      </p:sp>
      <p:sp>
        <p:nvSpPr>
          <p:cNvPr id="13" name="TextBox 12">
            <a:extLst>
              <a:ext uri="{FF2B5EF4-FFF2-40B4-BE49-F238E27FC236}">
                <a16:creationId xmlns:a16="http://schemas.microsoft.com/office/drawing/2014/main" id="{A2EA8313-732C-B219-7F78-7DDAE01051AE}"/>
              </a:ext>
            </a:extLst>
          </p:cNvPr>
          <p:cNvSpPr txBox="1"/>
          <p:nvPr/>
        </p:nvSpPr>
        <p:spPr>
          <a:xfrm>
            <a:off x="2502737" y="994776"/>
            <a:ext cx="13349582" cy="982982"/>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Garet Bold"/>
                <a:ea typeface="Garet Bold"/>
                <a:cs typeface="Garet Bold"/>
                <a:sym typeface="Garet Bold"/>
              </a:rPr>
              <a:t>GANTT CHART</a:t>
            </a:r>
          </a:p>
        </p:txBody>
      </p:sp>
      <p:sp>
        <p:nvSpPr>
          <p:cNvPr id="14" name="TextBox 14">
            <a:extLst>
              <a:ext uri="{FF2B5EF4-FFF2-40B4-BE49-F238E27FC236}">
                <a16:creationId xmlns:a16="http://schemas.microsoft.com/office/drawing/2014/main" id="{818D229A-3B77-85E9-0C0D-FD36F920EA23}"/>
              </a:ext>
            </a:extLst>
          </p:cNvPr>
          <p:cNvSpPr txBox="1"/>
          <p:nvPr/>
        </p:nvSpPr>
        <p:spPr>
          <a:xfrm>
            <a:off x="10422458" y="284596"/>
            <a:ext cx="7844206" cy="558804"/>
          </a:xfrm>
          <a:prstGeom prst="rect">
            <a:avLst/>
          </a:prstGeom>
        </p:spPr>
        <p:txBody>
          <a:bodyPr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HOUSEHOLD DISTILLED WATER MAKER WITH LEAST POWER – IOT + MOBILE APP</a:t>
            </a:r>
          </a:p>
        </p:txBody>
      </p:sp>
      <p:sp>
        <p:nvSpPr>
          <p:cNvPr id="16" name="Freeform 2">
            <a:extLst>
              <a:ext uri="{FF2B5EF4-FFF2-40B4-BE49-F238E27FC236}">
                <a16:creationId xmlns:a16="http://schemas.microsoft.com/office/drawing/2014/main" id="{3F8AD970-35C2-C8A1-EE64-6B4CD4EB2666}"/>
              </a:ext>
            </a:extLst>
          </p:cNvPr>
          <p:cNvSpPr/>
          <p:nvPr/>
        </p:nvSpPr>
        <p:spPr>
          <a:xfrm>
            <a:off x="2281428" y="2094707"/>
            <a:ext cx="13792200" cy="6705599"/>
          </a:xfrm>
          <a:custGeom>
            <a:avLst/>
            <a:gdLst/>
            <a:ahLst/>
            <a:cxnLst/>
            <a:rect l="l" t="t" r="r" b="b"/>
            <a:pathLst>
              <a:path w="16623455" h="8311727">
                <a:moveTo>
                  <a:pt x="0" y="0"/>
                </a:moveTo>
                <a:lnTo>
                  <a:pt x="16623455" y="0"/>
                </a:lnTo>
                <a:lnTo>
                  <a:pt x="16623455" y="8311727"/>
                </a:lnTo>
                <a:lnTo>
                  <a:pt x="0" y="8311727"/>
                </a:lnTo>
                <a:lnTo>
                  <a:pt x="0" y="0"/>
                </a:lnTo>
                <a:close/>
              </a:path>
            </a:pathLst>
          </a:custGeom>
          <a:blipFill>
            <a:blip r:embed="rId5"/>
            <a:stretch>
              <a:fillRect/>
            </a:stretch>
          </a:blipFill>
        </p:spPr>
        <p:txBody>
          <a:bodyPr/>
          <a:lstStyle/>
          <a:p>
            <a:endParaRPr lang="en-US" dirty="0"/>
          </a:p>
        </p:txBody>
      </p:sp>
    </p:spTree>
    <p:extLst>
      <p:ext uri="{BB962C8B-B14F-4D97-AF65-F5344CB8AC3E}">
        <p14:creationId xmlns:p14="http://schemas.microsoft.com/office/powerpoint/2010/main" val="93343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dirty="0">
                <a:solidFill>
                  <a:srgbClr val="000000"/>
                </a:solidFill>
                <a:latin typeface="Cambria Bold"/>
                <a:ea typeface="Cambria Bold"/>
                <a:cs typeface="Cambria Bold"/>
                <a:sym typeface="Cambria Bold"/>
              </a:rPr>
              <a:t>2026/03/16</a:t>
            </a:r>
          </a:p>
        </p:txBody>
      </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058279" y="1502030"/>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FUNCTIONAL REQUIREMENTS </a:t>
            </a:r>
          </a:p>
        </p:txBody>
      </p:sp>
      <p:sp>
        <p:nvSpPr>
          <p:cNvPr id="9" name="TextBox 9"/>
          <p:cNvSpPr txBox="1"/>
          <p:nvPr/>
        </p:nvSpPr>
        <p:spPr>
          <a:xfrm>
            <a:off x="1028700" y="5340301"/>
            <a:ext cx="14573791"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NON-FUNCTIONAL REQUIREMENTS</a:t>
            </a:r>
          </a:p>
        </p:txBody>
      </p:sp>
      <p:grpSp>
        <p:nvGrpSpPr>
          <p:cNvPr id="10" name="Group 10"/>
          <p:cNvGrpSpPr/>
          <p:nvPr/>
        </p:nvGrpSpPr>
        <p:grpSpPr>
          <a:xfrm>
            <a:off x="4781846" y="8768302"/>
            <a:ext cx="10224545" cy="1980251"/>
            <a:chOff x="0" y="0"/>
            <a:chExt cx="13632726" cy="2640335"/>
          </a:xfrm>
        </p:grpSpPr>
        <p:sp>
          <p:nvSpPr>
            <p:cNvPr id="11" name="Freeform 11"/>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2" name="TextBox 12"/>
            <p:cNvSpPr txBox="1"/>
            <p:nvPr/>
          </p:nvSpPr>
          <p:spPr>
            <a:xfrm>
              <a:off x="0" y="-19050"/>
              <a:ext cx="13632726" cy="2659385"/>
            </a:xfrm>
            <a:prstGeom prst="rect">
              <a:avLst/>
            </a:prstGeom>
          </p:spPr>
          <p:txBody>
            <a:bodyPr lIns="0" tIns="0" rIns="0" bIns="0" rtlCol="0" anchor="ctr"/>
            <a:lstStyle/>
            <a:p>
              <a:pPr algn="l">
                <a:lnSpc>
                  <a:spcPts val="3240"/>
                </a:lnSpc>
              </a:pPr>
              <a:r>
                <a:rPr lang="en-US" sz="2700" b="1" dirty="0">
                  <a:solidFill>
                    <a:srgbClr val="000000"/>
                  </a:solidFill>
                  <a:latin typeface="Cambria Bold"/>
                  <a:ea typeface="Cambria Bold"/>
                  <a:cs typeface="Cambria Bold"/>
                  <a:sym typeface="Cambria Bold"/>
                </a:rPr>
                <a:t>IT22295460</a:t>
              </a:r>
              <a:r>
                <a:rPr lang="en-US" sz="2700" dirty="0">
                  <a:solidFill>
                    <a:srgbClr val="000000"/>
                  </a:solidFill>
                  <a:latin typeface="Cambria"/>
                  <a:ea typeface="Cambria"/>
                  <a:cs typeface="Cambria"/>
                  <a:sym typeface="Cambria"/>
                </a:rPr>
                <a:t>   |   W.A.S.P.D. WIJESINGHA</a:t>
              </a:r>
              <a:r>
                <a:rPr lang="en-US" sz="2700" b="1" dirty="0">
                  <a:solidFill>
                    <a:srgbClr val="000000"/>
                  </a:solidFill>
                  <a:latin typeface="Cambria Bold"/>
                  <a:ea typeface="Cambria Bold"/>
                  <a:cs typeface="Cambria Bold"/>
                  <a:sym typeface="Cambria Bold"/>
                </a:rPr>
                <a:t/>
              </a:r>
              <a:r>
                <a:rPr lang="en-US" sz="2700" dirty="0">
                  <a:solidFill>
                    <a:srgbClr val="000000"/>
                  </a:solidFill>
                  <a:latin typeface="Cambria"/>
                  <a:ea typeface="Cambria"/>
                  <a:cs typeface="Cambria"/>
                  <a:sym typeface="Cambria"/>
                </a:rPr>
                <a:t>|   R26-IT-005</a:t>
              </a:r>
            </a:p>
          </p:txBody>
        </p:sp>
      </p:grpSp>
      <p:sp>
        <p:nvSpPr>
          <p:cNvPr id="13" name="TextBox 13"/>
          <p:cNvSpPr txBox="1"/>
          <p:nvPr/>
        </p:nvSpPr>
        <p:spPr>
          <a:xfrm>
            <a:off x="785218" y="2797433"/>
            <a:ext cx="14573791" cy="2885405"/>
          </a:xfrm>
          <a:prstGeom prst="rect">
            <a:avLst/>
          </a:prstGeom>
        </p:spPr>
        <p:txBody>
          <a:bodyPr wrap="square" lIns="0" tIns="0" rIns="0" bIns="0" rtlCol="0" anchor="t">
            <a:spAutoFit/>
          </a:bodyPr>
          <a:lstStyle/>
          <a:p>
            <a:pPr marL="539809" lvl="1" indent="-269905" algn="just">
              <a:lnSpc>
                <a:spcPts val="2750"/>
              </a:lnSpc>
              <a:spcBef>
                <a:spcPct val="0"/>
              </a:spcBef>
              <a:buFont typeface="Arial"/>
              <a:buChar char="•"/>
            </a:pPr>
            <a:r>
              <a:rPr lang="en-US" b="1" dirty="0">
                <a:solidFill>
                  <a:srgbClr val="000000"/>
                </a:solidFill>
                <a:latin typeface="Garet Bold"/>
                <a:ea typeface="Garet Bold"/>
                <a:cs typeface="Garet Bold"/>
                <a:sym typeface="Garet Bold"/>
              </a:rPr>
              <a:t>THE SYSTEM SHALL PRODUCE DISTILLED WATER WITH A PURITY LEVEL OF LESS THAN 10 PPM TOTAL DISSOLVED SOLIDS (TDS).</a:t>
            </a:r>
          </a:p>
          <a:p>
            <a:pPr algn="just">
              <a:lnSpc>
                <a:spcPts val="2750"/>
              </a:lnSpc>
              <a:spcBef>
                <a:spcPct val="0"/>
              </a:spcBef>
            </a:pPr>
            <a:endParaRPr lang="en-US" b="1" dirty="0">
              <a:solidFill>
                <a:srgbClr val="000000"/>
              </a:solidFill>
              <a:latin typeface="Garet Bold"/>
              <a:ea typeface="Garet Bold"/>
              <a:cs typeface="Garet Bold"/>
              <a:sym typeface="Garet Bold"/>
            </a:endParaRPr>
          </a:p>
          <a:p>
            <a:pPr marL="539809" lvl="1" indent="-269905" algn="just">
              <a:lnSpc>
                <a:spcPts val="2750"/>
              </a:lnSpc>
              <a:spcBef>
                <a:spcPct val="0"/>
              </a:spcBef>
              <a:buFont typeface="Arial"/>
              <a:buChar char="•"/>
            </a:pPr>
            <a:r>
              <a:rPr lang="en-US" b="1" dirty="0">
                <a:solidFill>
                  <a:srgbClr val="000000"/>
                </a:solidFill>
                <a:latin typeface="Garet Bold"/>
                <a:ea typeface="Garet Bold"/>
                <a:cs typeface="Garet Bold"/>
                <a:sym typeface="Garet Bold"/>
              </a:rPr>
              <a:t>THE SYSTEM SHALL ACHIEVE A MINIMUM OF 30% ENERGY SAVINGS PER LITER OF DISTILLED WATER PRODUCED COMPARED TO A CONVENTIONAL, NON-OPTIMIZED COUNTERTOP DISTILLER OF SIMILAR CAPACITY. THIS WILL BE ACHIEVED THROUGH HEAT RECOVERY AND PID-BASED HEATING CONTROL.</a:t>
            </a:r>
          </a:p>
          <a:p>
            <a:pPr algn="ctr">
              <a:lnSpc>
                <a:spcPts val="6600"/>
              </a:lnSpc>
              <a:spcBef>
                <a:spcPct val="0"/>
              </a:spcBef>
            </a:pPr>
            <a:endParaRPr lang="en-US" sz="2500" b="1" dirty="0">
              <a:solidFill>
                <a:srgbClr val="000000"/>
              </a:solidFill>
              <a:latin typeface="Garet Bold"/>
              <a:ea typeface="Garet Bold"/>
              <a:cs typeface="Garet Bold"/>
              <a:sym typeface="Garet Bold"/>
            </a:endParaRPr>
          </a:p>
        </p:txBody>
      </p:sp>
      <p:sp>
        <p:nvSpPr>
          <p:cNvPr id="14" name="TextBox 14"/>
          <p:cNvSpPr txBox="1"/>
          <p:nvPr/>
        </p:nvSpPr>
        <p:spPr>
          <a:xfrm>
            <a:off x="1028700" y="6518272"/>
            <a:ext cx="14737913" cy="2987997"/>
          </a:xfrm>
          <a:prstGeom prst="rect">
            <a:avLst/>
          </a:prstGeom>
        </p:spPr>
        <p:txBody>
          <a:bodyPr lIns="0" tIns="0" rIns="0" bIns="0" rtlCol="0" anchor="t">
            <a:spAutoFit/>
          </a:bodyPr>
          <a:lstStyle/>
          <a:p>
            <a:pPr marL="539809" lvl="1" indent="-269905" algn="just">
              <a:lnSpc>
                <a:spcPts val="2750"/>
              </a:lnSpc>
              <a:buFont typeface="Arial"/>
              <a:buChar char="•"/>
            </a:pPr>
            <a:r>
              <a:rPr lang="en-US" b="1" dirty="0">
                <a:solidFill>
                  <a:srgbClr val="000000"/>
                </a:solidFill>
                <a:latin typeface="Garet Bold"/>
                <a:ea typeface="Garet Bold"/>
                <a:cs typeface="Garet Bold"/>
                <a:sym typeface="Garet Bold"/>
              </a:rPr>
              <a:t>THE MOBILE APPLICATION MUST HAVE AN INTUITIVE INTERFACE WITH CLEAR DATA VISUALIZATION (E.G., GAUGES, SIMPLE ICONS) THAT REQUIRES MINIMAL TRAINING FOR A USER TO OPERATE EFFECTIVELY.</a:t>
            </a:r>
          </a:p>
          <a:p>
            <a:pPr algn="just">
              <a:lnSpc>
                <a:spcPts val="6600"/>
              </a:lnSpc>
            </a:pPr>
            <a:endParaRPr lang="en-US" b="1" dirty="0">
              <a:solidFill>
                <a:srgbClr val="000000"/>
              </a:solidFill>
              <a:latin typeface="Garet Bold"/>
              <a:ea typeface="Garet Bold"/>
              <a:cs typeface="Garet Bold"/>
              <a:sym typeface="Garet Bold"/>
            </a:endParaRPr>
          </a:p>
          <a:p>
            <a:pPr marL="539749" lvl="1" indent="-269875" algn="just">
              <a:lnSpc>
                <a:spcPts val="2749"/>
              </a:lnSpc>
              <a:buFont typeface="Arial"/>
              <a:buChar char="•"/>
            </a:pPr>
            <a:r>
              <a:rPr lang="en-US" b="1" dirty="0">
                <a:solidFill>
                  <a:srgbClr val="000000"/>
                </a:solidFill>
                <a:latin typeface="Garet Bold"/>
                <a:ea typeface="Garet Bold"/>
                <a:cs typeface="Garet Bold"/>
                <a:sym typeface="Garet Bold"/>
              </a:rPr>
              <a:t>THE SYSTEM SHALL BE CAPABLE OF OPERATING CONTINUOUSLY FOR AT LEAST ONE FULL DISTILLATION CYCLE (3-4 HOURS) WITHOUT ANY WI-FI COMMUNICATION DROPOUTS, SYSTEM FREEZES, OR UNEXPECTED FAILURES.</a:t>
            </a:r>
          </a:p>
          <a:p>
            <a:pPr algn="ctr">
              <a:lnSpc>
                <a:spcPts val="6600"/>
              </a:lnSpc>
              <a:spcBef>
                <a:spcPct val="0"/>
              </a:spcBef>
            </a:pPr>
            <a:endParaRPr lang="en-US" sz="2499" b="1" dirty="0">
              <a:solidFill>
                <a:srgbClr val="000000"/>
              </a:solidFill>
              <a:latin typeface="Garet Bold"/>
              <a:ea typeface="Garet Bold"/>
              <a:cs typeface="Garet Bold"/>
              <a:sym typeface="Garet Bold"/>
            </a:endParaRPr>
          </a:p>
        </p:txBody>
      </p:sp>
      <p:sp>
        <p:nvSpPr>
          <p:cNvPr id="15" name="TextBox 14">
            <a:extLst>
              <a:ext uri="{FF2B5EF4-FFF2-40B4-BE49-F238E27FC236}">
                <a16:creationId xmlns:a16="http://schemas.microsoft.com/office/drawing/2014/main" id="{68DFA147-DF64-0C1F-D2B2-32CC6452BEC8}"/>
              </a:ext>
            </a:extLst>
          </p:cNvPr>
          <p:cNvSpPr txBox="1"/>
          <p:nvPr/>
        </p:nvSpPr>
        <p:spPr>
          <a:xfrm>
            <a:off x="10422458" y="284596"/>
            <a:ext cx="7844206" cy="558804"/>
          </a:xfrm>
          <a:prstGeom prst="rect">
            <a:avLst/>
          </a:prstGeom>
        </p:spPr>
        <p:txBody>
          <a:bodyPr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HOUSEHOLD DISTILLED WATER MAKER WITH LEAST POWER – IOT + MOBILE APP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9BBF434-3E9E-E7E8-C374-8F8C5B49E22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TextBox 3">
            <a:extLst>
              <a:ext uri="{FF2B5EF4-FFF2-40B4-BE49-F238E27FC236}">
                <a16:creationId xmlns:a16="http://schemas.microsoft.com/office/drawing/2014/main" id="{9F6C64AD-B940-00AD-5D16-7D446DB464E3}"/>
              </a:ext>
            </a:extLst>
          </p:cNvPr>
          <p:cNvSpPr txBox="1"/>
          <p:nvPr/>
        </p:nvSpPr>
        <p:spPr>
          <a:xfrm>
            <a:off x="2469209" y="1105136"/>
            <a:ext cx="13349582" cy="884858"/>
          </a:xfrm>
          <a:prstGeom prst="rect">
            <a:avLst/>
          </a:prstGeom>
        </p:spPr>
        <p:txBody>
          <a:bodyPr lIns="0" tIns="0" rIns="0" bIns="0" rtlCol="0" anchor="t">
            <a:spAutoFit/>
          </a:bodyPr>
          <a:lstStyle/>
          <a:p>
            <a:pPr marL="0" lvl="0" indent="0" algn="ctr">
              <a:lnSpc>
                <a:spcPts val="6820"/>
              </a:lnSpc>
              <a:spcBef>
                <a:spcPct val="0"/>
              </a:spcBef>
            </a:pPr>
            <a:r>
              <a:rPr lang="en-US" sz="6000" b="1" dirty="0">
                <a:solidFill>
                  <a:srgbClr val="06728A"/>
                </a:solidFill>
                <a:latin typeface="Garet Bold"/>
                <a:ea typeface="Garet Bold"/>
                <a:cs typeface="Garet Bold"/>
                <a:sym typeface="Garet Bold"/>
              </a:rPr>
              <a:t>BUDGET &amp; JUSTIFICATION</a:t>
            </a:r>
          </a:p>
        </p:txBody>
      </p:sp>
      <p:sp>
        <p:nvSpPr>
          <p:cNvPr id="4" name="Freeform 2">
            <a:extLst>
              <a:ext uri="{FF2B5EF4-FFF2-40B4-BE49-F238E27FC236}">
                <a16:creationId xmlns:a16="http://schemas.microsoft.com/office/drawing/2014/main" id="{0425E37A-EB94-2178-4BD3-6E82E11B448D}"/>
              </a:ext>
            </a:extLst>
          </p:cNvPr>
          <p:cNvSpPr/>
          <p:nvPr/>
        </p:nvSpPr>
        <p:spPr>
          <a:xfrm>
            <a:off x="3663922" y="2152691"/>
            <a:ext cx="10960156" cy="7224919"/>
          </a:xfrm>
          <a:custGeom>
            <a:avLst/>
            <a:gdLst/>
            <a:ahLst/>
            <a:cxnLst/>
            <a:rect l="l" t="t" r="r" b="b"/>
            <a:pathLst>
              <a:path w="12231045" h="8332399">
                <a:moveTo>
                  <a:pt x="0" y="0"/>
                </a:moveTo>
                <a:lnTo>
                  <a:pt x="12231045" y="0"/>
                </a:lnTo>
                <a:lnTo>
                  <a:pt x="12231045" y="8332399"/>
                </a:lnTo>
                <a:lnTo>
                  <a:pt x="0" y="8332399"/>
                </a:lnTo>
                <a:lnTo>
                  <a:pt x="0" y="0"/>
                </a:lnTo>
                <a:close/>
              </a:path>
            </a:pathLst>
          </a:custGeom>
          <a:blipFill>
            <a:blip r:embed="rId3"/>
            <a:stretch>
              <a:fillRect/>
            </a:stretch>
          </a:blipFill>
        </p:spPr>
        <p:txBody>
          <a:bodyPr/>
          <a:lstStyle/>
          <a:p>
            <a:endParaRPr lang="en-US"/>
          </a:p>
        </p:txBody>
      </p:sp>
      <p:sp>
        <p:nvSpPr>
          <p:cNvPr id="5" name="TextBox 14">
            <a:extLst>
              <a:ext uri="{FF2B5EF4-FFF2-40B4-BE49-F238E27FC236}">
                <a16:creationId xmlns:a16="http://schemas.microsoft.com/office/drawing/2014/main" id="{4CACE7AF-C49E-F9AA-8641-80FA679EE281}"/>
              </a:ext>
            </a:extLst>
          </p:cNvPr>
          <p:cNvSpPr txBox="1"/>
          <p:nvPr/>
        </p:nvSpPr>
        <p:spPr>
          <a:xfrm>
            <a:off x="10422458" y="284596"/>
            <a:ext cx="7844206" cy="558804"/>
          </a:xfrm>
          <a:prstGeom prst="rect">
            <a:avLst/>
          </a:prstGeom>
        </p:spPr>
        <p:txBody>
          <a:bodyPr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HOUSEHOLD DISTILLED WATER MAKER WITH LEAST POWER – IOT + MOBILE APP</a:t>
            </a:r>
          </a:p>
        </p:txBody>
      </p:sp>
      <p:grpSp>
        <p:nvGrpSpPr>
          <p:cNvPr id="6" name="Group 5">
            <a:extLst>
              <a:ext uri="{FF2B5EF4-FFF2-40B4-BE49-F238E27FC236}">
                <a16:creationId xmlns:a16="http://schemas.microsoft.com/office/drawing/2014/main" id="{74FCD32E-0B44-B793-3B63-FEF8AB696906}"/>
              </a:ext>
            </a:extLst>
          </p:cNvPr>
          <p:cNvGrpSpPr/>
          <p:nvPr/>
        </p:nvGrpSpPr>
        <p:grpSpPr>
          <a:xfrm>
            <a:off x="0" y="9559957"/>
            <a:ext cx="3771900" cy="735463"/>
            <a:chOff x="0" y="0"/>
            <a:chExt cx="5029200" cy="980618"/>
          </a:xfrm>
        </p:grpSpPr>
        <p:sp>
          <p:nvSpPr>
            <p:cNvPr id="7" name="Freeform 6" descr="A picture containing photo, table, person, monitor  Description automatically generated">
              <a:extLst>
                <a:ext uri="{FF2B5EF4-FFF2-40B4-BE49-F238E27FC236}">
                  <a16:creationId xmlns:a16="http://schemas.microsoft.com/office/drawing/2014/main" id="{E565FE8E-0793-F1AD-AB9C-4559821DB8E4}"/>
                </a:ext>
              </a:extLst>
            </p:cNvPr>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8" name="Group 10">
            <a:extLst>
              <a:ext uri="{FF2B5EF4-FFF2-40B4-BE49-F238E27FC236}">
                <a16:creationId xmlns:a16="http://schemas.microsoft.com/office/drawing/2014/main" id="{70406E0B-3B16-2E0E-EFDC-76540809F256}"/>
              </a:ext>
            </a:extLst>
          </p:cNvPr>
          <p:cNvGrpSpPr/>
          <p:nvPr/>
        </p:nvGrpSpPr>
        <p:grpSpPr>
          <a:xfrm>
            <a:off x="4781846" y="8768302"/>
            <a:ext cx="10224545" cy="1980251"/>
            <a:chOff x="0" y="0"/>
            <a:chExt cx="13632726" cy="2640335"/>
          </a:xfrm>
        </p:grpSpPr>
        <p:sp>
          <p:nvSpPr>
            <p:cNvPr id="9" name="Freeform 11">
              <a:extLst>
                <a:ext uri="{FF2B5EF4-FFF2-40B4-BE49-F238E27FC236}">
                  <a16:creationId xmlns:a16="http://schemas.microsoft.com/office/drawing/2014/main" id="{B861E0A2-788A-31B7-6851-1B0507C30B89}"/>
                </a:ext>
              </a:extLst>
            </p:cNvPr>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0" name="TextBox 12">
              <a:extLst>
                <a:ext uri="{FF2B5EF4-FFF2-40B4-BE49-F238E27FC236}">
                  <a16:creationId xmlns:a16="http://schemas.microsoft.com/office/drawing/2014/main" id="{0A35E1A1-2B3D-8F57-5E7A-4C137B0697FA}"/>
                </a:ext>
              </a:extLst>
            </p:cNvPr>
            <p:cNvSpPr txBox="1"/>
            <p:nvPr/>
          </p:nvSpPr>
          <p:spPr>
            <a:xfrm>
              <a:off x="0" y="-19050"/>
              <a:ext cx="13632726" cy="2659385"/>
            </a:xfrm>
            <a:prstGeom prst="rect">
              <a:avLst/>
            </a:prstGeom>
          </p:spPr>
          <p:txBody>
            <a:bodyPr lIns="0" tIns="0" rIns="0" bIns="0" rtlCol="0" anchor="ctr"/>
            <a:lstStyle/>
            <a:p>
              <a:pPr algn="l">
                <a:lnSpc>
                  <a:spcPts val="3240"/>
                </a:lnSpc>
              </a:pPr>
              <a:r>
                <a:rPr lang="en-US" sz="2700" b="1" dirty="0">
                  <a:solidFill>
                    <a:srgbClr val="000000"/>
                  </a:solidFill>
                  <a:latin typeface="Cambria Bold"/>
                  <a:ea typeface="Cambria Bold"/>
                  <a:cs typeface="Cambria Bold"/>
                  <a:sym typeface="Cambria Bold"/>
                </a:rPr>
                <a:t>IT22295460</a:t>
              </a:r>
              <a:r>
                <a:rPr lang="en-US" sz="2700" dirty="0">
                  <a:solidFill>
                    <a:srgbClr val="000000"/>
                  </a:solidFill>
                  <a:latin typeface="Cambria"/>
                  <a:ea typeface="Cambria"/>
                  <a:cs typeface="Cambria"/>
                  <a:sym typeface="Cambria"/>
                </a:rPr>
                <a:t>   |   W.A.S.P.D. WIJESINGHA</a:t>
              </a:r>
              <a:r>
                <a:rPr lang="en-US" sz="2700" b="1" dirty="0">
                  <a:solidFill>
                    <a:srgbClr val="000000"/>
                  </a:solidFill>
                  <a:latin typeface="Cambria Bold"/>
                  <a:ea typeface="Cambria Bold"/>
                  <a:cs typeface="Cambria Bold"/>
                  <a:sym typeface="Cambria Bold"/>
                </a:rPr>
                <a:t/>
              </a:r>
              <a:r>
                <a:rPr lang="en-US" sz="2700" dirty="0">
                  <a:solidFill>
                    <a:srgbClr val="000000"/>
                  </a:solidFill>
                  <a:latin typeface="Cambria"/>
                  <a:ea typeface="Cambria"/>
                  <a:cs typeface="Cambria"/>
                  <a:sym typeface="Cambria"/>
                </a:rPr>
                <a:t>|   R26-IT-005</a:t>
              </a:r>
            </a:p>
          </p:txBody>
        </p:sp>
      </p:grpSp>
      <p:sp>
        <p:nvSpPr>
          <p:cNvPr id="11" name="TextBox 4">
            <a:extLst>
              <a:ext uri="{FF2B5EF4-FFF2-40B4-BE49-F238E27FC236}">
                <a16:creationId xmlns:a16="http://schemas.microsoft.com/office/drawing/2014/main" id="{E7B0A4C4-ED0F-65E3-33E3-74A6B6BB59A8}"/>
              </a:ext>
            </a:extLst>
          </p:cNvPr>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dirty="0">
                <a:solidFill>
                  <a:srgbClr val="000000"/>
                </a:solidFill>
                <a:latin typeface="Cambria Bold"/>
                <a:ea typeface="Cambria Bold"/>
                <a:cs typeface="Cambria Bold"/>
                <a:sym typeface="Cambria Bold"/>
              </a:rPr>
              <a:t>2026/03/16</a:t>
            </a:r>
          </a:p>
        </p:txBody>
      </p:sp>
    </p:spTree>
    <p:extLst>
      <p:ext uri="{BB962C8B-B14F-4D97-AF65-F5344CB8AC3E}">
        <p14:creationId xmlns:p14="http://schemas.microsoft.com/office/powerpoint/2010/main" val="825286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grpSp>
        <p:nvGrpSpPr>
          <p:cNvPr id="4" name="Group 4"/>
          <p:cNvGrpSpPr/>
          <p:nvPr/>
        </p:nvGrpSpPr>
        <p:grpSpPr>
          <a:xfrm>
            <a:off x="0" y="9559957"/>
            <a:ext cx="3771900" cy="735463"/>
            <a:chOff x="0" y="0"/>
            <a:chExt cx="5029200" cy="980618"/>
          </a:xfrm>
        </p:grpSpPr>
        <p:sp>
          <p:nvSpPr>
            <p:cNvPr id="5" name="Freeform 5"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6" name="TextBox 6"/>
          <p:cNvSpPr txBox="1"/>
          <p:nvPr/>
        </p:nvSpPr>
        <p:spPr>
          <a:xfrm>
            <a:off x="2469209" y="887583"/>
            <a:ext cx="13349582" cy="982982"/>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Garet Bold"/>
                <a:ea typeface="Garet Bold"/>
                <a:cs typeface="Garet Bold"/>
                <a:sym typeface="Garet Bold"/>
              </a:rPr>
              <a:t>REFERENCES</a:t>
            </a:r>
          </a:p>
        </p:txBody>
      </p:sp>
      <p:sp>
        <p:nvSpPr>
          <p:cNvPr id="7" name="TextBox 7"/>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9" name="TextBox 9"/>
          <p:cNvSpPr txBox="1"/>
          <p:nvPr/>
        </p:nvSpPr>
        <p:spPr>
          <a:xfrm>
            <a:off x="1028700" y="2021207"/>
            <a:ext cx="14573791" cy="7519110"/>
          </a:xfrm>
          <a:prstGeom prst="rect">
            <a:avLst/>
          </a:prstGeom>
        </p:spPr>
        <p:txBody>
          <a:bodyPr lIns="0" tIns="0" rIns="0" bIns="0" rtlCol="0" anchor="t">
            <a:spAutoFit/>
          </a:bodyPr>
          <a:lstStyle/>
          <a:p>
            <a:pPr algn="just">
              <a:lnSpc>
                <a:spcPts val="3124"/>
              </a:lnSpc>
            </a:pPr>
            <a:r>
              <a:rPr lang="en-US" sz="2231" b="1" dirty="0">
                <a:solidFill>
                  <a:srgbClr val="1B3957"/>
                </a:solidFill>
                <a:latin typeface="Arimo Bold"/>
                <a:ea typeface="Arimo Bold"/>
                <a:cs typeface="Arimo Bold"/>
                <a:sym typeface="Arimo Bold"/>
              </a:rPr>
              <a:t>[1]   Kim, J., &amp; Lee, H. (2018). Energy-Efficient Distillation Techniques for Household Applications. Energy &amp; Buildings, 160, 122-130. (Key paper on the core topic of efficiency).</a:t>
            </a:r>
          </a:p>
          <a:p>
            <a:pPr algn="just">
              <a:lnSpc>
                <a:spcPts val="3124"/>
              </a:lnSpc>
            </a:pPr>
            <a:endParaRPr lang="en-US" sz="2231" b="1" dirty="0">
              <a:solidFill>
                <a:srgbClr val="1B3957"/>
              </a:solidFill>
              <a:latin typeface="Arimo Bold"/>
              <a:ea typeface="Arimo Bold"/>
              <a:cs typeface="Arimo Bold"/>
              <a:sym typeface="Arimo Bold"/>
            </a:endParaRPr>
          </a:p>
          <a:p>
            <a:pPr algn="just">
              <a:lnSpc>
                <a:spcPts val="3124"/>
              </a:lnSpc>
            </a:pPr>
            <a:r>
              <a:rPr lang="en-US" sz="2231" b="1" dirty="0">
                <a:solidFill>
                  <a:srgbClr val="1B3957"/>
                </a:solidFill>
                <a:latin typeface="Arimo Bold"/>
                <a:ea typeface="Arimo Bold"/>
                <a:cs typeface="Arimo Bold"/>
                <a:sym typeface="Arimo Bold"/>
              </a:rPr>
              <a:t>[2]   Patel, A., &amp; Mehta, S. (2020). IoT-Enabled Smart Water Purification Systems: A </a:t>
            </a:r>
            <a:r>
              <a:rPr lang="en-US" sz="2231" b="1" dirty="0" err="1">
                <a:solidFill>
                  <a:srgbClr val="1B3957"/>
                </a:solidFill>
                <a:latin typeface="Arimo Bold"/>
                <a:ea typeface="Arimo Bold"/>
                <a:cs typeface="Arimo Bold"/>
                <a:sym typeface="Arimo Bold"/>
              </a:rPr>
              <a:t>Review.Journal</a:t>
            </a:r>
            <a:r>
              <a:rPr lang="en-US" sz="2231" b="1" dirty="0">
                <a:solidFill>
                  <a:srgbClr val="1B3957"/>
                </a:solidFill>
                <a:latin typeface="Arimo Bold"/>
                <a:ea typeface="Arimo Bold"/>
                <a:cs typeface="Arimo Bold"/>
                <a:sym typeface="Arimo Bold"/>
              </a:rPr>
              <a:t> of Smart Technologies, 8(3), 120-132. (Provides context on integrating IoT into water purification).</a:t>
            </a:r>
          </a:p>
          <a:p>
            <a:pPr algn="just">
              <a:lnSpc>
                <a:spcPts val="3124"/>
              </a:lnSpc>
            </a:pPr>
            <a:endParaRPr lang="en-US" sz="2231" b="1" dirty="0">
              <a:solidFill>
                <a:srgbClr val="1B3957"/>
              </a:solidFill>
              <a:latin typeface="Arimo Bold"/>
              <a:ea typeface="Arimo Bold"/>
              <a:cs typeface="Arimo Bold"/>
              <a:sym typeface="Arimo Bold"/>
            </a:endParaRPr>
          </a:p>
          <a:p>
            <a:pPr algn="just">
              <a:lnSpc>
                <a:spcPts val="3124"/>
              </a:lnSpc>
            </a:pPr>
            <a:r>
              <a:rPr lang="en-US" sz="2231" b="1" dirty="0">
                <a:solidFill>
                  <a:srgbClr val="1B3957"/>
                </a:solidFill>
                <a:latin typeface="Arimo Bold"/>
                <a:ea typeface="Arimo Bold"/>
                <a:cs typeface="Arimo Bold"/>
                <a:sym typeface="Arimo Bold"/>
              </a:rPr>
              <a:t>[3]  Sharma, R., et al. (2019). Comparative Study of Water Purification Technologies for Domestic Applications. International Journal of Environmental Science and Technology, 14(2), 75-84. (Benchmarks distillation against other methods).</a:t>
            </a:r>
          </a:p>
          <a:p>
            <a:pPr algn="just">
              <a:lnSpc>
                <a:spcPts val="3124"/>
              </a:lnSpc>
            </a:pPr>
            <a:endParaRPr lang="en-US" sz="2231" b="1" dirty="0">
              <a:solidFill>
                <a:srgbClr val="1B3957"/>
              </a:solidFill>
              <a:latin typeface="Arimo Bold"/>
              <a:ea typeface="Arimo Bold"/>
              <a:cs typeface="Arimo Bold"/>
              <a:sym typeface="Arimo Bold"/>
            </a:endParaRPr>
          </a:p>
          <a:p>
            <a:pPr algn="just">
              <a:lnSpc>
                <a:spcPts val="3124"/>
              </a:lnSpc>
            </a:pPr>
            <a:endParaRPr lang="en-US" sz="2231" b="1" dirty="0">
              <a:solidFill>
                <a:srgbClr val="1B3957"/>
              </a:solidFill>
              <a:latin typeface="Arimo Bold"/>
              <a:ea typeface="Arimo Bold"/>
              <a:cs typeface="Arimo Bold"/>
              <a:sym typeface="Arimo Bold"/>
            </a:endParaRPr>
          </a:p>
          <a:p>
            <a:pPr algn="just">
              <a:lnSpc>
                <a:spcPts val="3124"/>
              </a:lnSpc>
            </a:pPr>
            <a:r>
              <a:rPr lang="en-US" sz="2231" b="1" dirty="0">
                <a:solidFill>
                  <a:srgbClr val="1B3957"/>
                </a:solidFill>
                <a:latin typeface="Arimo Bold"/>
                <a:ea typeface="Arimo Bold"/>
                <a:cs typeface="Arimo Bold"/>
                <a:sym typeface="Arimo Bold"/>
              </a:rPr>
              <a:t>[4] Singh, P., et al. (2021). IoT-Based Monitoring and Control for Smart Home Appliances: A Comprehensive Review. IEEE Access, 9, 89012-89025. (Broad overview of IoT in home appliances, including design patterns).</a:t>
            </a:r>
          </a:p>
          <a:p>
            <a:pPr algn="just">
              <a:lnSpc>
                <a:spcPts val="3124"/>
              </a:lnSpc>
            </a:pPr>
            <a:endParaRPr lang="en-US" sz="2231" b="1" dirty="0">
              <a:solidFill>
                <a:srgbClr val="1B3957"/>
              </a:solidFill>
              <a:latin typeface="Arimo Bold"/>
              <a:ea typeface="Arimo Bold"/>
              <a:cs typeface="Arimo Bold"/>
              <a:sym typeface="Arimo Bold"/>
            </a:endParaRPr>
          </a:p>
          <a:p>
            <a:pPr algn="just">
              <a:lnSpc>
                <a:spcPts val="3124"/>
              </a:lnSpc>
            </a:pPr>
            <a:r>
              <a:rPr lang="en-US" sz="2231" b="1" dirty="0">
                <a:solidFill>
                  <a:srgbClr val="1B3957"/>
                </a:solidFill>
                <a:latin typeface="Arimo Bold"/>
                <a:ea typeface="Arimo Bold"/>
                <a:cs typeface="Arimo Bold"/>
                <a:sym typeface="Arimo Bold"/>
              </a:rPr>
              <a:t>[5]  World Health Organization (WHO). (2017).Guidelines for Drinking-water Quality (4th ed.). WHO. (For context on water purity standards).</a:t>
            </a:r>
          </a:p>
          <a:p>
            <a:pPr algn="just">
              <a:lnSpc>
                <a:spcPts val="3124"/>
              </a:lnSpc>
            </a:pPr>
            <a:endParaRPr lang="en-US" sz="2231" b="1" dirty="0">
              <a:solidFill>
                <a:srgbClr val="1B3957"/>
              </a:solidFill>
              <a:latin typeface="Arimo Bold"/>
              <a:ea typeface="Arimo Bold"/>
              <a:cs typeface="Arimo Bold"/>
              <a:sym typeface="Arimo Bold"/>
            </a:endParaRPr>
          </a:p>
          <a:p>
            <a:pPr algn="just">
              <a:lnSpc>
                <a:spcPts val="3124"/>
              </a:lnSpc>
            </a:pPr>
            <a:endParaRPr lang="en-US" sz="2231" b="1" dirty="0">
              <a:solidFill>
                <a:srgbClr val="1B3957"/>
              </a:solidFill>
              <a:latin typeface="Arimo Bold"/>
              <a:ea typeface="Arimo Bold"/>
              <a:cs typeface="Arimo Bold"/>
              <a:sym typeface="Arimo Bold"/>
            </a:endParaRPr>
          </a:p>
        </p:txBody>
      </p:sp>
      <p:grpSp>
        <p:nvGrpSpPr>
          <p:cNvPr id="10" name="Group 10"/>
          <p:cNvGrpSpPr/>
          <p:nvPr/>
        </p:nvGrpSpPr>
        <p:grpSpPr>
          <a:xfrm>
            <a:off x="4781846" y="8768302"/>
            <a:ext cx="10224545" cy="1980251"/>
            <a:chOff x="0" y="0"/>
            <a:chExt cx="13632726" cy="2640335"/>
          </a:xfrm>
        </p:grpSpPr>
        <p:sp>
          <p:nvSpPr>
            <p:cNvPr id="11" name="Freeform 11"/>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2" name="TextBox 12"/>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IT22295460</a:t>
              </a:r>
              <a:r>
                <a:rPr lang="en-US" sz="2700">
                  <a:solidFill>
                    <a:srgbClr val="000000"/>
                  </a:solidFill>
                  <a:latin typeface="Cambria"/>
                  <a:ea typeface="Cambria"/>
                  <a:cs typeface="Cambria"/>
                  <a:sym typeface="Cambria"/>
                </a:rPr>
                <a:t>   |   W.A.S.P.D. WIJESINGHA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3" name="TextBox 14">
            <a:extLst>
              <a:ext uri="{FF2B5EF4-FFF2-40B4-BE49-F238E27FC236}">
                <a16:creationId xmlns:a16="http://schemas.microsoft.com/office/drawing/2014/main" id="{C90A26FE-2848-8A39-95E0-9AF532F29508}"/>
              </a:ext>
            </a:extLst>
          </p:cNvPr>
          <p:cNvSpPr txBox="1"/>
          <p:nvPr/>
        </p:nvSpPr>
        <p:spPr>
          <a:xfrm>
            <a:off x="10422458" y="284596"/>
            <a:ext cx="7844206" cy="558804"/>
          </a:xfrm>
          <a:prstGeom prst="rect">
            <a:avLst/>
          </a:prstGeom>
        </p:spPr>
        <p:txBody>
          <a:bodyPr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HOUSEHOLD DISTILLED WATER MAKER WITH LEAST POWER – IOT + MOBILE APP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577729">
            <a:off x="1065970" y="2839428"/>
            <a:ext cx="486621" cy="486621"/>
          </a:xfrm>
          <a:custGeom>
            <a:avLst/>
            <a:gdLst/>
            <a:ahLst/>
            <a:cxnLst/>
            <a:rect l="l" t="t" r="r" b="b"/>
            <a:pathLst>
              <a:path w="486621" h="486621">
                <a:moveTo>
                  <a:pt x="0" y="0"/>
                </a:moveTo>
                <a:lnTo>
                  <a:pt x="486620" y="0"/>
                </a:lnTo>
                <a:lnTo>
                  <a:pt x="486620" y="486621"/>
                </a:lnTo>
                <a:lnTo>
                  <a:pt x="0" y="486621"/>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rot="-557633">
            <a:off x="16175419" y="1675372"/>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Freeform 5"/>
          <p:cNvSpPr/>
          <p:nvPr/>
        </p:nvSpPr>
        <p:spPr>
          <a:xfrm rot="248758">
            <a:off x="16755725" y="8524992"/>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grpSp>
        <p:nvGrpSpPr>
          <p:cNvPr id="8" name="Group 8"/>
          <p:cNvGrpSpPr/>
          <p:nvPr/>
        </p:nvGrpSpPr>
        <p:grpSpPr>
          <a:xfrm>
            <a:off x="4781846" y="8768302"/>
            <a:ext cx="10224545" cy="1980251"/>
            <a:chOff x="0" y="0"/>
            <a:chExt cx="13632726" cy="2640335"/>
          </a:xfrm>
        </p:grpSpPr>
        <p:sp>
          <p:nvSpPr>
            <p:cNvPr id="9" name="Freeform 9"/>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6">
                <a:alphaModFix amt="0"/>
              </a:blip>
              <a:stretch>
                <a:fillRect t="-86777" b="-14434"/>
              </a:stretch>
            </a:blipFill>
          </p:spPr>
          <p:txBody>
            <a:bodyPr/>
            <a:lstStyle/>
            <a:p>
              <a:endParaRPr lang="en-US"/>
            </a:p>
          </p:txBody>
        </p:sp>
        <p:sp>
          <p:nvSpPr>
            <p:cNvPr id="10" name="TextBox 10"/>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1" name="Freeform 11"/>
          <p:cNvSpPr/>
          <p:nvPr/>
        </p:nvSpPr>
        <p:spPr>
          <a:xfrm>
            <a:off x="15506414" y="0"/>
            <a:ext cx="2781586" cy="3218666"/>
          </a:xfrm>
          <a:custGeom>
            <a:avLst/>
            <a:gdLst/>
            <a:ahLst/>
            <a:cxnLst/>
            <a:rect l="l" t="t" r="r" b="b"/>
            <a:pathLst>
              <a:path w="2781586" h="3218666">
                <a:moveTo>
                  <a:pt x="0" y="0"/>
                </a:moveTo>
                <a:lnTo>
                  <a:pt x="2781586" y="0"/>
                </a:lnTo>
                <a:lnTo>
                  <a:pt x="2781586" y="3218666"/>
                </a:lnTo>
                <a:lnTo>
                  <a:pt x="0" y="3218666"/>
                </a:lnTo>
                <a:lnTo>
                  <a:pt x="0" y="0"/>
                </a:lnTo>
                <a:close/>
              </a:path>
            </a:pathLst>
          </a:custGeom>
          <a:blipFill>
            <a:blip r:embed="rId7"/>
            <a:stretch>
              <a:fillRect b="-38684"/>
            </a:stretch>
          </a:blipFill>
        </p:spPr>
        <p:txBody>
          <a:bodyPr/>
          <a:lstStyle/>
          <a:p>
            <a:endParaRPr lang="en-US"/>
          </a:p>
        </p:txBody>
      </p:sp>
      <p:sp>
        <p:nvSpPr>
          <p:cNvPr id="12" name="TextBox 12"/>
          <p:cNvSpPr txBox="1"/>
          <p:nvPr/>
        </p:nvSpPr>
        <p:spPr>
          <a:xfrm>
            <a:off x="5013552" y="3908460"/>
            <a:ext cx="11985483" cy="555346"/>
          </a:xfrm>
          <a:prstGeom prst="rect">
            <a:avLst/>
          </a:prstGeom>
        </p:spPr>
        <p:txBody>
          <a:bodyPr lIns="0" tIns="0" rIns="0" bIns="0" rtlCol="0" anchor="t">
            <a:spAutoFit/>
          </a:bodyPr>
          <a:lstStyle/>
          <a:p>
            <a:pPr marL="0" lvl="0" indent="0" algn="l">
              <a:lnSpc>
                <a:spcPts val="4375"/>
              </a:lnSpc>
            </a:pPr>
            <a:r>
              <a:rPr lang="en-US" sz="3977" b="1">
                <a:solidFill>
                  <a:srgbClr val="06728A"/>
                </a:solidFill>
                <a:latin typeface="Garet Bold"/>
                <a:ea typeface="Garet Bold"/>
                <a:cs typeface="Garet Bold"/>
                <a:sym typeface="Garet Bold"/>
              </a:rPr>
              <a:t>IT22212122  |  D. DODANWELA</a:t>
            </a:r>
          </a:p>
        </p:txBody>
      </p:sp>
      <p:sp>
        <p:nvSpPr>
          <p:cNvPr id="13" name="TextBox 13"/>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4" name="TextBox 14"/>
          <p:cNvSpPr txBox="1"/>
          <p:nvPr/>
        </p:nvSpPr>
        <p:spPr>
          <a:xfrm>
            <a:off x="2469209" y="4782415"/>
            <a:ext cx="13349582" cy="1486538"/>
          </a:xfrm>
          <a:prstGeom prst="rect">
            <a:avLst/>
          </a:prstGeom>
        </p:spPr>
        <p:txBody>
          <a:bodyPr lIns="0" tIns="0" rIns="0" bIns="0" rtlCol="0" anchor="t">
            <a:spAutoFit/>
          </a:bodyPr>
          <a:lstStyle/>
          <a:p>
            <a:pPr marL="0" lvl="0" indent="0" algn="ctr">
              <a:lnSpc>
                <a:spcPts val="5830"/>
              </a:lnSpc>
              <a:spcBef>
                <a:spcPct val="0"/>
              </a:spcBef>
            </a:pPr>
            <a:r>
              <a:rPr lang="en-US" sz="5300" b="1">
                <a:solidFill>
                  <a:srgbClr val="06728A"/>
                </a:solidFill>
                <a:latin typeface="Garet Bold"/>
                <a:ea typeface="Garet Bold"/>
                <a:cs typeface="Garet Bold"/>
                <a:sym typeface="Garet Bold"/>
              </a:rPr>
              <a:t>INTELLIGENT ALKALINE WATER GENERATION MODULE – IOT &amp; AI/ML</a:t>
            </a:r>
          </a:p>
        </p:txBody>
      </p:sp>
      <p:sp>
        <p:nvSpPr>
          <p:cNvPr id="15" name="TextBox 15"/>
          <p:cNvSpPr txBox="1"/>
          <p:nvPr/>
        </p:nvSpPr>
        <p:spPr>
          <a:xfrm>
            <a:off x="2789456" y="6928200"/>
            <a:ext cx="12709088" cy="1783037"/>
          </a:xfrm>
          <a:prstGeom prst="rect">
            <a:avLst/>
          </a:prstGeom>
        </p:spPr>
        <p:txBody>
          <a:bodyPr lIns="0" tIns="0" rIns="0" bIns="0" rtlCol="0" anchor="t">
            <a:spAutoFit/>
          </a:bodyPr>
          <a:lstStyle/>
          <a:p>
            <a:pPr algn="ctr">
              <a:lnSpc>
                <a:spcPts val="3572"/>
              </a:lnSpc>
            </a:pPr>
            <a:r>
              <a:rPr lang="en-US" sz="2551" b="1">
                <a:solidFill>
                  <a:srgbClr val="1B3957"/>
                </a:solidFill>
                <a:latin typeface="Arimo Bold"/>
                <a:ea typeface="Arimo Bold"/>
                <a:cs typeface="Arimo Bold"/>
                <a:sym typeface="Arimo Bold"/>
              </a:rPr>
              <a:t>Novelty - Replaces "dumb" cartridges with a closed-loop, AI-driven dosing system. It's the first system to dynamically balance minerals based on real-time feedback, ensuring consistent, safe, and personalized water quality.</a:t>
            </a:r>
          </a:p>
          <a:p>
            <a:pPr algn="ctr">
              <a:lnSpc>
                <a:spcPts val="3572"/>
              </a:lnSpc>
            </a:pPr>
            <a:endParaRPr lang="en-US" sz="2551" b="1">
              <a:solidFill>
                <a:srgbClr val="1B3957"/>
              </a:solidFill>
              <a:latin typeface="Arimo Bold"/>
              <a:ea typeface="Arimo Bold"/>
              <a:cs typeface="Arimo Bold"/>
              <a:sym typeface="Arimo 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656809" y="162264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PROBLEM</a:t>
            </a:r>
          </a:p>
        </p:txBody>
      </p:sp>
      <p:sp>
        <p:nvSpPr>
          <p:cNvPr id="5" name="TextBox 5"/>
          <p:cNvSpPr txBox="1"/>
          <p:nvPr/>
        </p:nvSpPr>
        <p:spPr>
          <a:xfrm>
            <a:off x="1656809" y="2950005"/>
            <a:ext cx="12709088" cy="1598888"/>
          </a:xfrm>
          <a:prstGeom prst="rect">
            <a:avLst/>
          </a:prstGeom>
        </p:spPr>
        <p:txBody>
          <a:bodyPr lIns="0" tIns="0" rIns="0" bIns="0" rtlCol="0" anchor="t">
            <a:spAutoFit/>
          </a:bodyPr>
          <a:lstStyle/>
          <a:p>
            <a:pPr algn="just">
              <a:lnSpc>
                <a:spcPts val="4272"/>
              </a:lnSpc>
            </a:pPr>
            <a:r>
              <a:rPr lang="en-US" sz="3051" b="1" dirty="0">
                <a:solidFill>
                  <a:srgbClr val="1B3957"/>
                </a:solidFill>
                <a:latin typeface="Arimo Bold"/>
                <a:ea typeface="Arimo Bold"/>
                <a:cs typeface="Arimo Bold"/>
                <a:sym typeface="Arimo Bold"/>
              </a:rPr>
              <a:t>Existing alkaline water filters use static mineral cartridges that deplete over time and cannot adjust to the incoming water chemistry, risking over-mineralization or ineffective pH change.</a:t>
            </a: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9" name="TextBox 9"/>
          <p:cNvSpPr txBox="1"/>
          <p:nvPr/>
        </p:nvSpPr>
        <p:spPr>
          <a:xfrm>
            <a:off x="1656809" y="5200650"/>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SOLUTION</a:t>
            </a:r>
          </a:p>
        </p:txBody>
      </p:sp>
      <p:sp>
        <p:nvSpPr>
          <p:cNvPr id="10" name="TextBox 10"/>
          <p:cNvSpPr txBox="1"/>
          <p:nvPr/>
        </p:nvSpPr>
        <p:spPr>
          <a:xfrm>
            <a:off x="1453907" y="5981702"/>
            <a:ext cx="12751053" cy="3199088"/>
          </a:xfrm>
          <a:prstGeom prst="rect">
            <a:avLst/>
          </a:prstGeom>
        </p:spPr>
        <p:txBody>
          <a:bodyPr lIns="0" tIns="0" rIns="0" bIns="0" rtlCol="0" anchor="t">
            <a:spAutoFit/>
          </a:bodyPr>
          <a:lstStyle/>
          <a:p>
            <a:pPr algn="just">
              <a:lnSpc>
                <a:spcPts val="4272"/>
              </a:lnSpc>
            </a:pPr>
            <a:r>
              <a:rPr lang="en-US" sz="3051" b="1">
                <a:solidFill>
                  <a:srgbClr val="1B3957"/>
                </a:solidFill>
                <a:latin typeface="Arimo Bold"/>
                <a:ea typeface="Arimo Bold"/>
                <a:cs typeface="Arimo Bold"/>
                <a:sym typeface="Arimo Bold"/>
              </a:rPr>
              <a:t>An intelligent, closed-loop dosing system that dynamically adds essential minerals (Calcium, Magnesium, Potassium) to purified water based on real-time sensor feedback. Unlike static cartridges, it uses an AI model to calculate precise mineral dosages, ensuring consistent, safe alkalinity that meets WHO standards while adapting to varying incoming water chemistry.</a:t>
            </a:r>
          </a:p>
        </p:txBody>
      </p:sp>
      <p:grpSp>
        <p:nvGrpSpPr>
          <p:cNvPr id="11" name="Group 11"/>
          <p:cNvGrpSpPr/>
          <p:nvPr/>
        </p:nvGrpSpPr>
        <p:grpSpPr>
          <a:xfrm>
            <a:off x="4781846" y="8768302"/>
            <a:ext cx="10224545" cy="1980251"/>
            <a:chOff x="0" y="0"/>
            <a:chExt cx="13632726" cy="2640335"/>
          </a:xfrm>
        </p:grpSpPr>
        <p:sp>
          <p:nvSpPr>
            <p:cNvPr id="12" name="Freeform 12"/>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3" name="TextBox 13"/>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0921897" y="469896"/>
            <a:ext cx="6971928"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INTELLIGENT ALKALINE WATER GENERATION MODULE – IOT &amp; AI/ML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277080" y="1301048"/>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dirty="0">
                <a:solidFill>
                  <a:srgbClr val="06728A"/>
                </a:solidFill>
                <a:latin typeface="Garet Bold"/>
                <a:ea typeface="Garet Bold"/>
                <a:cs typeface="Garet Bold"/>
                <a:sym typeface="Garet Bold"/>
              </a:rPr>
              <a:t>OBJECTIVES</a:t>
            </a:r>
          </a:p>
        </p:txBody>
      </p:sp>
      <p:sp>
        <p:nvSpPr>
          <p:cNvPr id="5" name="TextBox 5"/>
          <p:cNvSpPr txBox="1"/>
          <p:nvPr/>
        </p:nvSpPr>
        <p:spPr>
          <a:xfrm>
            <a:off x="277080" y="2309370"/>
            <a:ext cx="14573791" cy="2170249"/>
          </a:xfrm>
          <a:prstGeom prst="rect">
            <a:avLst/>
          </a:prstGeom>
        </p:spPr>
        <p:txBody>
          <a:bodyPr lIns="0" tIns="0" rIns="0" bIns="0" rtlCol="0" anchor="t">
            <a:spAutoFit/>
          </a:bodyPr>
          <a:lstStyle/>
          <a:p>
            <a:pPr algn="just">
              <a:lnSpc>
                <a:spcPts val="4279"/>
              </a:lnSpc>
            </a:pPr>
            <a:r>
              <a:rPr lang="en-US" sz="3057" b="1">
                <a:solidFill>
                  <a:srgbClr val="1B3957"/>
                </a:solidFill>
                <a:latin typeface="Arimo Bold"/>
                <a:ea typeface="Arimo Bold"/>
                <a:cs typeface="Arimo Bold"/>
                <a:sym typeface="Arimo Bold"/>
              </a:rPr>
              <a:t>To design, develop, and validate an intelligent, closed-loop alkaline water generation module that integrates IoT-based real-time sensing with a machine learning-driven control algorithm to automatically and precisely maintain a user-defined, safe, and mineral-balanced alkaline water profile. </a:t>
            </a: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9" name="TextBox 9"/>
          <p:cNvSpPr txBox="1"/>
          <p:nvPr/>
        </p:nvSpPr>
        <p:spPr>
          <a:xfrm>
            <a:off x="277080" y="5030741"/>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SUB OBJECTIVES</a:t>
            </a:r>
          </a:p>
        </p:txBody>
      </p:sp>
      <p:sp>
        <p:nvSpPr>
          <p:cNvPr id="10" name="TextBox 10"/>
          <p:cNvSpPr txBox="1"/>
          <p:nvPr/>
        </p:nvSpPr>
        <p:spPr>
          <a:xfrm>
            <a:off x="-283504" y="6088018"/>
            <a:ext cx="18855008" cy="3199591"/>
          </a:xfrm>
          <a:prstGeom prst="rect">
            <a:avLst/>
          </a:prstGeom>
        </p:spPr>
        <p:txBody>
          <a:bodyPr lIns="0" tIns="0" rIns="0" bIns="0" rtlCol="0" anchor="t">
            <a:spAutoFit/>
          </a:bodyPr>
          <a:lstStyle/>
          <a:p>
            <a:pPr marL="654574" lvl="1" indent="-327287" algn="l">
              <a:lnSpc>
                <a:spcPts val="4244"/>
              </a:lnSpc>
              <a:buFont typeface="Arial"/>
              <a:buChar char="•"/>
            </a:pPr>
            <a:r>
              <a:rPr lang="en-US" sz="3031" b="1" dirty="0">
                <a:solidFill>
                  <a:srgbClr val="1B3957"/>
                </a:solidFill>
                <a:latin typeface="Arimo Bold"/>
                <a:ea typeface="Arimo Bold"/>
                <a:cs typeface="Arimo Bold"/>
                <a:sym typeface="Arimo Bold"/>
              </a:rPr>
              <a:t>Senses pre/post-mineralization water parameters (pH, TDS, minerals) via ESP32 and sensors.</a:t>
            </a:r>
          </a:p>
          <a:p>
            <a:pPr marL="654574" lvl="1" indent="-327287" algn="l">
              <a:lnSpc>
                <a:spcPts val="4244"/>
              </a:lnSpc>
              <a:buFont typeface="Arial"/>
              <a:buChar char="•"/>
            </a:pPr>
            <a:r>
              <a:rPr lang="en-US" sz="3031" b="1" dirty="0">
                <a:solidFill>
                  <a:srgbClr val="1B3957"/>
                </a:solidFill>
                <a:latin typeface="Arimo Bold"/>
                <a:ea typeface="Arimo Bold"/>
                <a:cs typeface="Arimo Bold"/>
                <a:sym typeface="Arimo Bold"/>
              </a:rPr>
              <a:t>Calculates optimal mineral dosages using a trained ML regression model (ANN/SVR).</a:t>
            </a:r>
          </a:p>
          <a:p>
            <a:pPr marL="654574" lvl="1" indent="-327287" algn="l">
              <a:lnSpc>
                <a:spcPts val="4244"/>
              </a:lnSpc>
              <a:buFont typeface="Arial"/>
              <a:buChar char="•"/>
            </a:pPr>
            <a:r>
              <a:rPr lang="en-US" sz="3031" b="1" dirty="0">
                <a:solidFill>
                  <a:srgbClr val="1B3957"/>
                </a:solidFill>
                <a:latin typeface="Arimo Bold"/>
                <a:ea typeface="Arimo Bold"/>
                <a:cs typeface="Arimo Bold"/>
                <a:sym typeface="Arimo Bold"/>
              </a:rPr>
              <a:t>Doses precisely via peristaltic pumps injecting calcium, magnesium, and potassium.</a:t>
            </a:r>
          </a:p>
          <a:p>
            <a:pPr marL="654574" lvl="1" indent="-327287" algn="l">
              <a:lnSpc>
                <a:spcPts val="4244"/>
              </a:lnSpc>
              <a:buFont typeface="Arial"/>
              <a:buChar char="•"/>
            </a:pPr>
            <a:r>
              <a:rPr lang="en-US" sz="3031" b="1" dirty="0">
                <a:solidFill>
                  <a:srgbClr val="1B3957"/>
                </a:solidFill>
                <a:latin typeface="Arimo Bold"/>
                <a:ea typeface="Arimo Bold"/>
                <a:cs typeface="Arimo Bold"/>
                <a:sym typeface="Arimo Bold"/>
              </a:rPr>
              <a:t>Controls continuously through ESP32-integrated feedback loop.</a:t>
            </a:r>
          </a:p>
          <a:p>
            <a:pPr marL="654574" lvl="1" indent="-327287" algn="l">
              <a:lnSpc>
                <a:spcPts val="4244"/>
              </a:lnSpc>
              <a:buFont typeface="Arial"/>
              <a:buChar char="•"/>
            </a:pPr>
            <a:r>
              <a:rPr lang="en-US" sz="3031" b="1" dirty="0">
                <a:solidFill>
                  <a:srgbClr val="1B3957"/>
                </a:solidFill>
                <a:latin typeface="Arimo Bold"/>
                <a:ea typeface="Arimo Bold"/>
                <a:cs typeface="Arimo Bold"/>
                <a:sym typeface="Arimo Bold"/>
              </a:rPr>
              <a:t>Interfaces via mobile/web dashboard for user control and validation of pH accuracy and stability.</a:t>
            </a:r>
          </a:p>
          <a:p>
            <a:pPr algn="just">
              <a:lnSpc>
                <a:spcPts val="4244"/>
              </a:lnSpc>
            </a:pPr>
            <a:endParaRPr lang="en-US" sz="3031" b="1" dirty="0">
              <a:solidFill>
                <a:srgbClr val="1B3957"/>
              </a:solidFill>
              <a:latin typeface="Arimo Bold"/>
              <a:ea typeface="Arimo Bold"/>
              <a:cs typeface="Arimo Bold"/>
              <a:sym typeface="Arimo Bold"/>
            </a:endParaRPr>
          </a:p>
        </p:txBody>
      </p:sp>
      <p:grpSp>
        <p:nvGrpSpPr>
          <p:cNvPr id="11" name="Group 11"/>
          <p:cNvGrpSpPr/>
          <p:nvPr/>
        </p:nvGrpSpPr>
        <p:grpSpPr>
          <a:xfrm>
            <a:off x="4781846" y="8768302"/>
            <a:ext cx="10224545" cy="1980251"/>
            <a:chOff x="0" y="0"/>
            <a:chExt cx="13632726" cy="2640335"/>
          </a:xfrm>
        </p:grpSpPr>
        <p:sp>
          <p:nvSpPr>
            <p:cNvPr id="12" name="Freeform 12"/>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3" name="TextBox 13"/>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0921897" y="469896"/>
            <a:ext cx="6971928"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INTELLIGENT ALKALINE WATER GENERATION MODULE – IOT &amp; AI/ML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2590265" y="768592"/>
            <a:ext cx="13349582" cy="857252"/>
          </a:xfrm>
          <a:prstGeom prst="rect">
            <a:avLst/>
          </a:prstGeom>
        </p:spPr>
        <p:txBody>
          <a:bodyPr lIns="0" tIns="0" rIns="0" bIns="0" rtlCol="0" anchor="t">
            <a:spAutoFit/>
          </a:bodyPr>
          <a:lstStyle/>
          <a:p>
            <a:pPr marL="0" lvl="0" indent="0" algn="ctr">
              <a:lnSpc>
                <a:spcPts val="6600"/>
              </a:lnSpc>
              <a:spcBef>
                <a:spcPct val="0"/>
              </a:spcBef>
            </a:pPr>
            <a:r>
              <a:rPr lang="en-US" sz="6000" b="1" dirty="0">
                <a:solidFill>
                  <a:srgbClr val="06728A"/>
                </a:solidFill>
                <a:latin typeface="Garet Bold"/>
                <a:ea typeface="Garet Bold"/>
                <a:cs typeface="Garet Bold"/>
                <a:sym typeface="Garet Bold"/>
              </a:rPr>
              <a:t>METHODOLOGY</a:t>
            </a:r>
          </a:p>
        </p:txBody>
      </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7" name="TextBox 7"/>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8" name="TextBox 8"/>
          <p:cNvSpPr txBox="1"/>
          <p:nvPr/>
        </p:nvSpPr>
        <p:spPr>
          <a:xfrm>
            <a:off x="1028700" y="1474654"/>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dirty="0">
                <a:solidFill>
                  <a:srgbClr val="06728A"/>
                </a:solidFill>
                <a:latin typeface="Garet Bold"/>
                <a:ea typeface="Garet Bold"/>
                <a:cs typeface="Garet Bold"/>
                <a:sym typeface="Garet Bold"/>
              </a:rPr>
              <a:t>Application of Domain Knowledge </a:t>
            </a:r>
          </a:p>
        </p:txBody>
      </p:sp>
      <p:sp>
        <p:nvSpPr>
          <p:cNvPr id="9" name="TextBox 9"/>
          <p:cNvSpPr txBox="1"/>
          <p:nvPr/>
        </p:nvSpPr>
        <p:spPr>
          <a:xfrm>
            <a:off x="847283" y="1977695"/>
            <a:ext cx="16593435" cy="2688259"/>
          </a:xfrm>
          <a:prstGeom prst="rect">
            <a:avLst/>
          </a:prstGeom>
        </p:spPr>
        <p:txBody>
          <a:bodyPr lIns="0" tIns="0" rIns="0" bIns="0" rtlCol="0" anchor="t">
            <a:spAutoFit/>
          </a:bodyPr>
          <a:lstStyle/>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Biochemistry: Mineral impact on health and safe alkalinity.</a:t>
            </a:r>
          </a:p>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Control Systems: Automated closed-loop dosing.</a:t>
            </a:r>
          </a:p>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Machine Learning: Regression models (TensorFlow) for dosage prediction.</a:t>
            </a:r>
          </a:p>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Sensor Technology: pH, ORP, ion-specific sensors for real-time feedback.</a:t>
            </a:r>
          </a:p>
          <a:p>
            <a:pPr marL="547961" lvl="1" indent="-273980" algn="l">
              <a:lnSpc>
                <a:spcPts val="3553"/>
              </a:lnSpc>
              <a:buFont typeface="Arial"/>
              <a:buChar char="•"/>
            </a:pPr>
            <a:r>
              <a:rPr lang="en-US" sz="2538" b="1" dirty="0">
                <a:solidFill>
                  <a:srgbClr val="1B3957"/>
                </a:solidFill>
                <a:latin typeface="Arimo Bold"/>
                <a:ea typeface="Arimo Bold"/>
                <a:cs typeface="Arimo Bold"/>
                <a:sym typeface="Arimo Bold"/>
              </a:rPr>
              <a:t>Actuators: Peristaltic pumps for micro-precision mineral injection.</a:t>
            </a:r>
          </a:p>
          <a:p>
            <a:pPr algn="l">
              <a:lnSpc>
                <a:spcPts val="3553"/>
              </a:lnSpc>
            </a:pPr>
            <a:endParaRPr lang="en-US" sz="2538" b="1" dirty="0">
              <a:solidFill>
                <a:srgbClr val="1B3957"/>
              </a:solidFill>
              <a:latin typeface="Arimo Bold"/>
              <a:ea typeface="Arimo Bold"/>
              <a:cs typeface="Arimo Bold"/>
              <a:sym typeface="Arimo Bold"/>
            </a:endParaRPr>
          </a:p>
        </p:txBody>
      </p:sp>
      <p:sp>
        <p:nvSpPr>
          <p:cNvPr id="10" name="TextBox 10"/>
          <p:cNvSpPr txBox="1"/>
          <p:nvPr/>
        </p:nvSpPr>
        <p:spPr>
          <a:xfrm>
            <a:off x="847283" y="4300253"/>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Latest Technologies </a:t>
            </a:r>
          </a:p>
        </p:txBody>
      </p:sp>
      <p:sp>
        <p:nvSpPr>
          <p:cNvPr id="11" name="TextBox 11"/>
          <p:cNvSpPr txBox="1"/>
          <p:nvPr/>
        </p:nvSpPr>
        <p:spPr>
          <a:xfrm>
            <a:off x="847283" y="4792468"/>
            <a:ext cx="16835546" cy="1345234"/>
          </a:xfrm>
          <a:prstGeom prst="rect">
            <a:avLst/>
          </a:prstGeom>
        </p:spPr>
        <p:txBody>
          <a:bodyPr lIns="0" tIns="0" rIns="0" bIns="0" rtlCol="0" anchor="t">
            <a:spAutoFit/>
          </a:bodyPr>
          <a:lstStyle/>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Sensors: pH, ORP, Mineral-specific ion sensors.</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Actuators: Peristaltic pumps for precise mineral dosing.</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Algorithms: Python/TensorFlow for regression models to predict final pH based on dosage.</a:t>
            </a:r>
          </a:p>
        </p:txBody>
      </p:sp>
      <p:sp>
        <p:nvSpPr>
          <p:cNvPr id="12" name="TextBox 12"/>
          <p:cNvSpPr txBox="1"/>
          <p:nvPr/>
        </p:nvSpPr>
        <p:spPr>
          <a:xfrm>
            <a:off x="847283" y="6166277"/>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Validation &amp; Evaluation </a:t>
            </a:r>
          </a:p>
        </p:txBody>
      </p:sp>
      <p:sp>
        <p:nvSpPr>
          <p:cNvPr id="13" name="TextBox 13"/>
          <p:cNvSpPr txBox="1"/>
          <p:nvPr/>
        </p:nvSpPr>
        <p:spPr>
          <a:xfrm>
            <a:off x="904195" y="6671105"/>
            <a:ext cx="11541193" cy="1345234"/>
          </a:xfrm>
          <a:prstGeom prst="rect">
            <a:avLst/>
          </a:prstGeom>
        </p:spPr>
        <p:txBody>
          <a:bodyPr lIns="0" tIns="0" rIns="0" bIns="0" rtlCol="0" anchor="t">
            <a:spAutoFit/>
          </a:bodyPr>
          <a:lstStyle/>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Measure pH stability and mineral concentration consistency over time.</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Compare mineral retention vs. standard RO/Alkaline filters.</a:t>
            </a:r>
          </a:p>
          <a:p>
            <a:pPr algn="l">
              <a:lnSpc>
                <a:spcPts val="3553"/>
              </a:lnSpc>
            </a:pPr>
            <a:endParaRPr lang="en-US" sz="2538" b="1">
              <a:solidFill>
                <a:srgbClr val="1B3957"/>
              </a:solidFill>
              <a:latin typeface="Arimo Bold"/>
              <a:ea typeface="Arimo Bold"/>
              <a:cs typeface="Arimo Bold"/>
              <a:sym typeface="Arimo Bold"/>
            </a:endParaRPr>
          </a:p>
        </p:txBody>
      </p:sp>
      <p:sp>
        <p:nvSpPr>
          <p:cNvPr id="14" name="TextBox 14"/>
          <p:cNvSpPr txBox="1"/>
          <p:nvPr/>
        </p:nvSpPr>
        <p:spPr>
          <a:xfrm>
            <a:off x="1058279" y="7753116"/>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Data &amp; Ethics </a:t>
            </a:r>
          </a:p>
        </p:txBody>
      </p:sp>
      <p:sp>
        <p:nvSpPr>
          <p:cNvPr id="15" name="TextBox 15"/>
          <p:cNvSpPr txBox="1"/>
          <p:nvPr/>
        </p:nvSpPr>
        <p:spPr>
          <a:xfrm>
            <a:off x="1028700" y="8250959"/>
            <a:ext cx="15684570" cy="1345234"/>
          </a:xfrm>
          <a:prstGeom prst="rect">
            <a:avLst/>
          </a:prstGeom>
        </p:spPr>
        <p:txBody>
          <a:bodyPr lIns="0" tIns="0" rIns="0" bIns="0" rtlCol="0" anchor="t">
            <a:spAutoFit/>
          </a:bodyPr>
          <a:lstStyle/>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Data: Feedback loop data from the system's own sensors.</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Ethics: Clearance required if conducting taste tests with human participants, ensuring mineral levels are safe.</a:t>
            </a:r>
          </a:p>
        </p:txBody>
      </p:sp>
      <p:grpSp>
        <p:nvGrpSpPr>
          <p:cNvPr id="16" name="Group 16"/>
          <p:cNvGrpSpPr/>
          <p:nvPr/>
        </p:nvGrpSpPr>
        <p:grpSpPr>
          <a:xfrm>
            <a:off x="4781846" y="8768302"/>
            <a:ext cx="10224545" cy="1980251"/>
            <a:chOff x="0" y="0"/>
            <a:chExt cx="13632726" cy="2640335"/>
          </a:xfrm>
        </p:grpSpPr>
        <p:sp>
          <p:nvSpPr>
            <p:cNvPr id="17" name="Freeform 17"/>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8" name="TextBox 18"/>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9" name="TextBox 19"/>
          <p:cNvSpPr txBox="1"/>
          <p:nvPr/>
        </p:nvSpPr>
        <p:spPr>
          <a:xfrm>
            <a:off x="10921897" y="469896"/>
            <a:ext cx="6971928"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INTELLIGENT ALKALINE WATER GENERATION MODULE – IOT &amp; AI/ML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Freeform 4"/>
          <p:cNvSpPr/>
          <p:nvPr/>
        </p:nvSpPr>
        <p:spPr>
          <a:xfrm>
            <a:off x="2756466" y="2052467"/>
            <a:ext cx="12775068" cy="6968219"/>
          </a:xfrm>
          <a:custGeom>
            <a:avLst/>
            <a:gdLst/>
            <a:ahLst/>
            <a:cxnLst/>
            <a:rect l="l" t="t" r="r" b="b"/>
            <a:pathLst>
              <a:path w="12775068" h="6968219">
                <a:moveTo>
                  <a:pt x="0" y="0"/>
                </a:moveTo>
                <a:lnTo>
                  <a:pt x="12775068" y="0"/>
                </a:lnTo>
                <a:lnTo>
                  <a:pt x="12775068" y="6968218"/>
                </a:lnTo>
                <a:lnTo>
                  <a:pt x="0" y="6968218"/>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2469209" y="1085850"/>
            <a:ext cx="13349582" cy="857252"/>
          </a:xfrm>
          <a:prstGeom prst="rect">
            <a:avLst/>
          </a:prstGeom>
        </p:spPr>
        <p:txBody>
          <a:bodyPr lIns="0" tIns="0" rIns="0" bIns="0" rtlCol="0" anchor="t">
            <a:spAutoFit/>
          </a:bodyPr>
          <a:lstStyle/>
          <a:p>
            <a:pPr marL="0" lvl="0" indent="0" algn="ctr">
              <a:lnSpc>
                <a:spcPts val="6600"/>
              </a:lnSpc>
              <a:spcBef>
                <a:spcPct val="0"/>
              </a:spcBef>
            </a:pPr>
            <a:r>
              <a:rPr lang="en-US" sz="6000" b="1">
                <a:solidFill>
                  <a:srgbClr val="06728A"/>
                </a:solidFill>
                <a:latin typeface="Garet Bold"/>
                <a:ea typeface="Garet Bold"/>
                <a:cs typeface="Garet Bold"/>
                <a:sym typeface="Garet Bold"/>
              </a:rPr>
              <a:t>SYSTEM DIAGRAM</a:t>
            </a:r>
          </a:p>
        </p:txBody>
      </p:sp>
      <p:sp>
        <p:nvSpPr>
          <p:cNvPr id="6" name="TextBox 6"/>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grpSp>
        <p:nvGrpSpPr>
          <p:cNvPr id="7" name="Group 7"/>
          <p:cNvGrpSpPr/>
          <p:nvPr/>
        </p:nvGrpSpPr>
        <p:grpSpPr>
          <a:xfrm>
            <a:off x="4781846" y="8768302"/>
            <a:ext cx="10224545" cy="1980251"/>
            <a:chOff x="0" y="0"/>
            <a:chExt cx="13632726" cy="2640335"/>
          </a:xfrm>
        </p:grpSpPr>
        <p:sp>
          <p:nvSpPr>
            <p:cNvPr id="8" name="Freeform 8"/>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9" name="TextBox 9"/>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grpSp>
        <p:nvGrpSpPr>
          <p:cNvPr id="10" name="Group 10"/>
          <p:cNvGrpSpPr/>
          <p:nvPr/>
        </p:nvGrpSpPr>
        <p:grpSpPr>
          <a:xfrm>
            <a:off x="0" y="9559957"/>
            <a:ext cx="3771900" cy="735463"/>
            <a:chOff x="0" y="0"/>
            <a:chExt cx="5029200" cy="980618"/>
          </a:xfrm>
        </p:grpSpPr>
        <p:sp>
          <p:nvSpPr>
            <p:cNvPr id="11" name="Freeform 11"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6"/>
              <a:stretch>
                <a:fillRect t="-929488" r="-256844" b="-5"/>
              </a:stretch>
            </a:blipFill>
          </p:spPr>
          <p:txBody>
            <a:bodyPr/>
            <a:lstStyle/>
            <a:p>
              <a:endParaRPr lang="en-US"/>
            </a:p>
          </p:txBody>
        </p:sp>
      </p:grpSp>
      <p:sp>
        <p:nvSpPr>
          <p:cNvPr id="12" name="TextBox 12"/>
          <p:cNvSpPr txBox="1"/>
          <p:nvPr/>
        </p:nvSpPr>
        <p:spPr>
          <a:xfrm>
            <a:off x="10921897" y="469896"/>
            <a:ext cx="6971928"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INTELLIGENT ALKALINE WATER GENERATION MODULE – IOT &amp; AI/ML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grpSp>
        <p:nvGrpSpPr>
          <p:cNvPr id="5" name="Group 5"/>
          <p:cNvGrpSpPr/>
          <p:nvPr/>
        </p:nvGrpSpPr>
        <p:grpSpPr>
          <a:xfrm>
            <a:off x="4781846" y="8768302"/>
            <a:ext cx="10224545" cy="1980251"/>
            <a:chOff x="0" y="0"/>
            <a:chExt cx="13632726" cy="2640335"/>
          </a:xfrm>
        </p:grpSpPr>
        <p:sp>
          <p:nvSpPr>
            <p:cNvPr id="6" name="Freeform 6"/>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4">
                <a:alphaModFix amt="0"/>
              </a:blip>
              <a:stretch>
                <a:fillRect t="-86777" b="-14434"/>
              </a:stretch>
            </a:blipFill>
          </p:spPr>
          <p:txBody>
            <a:bodyPr/>
            <a:lstStyle/>
            <a:p>
              <a:endParaRPr lang="en-US"/>
            </a:p>
          </p:txBody>
        </p:sp>
        <p:sp>
          <p:nvSpPr>
            <p:cNvPr id="7" name="TextBox 7"/>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grpSp>
        <p:nvGrpSpPr>
          <p:cNvPr id="8" name="Group 8"/>
          <p:cNvGrpSpPr/>
          <p:nvPr/>
        </p:nvGrpSpPr>
        <p:grpSpPr>
          <a:xfrm>
            <a:off x="0" y="9559957"/>
            <a:ext cx="3771900" cy="735463"/>
            <a:chOff x="0" y="0"/>
            <a:chExt cx="5029200" cy="980618"/>
          </a:xfrm>
        </p:grpSpPr>
        <p:sp>
          <p:nvSpPr>
            <p:cNvPr id="9" name="Freeform 9"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sp>
        <p:nvSpPr>
          <p:cNvPr id="10" name="TextBox 10"/>
          <p:cNvSpPr txBox="1"/>
          <p:nvPr/>
        </p:nvSpPr>
        <p:spPr>
          <a:xfrm>
            <a:off x="10921897" y="469896"/>
            <a:ext cx="6971928"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INTELLIGENT ALKALINE WATER GENERATION MODULE – IOT &amp; AI/ML</a:t>
            </a:r>
          </a:p>
        </p:txBody>
      </p:sp>
      <p:sp>
        <p:nvSpPr>
          <p:cNvPr id="11" name="TextBox 11"/>
          <p:cNvSpPr txBox="1"/>
          <p:nvPr/>
        </p:nvSpPr>
        <p:spPr>
          <a:xfrm>
            <a:off x="1058279" y="1502030"/>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FUNCTIONAL REQUIREMENTS </a:t>
            </a:r>
          </a:p>
        </p:txBody>
      </p:sp>
      <p:sp>
        <p:nvSpPr>
          <p:cNvPr id="12" name="TextBox 12"/>
          <p:cNvSpPr txBox="1"/>
          <p:nvPr/>
        </p:nvSpPr>
        <p:spPr>
          <a:xfrm>
            <a:off x="1028700" y="5340301"/>
            <a:ext cx="14573791"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NON-FUNCTIONAL REQUIREMENTS</a:t>
            </a:r>
          </a:p>
        </p:txBody>
      </p:sp>
      <p:sp>
        <p:nvSpPr>
          <p:cNvPr id="13" name="TextBox 13"/>
          <p:cNvSpPr txBox="1"/>
          <p:nvPr/>
        </p:nvSpPr>
        <p:spPr>
          <a:xfrm>
            <a:off x="1000770" y="2699434"/>
            <a:ext cx="12176165" cy="1837853"/>
          </a:xfrm>
          <a:prstGeom prst="rect">
            <a:avLst/>
          </a:prstGeom>
        </p:spPr>
        <p:txBody>
          <a:bodyPr lIns="0" tIns="0" rIns="0" bIns="0" rtlCol="0" anchor="t">
            <a:spAutoFit/>
          </a:bodyPr>
          <a:lstStyle/>
          <a:p>
            <a:pPr marL="477748" lvl="1" indent="-238874" algn="l">
              <a:lnSpc>
                <a:spcPts val="2434"/>
              </a:lnSpc>
              <a:buFont typeface="Arial"/>
              <a:buChar char="•"/>
            </a:pPr>
            <a:r>
              <a:rPr lang="en-US" sz="2212">
                <a:solidFill>
                  <a:srgbClr val="1B3957"/>
                </a:solidFill>
                <a:latin typeface="Garet"/>
                <a:ea typeface="Garet"/>
                <a:cs typeface="Garet"/>
                <a:sym typeface="Garet"/>
              </a:rPr>
              <a:t>Monitor incoming water pH, TDS, and temperature in real time. </a:t>
            </a:r>
          </a:p>
          <a:p>
            <a:pPr marL="477748" lvl="1" indent="-238874" algn="l">
              <a:lnSpc>
                <a:spcPts val="2434"/>
              </a:lnSpc>
              <a:buFont typeface="Arial"/>
              <a:buChar char="•"/>
            </a:pPr>
            <a:r>
              <a:rPr lang="en-US" sz="2212">
                <a:solidFill>
                  <a:srgbClr val="1B3957"/>
                </a:solidFill>
                <a:latin typeface="Garet"/>
                <a:ea typeface="Garet"/>
                <a:cs typeface="Garet"/>
                <a:sym typeface="Garet"/>
              </a:rPr>
              <a:t>Monitor output alkaline water quality (pH and TDS).</a:t>
            </a:r>
          </a:p>
          <a:p>
            <a:pPr marL="477748" lvl="1" indent="-238874" algn="l">
              <a:lnSpc>
                <a:spcPts val="2434"/>
              </a:lnSpc>
              <a:buFont typeface="Arial"/>
              <a:buChar char="•"/>
            </a:pPr>
            <a:r>
              <a:rPr lang="en-US" sz="2212">
                <a:solidFill>
                  <a:srgbClr val="1B3957"/>
                </a:solidFill>
                <a:latin typeface="Garet"/>
                <a:ea typeface="Garet"/>
                <a:cs typeface="Garet"/>
                <a:sym typeface="Garet"/>
              </a:rPr>
              <a:t>Collect sensor data using an ESP32 microcontroller.</a:t>
            </a:r>
          </a:p>
          <a:p>
            <a:pPr marL="477748" lvl="1" indent="-238874" algn="l">
              <a:lnSpc>
                <a:spcPts val="2434"/>
              </a:lnSpc>
              <a:buFont typeface="Arial"/>
              <a:buChar char="•"/>
            </a:pPr>
            <a:r>
              <a:rPr lang="en-US" sz="2212">
                <a:solidFill>
                  <a:srgbClr val="1B3957"/>
                </a:solidFill>
                <a:latin typeface="Garet"/>
                <a:ea typeface="Garet"/>
                <a:cs typeface="Garet"/>
                <a:sym typeface="Garet"/>
              </a:rPr>
              <a:t>Process water quality data using an AI/ML model.</a:t>
            </a:r>
          </a:p>
          <a:p>
            <a:pPr marL="477748" lvl="1" indent="-238874" algn="l">
              <a:lnSpc>
                <a:spcPts val="2434"/>
              </a:lnSpc>
              <a:buFont typeface="Arial"/>
              <a:buChar char="•"/>
            </a:pPr>
            <a:r>
              <a:rPr lang="en-US" sz="2212">
                <a:solidFill>
                  <a:srgbClr val="1B3957"/>
                </a:solidFill>
                <a:latin typeface="Garet"/>
                <a:ea typeface="Garet"/>
                <a:cs typeface="Garet"/>
                <a:sym typeface="Garet"/>
              </a:rPr>
              <a:t>Automatically inject Calcium, Magnesium, and Potassium minerals into the water.</a:t>
            </a:r>
          </a:p>
          <a:p>
            <a:pPr marL="477748" lvl="1" indent="-238874" algn="l">
              <a:lnSpc>
                <a:spcPts val="2434"/>
              </a:lnSpc>
              <a:buFont typeface="Arial"/>
              <a:buChar char="•"/>
            </a:pPr>
            <a:r>
              <a:rPr lang="en-US" sz="2212">
                <a:solidFill>
                  <a:srgbClr val="1B3957"/>
                </a:solidFill>
                <a:latin typeface="Garet"/>
                <a:ea typeface="Garet"/>
                <a:cs typeface="Garet"/>
                <a:sym typeface="Garet"/>
              </a:rPr>
              <a:t>Control mineral dosing using peristaltic pumps.</a:t>
            </a:r>
          </a:p>
        </p:txBody>
      </p:sp>
      <p:sp>
        <p:nvSpPr>
          <p:cNvPr id="14" name="TextBox 14"/>
          <p:cNvSpPr txBox="1"/>
          <p:nvPr/>
        </p:nvSpPr>
        <p:spPr>
          <a:xfrm>
            <a:off x="1000770" y="6549978"/>
            <a:ext cx="16795486" cy="1944237"/>
          </a:xfrm>
          <a:prstGeom prst="rect">
            <a:avLst/>
          </a:prstGeom>
        </p:spPr>
        <p:txBody>
          <a:bodyPr lIns="0" tIns="0" rIns="0" bIns="0" rtlCol="0" anchor="t">
            <a:spAutoFit/>
          </a:bodyPr>
          <a:lstStyle/>
          <a:p>
            <a:pPr marL="505104" lvl="1" indent="-252552" algn="l">
              <a:lnSpc>
                <a:spcPts val="2573"/>
              </a:lnSpc>
              <a:buFont typeface="Arial"/>
              <a:buChar char="•"/>
            </a:pPr>
            <a:r>
              <a:rPr lang="en-US" sz="2339">
                <a:solidFill>
                  <a:srgbClr val="1B3957"/>
                </a:solidFill>
                <a:latin typeface="Garet"/>
                <a:ea typeface="Garet"/>
                <a:cs typeface="Garet"/>
                <a:sym typeface="Garet"/>
              </a:rPr>
              <a:t>The system must maintain high accuracy in controlling pH levels (±0.15).</a:t>
            </a:r>
          </a:p>
          <a:p>
            <a:pPr marL="505104" lvl="1" indent="-252552" algn="l">
              <a:lnSpc>
                <a:spcPts val="2573"/>
              </a:lnSpc>
              <a:buFont typeface="Arial"/>
              <a:buChar char="•"/>
            </a:pPr>
            <a:r>
              <a:rPr lang="en-US" sz="2339">
                <a:solidFill>
                  <a:srgbClr val="1B3957"/>
                </a:solidFill>
                <a:latin typeface="Garet"/>
                <a:ea typeface="Garet"/>
                <a:cs typeface="Garet"/>
                <a:sym typeface="Garet"/>
              </a:rPr>
              <a:t>The system should respond to changes in water quality within 2–3 minutes.</a:t>
            </a:r>
          </a:p>
          <a:p>
            <a:pPr marL="505104" lvl="1" indent="-252552" algn="l">
              <a:lnSpc>
                <a:spcPts val="2573"/>
              </a:lnSpc>
              <a:buFont typeface="Arial"/>
              <a:buChar char="•"/>
            </a:pPr>
            <a:r>
              <a:rPr lang="en-US" sz="2339">
                <a:solidFill>
                  <a:srgbClr val="1B3957"/>
                </a:solidFill>
                <a:latin typeface="Garet"/>
                <a:ea typeface="Garet"/>
                <a:cs typeface="Garet"/>
                <a:sym typeface="Garet"/>
              </a:rPr>
              <a:t>The system must be reliable for continuous operation.</a:t>
            </a:r>
          </a:p>
          <a:p>
            <a:pPr marL="505104" lvl="1" indent="-252552" algn="l">
              <a:lnSpc>
                <a:spcPts val="2573"/>
              </a:lnSpc>
              <a:buFont typeface="Arial"/>
              <a:buChar char="•"/>
            </a:pPr>
            <a:r>
              <a:rPr lang="en-US" sz="2339">
                <a:solidFill>
                  <a:srgbClr val="1B3957"/>
                </a:solidFill>
                <a:latin typeface="Garet"/>
                <a:ea typeface="Garet"/>
                <a:cs typeface="Garet"/>
                <a:sym typeface="Garet"/>
              </a:rPr>
              <a:t>The system must include safety mechanisms to stop dosing if unsafe conditions occur.</a:t>
            </a:r>
          </a:p>
          <a:p>
            <a:pPr marL="505104" lvl="1" indent="-252552" algn="l">
              <a:lnSpc>
                <a:spcPts val="2573"/>
              </a:lnSpc>
              <a:buFont typeface="Arial"/>
              <a:buChar char="•"/>
            </a:pPr>
            <a:r>
              <a:rPr lang="en-US" sz="2339">
                <a:solidFill>
                  <a:srgbClr val="1B3957"/>
                </a:solidFill>
                <a:latin typeface="Garet"/>
                <a:ea typeface="Garet"/>
                <a:cs typeface="Garet"/>
                <a:sym typeface="Garet"/>
              </a:rPr>
              <a:t>The system should be easy to maintain, allowing simple sensor calibration and mineral replacement.</a:t>
            </a:r>
          </a:p>
          <a:p>
            <a:pPr marL="505104" lvl="1" indent="-252552" algn="l">
              <a:lnSpc>
                <a:spcPts val="2573"/>
              </a:lnSpc>
              <a:buFont typeface="Arial"/>
              <a:buChar char="•"/>
            </a:pPr>
            <a:r>
              <a:rPr lang="en-US" sz="2339">
                <a:solidFill>
                  <a:srgbClr val="1B3957"/>
                </a:solidFill>
                <a:latin typeface="Garet"/>
                <a:ea typeface="Garet"/>
                <a:cs typeface="Garet"/>
                <a:sym typeface="Garet"/>
              </a:rPr>
              <a:t>The system should provide an intuitive and user-friendly interface.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grpSp>
        <p:nvGrpSpPr>
          <p:cNvPr id="4" name="Group 4"/>
          <p:cNvGrpSpPr/>
          <p:nvPr/>
        </p:nvGrpSpPr>
        <p:grpSpPr>
          <a:xfrm>
            <a:off x="4781846" y="8768302"/>
            <a:ext cx="10224545" cy="1980251"/>
            <a:chOff x="0" y="0"/>
            <a:chExt cx="13632726" cy="2640335"/>
          </a:xfrm>
        </p:grpSpPr>
        <p:sp>
          <p:nvSpPr>
            <p:cNvPr id="5" name="Freeform 5"/>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4">
                <a:alphaModFix amt="0"/>
              </a:blip>
              <a:stretch>
                <a:fillRect t="-86777" b="-14434"/>
              </a:stretch>
            </a:blipFill>
          </p:spPr>
          <p:txBody>
            <a:bodyPr/>
            <a:lstStyle/>
            <a:p>
              <a:endParaRPr lang="en-US"/>
            </a:p>
          </p:txBody>
        </p:sp>
        <p:sp>
          <p:nvSpPr>
            <p:cNvPr id="6" name="TextBox 6"/>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grpSp>
        <p:nvGrpSpPr>
          <p:cNvPr id="7" name="Group 7"/>
          <p:cNvGrpSpPr/>
          <p:nvPr/>
        </p:nvGrpSpPr>
        <p:grpSpPr>
          <a:xfrm>
            <a:off x="0" y="9559957"/>
            <a:ext cx="3771900" cy="735463"/>
            <a:chOff x="0" y="0"/>
            <a:chExt cx="5029200" cy="980618"/>
          </a:xfrm>
        </p:grpSpPr>
        <p:sp>
          <p:nvSpPr>
            <p:cNvPr id="8" name="Freeform 8"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sp>
        <p:nvSpPr>
          <p:cNvPr id="10" name="TextBox 10"/>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1" name="TextBox 11"/>
          <p:cNvSpPr txBox="1"/>
          <p:nvPr/>
        </p:nvSpPr>
        <p:spPr>
          <a:xfrm>
            <a:off x="10921897" y="469896"/>
            <a:ext cx="6971928"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INTELLIGENT ALKALINE WATER GENERATION MODULE – IOT &amp; AI/ML</a:t>
            </a:r>
          </a:p>
        </p:txBody>
      </p:sp>
      <p:sp>
        <p:nvSpPr>
          <p:cNvPr id="12" name="TextBox 12"/>
          <p:cNvSpPr txBox="1"/>
          <p:nvPr/>
        </p:nvSpPr>
        <p:spPr>
          <a:xfrm>
            <a:off x="2469209" y="1468603"/>
            <a:ext cx="13349582" cy="878842"/>
          </a:xfrm>
          <a:prstGeom prst="rect">
            <a:avLst/>
          </a:prstGeom>
        </p:spPr>
        <p:txBody>
          <a:bodyPr lIns="0" tIns="0" rIns="0" bIns="0" rtlCol="0" anchor="t">
            <a:spAutoFit/>
          </a:bodyPr>
          <a:lstStyle/>
          <a:p>
            <a:pPr marL="0" lvl="0" indent="0" algn="ctr">
              <a:lnSpc>
                <a:spcPts val="6820"/>
              </a:lnSpc>
              <a:spcBef>
                <a:spcPct val="0"/>
              </a:spcBef>
            </a:pPr>
            <a:r>
              <a:rPr lang="en-US" sz="6200" b="1" dirty="0">
                <a:solidFill>
                  <a:srgbClr val="06728A"/>
                </a:solidFill>
                <a:latin typeface="Garet Bold"/>
                <a:ea typeface="Garet Bold"/>
                <a:cs typeface="Garet Bold"/>
                <a:sym typeface="Garet Bold"/>
              </a:rPr>
              <a:t>BUDGET &amp; JUSTIFICATION</a:t>
            </a:r>
          </a:p>
        </p:txBody>
      </p:sp>
      <p:pic>
        <p:nvPicPr>
          <p:cNvPr id="14" name="Picture 13">
            <a:extLst>
              <a:ext uri="{FF2B5EF4-FFF2-40B4-BE49-F238E27FC236}">
                <a16:creationId xmlns:a16="http://schemas.microsoft.com/office/drawing/2014/main" id="{5AA8806E-7821-6FF8-96BF-3FE9DFE17DC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6125" y="2712561"/>
            <a:ext cx="9135750" cy="61635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grpSp>
        <p:nvGrpSpPr>
          <p:cNvPr id="4" name="Group 4"/>
          <p:cNvGrpSpPr/>
          <p:nvPr/>
        </p:nvGrpSpPr>
        <p:grpSpPr>
          <a:xfrm>
            <a:off x="4781846" y="8768302"/>
            <a:ext cx="10224545" cy="1980251"/>
            <a:chOff x="0" y="0"/>
            <a:chExt cx="13632726" cy="2640335"/>
          </a:xfrm>
        </p:grpSpPr>
        <p:sp>
          <p:nvSpPr>
            <p:cNvPr id="5" name="Freeform 5"/>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4">
                <a:alphaModFix amt="0"/>
              </a:blip>
              <a:stretch>
                <a:fillRect t="-86777" b="-14434"/>
              </a:stretch>
            </a:blipFill>
          </p:spPr>
          <p:txBody>
            <a:bodyPr/>
            <a:lstStyle/>
            <a:p>
              <a:endParaRPr lang="en-US"/>
            </a:p>
          </p:txBody>
        </p:sp>
        <p:sp>
          <p:nvSpPr>
            <p:cNvPr id="6" name="TextBox 6"/>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grpSp>
        <p:nvGrpSpPr>
          <p:cNvPr id="7" name="Group 7"/>
          <p:cNvGrpSpPr/>
          <p:nvPr/>
        </p:nvGrpSpPr>
        <p:grpSpPr>
          <a:xfrm>
            <a:off x="0" y="9559957"/>
            <a:ext cx="3771900" cy="735463"/>
            <a:chOff x="0" y="0"/>
            <a:chExt cx="5029200" cy="980618"/>
          </a:xfrm>
        </p:grpSpPr>
        <p:sp>
          <p:nvSpPr>
            <p:cNvPr id="8" name="Freeform 8"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sp>
        <p:nvSpPr>
          <p:cNvPr id="9" name="Freeform 9"/>
          <p:cNvSpPr/>
          <p:nvPr/>
        </p:nvSpPr>
        <p:spPr>
          <a:xfrm>
            <a:off x="3256278" y="2406016"/>
            <a:ext cx="11775443" cy="6653125"/>
          </a:xfrm>
          <a:custGeom>
            <a:avLst/>
            <a:gdLst/>
            <a:ahLst/>
            <a:cxnLst/>
            <a:rect l="l" t="t" r="r" b="b"/>
            <a:pathLst>
              <a:path w="11775443" h="6653125">
                <a:moveTo>
                  <a:pt x="0" y="0"/>
                </a:moveTo>
                <a:lnTo>
                  <a:pt x="11775442" y="0"/>
                </a:lnTo>
                <a:lnTo>
                  <a:pt x="11775442" y="6653125"/>
                </a:lnTo>
                <a:lnTo>
                  <a:pt x="0" y="6653125"/>
                </a:lnTo>
                <a:lnTo>
                  <a:pt x="0" y="0"/>
                </a:lnTo>
                <a:close/>
              </a:path>
            </a:pathLst>
          </a:custGeom>
          <a:blipFill>
            <a:blip r:embed="rId6"/>
            <a:stretch>
              <a:fillRect/>
            </a:stretch>
          </a:blipFill>
        </p:spPr>
        <p:txBody>
          <a:bodyPr/>
          <a:lstStyle/>
          <a:p>
            <a:endParaRPr lang="en-US"/>
          </a:p>
        </p:txBody>
      </p:sp>
      <p:sp>
        <p:nvSpPr>
          <p:cNvPr id="10" name="TextBox 10"/>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1" name="TextBox 11"/>
          <p:cNvSpPr txBox="1"/>
          <p:nvPr/>
        </p:nvSpPr>
        <p:spPr>
          <a:xfrm>
            <a:off x="10921897" y="469896"/>
            <a:ext cx="6971928"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INTELLIGENT ALKALINE WATER GENERATION MODULE – IOT &amp; AI/ML</a:t>
            </a:r>
          </a:p>
        </p:txBody>
      </p:sp>
      <p:sp>
        <p:nvSpPr>
          <p:cNvPr id="12" name="TextBox 12"/>
          <p:cNvSpPr txBox="1"/>
          <p:nvPr/>
        </p:nvSpPr>
        <p:spPr>
          <a:xfrm>
            <a:off x="2469209" y="1227859"/>
            <a:ext cx="13349582" cy="982982"/>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Garet Bold"/>
                <a:ea typeface="Garet Bold"/>
                <a:cs typeface="Garet Bold"/>
                <a:sym typeface="Garet Bold"/>
              </a:rPr>
              <a:t>GANTT CHART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grpSp>
        <p:nvGrpSpPr>
          <p:cNvPr id="5" name="Group 5"/>
          <p:cNvGrpSpPr/>
          <p:nvPr/>
        </p:nvGrpSpPr>
        <p:grpSpPr>
          <a:xfrm>
            <a:off x="4781846" y="8768302"/>
            <a:ext cx="10224545" cy="1980251"/>
            <a:chOff x="0" y="0"/>
            <a:chExt cx="13632726" cy="2640335"/>
          </a:xfrm>
        </p:grpSpPr>
        <p:sp>
          <p:nvSpPr>
            <p:cNvPr id="6" name="Freeform 6"/>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4">
                <a:alphaModFix amt="0"/>
              </a:blip>
              <a:stretch>
                <a:fillRect t="-86777" b="-14434"/>
              </a:stretch>
            </a:blipFill>
          </p:spPr>
          <p:txBody>
            <a:bodyPr/>
            <a:lstStyle/>
            <a:p>
              <a:endParaRPr lang="en-US"/>
            </a:p>
          </p:txBody>
        </p:sp>
        <p:sp>
          <p:nvSpPr>
            <p:cNvPr id="7" name="TextBox 7"/>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grpSp>
        <p:nvGrpSpPr>
          <p:cNvPr id="8" name="Group 8"/>
          <p:cNvGrpSpPr/>
          <p:nvPr/>
        </p:nvGrpSpPr>
        <p:grpSpPr>
          <a:xfrm>
            <a:off x="0" y="9559957"/>
            <a:ext cx="3771900" cy="735463"/>
            <a:chOff x="0" y="0"/>
            <a:chExt cx="5029200" cy="980618"/>
          </a:xfrm>
        </p:grpSpPr>
        <p:sp>
          <p:nvSpPr>
            <p:cNvPr id="9" name="Freeform 9"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sp>
        <p:nvSpPr>
          <p:cNvPr id="10" name="TextBox 10"/>
          <p:cNvSpPr txBox="1"/>
          <p:nvPr/>
        </p:nvSpPr>
        <p:spPr>
          <a:xfrm>
            <a:off x="10921897" y="469896"/>
            <a:ext cx="6971928"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INTELLIGENT ALKALINE WATER GENERATION MODULE – IOT &amp; AI/ML</a:t>
            </a:r>
          </a:p>
        </p:txBody>
      </p:sp>
      <p:sp>
        <p:nvSpPr>
          <p:cNvPr id="11" name="TextBox 11"/>
          <p:cNvSpPr txBox="1"/>
          <p:nvPr/>
        </p:nvSpPr>
        <p:spPr>
          <a:xfrm>
            <a:off x="2469209" y="1114800"/>
            <a:ext cx="13349582" cy="982982"/>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Garet Bold"/>
                <a:ea typeface="Garet Bold"/>
                <a:cs typeface="Garet Bold"/>
                <a:sym typeface="Garet Bold"/>
              </a:rPr>
              <a:t>REFERENCES</a:t>
            </a:r>
          </a:p>
        </p:txBody>
      </p:sp>
      <p:sp>
        <p:nvSpPr>
          <p:cNvPr id="12" name="TextBox 12"/>
          <p:cNvSpPr txBox="1"/>
          <p:nvPr/>
        </p:nvSpPr>
        <p:spPr>
          <a:xfrm>
            <a:off x="1587046" y="2524741"/>
            <a:ext cx="15113908" cy="5305425"/>
          </a:xfrm>
          <a:prstGeom prst="rect">
            <a:avLst/>
          </a:prstGeom>
        </p:spPr>
        <p:txBody>
          <a:bodyPr lIns="0" tIns="0" rIns="0" bIns="0" rtlCol="0" anchor="t">
            <a:spAutoFit/>
          </a:bodyPr>
          <a:lstStyle/>
          <a:p>
            <a:pPr algn="l">
              <a:lnSpc>
                <a:spcPts val="2818"/>
              </a:lnSpc>
              <a:spcBef>
                <a:spcPct val="0"/>
              </a:spcBef>
            </a:pPr>
            <a:r>
              <a:rPr lang="en-US" sz="2348" b="1">
                <a:solidFill>
                  <a:srgbClr val="1B3957"/>
                </a:solidFill>
                <a:latin typeface="Arimo Bold"/>
                <a:ea typeface="Arimo Bold"/>
                <a:cs typeface="Arimo Bold"/>
                <a:sym typeface="Arimo Bold"/>
              </a:rPr>
              <a:t>[1] Heil, A. (2012). Properties and Potential Health Benefits of Alkaline Water. Journal of Water and Health, 10(3), 112-118. (Provides the health context and rationale).</a:t>
            </a:r>
          </a:p>
          <a:p>
            <a:pPr algn="l">
              <a:lnSpc>
                <a:spcPts val="2818"/>
              </a:lnSpc>
              <a:spcBef>
                <a:spcPct val="0"/>
              </a:spcBef>
            </a:pPr>
            <a:endParaRPr lang="en-US" sz="2348" b="1">
              <a:solidFill>
                <a:srgbClr val="1B3957"/>
              </a:solidFill>
              <a:latin typeface="Arimo Bold"/>
              <a:ea typeface="Arimo Bold"/>
              <a:cs typeface="Arimo Bold"/>
              <a:sym typeface="Arimo Bold"/>
            </a:endParaRPr>
          </a:p>
          <a:p>
            <a:pPr algn="l">
              <a:lnSpc>
                <a:spcPts val="2818"/>
              </a:lnSpc>
              <a:spcBef>
                <a:spcPct val="0"/>
              </a:spcBef>
            </a:pPr>
            <a:r>
              <a:rPr lang="en-US" sz="2348" b="1">
                <a:solidFill>
                  <a:srgbClr val="1B3957"/>
                </a:solidFill>
                <a:latin typeface="Arimo Bold"/>
                <a:ea typeface="Arimo Bold"/>
                <a:cs typeface="Arimo Bold"/>
                <a:sym typeface="Arimo Bold"/>
              </a:rPr>
              <a:t>[2] Chen, L., et al. (2021). AI-Enabled Real-Time Mineral Balancing for Industrial Water Treatment Processes. IEEE Transactions on Industrial Informatics, 17(8), 5600-5609. (Key paper demonstrating the feasibility of ML for dosing control, albeit in an industrial context).</a:t>
            </a:r>
          </a:p>
          <a:p>
            <a:pPr algn="l">
              <a:lnSpc>
                <a:spcPts val="2818"/>
              </a:lnSpc>
              <a:spcBef>
                <a:spcPct val="0"/>
              </a:spcBef>
            </a:pPr>
            <a:endParaRPr lang="en-US" sz="2348" b="1">
              <a:solidFill>
                <a:srgbClr val="1B3957"/>
              </a:solidFill>
              <a:latin typeface="Arimo Bold"/>
              <a:ea typeface="Arimo Bold"/>
              <a:cs typeface="Arimo Bold"/>
              <a:sym typeface="Arimo Bold"/>
            </a:endParaRPr>
          </a:p>
          <a:p>
            <a:pPr algn="l">
              <a:lnSpc>
                <a:spcPts val="2818"/>
              </a:lnSpc>
              <a:spcBef>
                <a:spcPct val="0"/>
              </a:spcBef>
            </a:pPr>
            <a:r>
              <a:rPr lang="en-US" sz="2348" b="1">
                <a:solidFill>
                  <a:srgbClr val="1B3957"/>
                </a:solidFill>
                <a:latin typeface="Arimo Bold"/>
                <a:ea typeface="Arimo Bold"/>
                <a:cs typeface="Arimo Bold"/>
                <a:sym typeface="Arimo Bold"/>
              </a:rPr>
              <a:t>[3] Kumar, S., &amp; Sharma, R. (2019). IoT-Based Water Quality Monitoring System: A Review. International Journal of Advanced Research in Computer Science, 10(4), 45-52. (Background on IoT sensing).</a:t>
            </a:r>
          </a:p>
          <a:p>
            <a:pPr algn="l">
              <a:lnSpc>
                <a:spcPts val="2818"/>
              </a:lnSpc>
              <a:spcBef>
                <a:spcPct val="0"/>
              </a:spcBef>
            </a:pPr>
            <a:endParaRPr lang="en-US" sz="2348" b="1">
              <a:solidFill>
                <a:srgbClr val="1B3957"/>
              </a:solidFill>
              <a:latin typeface="Arimo Bold"/>
              <a:ea typeface="Arimo Bold"/>
              <a:cs typeface="Arimo Bold"/>
              <a:sym typeface="Arimo Bold"/>
            </a:endParaRPr>
          </a:p>
          <a:p>
            <a:pPr algn="l">
              <a:lnSpc>
                <a:spcPts val="2818"/>
              </a:lnSpc>
              <a:spcBef>
                <a:spcPct val="0"/>
              </a:spcBef>
            </a:pPr>
            <a:r>
              <a:rPr lang="en-US" sz="2348" b="1">
                <a:solidFill>
                  <a:srgbClr val="1B3957"/>
                </a:solidFill>
                <a:latin typeface="Arimo Bold"/>
                <a:ea typeface="Arimo Bold"/>
                <a:cs typeface="Arimo Bold"/>
                <a:sym typeface="Arimo Bold"/>
              </a:rPr>
              <a:t>[4] Singh, P., &amp; Patel, A. (2020). Smart Water Purification Using Machine Learning Techniques. Proceedings of the International Conference on Smart Systems and IoT. (General overview of ML in water purification).</a:t>
            </a:r>
          </a:p>
          <a:p>
            <a:pPr algn="l">
              <a:lnSpc>
                <a:spcPts val="2818"/>
              </a:lnSpc>
              <a:spcBef>
                <a:spcPct val="0"/>
              </a:spcBef>
            </a:pPr>
            <a:endParaRPr lang="en-US" sz="2348" b="1">
              <a:solidFill>
                <a:srgbClr val="1B3957"/>
              </a:solidFill>
              <a:latin typeface="Arimo Bold"/>
              <a:ea typeface="Arimo Bold"/>
              <a:cs typeface="Arimo Bold"/>
              <a:sym typeface="Arimo Bold"/>
            </a:endParaRPr>
          </a:p>
          <a:p>
            <a:pPr algn="l">
              <a:lnSpc>
                <a:spcPts val="2818"/>
              </a:lnSpc>
              <a:spcBef>
                <a:spcPct val="0"/>
              </a:spcBef>
            </a:pPr>
            <a:r>
              <a:rPr lang="en-US" sz="2348" b="1">
                <a:solidFill>
                  <a:srgbClr val="1B3957"/>
                </a:solidFill>
                <a:latin typeface="Arimo Bold"/>
                <a:ea typeface="Arimo Bold"/>
                <a:cs typeface="Arimo Bold"/>
                <a:sym typeface="Arimo Bold"/>
              </a:rPr>
              <a:t>[5] World Health Organization (WHO). (2017). Guidelines for Drinking-water Quality (4th ed.). WHO. (For context on safe pH and mineral levels in drinking water).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656809" y="127995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DEPENDENCIES</a:t>
            </a:r>
          </a:p>
        </p:txBody>
      </p:sp>
      <p:sp>
        <p:nvSpPr>
          <p:cNvPr id="5" name="TextBox 5"/>
          <p:cNvSpPr txBox="1"/>
          <p:nvPr/>
        </p:nvSpPr>
        <p:spPr>
          <a:xfrm>
            <a:off x="1474198" y="2192892"/>
            <a:ext cx="12751053" cy="2713174"/>
          </a:xfrm>
          <a:prstGeom prst="rect">
            <a:avLst/>
          </a:prstGeom>
        </p:spPr>
        <p:txBody>
          <a:bodyPr lIns="0" tIns="0" rIns="0" bIns="0" rtlCol="0" anchor="t">
            <a:spAutoFit/>
          </a:bodyPr>
          <a:lstStyle/>
          <a:p>
            <a:pPr marL="660037" lvl="1" indent="-330019" algn="just">
              <a:lnSpc>
                <a:spcPts val="4279"/>
              </a:lnSpc>
              <a:buFont typeface="Arial"/>
              <a:buChar char="•"/>
            </a:pPr>
            <a:r>
              <a:rPr lang="en-US" sz="3057" b="1">
                <a:solidFill>
                  <a:srgbClr val="1B3957"/>
                </a:solidFill>
                <a:latin typeface="Arimo Bold"/>
                <a:ea typeface="Arimo Bold"/>
                <a:cs typeface="Arimo Bold"/>
                <a:sym typeface="Arimo Bold"/>
              </a:rPr>
              <a:t>Requires pre-treated water from Wijesingha's distiller or other purification stage.</a:t>
            </a:r>
          </a:p>
          <a:p>
            <a:pPr marL="660037" lvl="1" indent="-330019" algn="just">
              <a:lnSpc>
                <a:spcPts val="4279"/>
              </a:lnSpc>
              <a:buFont typeface="Arial"/>
              <a:buChar char="•"/>
            </a:pPr>
            <a:r>
              <a:rPr lang="en-US" sz="3057" b="1">
                <a:solidFill>
                  <a:srgbClr val="1B3957"/>
                </a:solidFill>
                <a:latin typeface="Arimo Bold"/>
                <a:ea typeface="Arimo Bold"/>
                <a:cs typeface="Arimo Bold"/>
                <a:sym typeface="Arimo Bold"/>
              </a:rPr>
              <a:t>Depends on De Silva's water classification for initial water chemistry.</a:t>
            </a:r>
          </a:p>
          <a:p>
            <a:pPr algn="just">
              <a:lnSpc>
                <a:spcPts val="4279"/>
              </a:lnSpc>
            </a:pPr>
            <a:endParaRPr lang="en-US" sz="3057" b="1">
              <a:solidFill>
                <a:srgbClr val="1B3957"/>
              </a:solidFill>
              <a:latin typeface="Arimo Bold"/>
              <a:ea typeface="Arimo Bold"/>
              <a:cs typeface="Arimo Bold"/>
              <a:sym typeface="Arimo Bold"/>
            </a:endParaRP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9" name="TextBox 9"/>
          <p:cNvSpPr txBox="1"/>
          <p:nvPr/>
        </p:nvSpPr>
        <p:spPr>
          <a:xfrm>
            <a:off x="1656809" y="474344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COMMON COMPONENTS</a:t>
            </a:r>
          </a:p>
        </p:txBody>
      </p:sp>
      <p:sp>
        <p:nvSpPr>
          <p:cNvPr id="10" name="TextBox 10"/>
          <p:cNvSpPr txBox="1"/>
          <p:nvPr/>
        </p:nvSpPr>
        <p:spPr>
          <a:xfrm>
            <a:off x="1656809" y="6070258"/>
            <a:ext cx="15602491" cy="3798694"/>
          </a:xfrm>
          <a:prstGeom prst="rect">
            <a:avLst/>
          </a:prstGeom>
        </p:spPr>
        <p:txBody>
          <a:bodyPr lIns="0" tIns="0" rIns="0" bIns="0" rtlCol="0" anchor="t">
            <a:spAutoFit/>
          </a:bodyPr>
          <a:lstStyle/>
          <a:p>
            <a:pPr marL="662838" lvl="1" indent="-331419" algn="l">
              <a:lnSpc>
                <a:spcPts val="4298"/>
              </a:lnSpc>
              <a:buFont typeface="Arial"/>
              <a:buChar char="•"/>
            </a:pPr>
            <a:r>
              <a:rPr lang="en-US" sz="3070" b="1">
                <a:solidFill>
                  <a:srgbClr val="1B3957"/>
                </a:solidFill>
                <a:latin typeface="Arimo Bold"/>
                <a:ea typeface="Arimo Bold"/>
                <a:cs typeface="Arimo Bold"/>
                <a:sym typeface="Arimo Bold"/>
              </a:rPr>
              <a:t>Shares cloud backend and database with other subsystems.</a:t>
            </a:r>
          </a:p>
          <a:p>
            <a:pPr marL="662838" lvl="1" indent="-331419" algn="l">
              <a:lnSpc>
                <a:spcPts val="4298"/>
              </a:lnSpc>
              <a:buFont typeface="Arial"/>
              <a:buChar char="•"/>
            </a:pPr>
            <a:r>
              <a:rPr lang="en-US" sz="3070" b="1">
                <a:solidFill>
                  <a:srgbClr val="1B3957"/>
                </a:solidFill>
                <a:latin typeface="Arimo Bold"/>
                <a:ea typeface="Arimo Bold"/>
                <a:cs typeface="Arimo Bold"/>
                <a:sym typeface="Arimo Bold"/>
              </a:rPr>
              <a:t>Integrated with unified dashboard for centralized monitoring and control.</a:t>
            </a:r>
          </a:p>
          <a:p>
            <a:pPr algn="l">
              <a:lnSpc>
                <a:spcPts val="4298"/>
              </a:lnSpc>
            </a:pPr>
            <a:endParaRPr lang="en-US" sz="3070" b="1">
              <a:solidFill>
                <a:srgbClr val="1B3957"/>
              </a:solidFill>
              <a:latin typeface="Arimo Bold"/>
              <a:ea typeface="Arimo Bold"/>
              <a:cs typeface="Arimo Bold"/>
              <a:sym typeface="Arimo Bold"/>
            </a:endParaRPr>
          </a:p>
          <a:p>
            <a:pPr algn="l">
              <a:lnSpc>
                <a:spcPts val="4298"/>
              </a:lnSpc>
            </a:pPr>
            <a:endParaRPr lang="en-US" sz="3070" b="1">
              <a:solidFill>
                <a:srgbClr val="1B3957"/>
              </a:solidFill>
              <a:latin typeface="Arimo Bold"/>
              <a:ea typeface="Arimo Bold"/>
              <a:cs typeface="Arimo Bold"/>
              <a:sym typeface="Arimo Bold"/>
            </a:endParaRPr>
          </a:p>
          <a:p>
            <a:pPr algn="l">
              <a:lnSpc>
                <a:spcPts val="4298"/>
              </a:lnSpc>
            </a:pPr>
            <a:endParaRPr lang="en-US" sz="3070" b="1">
              <a:solidFill>
                <a:srgbClr val="1B3957"/>
              </a:solidFill>
              <a:latin typeface="Arimo Bold"/>
              <a:ea typeface="Arimo Bold"/>
              <a:cs typeface="Arimo Bold"/>
              <a:sym typeface="Arimo Bold"/>
            </a:endParaRPr>
          </a:p>
          <a:p>
            <a:pPr algn="l">
              <a:lnSpc>
                <a:spcPts val="4298"/>
              </a:lnSpc>
            </a:pPr>
            <a:endParaRPr lang="en-US" sz="3070" b="1">
              <a:solidFill>
                <a:srgbClr val="1B3957"/>
              </a:solidFill>
              <a:latin typeface="Arimo Bold"/>
              <a:ea typeface="Arimo Bold"/>
              <a:cs typeface="Arimo Bold"/>
              <a:sym typeface="Arimo Bold"/>
            </a:endParaRPr>
          </a:p>
          <a:p>
            <a:pPr algn="l">
              <a:lnSpc>
                <a:spcPts val="4298"/>
              </a:lnSpc>
            </a:pPr>
            <a:endParaRPr lang="en-US" sz="3070" b="1">
              <a:solidFill>
                <a:srgbClr val="1B3957"/>
              </a:solidFill>
              <a:latin typeface="Arimo Bold"/>
              <a:ea typeface="Arimo Bold"/>
              <a:cs typeface="Arimo Bold"/>
              <a:sym typeface="Arimo Bold"/>
            </a:endParaRPr>
          </a:p>
        </p:txBody>
      </p:sp>
      <p:grpSp>
        <p:nvGrpSpPr>
          <p:cNvPr id="11" name="Group 11"/>
          <p:cNvGrpSpPr/>
          <p:nvPr/>
        </p:nvGrpSpPr>
        <p:grpSpPr>
          <a:xfrm>
            <a:off x="4781846" y="8768302"/>
            <a:ext cx="10224545" cy="1980251"/>
            <a:chOff x="0" y="0"/>
            <a:chExt cx="13632726" cy="2640335"/>
          </a:xfrm>
        </p:grpSpPr>
        <p:sp>
          <p:nvSpPr>
            <p:cNvPr id="12" name="Freeform 12"/>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3" name="TextBox 13"/>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IT22212122</a:t>
              </a:r>
              <a:r>
                <a:rPr lang="en-US" sz="2700">
                  <a:solidFill>
                    <a:srgbClr val="000000"/>
                  </a:solidFill>
                  <a:latin typeface="Cambria"/>
                  <a:ea typeface="Cambria"/>
                  <a:cs typeface="Cambria"/>
                  <a:sym typeface="Cambria"/>
                </a:rPr>
                <a:t>   |   D. DODANWELA</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0921897" y="469896"/>
            <a:ext cx="6971928" cy="558804"/>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INTELLIGENT ALKALINE WATER GENERATION MODULE – IOT &amp; AI/ML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577729">
            <a:off x="1065970" y="2839428"/>
            <a:ext cx="486621" cy="486621"/>
          </a:xfrm>
          <a:custGeom>
            <a:avLst/>
            <a:gdLst/>
            <a:ahLst/>
            <a:cxnLst/>
            <a:rect l="l" t="t" r="r" b="b"/>
            <a:pathLst>
              <a:path w="486621" h="486621">
                <a:moveTo>
                  <a:pt x="0" y="0"/>
                </a:moveTo>
                <a:lnTo>
                  <a:pt x="486620" y="0"/>
                </a:lnTo>
                <a:lnTo>
                  <a:pt x="486620" y="486621"/>
                </a:lnTo>
                <a:lnTo>
                  <a:pt x="0" y="486621"/>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rot="-557633">
            <a:off x="16175419" y="1675372"/>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Freeform 5"/>
          <p:cNvSpPr/>
          <p:nvPr/>
        </p:nvSpPr>
        <p:spPr>
          <a:xfrm rot="248758">
            <a:off x="16755725" y="8524992"/>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6" name="TextBox 6"/>
          <p:cNvSpPr txBox="1"/>
          <p:nvPr/>
        </p:nvSpPr>
        <p:spPr>
          <a:xfrm>
            <a:off x="4433246" y="4046583"/>
            <a:ext cx="11985483" cy="555346"/>
          </a:xfrm>
          <a:prstGeom prst="rect">
            <a:avLst/>
          </a:prstGeom>
        </p:spPr>
        <p:txBody>
          <a:bodyPr lIns="0" tIns="0" rIns="0" bIns="0" rtlCol="0" anchor="t">
            <a:spAutoFit/>
          </a:bodyPr>
          <a:lstStyle/>
          <a:p>
            <a:pPr marL="0" lvl="0" indent="0" algn="l">
              <a:lnSpc>
                <a:spcPts val="4375"/>
              </a:lnSpc>
            </a:pPr>
            <a:r>
              <a:rPr lang="en-US" sz="3977" b="1" dirty="0">
                <a:solidFill>
                  <a:srgbClr val="06728A"/>
                </a:solidFill>
                <a:latin typeface="Garet Bold"/>
                <a:ea typeface="Garet Bold"/>
                <a:cs typeface="Garet Bold"/>
                <a:sym typeface="Garet Bold"/>
              </a:rPr>
              <a:t>IT22193940  |  R.M.N.A.RATHNAYAKE</a:t>
            </a:r>
          </a:p>
        </p:txBody>
      </p:sp>
      <p:sp>
        <p:nvSpPr>
          <p:cNvPr id="7" name="Freeform 7"/>
          <p:cNvSpPr/>
          <p:nvPr/>
        </p:nvSpPr>
        <p:spPr>
          <a:xfrm>
            <a:off x="14970031" y="0"/>
            <a:ext cx="3317969" cy="3934741"/>
          </a:xfrm>
          <a:custGeom>
            <a:avLst/>
            <a:gdLst/>
            <a:ahLst/>
            <a:cxnLst/>
            <a:rect l="l" t="t" r="r" b="b"/>
            <a:pathLst>
              <a:path w="3317969" h="3934741">
                <a:moveTo>
                  <a:pt x="0" y="0"/>
                </a:moveTo>
                <a:lnTo>
                  <a:pt x="3317969" y="0"/>
                </a:lnTo>
                <a:lnTo>
                  <a:pt x="3317969" y="3934741"/>
                </a:lnTo>
                <a:lnTo>
                  <a:pt x="0" y="3934741"/>
                </a:lnTo>
                <a:lnTo>
                  <a:pt x="0" y="0"/>
                </a:lnTo>
                <a:close/>
              </a:path>
            </a:pathLst>
          </a:custGeom>
          <a:blipFill>
            <a:blip r:embed="rId5"/>
            <a:stretch>
              <a:fillRect t="-13164" b="-13164"/>
            </a:stretch>
          </a:blipFill>
        </p:spPr>
        <p:txBody>
          <a:bodyPr/>
          <a:lstStyle/>
          <a:p>
            <a:endParaRPr lang="en-US"/>
          </a:p>
        </p:txBody>
      </p:sp>
      <p:grpSp>
        <p:nvGrpSpPr>
          <p:cNvPr id="8" name="Group 8"/>
          <p:cNvGrpSpPr/>
          <p:nvPr/>
        </p:nvGrpSpPr>
        <p:grpSpPr>
          <a:xfrm>
            <a:off x="0" y="9559957"/>
            <a:ext cx="3771900" cy="735463"/>
            <a:chOff x="0" y="0"/>
            <a:chExt cx="5029200" cy="980618"/>
          </a:xfrm>
        </p:grpSpPr>
        <p:sp>
          <p:nvSpPr>
            <p:cNvPr id="9" name="Freeform 9"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6"/>
              <a:stretch>
                <a:fillRect t="-929488" r="-256844" b="-5"/>
              </a:stretch>
            </a:blipFill>
          </p:spPr>
          <p:txBody>
            <a:bodyPr/>
            <a:lstStyle/>
            <a:p>
              <a:endParaRPr lang="en-US"/>
            </a:p>
          </p:txBody>
        </p:sp>
      </p:grpSp>
      <p:sp>
        <p:nvSpPr>
          <p:cNvPr id="10" name="TextBox 10"/>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grpSp>
        <p:nvGrpSpPr>
          <p:cNvPr id="11" name="Group 11"/>
          <p:cNvGrpSpPr/>
          <p:nvPr/>
        </p:nvGrpSpPr>
        <p:grpSpPr>
          <a:xfrm>
            <a:off x="4781846" y="8768302"/>
            <a:ext cx="10224545" cy="1980251"/>
            <a:chOff x="0" y="0"/>
            <a:chExt cx="13632726" cy="2640335"/>
          </a:xfrm>
        </p:grpSpPr>
        <p:sp>
          <p:nvSpPr>
            <p:cNvPr id="12" name="Freeform 12"/>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7">
                <a:alphaModFix amt="0"/>
              </a:blip>
              <a:stretch>
                <a:fillRect t="-86777" b="-14434"/>
              </a:stretch>
            </a:blipFill>
          </p:spPr>
          <p:txBody>
            <a:bodyPr/>
            <a:lstStyle/>
            <a:p>
              <a:endParaRPr lang="en-US"/>
            </a:p>
          </p:txBody>
        </p:sp>
        <p:sp>
          <p:nvSpPr>
            <p:cNvPr id="13" name="TextBox 13"/>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2469209" y="4903732"/>
            <a:ext cx="13349582" cy="1266828"/>
          </a:xfrm>
          <a:prstGeom prst="rect">
            <a:avLst/>
          </a:prstGeom>
        </p:spPr>
        <p:txBody>
          <a:bodyPr lIns="0" tIns="0" rIns="0" bIns="0" rtlCol="0" anchor="t">
            <a:spAutoFit/>
          </a:bodyPr>
          <a:lstStyle/>
          <a:p>
            <a:pPr marL="0" lvl="0" indent="0" algn="ctr">
              <a:lnSpc>
                <a:spcPts val="4950"/>
              </a:lnSpc>
              <a:spcBef>
                <a:spcPct val="0"/>
              </a:spcBef>
            </a:pPr>
            <a:r>
              <a:rPr lang="en-US" sz="4500" b="1" dirty="0">
                <a:solidFill>
                  <a:srgbClr val="06728A"/>
                </a:solidFill>
                <a:latin typeface="Garet Bold"/>
                <a:ea typeface="Garet Bold"/>
                <a:cs typeface="Garet Bold"/>
                <a:sym typeface="Garet Bold"/>
              </a:rPr>
              <a:t>WT BOT – AUTONOMOUS WATER TESTING ROBOT</a:t>
            </a:r>
          </a:p>
        </p:txBody>
      </p:sp>
      <p:sp>
        <p:nvSpPr>
          <p:cNvPr id="15" name="TextBox 15"/>
          <p:cNvSpPr txBox="1"/>
          <p:nvPr/>
        </p:nvSpPr>
        <p:spPr>
          <a:xfrm>
            <a:off x="1610175" y="6350180"/>
            <a:ext cx="15388860" cy="2678387"/>
          </a:xfrm>
          <a:prstGeom prst="rect">
            <a:avLst/>
          </a:prstGeom>
        </p:spPr>
        <p:txBody>
          <a:bodyPr lIns="0" tIns="0" rIns="0" bIns="0" rtlCol="0" anchor="t">
            <a:spAutoFit/>
          </a:bodyPr>
          <a:lstStyle/>
          <a:p>
            <a:pPr algn="ctr">
              <a:lnSpc>
                <a:spcPts val="3572"/>
              </a:lnSpc>
            </a:pPr>
            <a:r>
              <a:rPr lang="en-US" sz="2551" b="1" dirty="0">
                <a:solidFill>
                  <a:srgbClr val="1B3957"/>
                </a:solidFill>
                <a:latin typeface="Arimo Bold"/>
                <a:ea typeface="Arimo Bold"/>
                <a:cs typeface="Arimo Bold"/>
                <a:sym typeface="Arimo Bold"/>
              </a:rPr>
              <a:t>Novelty -  A low-cost, smart robot boat that finds water pollution instantly and takes action on the spot. Normal robots just collect data and store it for later. But the WT Bot checks water quality in real-time, and the moment it detects something wrong (like harmful chemicals), it automatically collects a water sample at that exact location, marks it with GPS coordinates, and sends an instant alert to a cloud dashboard. This means pollution can be stopped immediately instead of waiting days or weeks for lab test results.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656809" y="1085850"/>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PROBLEM</a:t>
            </a:r>
          </a:p>
        </p:txBody>
      </p:sp>
      <p:sp>
        <p:nvSpPr>
          <p:cNvPr id="5" name="TextBox 5"/>
          <p:cNvSpPr txBox="1"/>
          <p:nvPr/>
        </p:nvSpPr>
        <p:spPr>
          <a:xfrm>
            <a:off x="1656809" y="2053403"/>
            <a:ext cx="13506991" cy="2701060"/>
          </a:xfrm>
          <a:prstGeom prst="rect">
            <a:avLst/>
          </a:prstGeom>
        </p:spPr>
        <p:txBody>
          <a:bodyPr wrap="square" lIns="0" tIns="0" rIns="0" bIns="0" rtlCol="0" anchor="t">
            <a:spAutoFit/>
          </a:bodyPr>
          <a:lstStyle/>
          <a:p>
            <a:pPr algn="just">
              <a:lnSpc>
                <a:spcPts val="4272"/>
              </a:lnSpc>
            </a:pPr>
            <a:r>
              <a:rPr lang="en-US" sz="2800" b="1" dirty="0">
                <a:solidFill>
                  <a:srgbClr val="1B3957"/>
                </a:solidFill>
                <a:latin typeface="Arimo Bold"/>
                <a:ea typeface="Arimo Bold"/>
                <a:cs typeface="Arimo Bold"/>
                <a:sym typeface="Arimo Bold"/>
              </a:rPr>
              <a:t>Current methods are slow, manual, and reactive. Relying on physical samples and lab analysis, they provide sparse data that fails to detect transient pollution events like industrial spills. Without real-time monitoring or early warnings, we only confirm contamination after the fact. This leads to delayed decisions, poor environmental management, and puts personnel at risk.</a:t>
            </a: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8" name="Group 8"/>
          <p:cNvGrpSpPr/>
          <p:nvPr/>
        </p:nvGrpSpPr>
        <p:grpSpPr>
          <a:xfrm>
            <a:off x="4781846" y="8768302"/>
            <a:ext cx="10224545" cy="1980251"/>
            <a:chOff x="0" y="0"/>
            <a:chExt cx="13632726" cy="2640335"/>
          </a:xfrm>
        </p:grpSpPr>
        <p:sp>
          <p:nvSpPr>
            <p:cNvPr id="9" name="Freeform 9"/>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0" name="TextBox 10"/>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2" name="TextBox 12"/>
          <p:cNvSpPr txBox="1"/>
          <p:nvPr/>
        </p:nvSpPr>
        <p:spPr>
          <a:xfrm>
            <a:off x="1656809" y="5200650"/>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SOLUTION</a:t>
            </a:r>
          </a:p>
        </p:txBody>
      </p:sp>
      <p:sp>
        <p:nvSpPr>
          <p:cNvPr id="13" name="TextBox 13"/>
          <p:cNvSpPr txBox="1"/>
          <p:nvPr/>
        </p:nvSpPr>
        <p:spPr>
          <a:xfrm>
            <a:off x="1656809" y="6372666"/>
            <a:ext cx="12751053" cy="2665688"/>
          </a:xfrm>
          <a:prstGeom prst="rect">
            <a:avLst/>
          </a:prstGeom>
        </p:spPr>
        <p:txBody>
          <a:bodyPr lIns="0" tIns="0" rIns="0" bIns="0" rtlCol="0" anchor="t">
            <a:spAutoFit/>
          </a:bodyPr>
          <a:lstStyle/>
          <a:p>
            <a:pPr marL="658855" lvl="1" indent="-329428" algn="l">
              <a:lnSpc>
                <a:spcPts val="4272"/>
              </a:lnSpc>
              <a:buFont typeface="Arial"/>
              <a:buChar char="•"/>
            </a:pPr>
            <a:r>
              <a:rPr lang="en-US" sz="3051" b="1" dirty="0">
                <a:solidFill>
                  <a:srgbClr val="1B3957"/>
                </a:solidFill>
                <a:latin typeface="Arimo Bold"/>
                <a:ea typeface="Arimo Bold"/>
                <a:cs typeface="Arimo Bold"/>
                <a:sym typeface="Arimo Bold"/>
              </a:rPr>
              <a:t>Mobility - autonomous USV captures high-resolution spatial data; </a:t>
            </a:r>
          </a:p>
          <a:p>
            <a:pPr marL="658855" lvl="1" indent="-329428" algn="l">
              <a:lnSpc>
                <a:spcPts val="4272"/>
              </a:lnSpc>
              <a:buFont typeface="Arial"/>
              <a:buChar char="•"/>
            </a:pPr>
            <a:r>
              <a:rPr lang="en-US" sz="3051" b="1" dirty="0">
                <a:solidFill>
                  <a:srgbClr val="1B3957"/>
                </a:solidFill>
                <a:latin typeface="Arimo Bold"/>
                <a:ea typeface="Arimo Bold"/>
                <a:cs typeface="Arimo Bold"/>
                <a:sym typeface="Arimo Bold"/>
              </a:rPr>
              <a:t>Accessibility - real-time cloud transmission and dashboard visualization; </a:t>
            </a:r>
          </a:p>
          <a:p>
            <a:pPr marL="658855" lvl="1" indent="-329428" algn="l">
              <a:lnSpc>
                <a:spcPts val="4272"/>
              </a:lnSpc>
              <a:buFont typeface="Arial"/>
              <a:buChar char="•"/>
            </a:pPr>
            <a:r>
              <a:rPr lang="en-US" sz="3051" b="1" dirty="0">
                <a:solidFill>
                  <a:srgbClr val="1B3957"/>
                </a:solidFill>
                <a:latin typeface="Arimo Bold"/>
                <a:ea typeface="Arimo Bold"/>
                <a:cs typeface="Arimo Bold"/>
                <a:sym typeface="Arimo Bold"/>
              </a:rPr>
              <a:t>Intelligence - on-edge AI detects anomalies, triggers alerts, and enables adaptive responses for proactive management.</a:t>
            </a:r>
          </a:p>
        </p:txBody>
      </p:sp>
      <p:sp>
        <p:nvSpPr>
          <p:cNvPr id="14" name="TextBox 14"/>
          <p:cNvSpPr txBox="1"/>
          <p:nvPr/>
        </p:nvSpPr>
        <p:spPr>
          <a:xfrm>
            <a:off x="11616965" y="355596"/>
            <a:ext cx="6370141"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WT BOT – AUTONOMOUS WATER TESTING ROBOT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656809" y="1085850"/>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OBJECTIVES</a:t>
            </a:r>
          </a:p>
        </p:txBody>
      </p:sp>
      <p:sp>
        <p:nvSpPr>
          <p:cNvPr id="5" name="TextBox 5"/>
          <p:cNvSpPr txBox="1"/>
          <p:nvPr/>
        </p:nvSpPr>
        <p:spPr>
          <a:xfrm>
            <a:off x="1028700" y="2257427"/>
            <a:ext cx="14310243" cy="2037034"/>
          </a:xfrm>
          <a:prstGeom prst="rect">
            <a:avLst/>
          </a:prstGeom>
        </p:spPr>
        <p:txBody>
          <a:bodyPr lIns="0" tIns="0" rIns="0" bIns="0" rtlCol="0" anchor="t">
            <a:spAutoFit/>
          </a:bodyPr>
          <a:lstStyle/>
          <a:p>
            <a:pPr algn="just">
              <a:lnSpc>
                <a:spcPts val="4007"/>
              </a:lnSpc>
            </a:pPr>
            <a:r>
              <a:rPr lang="en-US" sz="2862" b="1">
                <a:solidFill>
                  <a:srgbClr val="1B3957"/>
                </a:solidFill>
                <a:latin typeface="Arimo Bold"/>
                <a:ea typeface="Arimo Bold"/>
                <a:cs typeface="Arimo Bold"/>
                <a:sym typeface="Arimo Bold"/>
              </a:rPr>
              <a:t>To design, develop, and validate an Autonomous Water Testing Robot (WT Bot) that performs real-time, geo-referenced water quality monitoring across inland water bodies. This system offers a safer, more efficient, and data-rich alternative to manual sampling, enabling proactive environmental management.</a:t>
            </a: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8" name="Group 8"/>
          <p:cNvGrpSpPr/>
          <p:nvPr/>
        </p:nvGrpSpPr>
        <p:grpSpPr>
          <a:xfrm>
            <a:off x="4781846" y="8768302"/>
            <a:ext cx="10224545" cy="1980251"/>
            <a:chOff x="0" y="0"/>
            <a:chExt cx="13632726" cy="2640335"/>
          </a:xfrm>
        </p:grpSpPr>
        <p:sp>
          <p:nvSpPr>
            <p:cNvPr id="9" name="Freeform 9"/>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0" name="TextBox 10"/>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2" name="TextBox 12"/>
          <p:cNvSpPr txBox="1"/>
          <p:nvPr/>
        </p:nvSpPr>
        <p:spPr>
          <a:xfrm>
            <a:off x="1656809" y="474344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SUB OBJECTIVES</a:t>
            </a:r>
          </a:p>
        </p:txBody>
      </p:sp>
      <p:sp>
        <p:nvSpPr>
          <p:cNvPr id="13" name="TextBox 13"/>
          <p:cNvSpPr txBox="1"/>
          <p:nvPr/>
        </p:nvSpPr>
        <p:spPr>
          <a:xfrm>
            <a:off x="239489" y="5675733"/>
            <a:ext cx="14310243" cy="3602181"/>
          </a:xfrm>
          <a:prstGeom prst="rect">
            <a:avLst/>
          </a:prstGeom>
        </p:spPr>
        <p:txBody>
          <a:bodyPr lIns="0" tIns="0" rIns="0" bIns="0" rtlCol="0" anchor="t">
            <a:spAutoFit/>
          </a:bodyPr>
          <a:lstStyle/>
          <a:p>
            <a:pPr marL="632984" lvl="1" indent="-316492" algn="just">
              <a:lnSpc>
                <a:spcPts val="4104"/>
              </a:lnSpc>
              <a:buFont typeface="Arial"/>
              <a:buChar char="•"/>
            </a:pPr>
            <a:r>
              <a:rPr lang="en-US" sz="2931" b="1">
                <a:solidFill>
                  <a:srgbClr val="1B3957"/>
                </a:solidFill>
                <a:latin typeface="Arimo Bold"/>
                <a:ea typeface="Arimo Bold"/>
                <a:cs typeface="Arimo Bold"/>
                <a:sym typeface="Arimo Bold"/>
              </a:rPr>
              <a:t>Platform: Durable, waterproof catamaran hull.</a:t>
            </a:r>
          </a:p>
          <a:p>
            <a:pPr marL="632984" lvl="1" indent="-316492" algn="just">
              <a:lnSpc>
                <a:spcPts val="4104"/>
              </a:lnSpc>
              <a:buFont typeface="Arial"/>
              <a:buChar char="•"/>
            </a:pPr>
            <a:r>
              <a:rPr lang="en-US" sz="2931" b="1">
                <a:solidFill>
                  <a:srgbClr val="1B3957"/>
                </a:solidFill>
                <a:latin typeface="Arimo Bold"/>
                <a:ea typeface="Arimo Bold"/>
                <a:cs typeface="Arimo Bold"/>
                <a:sym typeface="Arimo Bold"/>
              </a:rPr>
              <a:t>Sensors: pH, turbidity, temperature, DO via microcontroller.</a:t>
            </a:r>
          </a:p>
          <a:p>
            <a:pPr marL="632984" lvl="1" indent="-316492" algn="just">
              <a:lnSpc>
                <a:spcPts val="4104"/>
              </a:lnSpc>
              <a:buFont typeface="Arial"/>
              <a:buChar char="•"/>
            </a:pPr>
            <a:r>
              <a:rPr lang="en-US" sz="2931" b="1">
                <a:solidFill>
                  <a:srgbClr val="1B3957"/>
                </a:solidFill>
                <a:latin typeface="Arimo Bold"/>
                <a:ea typeface="Arimo Bold"/>
                <a:cs typeface="Arimo Bold"/>
                <a:sym typeface="Arimo Bold"/>
              </a:rPr>
              <a:t>Navigation: GPS waypoint following with obstacle avoidance.</a:t>
            </a:r>
          </a:p>
          <a:p>
            <a:pPr marL="632984" lvl="1" indent="-316492" algn="just">
              <a:lnSpc>
                <a:spcPts val="4104"/>
              </a:lnSpc>
              <a:buFont typeface="Arial"/>
              <a:buChar char="•"/>
            </a:pPr>
            <a:r>
              <a:rPr lang="en-US" sz="2931" b="1">
                <a:solidFill>
                  <a:srgbClr val="1B3957"/>
                </a:solidFill>
                <a:latin typeface="Arimo Bold"/>
                <a:ea typeface="Arimo Bold"/>
                <a:cs typeface="Arimo Bold"/>
                <a:sym typeface="Arimo Bold"/>
              </a:rPr>
              <a:t>Telemetry: 4G/LoRa for real-time cloud data transmission.</a:t>
            </a:r>
          </a:p>
          <a:p>
            <a:pPr marL="632984" lvl="1" indent="-316492" algn="just">
              <a:lnSpc>
                <a:spcPts val="4104"/>
              </a:lnSpc>
              <a:buFont typeface="Arial"/>
              <a:buChar char="•"/>
            </a:pPr>
            <a:r>
              <a:rPr lang="en-US" sz="2931" b="1">
                <a:solidFill>
                  <a:srgbClr val="1B3957"/>
                </a:solidFill>
                <a:latin typeface="Arimo Bold"/>
                <a:ea typeface="Arimo Bold"/>
                <a:cs typeface="Arimo Bold"/>
                <a:sym typeface="Arimo Bold"/>
              </a:rPr>
              <a:t>Visualization: Web dashboard for mapping, graphing, and alerts.</a:t>
            </a:r>
          </a:p>
          <a:p>
            <a:pPr marL="632984" lvl="1" indent="-316492" algn="just">
              <a:lnSpc>
                <a:spcPts val="4104"/>
              </a:lnSpc>
              <a:buFont typeface="Arial"/>
              <a:buChar char="•"/>
            </a:pPr>
            <a:r>
              <a:rPr lang="en-US" sz="2931" b="1">
                <a:solidFill>
                  <a:srgbClr val="1B3957"/>
                </a:solidFill>
                <a:latin typeface="Arimo Bold"/>
                <a:ea typeface="Arimo Bold"/>
                <a:cs typeface="Arimo Bold"/>
                <a:sym typeface="Arimo Bold"/>
              </a:rPr>
              <a:t>Validation: Pool and field trials for accuracy and endurance.</a:t>
            </a:r>
          </a:p>
          <a:p>
            <a:pPr algn="just">
              <a:lnSpc>
                <a:spcPts val="4104"/>
              </a:lnSpc>
            </a:pPr>
            <a:endParaRPr lang="en-US" sz="2931" b="1">
              <a:solidFill>
                <a:srgbClr val="1B3957"/>
              </a:solidFill>
              <a:latin typeface="Arimo Bold"/>
              <a:ea typeface="Arimo Bold"/>
              <a:cs typeface="Arimo Bold"/>
              <a:sym typeface="Arimo Bold"/>
            </a:endParaRPr>
          </a:p>
        </p:txBody>
      </p:sp>
      <p:sp>
        <p:nvSpPr>
          <p:cNvPr id="14" name="TextBox 14"/>
          <p:cNvSpPr txBox="1"/>
          <p:nvPr/>
        </p:nvSpPr>
        <p:spPr>
          <a:xfrm>
            <a:off x="11616965" y="355596"/>
            <a:ext cx="6370141"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WT BOT – AUTONOMOUS WATER TESTING ROBOT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2656001" y="585150"/>
            <a:ext cx="13349582" cy="857252"/>
          </a:xfrm>
          <a:prstGeom prst="rect">
            <a:avLst/>
          </a:prstGeom>
        </p:spPr>
        <p:txBody>
          <a:bodyPr lIns="0" tIns="0" rIns="0" bIns="0" rtlCol="0" anchor="t">
            <a:spAutoFit/>
          </a:bodyPr>
          <a:lstStyle/>
          <a:p>
            <a:pPr marL="0" lvl="0" indent="0" algn="ctr">
              <a:lnSpc>
                <a:spcPts val="6600"/>
              </a:lnSpc>
              <a:spcBef>
                <a:spcPct val="0"/>
              </a:spcBef>
            </a:pPr>
            <a:r>
              <a:rPr lang="en-US" sz="6000" b="1" dirty="0">
                <a:solidFill>
                  <a:srgbClr val="06728A"/>
                </a:solidFill>
                <a:latin typeface="Garet Bold"/>
                <a:ea typeface="Garet Bold"/>
                <a:cs typeface="Garet Bold"/>
                <a:sym typeface="Garet Bold"/>
              </a:rPr>
              <a:t>METHODOLOGY</a:t>
            </a:r>
          </a:p>
        </p:txBody>
      </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7" name="Group 7"/>
          <p:cNvGrpSpPr/>
          <p:nvPr/>
        </p:nvGrpSpPr>
        <p:grpSpPr>
          <a:xfrm>
            <a:off x="4781846" y="8768302"/>
            <a:ext cx="10224545" cy="1980251"/>
            <a:chOff x="0" y="0"/>
            <a:chExt cx="13632726" cy="2640335"/>
          </a:xfrm>
        </p:grpSpPr>
        <p:sp>
          <p:nvSpPr>
            <p:cNvPr id="8" name="Freeform 8"/>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9" name="TextBox 9"/>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0" name="TextBox 10"/>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1" name="TextBox 11"/>
          <p:cNvSpPr txBox="1"/>
          <p:nvPr/>
        </p:nvSpPr>
        <p:spPr>
          <a:xfrm>
            <a:off x="1028700" y="1284154"/>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Application of Domain Knowledge </a:t>
            </a:r>
          </a:p>
        </p:txBody>
      </p:sp>
      <p:sp>
        <p:nvSpPr>
          <p:cNvPr id="12" name="TextBox 12"/>
          <p:cNvSpPr txBox="1"/>
          <p:nvPr/>
        </p:nvSpPr>
        <p:spPr>
          <a:xfrm>
            <a:off x="866379" y="1817557"/>
            <a:ext cx="15201900" cy="2502839"/>
          </a:xfrm>
          <a:prstGeom prst="rect">
            <a:avLst/>
          </a:prstGeom>
        </p:spPr>
        <p:txBody>
          <a:bodyPr lIns="0" tIns="0" rIns="0" bIns="0" rtlCol="0" anchor="t">
            <a:spAutoFit/>
          </a:bodyPr>
          <a:lstStyle/>
          <a:p>
            <a:pPr marL="418422" lvl="1" indent="-209211" algn="l">
              <a:lnSpc>
                <a:spcPts val="2713"/>
              </a:lnSpc>
              <a:buFont typeface="Arial"/>
              <a:buChar char="•"/>
            </a:pPr>
            <a:r>
              <a:rPr lang="en-US" sz="1938" b="1">
                <a:solidFill>
                  <a:srgbClr val="1B3957"/>
                </a:solidFill>
                <a:latin typeface="Arimo Bold"/>
                <a:ea typeface="Arimo Bold"/>
                <a:cs typeface="Arimo Bold"/>
                <a:sym typeface="Arimo Bold"/>
              </a:rPr>
              <a:t>Robotics: Terrain navigation &amp; obstacle avoidance.</a:t>
            </a:r>
          </a:p>
          <a:p>
            <a:pPr marL="504780" lvl="1" indent="-252390" algn="l">
              <a:lnSpc>
                <a:spcPts val="3273"/>
              </a:lnSpc>
              <a:buFont typeface="Arial"/>
              <a:buChar char="•"/>
            </a:pPr>
            <a:r>
              <a:rPr lang="en-US" sz="2338" b="1">
                <a:solidFill>
                  <a:srgbClr val="1B3957"/>
                </a:solidFill>
                <a:latin typeface="Arimo Bold"/>
                <a:ea typeface="Arimo Bold"/>
                <a:cs typeface="Arimo Bold"/>
                <a:sym typeface="Arimo Bold"/>
              </a:rPr>
              <a:t>AI: On-device anomaly detection (TinyML).</a:t>
            </a:r>
          </a:p>
          <a:p>
            <a:pPr marL="547959" lvl="1" indent="-273980" algn="l">
              <a:lnSpc>
                <a:spcPts val="3553"/>
              </a:lnSpc>
              <a:buFont typeface="Arial"/>
              <a:buChar char="•"/>
            </a:pPr>
            <a:r>
              <a:rPr lang="en-US" sz="2538" b="1">
                <a:solidFill>
                  <a:srgbClr val="1B3957"/>
                </a:solidFill>
                <a:latin typeface="Arimo Bold"/>
                <a:ea typeface="Arimo Bold"/>
                <a:cs typeface="Arimo Bold"/>
                <a:sym typeface="Arimo Bold"/>
              </a:rPr>
              <a:t>Env. Science: Standard sampling protocols.</a:t>
            </a:r>
          </a:p>
          <a:p>
            <a:pPr marL="504780" lvl="1" indent="-252390" algn="l">
              <a:lnSpc>
                <a:spcPts val="3273"/>
              </a:lnSpc>
              <a:buFont typeface="Arial"/>
              <a:buChar char="•"/>
            </a:pPr>
            <a:r>
              <a:rPr lang="en-US" sz="2338" b="1">
                <a:solidFill>
                  <a:srgbClr val="1B3957"/>
                </a:solidFill>
                <a:latin typeface="Arimo Bold"/>
                <a:ea typeface="Arimo Bold"/>
                <a:cs typeface="Arimo Bold"/>
                <a:sym typeface="Arimo Bold"/>
              </a:rPr>
              <a:t>IoT: LoRa/GSM data transmission.</a:t>
            </a:r>
          </a:p>
          <a:p>
            <a:pPr marL="504780" lvl="1" indent="-252390" algn="l">
              <a:lnSpc>
                <a:spcPts val="3273"/>
              </a:lnSpc>
              <a:buFont typeface="Arial"/>
              <a:buChar char="•"/>
            </a:pPr>
            <a:r>
              <a:rPr lang="en-US" sz="2338" b="1">
                <a:solidFill>
                  <a:srgbClr val="1B3957"/>
                </a:solidFill>
                <a:latin typeface="Arimo Bold"/>
                <a:ea typeface="Arimo Bold"/>
                <a:cs typeface="Arimo Bold"/>
                <a:sym typeface="Arimo Bold"/>
              </a:rPr>
              <a:t>Geospatial: GPS location mapping.</a:t>
            </a:r>
          </a:p>
          <a:p>
            <a:pPr algn="l">
              <a:lnSpc>
                <a:spcPts val="3833"/>
              </a:lnSpc>
            </a:pPr>
            <a:endParaRPr lang="en-US" sz="2338" b="1">
              <a:solidFill>
                <a:srgbClr val="1B3957"/>
              </a:solidFill>
              <a:latin typeface="Arimo Bold"/>
              <a:ea typeface="Arimo Bold"/>
              <a:cs typeface="Arimo Bold"/>
              <a:sym typeface="Arimo Bold"/>
            </a:endParaRPr>
          </a:p>
        </p:txBody>
      </p:sp>
      <p:sp>
        <p:nvSpPr>
          <p:cNvPr id="13" name="TextBox 13"/>
          <p:cNvSpPr txBox="1"/>
          <p:nvPr/>
        </p:nvSpPr>
        <p:spPr>
          <a:xfrm>
            <a:off x="1028700" y="4050518"/>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Latest Technologies </a:t>
            </a:r>
          </a:p>
        </p:txBody>
      </p:sp>
      <p:sp>
        <p:nvSpPr>
          <p:cNvPr id="14" name="TextBox 14"/>
          <p:cNvSpPr txBox="1"/>
          <p:nvPr/>
        </p:nvSpPr>
        <p:spPr>
          <a:xfrm>
            <a:off x="866379" y="4433603"/>
            <a:ext cx="16928827" cy="1792909"/>
          </a:xfrm>
          <a:prstGeom prst="rect">
            <a:avLst/>
          </a:prstGeom>
        </p:spPr>
        <p:txBody>
          <a:bodyPr lIns="0" tIns="0" rIns="0" bIns="0" rtlCol="0" anchor="t">
            <a:spAutoFit/>
          </a:bodyPr>
          <a:lstStyle/>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Hardware: Robotic chassis, GPS module, Arduino/RPi, sensors (pH, TDS, Turbidity, Temperature).</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Software: ROS (Robot Operating System) for control, TinyML frameworks (TensorFlow Lite) for on-bot anomaly detection, LoRa/GSM for data transmission.</a:t>
            </a:r>
          </a:p>
          <a:p>
            <a:pPr algn="l">
              <a:lnSpc>
                <a:spcPts val="3553"/>
              </a:lnSpc>
            </a:pPr>
            <a:endParaRPr lang="en-US" sz="2538" b="1">
              <a:solidFill>
                <a:srgbClr val="1B3957"/>
              </a:solidFill>
              <a:latin typeface="Arimo Bold"/>
              <a:ea typeface="Arimo Bold"/>
              <a:cs typeface="Arimo Bold"/>
              <a:sym typeface="Arimo Bold"/>
            </a:endParaRPr>
          </a:p>
        </p:txBody>
      </p:sp>
      <p:sp>
        <p:nvSpPr>
          <p:cNvPr id="15" name="TextBox 15"/>
          <p:cNvSpPr txBox="1"/>
          <p:nvPr/>
        </p:nvSpPr>
        <p:spPr>
          <a:xfrm>
            <a:off x="1028700" y="5982429"/>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Validation &amp; Evaluation </a:t>
            </a:r>
          </a:p>
        </p:txBody>
      </p:sp>
      <p:sp>
        <p:nvSpPr>
          <p:cNvPr id="16" name="TextBox 16"/>
          <p:cNvSpPr txBox="1"/>
          <p:nvPr/>
        </p:nvSpPr>
        <p:spPr>
          <a:xfrm>
            <a:off x="1028700" y="6426933"/>
            <a:ext cx="15416607" cy="1792909"/>
          </a:xfrm>
          <a:prstGeom prst="rect">
            <a:avLst/>
          </a:prstGeom>
        </p:spPr>
        <p:txBody>
          <a:bodyPr lIns="0" tIns="0" rIns="0" bIns="0" rtlCol="0" anchor="t">
            <a:spAutoFit/>
          </a:bodyPr>
          <a:lstStyle/>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Test navigation accuracy and obstacle avoidance.</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Validate sensor data accuracy against lab-controlled samples.</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Measure battery life and data transmission reliability.</a:t>
            </a:r>
          </a:p>
          <a:p>
            <a:pPr algn="l">
              <a:lnSpc>
                <a:spcPts val="3553"/>
              </a:lnSpc>
            </a:pPr>
            <a:endParaRPr lang="en-US" sz="2538" b="1">
              <a:solidFill>
                <a:srgbClr val="1B3957"/>
              </a:solidFill>
              <a:latin typeface="Arimo Bold"/>
              <a:ea typeface="Arimo Bold"/>
              <a:cs typeface="Arimo Bold"/>
              <a:sym typeface="Arimo Bold"/>
            </a:endParaRPr>
          </a:p>
        </p:txBody>
      </p:sp>
      <p:sp>
        <p:nvSpPr>
          <p:cNvPr id="17" name="TextBox 17"/>
          <p:cNvSpPr txBox="1"/>
          <p:nvPr/>
        </p:nvSpPr>
        <p:spPr>
          <a:xfrm>
            <a:off x="1028700" y="7785480"/>
            <a:ext cx="13349582" cy="42862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Garet Bold"/>
                <a:ea typeface="Garet Bold"/>
                <a:cs typeface="Garet Bold"/>
                <a:sym typeface="Garet Bold"/>
              </a:rPr>
              <a:t>Data &amp; Ethics </a:t>
            </a:r>
          </a:p>
        </p:txBody>
      </p:sp>
      <p:sp>
        <p:nvSpPr>
          <p:cNvPr id="18" name="TextBox 18"/>
          <p:cNvSpPr txBox="1"/>
          <p:nvPr/>
        </p:nvSpPr>
        <p:spPr>
          <a:xfrm>
            <a:off x="1028700" y="8172217"/>
            <a:ext cx="16240549" cy="1792909"/>
          </a:xfrm>
          <a:prstGeom prst="rect">
            <a:avLst/>
          </a:prstGeom>
        </p:spPr>
        <p:txBody>
          <a:bodyPr lIns="0" tIns="0" rIns="0" bIns="0" rtlCol="0" anchor="t">
            <a:spAutoFit/>
          </a:bodyPr>
          <a:lstStyle/>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Data: Sensor data from field tests in controlled environments (university premises).</a:t>
            </a:r>
          </a:p>
          <a:p>
            <a:pPr marL="547961" lvl="1" indent="-273980" algn="l">
              <a:lnSpc>
                <a:spcPts val="3553"/>
              </a:lnSpc>
              <a:buFont typeface="Arial"/>
              <a:buChar char="•"/>
            </a:pPr>
            <a:r>
              <a:rPr lang="en-US" sz="2538" b="1">
                <a:solidFill>
                  <a:srgbClr val="1B3957"/>
                </a:solidFill>
                <a:latin typeface="Arimo Bold"/>
                <a:ea typeface="Arimo Bold"/>
                <a:cs typeface="Arimo Bold"/>
                <a:sym typeface="Arimo Bold"/>
              </a:rPr>
              <a:t>Ethics: Clearance required for any testing in natural ecosystems to ensure minimal environmental disturbance.</a:t>
            </a:r>
          </a:p>
          <a:p>
            <a:pPr algn="l">
              <a:lnSpc>
                <a:spcPts val="3553"/>
              </a:lnSpc>
            </a:pPr>
            <a:endParaRPr lang="en-US" sz="2538" b="1">
              <a:solidFill>
                <a:srgbClr val="1B3957"/>
              </a:solidFill>
              <a:latin typeface="Arimo Bold"/>
              <a:ea typeface="Arimo Bold"/>
              <a:cs typeface="Arimo Bold"/>
              <a:sym typeface="Arimo Bold"/>
            </a:endParaRPr>
          </a:p>
        </p:txBody>
      </p:sp>
      <p:sp>
        <p:nvSpPr>
          <p:cNvPr id="19" name="TextBox 19"/>
          <p:cNvSpPr txBox="1"/>
          <p:nvPr/>
        </p:nvSpPr>
        <p:spPr>
          <a:xfrm>
            <a:off x="11616965" y="355596"/>
            <a:ext cx="6370141"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WT BOT – AUTONOMOUS WATER TESTING ROBOT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Freeform 4"/>
          <p:cNvSpPr/>
          <p:nvPr/>
        </p:nvSpPr>
        <p:spPr>
          <a:xfrm>
            <a:off x="2389810" y="1890093"/>
            <a:ext cx="13508380" cy="7368207"/>
          </a:xfrm>
          <a:custGeom>
            <a:avLst/>
            <a:gdLst/>
            <a:ahLst/>
            <a:cxnLst/>
            <a:rect l="l" t="t" r="r" b="b"/>
            <a:pathLst>
              <a:path w="13508380" h="7368207">
                <a:moveTo>
                  <a:pt x="0" y="0"/>
                </a:moveTo>
                <a:lnTo>
                  <a:pt x="13508380" y="0"/>
                </a:lnTo>
                <a:lnTo>
                  <a:pt x="13508380" y="7368207"/>
                </a:lnTo>
                <a:lnTo>
                  <a:pt x="0" y="7368207"/>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2469209" y="827570"/>
            <a:ext cx="13349582" cy="930277"/>
          </a:xfrm>
          <a:prstGeom prst="rect">
            <a:avLst/>
          </a:prstGeom>
        </p:spPr>
        <p:txBody>
          <a:bodyPr lIns="0" tIns="0" rIns="0" bIns="0" rtlCol="0" anchor="t">
            <a:spAutoFit/>
          </a:bodyPr>
          <a:lstStyle/>
          <a:p>
            <a:pPr marL="0" lvl="0" indent="0" algn="ctr">
              <a:lnSpc>
                <a:spcPts val="7150"/>
              </a:lnSpc>
              <a:spcBef>
                <a:spcPct val="0"/>
              </a:spcBef>
            </a:pPr>
            <a:r>
              <a:rPr lang="en-US" sz="6500" b="1">
                <a:solidFill>
                  <a:srgbClr val="06728A"/>
                </a:solidFill>
                <a:latin typeface="Garet Bold"/>
                <a:ea typeface="Garet Bold"/>
                <a:cs typeface="Garet Bold"/>
                <a:sym typeface="Garet Bold"/>
              </a:rPr>
              <a:t>SYSTEM DIAGRAM</a:t>
            </a: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grpSp>
        <p:nvGrpSpPr>
          <p:cNvPr id="8" name="Group 8"/>
          <p:cNvGrpSpPr/>
          <p:nvPr/>
        </p:nvGrpSpPr>
        <p:grpSpPr>
          <a:xfrm>
            <a:off x="4781846" y="8768302"/>
            <a:ext cx="10224545" cy="1980251"/>
            <a:chOff x="0" y="0"/>
            <a:chExt cx="13632726" cy="2640335"/>
          </a:xfrm>
        </p:grpSpPr>
        <p:sp>
          <p:nvSpPr>
            <p:cNvPr id="9" name="Freeform 9"/>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6">
                <a:alphaModFix amt="0"/>
              </a:blip>
              <a:stretch>
                <a:fillRect t="-86777" b="-14434"/>
              </a:stretch>
            </a:blipFill>
          </p:spPr>
          <p:txBody>
            <a:bodyPr/>
            <a:lstStyle/>
            <a:p>
              <a:endParaRPr lang="en-US"/>
            </a:p>
          </p:txBody>
        </p:sp>
        <p:sp>
          <p:nvSpPr>
            <p:cNvPr id="10" name="TextBox 10"/>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2" name="TextBox 12"/>
          <p:cNvSpPr txBox="1"/>
          <p:nvPr/>
        </p:nvSpPr>
        <p:spPr>
          <a:xfrm>
            <a:off x="11616965" y="355596"/>
            <a:ext cx="6370141"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WT BOT – AUTONOMOUS WATER TESTING ROBOT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656809" y="127995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DEPENDENCIES</a:t>
            </a:r>
          </a:p>
        </p:txBody>
      </p:sp>
      <p:sp>
        <p:nvSpPr>
          <p:cNvPr id="5" name="TextBox 5"/>
          <p:cNvSpPr txBox="1"/>
          <p:nvPr/>
        </p:nvSpPr>
        <p:spPr>
          <a:xfrm>
            <a:off x="1656808" y="2473000"/>
            <a:ext cx="12751053" cy="2170249"/>
          </a:xfrm>
          <a:prstGeom prst="rect">
            <a:avLst/>
          </a:prstGeom>
        </p:spPr>
        <p:txBody>
          <a:bodyPr lIns="0" tIns="0" rIns="0" bIns="0" rtlCol="0" anchor="t">
            <a:spAutoFit/>
          </a:bodyPr>
          <a:lstStyle/>
          <a:p>
            <a:pPr marL="660037" lvl="1" indent="-330019" algn="just">
              <a:lnSpc>
                <a:spcPts val="4279"/>
              </a:lnSpc>
              <a:buFont typeface="Arial"/>
              <a:buChar char="•"/>
            </a:pPr>
            <a:r>
              <a:rPr lang="en-US" sz="3057" b="1" dirty="0">
                <a:solidFill>
                  <a:srgbClr val="1B3957"/>
                </a:solidFill>
                <a:latin typeface="Arimo Bold"/>
                <a:ea typeface="Arimo Bold"/>
                <a:cs typeface="Arimo Bold"/>
                <a:sym typeface="Arimo Bold"/>
              </a:rPr>
              <a:t>Provides external water quality data to retrain De Silva's classification model.</a:t>
            </a:r>
          </a:p>
          <a:p>
            <a:pPr marL="660037" lvl="1" indent="-330019" algn="just">
              <a:lnSpc>
                <a:spcPts val="4279"/>
              </a:lnSpc>
              <a:buFont typeface="Arial"/>
              <a:buChar char="•"/>
            </a:pPr>
            <a:r>
              <a:rPr lang="en-US" sz="3057" b="1" dirty="0">
                <a:solidFill>
                  <a:srgbClr val="1B3957"/>
                </a:solidFill>
                <a:latin typeface="Arimo Bold"/>
                <a:ea typeface="Arimo Bold"/>
                <a:cs typeface="Arimo Bold"/>
                <a:sym typeface="Arimo Bold"/>
              </a:rPr>
              <a:t>Field testing requires environmental clearance.</a:t>
            </a:r>
          </a:p>
          <a:p>
            <a:pPr algn="just">
              <a:lnSpc>
                <a:spcPts val="4279"/>
              </a:lnSpc>
            </a:pPr>
            <a:endParaRPr lang="en-US" sz="3057" b="1" dirty="0">
              <a:solidFill>
                <a:srgbClr val="1B3957"/>
              </a:solidFill>
              <a:latin typeface="Arimo Bold"/>
              <a:ea typeface="Arimo Bold"/>
              <a:cs typeface="Arimo Bold"/>
              <a:sym typeface="Arimo Bold"/>
            </a:endParaRP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9" name="TextBox 9"/>
          <p:cNvSpPr txBox="1"/>
          <p:nvPr/>
        </p:nvSpPr>
        <p:spPr>
          <a:xfrm>
            <a:off x="1656809" y="4743449"/>
            <a:ext cx="13349582" cy="857252"/>
          </a:xfrm>
          <a:prstGeom prst="rect">
            <a:avLst/>
          </a:prstGeom>
        </p:spPr>
        <p:txBody>
          <a:bodyPr lIns="0" tIns="0" rIns="0" bIns="0" rtlCol="0" anchor="t">
            <a:spAutoFit/>
          </a:bodyPr>
          <a:lstStyle/>
          <a:p>
            <a:pPr marL="0" lvl="0" indent="0" algn="l">
              <a:lnSpc>
                <a:spcPts val="6600"/>
              </a:lnSpc>
              <a:spcBef>
                <a:spcPct val="0"/>
              </a:spcBef>
            </a:pPr>
            <a:r>
              <a:rPr lang="en-US" sz="6000" b="1">
                <a:solidFill>
                  <a:srgbClr val="06728A"/>
                </a:solidFill>
                <a:latin typeface="Garet Bold"/>
                <a:ea typeface="Garet Bold"/>
                <a:cs typeface="Garet Bold"/>
                <a:sym typeface="Garet Bold"/>
              </a:rPr>
              <a:t>COMMON COMPONENTS</a:t>
            </a:r>
          </a:p>
        </p:txBody>
      </p:sp>
      <p:sp>
        <p:nvSpPr>
          <p:cNvPr id="10" name="TextBox 10"/>
          <p:cNvSpPr txBox="1"/>
          <p:nvPr/>
        </p:nvSpPr>
        <p:spPr>
          <a:xfrm>
            <a:off x="1656809" y="6070258"/>
            <a:ext cx="14573791" cy="2132791"/>
          </a:xfrm>
          <a:prstGeom prst="rect">
            <a:avLst/>
          </a:prstGeom>
        </p:spPr>
        <p:txBody>
          <a:bodyPr lIns="0" tIns="0" rIns="0" bIns="0" rtlCol="0" anchor="t">
            <a:spAutoFit/>
          </a:bodyPr>
          <a:lstStyle/>
          <a:p>
            <a:pPr marL="654574" lvl="1" indent="-327287" algn="l">
              <a:lnSpc>
                <a:spcPts val="4244"/>
              </a:lnSpc>
              <a:buFont typeface="Arial"/>
              <a:buChar char="•"/>
            </a:pPr>
            <a:r>
              <a:rPr lang="en-US" sz="3031" b="1">
                <a:solidFill>
                  <a:srgbClr val="1B3957"/>
                </a:solidFill>
                <a:latin typeface="Arimo Bold"/>
                <a:ea typeface="Arimo Bold"/>
                <a:cs typeface="Arimo Bold"/>
                <a:sym typeface="Arimo Bold"/>
              </a:rPr>
              <a:t>Shares cloud backend and database with mobile app and other subsystems.</a:t>
            </a:r>
          </a:p>
          <a:p>
            <a:pPr marL="654574" lvl="1" indent="-327287" algn="l">
              <a:lnSpc>
                <a:spcPts val="4244"/>
              </a:lnSpc>
              <a:buFont typeface="Arial"/>
              <a:buChar char="•"/>
            </a:pPr>
            <a:r>
              <a:rPr lang="en-US" sz="3031" b="1">
                <a:solidFill>
                  <a:srgbClr val="1B3957"/>
                </a:solidFill>
                <a:latin typeface="Arimo Bold"/>
                <a:ea typeface="Arimo Bold"/>
                <a:cs typeface="Arimo Bold"/>
                <a:sym typeface="Arimo Bold"/>
              </a:rPr>
              <a:t>Data integrated into unified dashboard for real-time visualization and alerts.</a:t>
            </a:r>
          </a:p>
          <a:p>
            <a:pPr algn="l">
              <a:lnSpc>
                <a:spcPts val="4244"/>
              </a:lnSpc>
            </a:pPr>
            <a:endParaRPr lang="en-US" sz="3031" b="1">
              <a:solidFill>
                <a:srgbClr val="1B3957"/>
              </a:solidFill>
              <a:latin typeface="Arimo Bold"/>
              <a:ea typeface="Arimo Bold"/>
              <a:cs typeface="Arimo Bold"/>
              <a:sym typeface="Arimo Bold"/>
            </a:endParaRPr>
          </a:p>
        </p:txBody>
      </p:sp>
      <p:grpSp>
        <p:nvGrpSpPr>
          <p:cNvPr id="11" name="Group 11"/>
          <p:cNvGrpSpPr/>
          <p:nvPr/>
        </p:nvGrpSpPr>
        <p:grpSpPr>
          <a:xfrm>
            <a:off x="4781846" y="8768302"/>
            <a:ext cx="10224545" cy="1980251"/>
            <a:chOff x="0" y="0"/>
            <a:chExt cx="13632726" cy="2640335"/>
          </a:xfrm>
        </p:grpSpPr>
        <p:sp>
          <p:nvSpPr>
            <p:cNvPr id="12" name="Freeform 12"/>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3" name="TextBox 13"/>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1616965" y="355596"/>
            <a:ext cx="6370141"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WT BOT – AUTONOMOUS WATER TESTING ROBOT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656809" y="1260909"/>
            <a:ext cx="13349582" cy="720728"/>
          </a:xfrm>
          <a:prstGeom prst="rect">
            <a:avLst/>
          </a:prstGeom>
        </p:spPr>
        <p:txBody>
          <a:bodyPr lIns="0" tIns="0" rIns="0" bIns="0" rtlCol="0" anchor="t">
            <a:spAutoFit/>
          </a:bodyPr>
          <a:lstStyle/>
          <a:p>
            <a:pPr marL="0" lvl="0" indent="0" algn="l">
              <a:lnSpc>
                <a:spcPts val="5500"/>
              </a:lnSpc>
              <a:spcBef>
                <a:spcPct val="0"/>
              </a:spcBef>
            </a:pPr>
            <a:r>
              <a:rPr lang="en-US" sz="5000" b="1">
                <a:solidFill>
                  <a:srgbClr val="06728A"/>
                </a:solidFill>
                <a:latin typeface="Garet Bold"/>
                <a:ea typeface="Garet Bold"/>
                <a:cs typeface="Garet Bold"/>
                <a:sym typeface="Garet Bold"/>
              </a:rPr>
              <a:t>FUNCTIONAL REQUIREMENTS </a:t>
            </a:r>
          </a:p>
        </p:txBody>
      </p:sp>
      <p:sp>
        <p:nvSpPr>
          <p:cNvPr id="5" name="TextBox 5"/>
          <p:cNvSpPr txBox="1"/>
          <p:nvPr/>
        </p:nvSpPr>
        <p:spPr>
          <a:xfrm>
            <a:off x="1656809" y="2331560"/>
            <a:ext cx="12751053" cy="3252923"/>
          </a:xfrm>
          <a:prstGeom prst="rect">
            <a:avLst/>
          </a:prstGeom>
        </p:spPr>
        <p:txBody>
          <a:bodyPr lIns="0" tIns="0" rIns="0" bIns="0" rtlCol="0" anchor="t">
            <a:spAutoFit/>
          </a:bodyPr>
          <a:lstStyle/>
          <a:p>
            <a:pPr marL="444142" lvl="1" indent="-222071" algn="just">
              <a:lnSpc>
                <a:spcPts val="2880"/>
              </a:lnSpc>
              <a:buFont typeface="Arial"/>
              <a:buChar char="•"/>
            </a:pPr>
            <a:r>
              <a:rPr lang="en-US" sz="2057" b="1">
                <a:solidFill>
                  <a:srgbClr val="1B3957"/>
                </a:solidFill>
                <a:latin typeface="Arimo Bold"/>
                <a:ea typeface="Arimo Bold"/>
                <a:cs typeface="Arimo Bold"/>
                <a:sym typeface="Arimo Bold"/>
              </a:rPr>
              <a:t>Measure pH, turbidity, temperature, and dissolved oxygen</a:t>
            </a:r>
          </a:p>
          <a:p>
            <a:pPr marL="444142" lvl="1" indent="-222071" algn="just">
              <a:lnSpc>
                <a:spcPts val="2880"/>
              </a:lnSpc>
              <a:buFont typeface="Arial"/>
              <a:buChar char="•"/>
            </a:pPr>
            <a:r>
              <a:rPr lang="en-US" sz="2057" b="1">
                <a:solidFill>
                  <a:srgbClr val="1B3957"/>
                </a:solidFill>
                <a:latin typeface="Arimo Bold"/>
                <a:ea typeface="Arimo Bold"/>
                <a:cs typeface="Arimo Bold"/>
                <a:sym typeface="Arimo Bold"/>
              </a:rPr>
              <a:t>Navigate autonomously to GPS waypoints</a:t>
            </a:r>
          </a:p>
          <a:p>
            <a:pPr marL="444142" lvl="1" indent="-222071" algn="just">
              <a:lnSpc>
                <a:spcPts val="2880"/>
              </a:lnSpc>
              <a:buFont typeface="Arial"/>
              <a:buChar char="•"/>
            </a:pPr>
            <a:r>
              <a:rPr lang="en-US" sz="2057" b="1">
                <a:solidFill>
                  <a:srgbClr val="1B3957"/>
                </a:solidFill>
                <a:latin typeface="Arimo Bold"/>
                <a:ea typeface="Arimo Bold"/>
                <a:cs typeface="Arimo Bold"/>
                <a:sym typeface="Arimo Bold"/>
              </a:rPr>
              <a:t>Avoid obstacles using proximity sensors</a:t>
            </a:r>
          </a:p>
          <a:p>
            <a:pPr marL="444142" lvl="1" indent="-222071" algn="just">
              <a:lnSpc>
                <a:spcPts val="2880"/>
              </a:lnSpc>
              <a:buFont typeface="Arial"/>
              <a:buChar char="•"/>
            </a:pPr>
            <a:r>
              <a:rPr lang="en-US" sz="2057" b="1">
                <a:solidFill>
                  <a:srgbClr val="1B3957"/>
                </a:solidFill>
                <a:latin typeface="Arimo Bold"/>
                <a:ea typeface="Arimo Bold"/>
                <a:cs typeface="Arimo Bold"/>
                <a:sym typeface="Arimo Bold"/>
              </a:rPr>
              <a:t>Transmit geo-tagged data to cloud every 10 seconds</a:t>
            </a:r>
          </a:p>
          <a:p>
            <a:pPr marL="444142" lvl="1" indent="-222071" algn="just">
              <a:lnSpc>
                <a:spcPts val="2880"/>
              </a:lnSpc>
              <a:buFont typeface="Arial"/>
              <a:buChar char="•"/>
            </a:pPr>
            <a:r>
              <a:rPr lang="en-US" sz="2057" b="1">
                <a:solidFill>
                  <a:srgbClr val="1B3957"/>
                </a:solidFill>
                <a:latin typeface="Arimo Bold"/>
                <a:ea typeface="Arimo Bold"/>
                <a:cs typeface="Arimo Bold"/>
                <a:sym typeface="Arimo Bold"/>
              </a:rPr>
              <a:t>Log data locally on SD card</a:t>
            </a:r>
          </a:p>
          <a:p>
            <a:pPr marL="444142" lvl="1" indent="-222071" algn="just">
              <a:lnSpc>
                <a:spcPts val="2880"/>
              </a:lnSpc>
              <a:buFont typeface="Arial"/>
              <a:buChar char="•"/>
            </a:pPr>
            <a:r>
              <a:rPr lang="en-US" sz="2057" b="1">
                <a:solidFill>
                  <a:srgbClr val="1B3957"/>
                </a:solidFill>
                <a:latin typeface="Arimo Bold"/>
                <a:ea typeface="Arimo Bold"/>
                <a:cs typeface="Arimo Bold"/>
                <a:sym typeface="Arimo Bold"/>
              </a:rPr>
              <a:t>Display real-time position and historical paths on dashboard</a:t>
            </a:r>
          </a:p>
          <a:p>
            <a:pPr marL="444142" lvl="1" indent="-222071" algn="just">
              <a:lnSpc>
                <a:spcPts val="2880"/>
              </a:lnSpc>
              <a:buFont typeface="Arial"/>
              <a:buChar char="•"/>
            </a:pPr>
            <a:r>
              <a:rPr lang="en-US" sz="2057" b="1">
                <a:solidFill>
                  <a:srgbClr val="1B3957"/>
                </a:solidFill>
                <a:latin typeface="Arimo Bold"/>
                <a:ea typeface="Arimo Bold"/>
                <a:cs typeface="Arimo Bold"/>
                <a:sym typeface="Arimo Bold"/>
              </a:rPr>
              <a:t>Generate time-series graphs for each parameter</a:t>
            </a:r>
          </a:p>
          <a:p>
            <a:pPr marL="444142" lvl="1" indent="-222071" algn="just">
              <a:lnSpc>
                <a:spcPts val="2880"/>
              </a:lnSpc>
              <a:buFont typeface="Arial"/>
              <a:buChar char="•"/>
            </a:pPr>
            <a:r>
              <a:rPr lang="en-US" sz="2057" b="1">
                <a:solidFill>
                  <a:srgbClr val="1B3957"/>
                </a:solidFill>
                <a:latin typeface="Arimo Bold"/>
                <a:ea typeface="Arimo Bold"/>
                <a:cs typeface="Arimo Bold"/>
                <a:sym typeface="Arimo Bold"/>
              </a:rPr>
              <a:t>Send alerts when user-defined thresholds are exceeded</a:t>
            </a:r>
          </a:p>
          <a:p>
            <a:pPr algn="just">
              <a:lnSpc>
                <a:spcPts val="2880"/>
              </a:lnSpc>
            </a:pPr>
            <a:endParaRPr lang="en-US" sz="2057" b="1">
              <a:solidFill>
                <a:srgbClr val="1B3957"/>
              </a:solidFill>
              <a:latin typeface="Arimo Bold"/>
              <a:ea typeface="Arimo Bold"/>
              <a:cs typeface="Arimo Bold"/>
              <a:sym typeface="Arimo Bold"/>
            </a:endParaRP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9" name="TextBox 9"/>
          <p:cNvSpPr txBox="1"/>
          <p:nvPr/>
        </p:nvSpPr>
        <p:spPr>
          <a:xfrm>
            <a:off x="1656809" y="5622583"/>
            <a:ext cx="13349582" cy="720728"/>
          </a:xfrm>
          <a:prstGeom prst="rect">
            <a:avLst/>
          </a:prstGeom>
        </p:spPr>
        <p:txBody>
          <a:bodyPr lIns="0" tIns="0" rIns="0" bIns="0" rtlCol="0" anchor="t">
            <a:spAutoFit/>
          </a:bodyPr>
          <a:lstStyle/>
          <a:p>
            <a:pPr marL="0" lvl="0" indent="0" algn="l">
              <a:lnSpc>
                <a:spcPts val="5500"/>
              </a:lnSpc>
              <a:spcBef>
                <a:spcPct val="0"/>
              </a:spcBef>
            </a:pPr>
            <a:r>
              <a:rPr lang="en-US" sz="5000" b="1">
                <a:solidFill>
                  <a:srgbClr val="06728A"/>
                </a:solidFill>
                <a:latin typeface="Garet Bold"/>
                <a:ea typeface="Garet Bold"/>
                <a:cs typeface="Garet Bold"/>
                <a:sym typeface="Garet Bold"/>
              </a:rPr>
              <a:t>NON-FUNCTIONAL REQUIREMENTS</a:t>
            </a:r>
          </a:p>
        </p:txBody>
      </p:sp>
      <p:sp>
        <p:nvSpPr>
          <p:cNvPr id="10" name="TextBox 10"/>
          <p:cNvSpPr txBox="1"/>
          <p:nvPr/>
        </p:nvSpPr>
        <p:spPr>
          <a:xfrm>
            <a:off x="1656809" y="6695735"/>
            <a:ext cx="14573791" cy="2528951"/>
          </a:xfrm>
          <a:prstGeom prst="rect">
            <a:avLst/>
          </a:prstGeom>
        </p:spPr>
        <p:txBody>
          <a:bodyPr lIns="0" tIns="0" rIns="0" bIns="0" rtlCol="0" anchor="t">
            <a:spAutoFit/>
          </a:bodyPr>
          <a:lstStyle/>
          <a:p>
            <a:pPr marL="444755" lvl="1" indent="-222377" algn="l">
              <a:lnSpc>
                <a:spcPts val="2884"/>
              </a:lnSpc>
              <a:buFont typeface="Arial"/>
              <a:buChar char="•"/>
            </a:pPr>
            <a:r>
              <a:rPr lang="en-US" sz="2060" b="1">
                <a:solidFill>
                  <a:srgbClr val="1B3957"/>
                </a:solidFill>
                <a:latin typeface="Arimo Bold"/>
                <a:ea typeface="Arimo Bold"/>
                <a:cs typeface="Arimo Bold"/>
                <a:sym typeface="Arimo Bold"/>
              </a:rPr>
              <a:t>Waterproof (IP64 or higher)</a:t>
            </a:r>
          </a:p>
          <a:p>
            <a:pPr marL="444755" lvl="1" indent="-222377" algn="l">
              <a:lnSpc>
                <a:spcPts val="2884"/>
              </a:lnSpc>
              <a:buFont typeface="Arial"/>
              <a:buChar char="•"/>
            </a:pPr>
            <a:r>
              <a:rPr lang="en-US" sz="2060" b="1">
                <a:solidFill>
                  <a:srgbClr val="1B3957"/>
                </a:solidFill>
                <a:latin typeface="Arimo Bold"/>
                <a:ea typeface="Arimo Bold"/>
                <a:cs typeface="Arimo Bold"/>
                <a:sym typeface="Arimo Bold"/>
              </a:rPr>
              <a:t>2–3 hours battery endurance</a:t>
            </a:r>
          </a:p>
          <a:p>
            <a:pPr marL="444755" lvl="1" indent="-222377" algn="l">
              <a:lnSpc>
                <a:spcPts val="2884"/>
              </a:lnSpc>
              <a:buFont typeface="Arial"/>
              <a:buChar char="•"/>
            </a:pPr>
            <a:r>
              <a:rPr lang="en-US" sz="2060" b="1">
                <a:solidFill>
                  <a:srgbClr val="1B3957"/>
                </a:solidFill>
                <a:latin typeface="Arimo Bold"/>
                <a:ea typeface="Arimo Bold"/>
                <a:cs typeface="Arimo Bold"/>
                <a:sym typeface="Arimo Bold"/>
              </a:rPr>
              <a:t>Sensor accuracy within ±5% of professional meters</a:t>
            </a:r>
          </a:p>
          <a:p>
            <a:pPr marL="444755" lvl="1" indent="-222377" algn="l">
              <a:lnSpc>
                <a:spcPts val="2884"/>
              </a:lnSpc>
              <a:buFont typeface="Arial"/>
              <a:buChar char="•"/>
            </a:pPr>
            <a:r>
              <a:rPr lang="en-US" sz="2060" b="1">
                <a:solidFill>
                  <a:srgbClr val="1B3957"/>
                </a:solidFill>
                <a:latin typeface="Arimo Bold"/>
                <a:ea typeface="Arimo Bold"/>
                <a:cs typeface="Arimo Bold"/>
                <a:sym typeface="Arimo Bold"/>
              </a:rPr>
              <a:t>Intuitive, easy-to-use dashboard</a:t>
            </a:r>
          </a:p>
          <a:p>
            <a:pPr marL="444755" lvl="1" indent="-222377" algn="l">
              <a:lnSpc>
                <a:spcPts val="2884"/>
              </a:lnSpc>
              <a:buFont typeface="Arial"/>
              <a:buChar char="•"/>
            </a:pPr>
            <a:r>
              <a:rPr lang="en-US" sz="2060" b="1">
                <a:solidFill>
                  <a:srgbClr val="1B3957"/>
                </a:solidFill>
                <a:latin typeface="Arimo Bold"/>
                <a:ea typeface="Arimo Bold"/>
                <a:cs typeface="Arimo Bold"/>
                <a:sym typeface="Arimo Bold"/>
              </a:rPr>
              <a:t>Modular design for easy field replacement</a:t>
            </a:r>
          </a:p>
          <a:p>
            <a:pPr marL="444755" lvl="1" indent="-222377" algn="l">
              <a:lnSpc>
                <a:spcPts val="2884"/>
              </a:lnSpc>
              <a:buFont typeface="Arial"/>
              <a:buChar char="•"/>
            </a:pPr>
            <a:r>
              <a:rPr lang="en-US" sz="2060" b="1">
                <a:solidFill>
                  <a:srgbClr val="1B3957"/>
                </a:solidFill>
                <a:latin typeface="Arimo Bold"/>
                <a:ea typeface="Arimo Bold"/>
                <a:cs typeface="Arimo Bold"/>
                <a:sym typeface="Arimo Bold"/>
              </a:rPr>
              <a:t>Manual override for emergency retrieval</a:t>
            </a:r>
          </a:p>
          <a:p>
            <a:pPr algn="l">
              <a:lnSpc>
                <a:spcPts val="2884"/>
              </a:lnSpc>
            </a:pPr>
            <a:endParaRPr lang="en-US" sz="2060" b="1">
              <a:solidFill>
                <a:srgbClr val="1B3957"/>
              </a:solidFill>
              <a:latin typeface="Arimo Bold"/>
              <a:ea typeface="Arimo Bold"/>
              <a:cs typeface="Arimo Bold"/>
              <a:sym typeface="Arimo Bold"/>
            </a:endParaRPr>
          </a:p>
        </p:txBody>
      </p:sp>
      <p:grpSp>
        <p:nvGrpSpPr>
          <p:cNvPr id="11" name="Group 11"/>
          <p:cNvGrpSpPr/>
          <p:nvPr/>
        </p:nvGrpSpPr>
        <p:grpSpPr>
          <a:xfrm>
            <a:off x="4781846" y="8768302"/>
            <a:ext cx="10224545" cy="1980251"/>
            <a:chOff x="0" y="0"/>
            <a:chExt cx="13632726" cy="2640335"/>
          </a:xfrm>
        </p:grpSpPr>
        <p:sp>
          <p:nvSpPr>
            <p:cNvPr id="12" name="Freeform 12"/>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3" name="TextBox 13"/>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1616965" y="355596"/>
            <a:ext cx="6370141"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WT BOT – AUTONOMOUS WATER TESTING ROBOT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grpSp>
        <p:nvGrpSpPr>
          <p:cNvPr id="4" name="Group 4"/>
          <p:cNvGrpSpPr/>
          <p:nvPr/>
        </p:nvGrpSpPr>
        <p:grpSpPr>
          <a:xfrm>
            <a:off x="0" y="9559957"/>
            <a:ext cx="3771900" cy="735463"/>
            <a:chOff x="0" y="0"/>
            <a:chExt cx="5029200" cy="980618"/>
          </a:xfrm>
        </p:grpSpPr>
        <p:sp>
          <p:nvSpPr>
            <p:cNvPr id="5" name="Freeform 5"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6" name="Group 6"/>
          <p:cNvGrpSpPr/>
          <p:nvPr/>
        </p:nvGrpSpPr>
        <p:grpSpPr>
          <a:xfrm>
            <a:off x="4781846" y="8768302"/>
            <a:ext cx="10224545" cy="1980251"/>
            <a:chOff x="0" y="0"/>
            <a:chExt cx="13632726" cy="2640335"/>
          </a:xfrm>
        </p:grpSpPr>
        <p:sp>
          <p:nvSpPr>
            <p:cNvPr id="7" name="Freeform 7"/>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8" name="TextBox 8"/>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0" name="TextBox 10"/>
          <p:cNvSpPr txBox="1"/>
          <p:nvPr/>
        </p:nvSpPr>
        <p:spPr>
          <a:xfrm>
            <a:off x="2469209" y="1194171"/>
            <a:ext cx="13349582" cy="878842"/>
          </a:xfrm>
          <a:prstGeom prst="rect">
            <a:avLst/>
          </a:prstGeom>
        </p:spPr>
        <p:txBody>
          <a:bodyPr lIns="0" tIns="0" rIns="0" bIns="0" rtlCol="0" anchor="t">
            <a:spAutoFit/>
          </a:bodyPr>
          <a:lstStyle/>
          <a:p>
            <a:pPr marL="0" lvl="0" indent="0" algn="ctr">
              <a:lnSpc>
                <a:spcPts val="6820"/>
              </a:lnSpc>
              <a:spcBef>
                <a:spcPct val="0"/>
              </a:spcBef>
            </a:pPr>
            <a:r>
              <a:rPr lang="en-US" sz="6200" b="1" dirty="0">
                <a:solidFill>
                  <a:srgbClr val="06728A"/>
                </a:solidFill>
                <a:latin typeface="Garet Bold"/>
                <a:ea typeface="Garet Bold"/>
                <a:cs typeface="Garet Bold"/>
                <a:sym typeface="Garet Bold"/>
              </a:rPr>
              <a:t>BUDGET &amp; JUSTIFICATION</a:t>
            </a:r>
          </a:p>
        </p:txBody>
      </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2" name="TextBox 12"/>
          <p:cNvSpPr txBox="1"/>
          <p:nvPr/>
        </p:nvSpPr>
        <p:spPr>
          <a:xfrm>
            <a:off x="11616965" y="355596"/>
            <a:ext cx="6370141"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WT BOT – AUTONOMOUS WATER TESTING ROBOT</a:t>
            </a:r>
          </a:p>
        </p:txBody>
      </p:sp>
      <p:pic>
        <p:nvPicPr>
          <p:cNvPr id="14" name="Picture 13">
            <a:extLst>
              <a:ext uri="{FF2B5EF4-FFF2-40B4-BE49-F238E27FC236}">
                <a16:creationId xmlns:a16="http://schemas.microsoft.com/office/drawing/2014/main" id="{CA55FF47-ED6E-D427-324A-02F9291F14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4820" y="2604733"/>
            <a:ext cx="8098359" cy="570201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grpSp>
        <p:nvGrpSpPr>
          <p:cNvPr id="4" name="Group 4"/>
          <p:cNvGrpSpPr/>
          <p:nvPr/>
        </p:nvGrpSpPr>
        <p:grpSpPr>
          <a:xfrm>
            <a:off x="0" y="9559957"/>
            <a:ext cx="3771900" cy="735463"/>
            <a:chOff x="0" y="0"/>
            <a:chExt cx="5029200" cy="980618"/>
          </a:xfrm>
        </p:grpSpPr>
        <p:sp>
          <p:nvSpPr>
            <p:cNvPr id="5" name="Freeform 5"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6" name="Group 6"/>
          <p:cNvGrpSpPr/>
          <p:nvPr/>
        </p:nvGrpSpPr>
        <p:grpSpPr>
          <a:xfrm>
            <a:off x="4781846" y="8768302"/>
            <a:ext cx="10224545" cy="1980251"/>
            <a:chOff x="0" y="0"/>
            <a:chExt cx="13632726" cy="2640335"/>
          </a:xfrm>
        </p:grpSpPr>
        <p:sp>
          <p:nvSpPr>
            <p:cNvPr id="7" name="Freeform 7"/>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8" name="TextBox 8"/>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9" name="Freeform 9"/>
          <p:cNvSpPr/>
          <p:nvPr/>
        </p:nvSpPr>
        <p:spPr>
          <a:xfrm>
            <a:off x="2558396" y="2211225"/>
            <a:ext cx="12831284" cy="6415642"/>
          </a:xfrm>
          <a:custGeom>
            <a:avLst/>
            <a:gdLst/>
            <a:ahLst/>
            <a:cxnLst/>
            <a:rect l="l" t="t" r="r" b="b"/>
            <a:pathLst>
              <a:path w="12831284" h="6415642">
                <a:moveTo>
                  <a:pt x="0" y="0"/>
                </a:moveTo>
                <a:lnTo>
                  <a:pt x="12831284" y="0"/>
                </a:lnTo>
                <a:lnTo>
                  <a:pt x="12831284" y="6415642"/>
                </a:lnTo>
                <a:lnTo>
                  <a:pt x="0" y="6415642"/>
                </a:lnTo>
                <a:lnTo>
                  <a:pt x="0" y="0"/>
                </a:lnTo>
                <a:close/>
              </a:path>
            </a:pathLst>
          </a:custGeom>
          <a:blipFill>
            <a:blip r:embed="rId6"/>
            <a:stretch>
              <a:fillRect/>
            </a:stretch>
          </a:blipFill>
        </p:spPr>
        <p:txBody>
          <a:bodyPr/>
          <a:lstStyle/>
          <a:p>
            <a:endParaRPr lang="en-US"/>
          </a:p>
        </p:txBody>
      </p:sp>
      <p:sp>
        <p:nvSpPr>
          <p:cNvPr id="10" name="TextBox 10"/>
          <p:cNvSpPr txBox="1"/>
          <p:nvPr/>
        </p:nvSpPr>
        <p:spPr>
          <a:xfrm>
            <a:off x="2299247" y="1059069"/>
            <a:ext cx="13349582" cy="982982"/>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Garet Bold"/>
                <a:ea typeface="Garet Bold"/>
                <a:cs typeface="Garet Bold"/>
                <a:sym typeface="Garet Bold"/>
              </a:rPr>
              <a:t>GANTT CHART</a:t>
            </a:r>
          </a:p>
        </p:txBody>
      </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2" name="TextBox 12"/>
          <p:cNvSpPr txBox="1"/>
          <p:nvPr/>
        </p:nvSpPr>
        <p:spPr>
          <a:xfrm>
            <a:off x="11616965" y="355596"/>
            <a:ext cx="6370141"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WT BOT – AUTONOMOUS WATER TESTING ROBOT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grpSp>
        <p:nvGrpSpPr>
          <p:cNvPr id="4" name="Group 4"/>
          <p:cNvGrpSpPr/>
          <p:nvPr/>
        </p:nvGrpSpPr>
        <p:grpSpPr>
          <a:xfrm>
            <a:off x="0" y="9559957"/>
            <a:ext cx="3771900" cy="735463"/>
            <a:chOff x="0" y="0"/>
            <a:chExt cx="5029200" cy="980618"/>
          </a:xfrm>
        </p:grpSpPr>
        <p:sp>
          <p:nvSpPr>
            <p:cNvPr id="5" name="Freeform 5"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6" name="Group 6"/>
          <p:cNvGrpSpPr/>
          <p:nvPr/>
        </p:nvGrpSpPr>
        <p:grpSpPr>
          <a:xfrm>
            <a:off x="4781846" y="8768302"/>
            <a:ext cx="10224545" cy="1980251"/>
            <a:chOff x="0" y="0"/>
            <a:chExt cx="13632726" cy="2640335"/>
          </a:xfrm>
        </p:grpSpPr>
        <p:sp>
          <p:nvSpPr>
            <p:cNvPr id="7" name="Freeform 7"/>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8" name="TextBox 8"/>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IT22193940</a:t>
              </a:r>
              <a:r>
                <a:rPr lang="en-US" sz="2700">
                  <a:solidFill>
                    <a:srgbClr val="000000"/>
                  </a:solidFill>
                  <a:latin typeface="Cambria"/>
                  <a:ea typeface="Cambria"/>
                  <a:cs typeface="Cambria"/>
                  <a:sym typeface="Cambria"/>
                </a:rPr>
                <a:t>   |   R.M.N.A. RATHNAYAKE</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9" name="TextBox 9"/>
          <p:cNvSpPr txBox="1"/>
          <p:nvPr/>
        </p:nvSpPr>
        <p:spPr>
          <a:xfrm>
            <a:off x="2469209" y="1444188"/>
            <a:ext cx="13349582" cy="982982"/>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Garet Bold"/>
                <a:ea typeface="Garet Bold"/>
                <a:cs typeface="Garet Bold"/>
                <a:sym typeface="Garet Bold"/>
              </a:rPr>
              <a:t>REFERENCES</a:t>
            </a:r>
          </a:p>
        </p:txBody>
      </p:sp>
      <p:sp>
        <p:nvSpPr>
          <p:cNvPr id="10" name="TextBox 10"/>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1" name="TextBox 11"/>
          <p:cNvSpPr txBox="1"/>
          <p:nvPr/>
        </p:nvSpPr>
        <p:spPr>
          <a:xfrm>
            <a:off x="11616965" y="355596"/>
            <a:ext cx="6370141"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WT BOT – AUTONOMOUS WATER TESTING ROBOT</a:t>
            </a:r>
          </a:p>
        </p:txBody>
      </p:sp>
      <p:sp>
        <p:nvSpPr>
          <p:cNvPr id="12" name="TextBox 12"/>
          <p:cNvSpPr txBox="1"/>
          <p:nvPr/>
        </p:nvSpPr>
        <p:spPr>
          <a:xfrm>
            <a:off x="1381890" y="2944584"/>
            <a:ext cx="13645837" cy="5321970"/>
          </a:xfrm>
          <a:prstGeom prst="rect">
            <a:avLst/>
          </a:prstGeom>
        </p:spPr>
        <p:txBody>
          <a:bodyPr wrap="square" lIns="0" tIns="0" rIns="0" bIns="0" rtlCol="0" anchor="t">
            <a:spAutoFit/>
          </a:bodyPr>
          <a:lstStyle/>
          <a:p>
            <a:pPr algn="just">
              <a:lnSpc>
                <a:spcPts val="2704"/>
              </a:lnSpc>
            </a:pPr>
            <a:r>
              <a:rPr lang="en-US" sz="2230" b="1" dirty="0">
                <a:solidFill>
                  <a:srgbClr val="1B3957"/>
                </a:solidFill>
                <a:latin typeface="Arimo Bold"/>
                <a:ea typeface="Arimo Bold"/>
                <a:cs typeface="Arimo Bold"/>
                <a:sym typeface="Arimo Bold"/>
              </a:rPr>
              <a:t>[1] Chapman, D. V. (Ed.). (1996). Water Quality Assessments: A Guide to the Use of Biota, Sediments and Water in Environmental Monitoring (2nd ed.). E &amp; FN Spon. (A foundational text on traditional monitoring methods).</a:t>
            </a:r>
          </a:p>
          <a:p>
            <a:pPr algn="just">
              <a:lnSpc>
                <a:spcPts val="3124"/>
              </a:lnSpc>
            </a:pPr>
            <a:r>
              <a:rPr lang="en-US" sz="2231" b="1" dirty="0">
                <a:solidFill>
                  <a:srgbClr val="1B3957"/>
                </a:solidFill>
                <a:latin typeface="Arimo Bold"/>
                <a:ea typeface="Arimo Bold"/>
                <a:cs typeface="Arimo Bold"/>
                <a:sym typeface="Arimo Bold"/>
              </a:rPr>
              <a:t>[2] </a:t>
            </a:r>
            <a:r>
              <a:rPr lang="en-US" sz="2231" b="1" dirty="0" err="1">
                <a:solidFill>
                  <a:srgbClr val="1B3957"/>
                </a:solidFill>
                <a:latin typeface="Arimo Bold"/>
                <a:ea typeface="Arimo Bold"/>
                <a:cs typeface="Arimo Bold"/>
                <a:sym typeface="Arimo Bold"/>
              </a:rPr>
              <a:t>Dunbabin</a:t>
            </a:r>
            <a:r>
              <a:rPr lang="en-US" sz="2231" b="1" dirty="0">
                <a:solidFill>
                  <a:srgbClr val="1B3957"/>
                </a:solidFill>
                <a:latin typeface="Arimo Bold"/>
                <a:ea typeface="Arimo Bold"/>
                <a:cs typeface="Arimo Bold"/>
                <a:sym typeface="Arimo Bold"/>
              </a:rPr>
              <a:t>, M., &amp; Marques, L. (2012). Robots for Environmental Monitoring: Significant Advancements and Applications. IEEE Robotics &amp; Automation Magazine, 19(1), 24-39. (Key review paper on the use of robotics in this domain).</a:t>
            </a:r>
          </a:p>
          <a:p>
            <a:pPr algn="just">
              <a:lnSpc>
                <a:spcPts val="3124"/>
              </a:lnSpc>
            </a:pPr>
            <a:r>
              <a:rPr lang="en-US" sz="2231" b="1" dirty="0">
                <a:solidFill>
                  <a:srgbClr val="1B3957"/>
                </a:solidFill>
                <a:latin typeface="Arimo Bold"/>
                <a:ea typeface="Arimo Bold"/>
                <a:cs typeface="Arimo Bold"/>
                <a:sym typeface="Arimo Bold"/>
              </a:rPr>
              <a:t>[3] Giardino, C., et al. (2019). Imaging Spectrometry of Inland Water Quality: From Envisat to Sentinel-3. Surveys in Geophysics, 40(3), 461-485. (Covers remote sensing techniques).</a:t>
            </a:r>
          </a:p>
          <a:p>
            <a:pPr algn="just">
              <a:lnSpc>
                <a:spcPts val="3124"/>
              </a:lnSpc>
            </a:pPr>
            <a:r>
              <a:rPr lang="en-US" sz="2231" b="1" dirty="0">
                <a:solidFill>
                  <a:srgbClr val="1B3957"/>
                </a:solidFill>
                <a:latin typeface="Arimo Bold"/>
                <a:ea typeface="Arimo Bold"/>
                <a:cs typeface="Arimo Bold"/>
                <a:sym typeface="Arimo Bold"/>
              </a:rPr>
              <a:t>[4] Kumar, R., &amp; Singh, P. (2021). IoT Based Water Quality Monitoring System: A Review. Materials Today: Proceedings. (Provides an overview of static IoT monitoring systems).</a:t>
            </a:r>
          </a:p>
          <a:p>
            <a:pPr algn="just">
              <a:lnSpc>
                <a:spcPts val="3124"/>
              </a:lnSpc>
            </a:pPr>
            <a:r>
              <a:rPr lang="en-US" sz="2231" b="1" dirty="0">
                <a:solidFill>
                  <a:srgbClr val="1B3957"/>
                </a:solidFill>
                <a:latin typeface="Arimo Bold"/>
                <a:ea typeface="Arimo Bold"/>
                <a:cs typeface="Arimo Bold"/>
                <a:sym typeface="Arimo Bold"/>
              </a:rPr>
              <a:t>[5] Rahman, M., et al. (2021). Design and Development of an Autonomous Surface Vehicle for Water Quality Monitoring. Proceedings of the International Conference on Robotics, Electrical and Signal Processing Techniques (ICREST), IEEE. (A direct example of a similar USV project).</a:t>
            </a:r>
          </a:p>
          <a:p>
            <a:pPr algn="just">
              <a:lnSpc>
                <a:spcPts val="2424"/>
              </a:lnSpc>
            </a:pPr>
            <a:endParaRPr lang="en-US" sz="2231" b="1" dirty="0">
              <a:solidFill>
                <a:srgbClr val="1B3957"/>
              </a:solidFill>
              <a:latin typeface="Arimo Bold"/>
              <a:ea typeface="Arimo Bold"/>
              <a:cs typeface="Arimo Bold"/>
              <a:sym typeface="Arimo Bo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dirty="0"/>
          </a:p>
        </p:txBody>
      </p:sp>
      <p:sp>
        <p:nvSpPr>
          <p:cNvPr id="3" name="Freeform 3"/>
          <p:cNvSpPr/>
          <p:nvPr/>
        </p:nvSpPr>
        <p:spPr>
          <a:xfrm rot="577729">
            <a:off x="1065970" y="2839428"/>
            <a:ext cx="486621" cy="486621"/>
          </a:xfrm>
          <a:custGeom>
            <a:avLst/>
            <a:gdLst/>
            <a:ahLst/>
            <a:cxnLst/>
            <a:rect l="l" t="t" r="r" b="b"/>
            <a:pathLst>
              <a:path w="486621" h="486621">
                <a:moveTo>
                  <a:pt x="0" y="0"/>
                </a:moveTo>
                <a:lnTo>
                  <a:pt x="486620" y="0"/>
                </a:lnTo>
                <a:lnTo>
                  <a:pt x="486620" y="486621"/>
                </a:lnTo>
                <a:lnTo>
                  <a:pt x="0" y="486621"/>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rot="-557633">
            <a:off x="16175419" y="1675372"/>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Freeform 5"/>
          <p:cNvSpPr/>
          <p:nvPr/>
        </p:nvSpPr>
        <p:spPr>
          <a:xfrm rot="248758">
            <a:off x="16755725" y="8524992"/>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grpSp>
        <p:nvGrpSpPr>
          <p:cNvPr id="8" name="Group 8"/>
          <p:cNvGrpSpPr/>
          <p:nvPr/>
        </p:nvGrpSpPr>
        <p:grpSpPr>
          <a:xfrm>
            <a:off x="4781846" y="8768302"/>
            <a:ext cx="10224545" cy="1980251"/>
            <a:chOff x="0" y="0"/>
            <a:chExt cx="13632726" cy="2640335"/>
          </a:xfrm>
        </p:grpSpPr>
        <p:sp>
          <p:nvSpPr>
            <p:cNvPr id="9" name="Freeform 9"/>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6">
                <a:alphaModFix amt="0"/>
              </a:blip>
              <a:stretch>
                <a:fillRect t="-86777" b="-14434"/>
              </a:stretch>
            </a:blipFill>
          </p:spPr>
          <p:txBody>
            <a:bodyPr/>
            <a:lstStyle/>
            <a:p>
              <a:endParaRPr lang="en-US"/>
            </a:p>
          </p:txBody>
        </p:sp>
        <p:sp>
          <p:nvSpPr>
            <p:cNvPr id="10" name="TextBox 10"/>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   |   R26-IT-005</a:t>
              </a:r>
            </a:p>
          </p:txBody>
        </p:sp>
      </p:grpSp>
      <p:sp>
        <p:nvSpPr>
          <p:cNvPr id="11" name="Freeform 11"/>
          <p:cNvSpPr/>
          <p:nvPr/>
        </p:nvSpPr>
        <p:spPr>
          <a:xfrm>
            <a:off x="14538752" y="-95741"/>
            <a:ext cx="3749248" cy="4579898"/>
          </a:xfrm>
          <a:custGeom>
            <a:avLst/>
            <a:gdLst/>
            <a:ahLst/>
            <a:cxnLst/>
            <a:rect l="l" t="t" r="r" b="b"/>
            <a:pathLst>
              <a:path w="3749248" h="4579898">
                <a:moveTo>
                  <a:pt x="0" y="0"/>
                </a:moveTo>
                <a:lnTo>
                  <a:pt x="3749248" y="0"/>
                </a:lnTo>
                <a:lnTo>
                  <a:pt x="3749248" y="4579898"/>
                </a:lnTo>
                <a:lnTo>
                  <a:pt x="0" y="4579898"/>
                </a:lnTo>
                <a:lnTo>
                  <a:pt x="0" y="0"/>
                </a:lnTo>
                <a:close/>
              </a:path>
            </a:pathLst>
          </a:custGeom>
          <a:blipFill>
            <a:blip r:embed="rId7"/>
            <a:stretch>
              <a:fillRect b="-9150"/>
            </a:stretch>
          </a:blipFill>
        </p:spPr>
        <p:txBody>
          <a:bodyPr/>
          <a:lstStyle/>
          <a:p>
            <a:endParaRPr lang="en-US"/>
          </a:p>
        </p:txBody>
      </p:sp>
      <p:sp>
        <p:nvSpPr>
          <p:cNvPr id="12" name="TextBox 12"/>
          <p:cNvSpPr txBox="1"/>
          <p:nvPr/>
        </p:nvSpPr>
        <p:spPr>
          <a:xfrm>
            <a:off x="3151258" y="4283395"/>
            <a:ext cx="11985483" cy="574675"/>
          </a:xfrm>
          <a:prstGeom prst="rect">
            <a:avLst/>
          </a:prstGeom>
        </p:spPr>
        <p:txBody>
          <a:bodyPr lIns="0" tIns="0" rIns="0" bIns="0" rtlCol="0" anchor="t">
            <a:spAutoFit/>
          </a:bodyPr>
          <a:lstStyle/>
          <a:p>
            <a:pPr marL="0" lvl="0" indent="0" algn="ctr">
              <a:lnSpc>
                <a:spcPts val="4399"/>
              </a:lnSpc>
            </a:pPr>
            <a:r>
              <a:rPr lang="en-US" sz="3980" b="1" dirty="0">
                <a:solidFill>
                  <a:srgbClr val="06728A"/>
                </a:solidFill>
                <a:latin typeface="Garet Bold" panose="020B0604020202020204" charset="0"/>
                <a:ea typeface="Cambria Bold"/>
                <a:cs typeface="Cambria Bold"/>
                <a:sym typeface="Cambria Bold"/>
              </a:rPr>
              <a:t>IT22211750 |  DE SILVA W.N.N.</a:t>
            </a:r>
          </a:p>
        </p:txBody>
      </p:sp>
      <p:sp>
        <p:nvSpPr>
          <p:cNvPr id="13" name="TextBox 13"/>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4" name="TextBox 14"/>
          <p:cNvSpPr txBox="1"/>
          <p:nvPr/>
        </p:nvSpPr>
        <p:spPr>
          <a:xfrm>
            <a:off x="2232133" y="5428930"/>
            <a:ext cx="14766902" cy="759823"/>
          </a:xfrm>
          <a:prstGeom prst="rect">
            <a:avLst/>
          </a:prstGeom>
        </p:spPr>
        <p:txBody>
          <a:bodyPr wrap="square" lIns="0" tIns="0" rIns="0" bIns="0" rtlCol="0" anchor="t">
            <a:spAutoFit/>
          </a:bodyPr>
          <a:lstStyle/>
          <a:p>
            <a:pPr marL="0" lvl="0" indent="0" algn="ctr">
              <a:lnSpc>
                <a:spcPts val="6050"/>
              </a:lnSpc>
              <a:spcBef>
                <a:spcPct val="0"/>
              </a:spcBef>
            </a:pPr>
            <a:r>
              <a:rPr lang="en-US" sz="4500" b="1" dirty="0">
                <a:solidFill>
                  <a:srgbClr val="06728A"/>
                </a:solidFill>
                <a:latin typeface="Garet Bold" panose="020B0604020202020204" charset="0"/>
                <a:ea typeface="Cambria Bold"/>
                <a:cs typeface="Cambria Bold"/>
                <a:sym typeface="Cambria Bold"/>
              </a:rPr>
              <a:t>DIFFERENT TYPES OF WATER IDENTIFIER – ML &amp; AI</a:t>
            </a:r>
          </a:p>
        </p:txBody>
      </p:sp>
      <p:sp>
        <p:nvSpPr>
          <p:cNvPr id="15" name="TextBox 15"/>
          <p:cNvSpPr txBox="1"/>
          <p:nvPr/>
        </p:nvSpPr>
        <p:spPr>
          <a:xfrm>
            <a:off x="1449570" y="6718142"/>
            <a:ext cx="15388860" cy="1783037"/>
          </a:xfrm>
          <a:prstGeom prst="rect">
            <a:avLst/>
          </a:prstGeom>
        </p:spPr>
        <p:txBody>
          <a:bodyPr lIns="0" tIns="0" rIns="0" bIns="0" rtlCol="0" anchor="t">
            <a:spAutoFit/>
          </a:bodyPr>
          <a:lstStyle/>
          <a:p>
            <a:pPr algn="ctr">
              <a:lnSpc>
                <a:spcPts val="3572"/>
              </a:lnSpc>
            </a:pPr>
            <a:r>
              <a:rPr lang="en-US" sz="2551" b="1" dirty="0">
                <a:solidFill>
                  <a:srgbClr val="1B3957"/>
                </a:solidFill>
                <a:latin typeface="Cambria Bold"/>
                <a:ea typeface="Cambria Bold"/>
                <a:cs typeface="Cambria Bold"/>
                <a:sym typeface="Cambria Bold"/>
              </a:rPr>
              <a:t>Novelty -  The use of machine learning to automatically identify water types using combined multi-sensor data. Traditional water testing tools only display simple parameters values which still require human interpretation. In contrast, the proposed system analyzes multiple water quality parameters together and uses machine learning to intelligently classify the water type.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855378" y="1221549"/>
            <a:ext cx="13349582" cy="784225"/>
          </a:xfrm>
          <a:prstGeom prst="rect">
            <a:avLst/>
          </a:prstGeom>
        </p:spPr>
        <p:txBody>
          <a:bodyPr lIns="0" tIns="0" rIns="0" bIns="0" rtlCol="0" anchor="t">
            <a:spAutoFit/>
          </a:bodyPr>
          <a:lstStyle/>
          <a:p>
            <a:pPr marL="0" lvl="0" indent="0" algn="l">
              <a:lnSpc>
                <a:spcPts val="6049"/>
              </a:lnSpc>
              <a:spcBef>
                <a:spcPct val="0"/>
              </a:spcBef>
            </a:pPr>
            <a:r>
              <a:rPr lang="en-US" sz="5499" b="1" dirty="0">
                <a:solidFill>
                  <a:srgbClr val="06728A"/>
                </a:solidFill>
                <a:latin typeface="Cambria Bold"/>
                <a:ea typeface="Cambria Bold"/>
                <a:cs typeface="Cambria Bold"/>
                <a:sym typeface="Cambria Bold"/>
              </a:rPr>
              <a:t>PROBLEM</a:t>
            </a:r>
          </a:p>
        </p:txBody>
      </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7" name="TextBox 7"/>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grpSp>
        <p:nvGrpSpPr>
          <p:cNvPr id="8" name="Group 8"/>
          <p:cNvGrpSpPr/>
          <p:nvPr/>
        </p:nvGrpSpPr>
        <p:grpSpPr>
          <a:xfrm>
            <a:off x="4781846" y="8768302"/>
            <a:ext cx="10224545" cy="1980251"/>
            <a:chOff x="0" y="0"/>
            <a:chExt cx="13632726" cy="2640335"/>
          </a:xfrm>
        </p:grpSpPr>
        <p:sp>
          <p:nvSpPr>
            <p:cNvPr id="9" name="Freeform 9"/>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0" name="TextBox 10"/>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1" name="TextBox 11"/>
          <p:cNvSpPr txBox="1"/>
          <p:nvPr/>
        </p:nvSpPr>
        <p:spPr>
          <a:xfrm>
            <a:off x="1028700" y="2150275"/>
            <a:ext cx="14278669" cy="3895725"/>
          </a:xfrm>
          <a:prstGeom prst="rect">
            <a:avLst/>
          </a:prstGeom>
        </p:spPr>
        <p:txBody>
          <a:bodyPr lIns="0" tIns="0" rIns="0" bIns="0" rtlCol="0" anchor="t">
            <a:spAutoFit/>
          </a:bodyPr>
          <a:lstStyle/>
          <a:p>
            <a:pPr marL="690222" lvl="1" indent="-345111" algn="l">
              <a:lnSpc>
                <a:spcPts val="3836"/>
              </a:lnSpc>
              <a:buFont typeface="Arial"/>
              <a:buChar char="•"/>
            </a:pPr>
            <a:r>
              <a:rPr lang="en-US" sz="3196" dirty="0">
                <a:solidFill>
                  <a:srgbClr val="000000"/>
                </a:solidFill>
                <a:latin typeface="Cambria"/>
                <a:ea typeface="Cambria"/>
                <a:cs typeface="Cambria"/>
                <a:sym typeface="Cambria"/>
              </a:rPr>
              <a:t>Water quality testing traditionally depends on laboratory analysis and manual chemical testing.</a:t>
            </a:r>
          </a:p>
          <a:p>
            <a:pPr marL="690222" lvl="1" indent="-345111" algn="l">
              <a:lnSpc>
                <a:spcPts val="3836"/>
              </a:lnSpc>
              <a:buFont typeface="Arial"/>
              <a:buChar char="•"/>
            </a:pPr>
            <a:r>
              <a:rPr lang="en-US" sz="3196" dirty="0">
                <a:solidFill>
                  <a:srgbClr val="000000"/>
                </a:solidFill>
                <a:latin typeface="Cambria"/>
                <a:ea typeface="Cambria"/>
                <a:cs typeface="Cambria"/>
                <a:sym typeface="Cambria"/>
              </a:rPr>
              <a:t>These methods are time-consuming, expensive, and unsuitable for continuous monitoring.</a:t>
            </a:r>
          </a:p>
          <a:p>
            <a:pPr marL="690222" lvl="1" indent="-345111" algn="l">
              <a:lnSpc>
                <a:spcPts val="3836"/>
              </a:lnSpc>
              <a:buFont typeface="Arial"/>
              <a:buChar char="•"/>
            </a:pPr>
            <a:r>
              <a:rPr lang="en-US" sz="3196" dirty="0">
                <a:solidFill>
                  <a:srgbClr val="000000"/>
                </a:solidFill>
                <a:latin typeface="Cambria"/>
                <a:ea typeface="Cambria"/>
                <a:cs typeface="Cambria"/>
                <a:sym typeface="Cambria"/>
              </a:rPr>
              <a:t>Existing IoT water monitoring systems mainly provide threshold-based alerts.</a:t>
            </a:r>
          </a:p>
          <a:p>
            <a:pPr marL="690222" lvl="1" indent="-345111" algn="l">
              <a:lnSpc>
                <a:spcPts val="3836"/>
              </a:lnSpc>
              <a:buFont typeface="Arial"/>
              <a:buChar char="•"/>
            </a:pPr>
            <a:r>
              <a:rPr lang="en-US" sz="3196" dirty="0">
                <a:solidFill>
                  <a:srgbClr val="000000"/>
                </a:solidFill>
                <a:latin typeface="Cambria"/>
                <a:ea typeface="Cambria"/>
                <a:cs typeface="Cambria"/>
                <a:sym typeface="Cambria"/>
              </a:rPr>
              <a:t>However, they cannot intelligently classify different types of water based on sensor data.</a:t>
            </a:r>
          </a:p>
          <a:p>
            <a:pPr algn="l">
              <a:lnSpc>
                <a:spcPts val="3836"/>
              </a:lnSpc>
            </a:pPr>
            <a:endParaRPr lang="en-US" sz="3196" dirty="0">
              <a:solidFill>
                <a:srgbClr val="000000"/>
              </a:solidFill>
              <a:latin typeface="Cambria"/>
              <a:ea typeface="Cambria"/>
              <a:cs typeface="Cambria"/>
              <a:sym typeface="Cambria"/>
            </a:endParaRPr>
          </a:p>
        </p:txBody>
      </p:sp>
      <p:sp>
        <p:nvSpPr>
          <p:cNvPr id="12" name="TextBox 12"/>
          <p:cNvSpPr txBox="1"/>
          <p:nvPr/>
        </p:nvSpPr>
        <p:spPr>
          <a:xfrm>
            <a:off x="855378" y="6462605"/>
            <a:ext cx="14278669" cy="2924175"/>
          </a:xfrm>
          <a:prstGeom prst="rect">
            <a:avLst/>
          </a:prstGeom>
        </p:spPr>
        <p:txBody>
          <a:bodyPr lIns="0" tIns="0" rIns="0" bIns="0" rtlCol="0" anchor="t">
            <a:spAutoFit/>
          </a:bodyPr>
          <a:lstStyle/>
          <a:p>
            <a:pPr algn="l">
              <a:lnSpc>
                <a:spcPts val="3836"/>
              </a:lnSpc>
            </a:pPr>
            <a:endParaRPr/>
          </a:p>
          <a:p>
            <a:pPr marL="690222" lvl="1" indent="-345111" algn="l">
              <a:lnSpc>
                <a:spcPts val="3836"/>
              </a:lnSpc>
              <a:buFont typeface="Arial"/>
              <a:buChar char="•"/>
            </a:pPr>
            <a:r>
              <a:rPr lang="en-US" sz="3196">
                <a:solidFill>
                  <a:srgbClr val="000000"/>
                </a:solidFill>
                <a:latin typeface="Cambria"/>
                <a:ea typeface="Cambria"/>
                <a:cs typeface="Cambria"/>
                <a:sym typeface="Cambria"/>
              </a:rPr>
              <a:t>Current systems detect parameter anomalies, but they do not identify the actual water category.</a:t>
            </a:r>
          </a:p>
          <a:p>
            <a:pPr marL="690222" lvl="1" indent="-345111" algn="l">
              <a:lnSpc>
                <a:spcPts val="3836"/>
              </a:lnSpc>
              <a:buFont typeface="Arial"/>
              <a:buChar char="•"/>
            </a:pPr>
            <a:r>
              <a:rPr lang="en-US" sz="3196">
                <a:solidFill>
                  <a:srgbClr val="000000"/>
                </a:solidFill>
                <a:latin typeface="Cambria"/>
                <a:ea typeface="Cambria"/>
                <a:cs typeface="Cambria"/>
                <a:sym typeface="Cambria"/>
              </a:rPr>
              <a:t>There is limited integration between sensor-based monitoring systems and machine learning classification models for water type identification.</a:t>
            </a:r>
          </a:p>
          <a:p>
            <a:pPr algn="l">
              <a:lnSpc>
                <a:spcPts val="3836"/>
              </a:lnSpc>
            </a:pPr>
            <a:endParaRPr lang="en-US" sz="3196">
              <a:solidFill>
                <a:srgbClr val="000000"/>
              </a:solidFill>
              <a:latin typeface="Cambria"/>
              <a:ea typeface="Cambria"/>
              <a:cs typeface="Cambria"/>
              <a:sym typeface="Cambria"/>
            </a:endParaRPr>
          </a:p>
        </p:txBody>
      </p:sp>
      <p:sp>
        <p:nvSpPr>
          <p:cNvPr id="13" name="TextBox 13"/>
          <p:cNvSpPr txBox="1"/>
          <p:nvPr/>
        </p:nvSpPr>
        <p:spPr>
          <a:xfrm>
            <a:off x="855378" y="5892947"/>
            <a:ext cx="13349582" cy="784225"/>
          </a:xfrm>
          <a:prstGeom prst="rect">
            <a:avLst/>
          </a:prstGeom>
        </p:spPr>
        <p:txBody>
          <a:bodyPr lIns="0" tIns="0" rIns="0" bIns="0" rtlCol="0" anchor="t">
            <a:spAutoFit/>
          </a:bodyPr>
          <a:lstStyle/>
          <a:p>
            <a:pPr marL="0" lvl="0" indent="0" algn="l">
              <a:lnSpc>
                <a:spcPts val="6049"/>
              </a:lnSpc>
              <a:spcBef>
                <a:spcPct val="0"/>
              </a:spcBef>
            </a:pPr>
            <a:r>
              <a:rPr lang="en-US" sz="5499" b="1">
                <a:solidFill>
                  <a:srgbClr val="06728A"/>
                </a:solidFill>
                <a:latin typeface="Cambria Bold"/>
                <a:ea typeface="Cambria Bold"/>
                <a:cs typeface="Cambria Bold"/>
                <a:sym typeface="Cambria Bold"/>
              </a:rPr>
              <a:t>RESEARCH GAP</a:t>
            </a:r>
          </a:p>
        </p:txBody>
      </p:sp>
      <p:sp>
        <p:nvSpPr>
          <p:cNvPr id="14" name="TextBox 14"/>
          <p:cNvSpPr txBox="1"/>
          <p:nvPr/>
        </p:nvSpPr>
        <p:spPr>
          <a:xfrm>
            <a:off x="11620448" y="355596"/>
            <a:ext cx="6363176"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DIFFERENT TYPES OF WATER IDENTIFIER – ML &amp; AI</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900408" y="1316597"/>
            <a:ext cx="13349582" cy="784225"/>
          </a:xfrm>
          <a:prstGeom prst="rect">
            <a:avLst/>
          </a:prstGeom>
        </p:spPr>
        <p:txBody>
          <a:bodyPr lIns="0" tIns="0" rIns="0" bIns="0" rtlCol="0" anchor="t">
            <a:spAutoFit/>
          </a:bodyPr>
          <a:lstStyle/>
          <a:p>
            <a:pPr marL="0" lvl="0" indent="0" algn="l">
              <a:lnSpc>
                <a:spcPts val="6049"/>
              </a:lnSpc>
              <a:spcBef>
                <a:spcPct val="0"/>
              </a:spcBef>
            </a:pPr>
            <a:r>
              <a:rPr lang="en-US" sz="5499" b="1" dirty="0">
                <a:solidFill>
                  <a:srgbClr val="06728A"/>
                </a:solidFill>
                <a:latin typeface="Cambria Bold"/>
                <a:ea typeface="Cambria Bold"/>
                <a:cs typeface="Cambria Bold"/>
                <a:sym typeface="Cambria Bold"/>
              </a:rPr>
              <a:t>MAIN OBJECTIVE</a:t>
            </a:r>
          </a:p>
        </p:txBody>
      </p:sp>
      <p:sp>
        <p:nvSpPr>
          <p:cNvPr id="5" name="TextBox 5"/>
          <p:cNvSpPr txBox="1"/>
          <p:nvPr/>
        </p:nvSpPr>
        <p:spPr>
          <a:xfrm>
            <a:off x="1007364" y="2463056"/>
            <a:ext cx="14573791" cy="1074874"/>
          </a:xfrm>
          <a:prstGeom prst="rect">
            <a:avLst/>
          </a:prstGeom>
        </p:spPr>
        <p:txBody>
          <a:bodyPr lIns="0" tIns="0" rIns="0" bIns="0" rtlCol="0" anchor="t">
            <a:spAutoFit/>
          </a:bodyPr>
          <a:lstStyle/>
          <a:p>
            <a:pPr algn="just">
              <a:lnSpc>
                <a:spcPts val="4279"/>
              </a:lnSpc>
            </a:pPr>
            <a:r>
              <a:rPr lang="en-US" sz="3057" b="1" dirty="0">
                <a:solidFill>
                  <a:srgbClr val="1B3957"/>
                </a:solidFill>
                <a:latin typeface="Cambria Bold"/>
                <a:ea typeface="Cambria Bold"/>
                <a:cs typeface="Cambria Bold"/>
                <a:sym typeface="Cambria Bold"/>
              </a:rPr>
              <a:t>Develop an AI-based intelligent system capable of automatically identifying different water types using multi-sensor data and machine learning algorithms.</a:t>
            </a: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9" name="TextBox 9"/>
          <p:cNvSpPr txBox="1"/>
          <p:nvPr/>
        </p:nvSpPr>
        <p:spPr>
          <a:xfrm>
            <a:off x="1028700" y="4086459"/>
            <a:ext cx="13349582" cy="784225"/>
          </a:xfrm>
          <a:prstGeom prst="rect">
            <a:avLst/>
          </a:prstGeom>
        </p:spPr>
        <p:txBody>
          <a:bodyPr lIns="0" tIns="0" rIns="0" bIns="0" rtlCol="0" anchor="t">
            <a:spAutoFit/>
          </a:bodyPr>
          <a:lstStyle/>
          <a:p>
            <a:pPr marL="0" lvl="0" indent="0" algn="l">
              <a:lnSpc>
                <a:spcPts val="6049"/>
              </a:lnSpc>
              <a:spcBef>
                <a:spcPct val="0"/>
              </a:spcBef>
            </a:pPr>
            <a:r>
              <a:rPr lang="en-US" sz="5499" b="1">
                <a:solidFill>
                  <a:srgbClr val="06728A"/>
                </a:solidFill>
                <a:latin typeface="Cambria Bold"/>
                <a:ea typeface="Cambria Bold"/>
                <a:cs typeface="Cambria Bold"/>
                <a:sym typeface="Cambria Bold"/>
              </a:rPr>
              <a:t>SUB OBJECTIVES</a:t>
            </a:r>
          </a:p>
        </p:txBody>
      </p:sp>
      <p:sp>
        <p:nvSpPr>
          <p:cNvPr id="10" name="TextBox 10"/>
          <p:cNvSpPr txBox="1"/>
          <p:nvPr/>
        </p:nvSpPr>
        <p:spPr>
          <a:xfrm>
            <a:off x="889185" y="5362812"/>
            <a:ext cx="14983537" cy="3330806"/>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1B3957"/>
                </a:solidFill>
                <a:latin typeface="Cambria"/>
                <a:ea typeface="Cambria"/>
                <a:cs typeface="Cambria"/>
                <a:sym typeface="Cambria"/>
              </a:rPr>
              <a:t>Design a multi-sensor data acquisition system using water quality sensors.</a:t>
            </a:r>
          </a:p>
          <a:p>
            <a:pPr marL="690881" lvl="1" indent="-345440" algn="l">
              <a:lnSpc>
                <a:spcPts val="4480"/>
              </a:lnSpc>
              <a:buFont typeface="Arial"/>
              <a:buChar char="•"/>
            </a:pPr>
            <a:r>
              <a:rPr lang="en-US" sz="3200">
                <a:solidFill>
                  <a:srgbClr val="1B3957"/>
                </a:solidFill>
                <a:latin typeface="Cambria"/>
                <a:ea typeface="Cambria"/>
                <a:cs typeface="Cambria"/>
                <a:sym typeface="Cambria"/>
              </a:rPr>
              <a:t>Create a dataset of different water types using sensor readings.</a:t>
            </a:r>
          </a:p>
          <a:p>
            <a:pPr marL="690881" lvl="1" indent="-345440" algn="l">
              <a:lnSpc>
                <a:spcPts val="4480"/>
              </a:lnSpc>
              <a:buFont typeface="Arial"/>
              <a:buChar char="•"/>
            </a:pPr>
            <a:r>
              <a:rPr lang="en-US" sz="3200">
                <a:solidFill>
                  <a:srgbClr val="1B3957"/>
                </a:solidFill>
                <a:latin typeface="Cambria"/>
                <a:ea typeface="Cambria"/>
                <a:cs typeface="Cambria"/>
                <a:sym typeface="Cambria"/>
              </a:rPr>
              <a:t>Train machine learning models to classify water types.</a:t>
            </a:r>
          </a:p>
          <a:p>
            <a:pPr marL="690881" lvl="1" indent="-345440" algn="l">
              <a:lnSpc>
                <a:spcPts val="4480"/>
              </a:lnSpc>
              <a:buFont typeface="Arial"/>
              <a:buChar char="•"/>
            </a:pPr>
            <a:r>
              <a:rPr lang="en-US" sz="3200">
                <a:solidFill>
                  <a:srgbClr val="1B3957"/>
                </a:solidFill>
                <a:latin typeface="Cambria"/>
                <a:ea typeface="Cambria"/>
                <a:cs typeface="Cambria"/>
                <a:sym typeface="Cambria"/>
              </a:rPr>
              <a:t>Integrate the trained ML model with real-time sensor data.</a:t>
            </a:r>
          </a:p>
          <a:p>
            <a:pPr marL="690881" lvl="1" indent="-345440" algn="l">
              <a:lnSpc>
                <a:spcPts val="4480"/>
              </a:lnSpc>
              <a:buFont typeface="Arial"/>
              <a:buChar char="•"/>
            </a:pPr>
            <a:r>
              <a:rPr lang="en-US" sz="3200">
                <a:solidFill>
                  <a:srgbClr val="1B3957"/>
                </a:solidFill>
                <a:latin typeface="Cambria"/>
                <a:ea typeface="Cambria"/>
                <a:cs typeface="Cambria"/>
                <a:sym typeface="Cambria"/>
              </a:rPr>
              <a:t>Provide a user interface for monitoring and visualization.</a:t>
            </a:r>
          </a:p>
          <a:p>
            <a:pPr algn="just">
              <a:lnSpc>
                <a:spcPts val="4244"/>
              </a:lnSpc>
            </a:pPr>
            <a:endParaRPr lang="en-US" sz="3200">
              <a:solidFill>
                <a:srgbClr val="1B3957"/>
              </a:solidFill>
              <a:latin typeface="Cambria"/>
              <a:ea typeface="Cambria"/>
              <a:cs typeface="Cambria"/>
              <a:sym typeface="Cambria"/>
            </a:endParaRPr>
          </a:p>
        </p:txBody>
      </p:sp>
      <p:grpSp>
        <p:nvGrpSpPr>
          <p:cNvPr id="11" name="Group 11"/>
          <p:cNvGrpSpPr/>
          <p:nvPr/>
        </p:nvGrpSpPr>
        <p:grpSpPr>
          <a:xfrm>
            <a:off x="4781846" y="8768302"/>
            <a:ext cx="10224545" cy="1980251"/>
            <a:chOff x="0" y="0"/>
            <a:chExt cx="13632726" cy="2640335"/>
          </a:xfrm>
        </p:grpSpPr>
        <p:sp>
          <p:nvSpPr>
            <p:cNvPr id="12" name="Freeform 12"/>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3" name="TextBox 13"/>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4" name="TextBox 14"/>
          <p:cNvSpPr txBox="1"/>
          <p:nvPr/>
        </p:nvSpPr>
        <p:spPr>
          <a:xfrm>
            <a:off x="11620448" y="355596"/>
            <a:ext cx="6363176"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DIFFERENT TYPES OF WATER IDENTIFIER – ML &amp; AI</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2107168" y="439342"/>
            <a:ext cx="13349582" cy="784225"/>
          </a:xfrm>
          <a:prstGeom prst="rect">
            <a:avLst/>
          </a:prstGeom>
        </p:spPr>
        <p:txBody>
          <a:bodyPr lIns="0" tIns="0" rIns="0" bIns="0" rtlCol="0" anchor="t">
            <a:spAutoFit/>
          </a:bodyPr>
          <a:lstStyle/>
          <a:p>
            <a:pPr marL="0" lvl="0" indent="0" algn="ctr">
              <a:lnSpc>
                <a:spcPts val="6049"/>
              </a:lnSpc>
              <a:spcBef>
                <a:spcPct val="0"/>
              </a:spcBef>
            </a:pPr>
            <a:r>
              <a:rPr lang="en-US" sz="5499" b="1" dirty="0">
                <a:solidFill>
                  <a:srgbClr val="06728A"/>
                </a:solidFill>
                <a:latin typeface="Cambria Bold"/>
                <a:ea typeface="Cambria Bold"/>
                <a:cs typeface="Cambria Bold"/>
                <a:sym typeface="Cambria Bold"/>
              </a:rPr>
              <a:t>METHODOLOGY</a:t>
            </a:r>
          </a:p>
        </p:txBody>
      </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7" name="TextBox 7"/>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8" name="TextBox 8"/>
          <p:cNvSpPr txBox="1"/>
          <p:nvPr/>
        </p:nvSpPr>
        <p:spPr>
          <a:xfrm>
            <a:off x="1009065" y="3344456"/>
            <a:ext cx="13349582" cy="44767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Cambria Bold"/>
                <a:ea typeface="Cambria Bold"/>
                <a:cs typeface="Cambria Bold"/>
                <a:sym typeface="Cambria Bold"/>
              </a:rPr>
              <a:t>Latest Technologies </a:t>
            </a:r>
          </a:p>
        </p:txBody>
      </p:sp>
      <p:sp>
        <p:nvSpPr>
          <p:cNvPr id="9" name="TextBox 9"/>
          <p:cNvSpPr txBox="1"/>
          <p:nvPr/>
        </p:nvSpPr>
        <p:spPr>
          <a:xfrm>
            <a:off x="951915" y="3806530"/>
            <a:ext cx="15660089" cy="1599234"/>
          </a:xfrm>
          <a:prstGeom prst="rect">
            <a:avLst/>
          </a:prstGeom>
        </p:spPr>
        <p:txBody>
          <a:bodyPr lIns="0" tIns="0" rIns="0" bIns="0" rtlCol="0" anchor="t">
            <a:spAutoFit/>
          </a:bodyPr>
          <a:lstStyle/>
          <a:p>
            <a:pPr marL="655908" lvl="1" indent="-327954" algn="l">
              <a:lnSpc>
                <a:spcPts val="4253"/>
              </a:lnSpc>
              <a:buFont typeface="Arial"/>
              <a:buChar char="•"/>
            </a:pPr>
            <a:r>
              <a:rPr lang="en-US" sz="3038" b="1">
                <a:solidFill>
                  <a:srgbClr val="1B3957"/>
                </a:solidFill>
                <a:latin typeface="Cambria Bold"/>
                <a:ea typeface="Cambria Bold"/>
                <a:cs typeface="Cambria Bold"/>
                <a:sym typeface="Cambria Bold"/>
              </a:rPr>
              <a:t>Hardware:  ESP32 Microcontroller, pH Sensor,TDS Sensor,Turbidity Sensor</a:t>
            </a:r>
          </a:p>
          <a:p>
            <a:pPr marL="655908" lvl="1" indent="-327954" algn="l">
              <a:lnSpc>
                <a:spcPts val="4253"/>
              </a:lnSpc>
              <a:buFont typeface="Arial"/>
              <a:buChar char="•"/>
            </a:pPr>
            <a:r>
              <a:rPr lang="en-US" sz="3038" b="1">
                <a:solidFill>
                  <a:srgbClr val="1B3957"/>
                </a:solidFill>
                <a:latin typeface="Cambria Bold"/>
                <a:ea typeface="Cambria Bold"/>
                <a:cs typeface="Cambria Bold"/>
                <a:sym typeface="Cambria Bold"/>
              </a:rPr>
              <a:t>Software:   Python, Pandas, NumPy</a:t>
            </a:r>
          </a:p>
          <a:p>
            <a:pPr algn="l">
              <a:lnSpc>
                <a:spcPts val="4253"/>
              </a:lnSpc>
            </a:pPr>
            <a:endParaRPr lang="en-US" sz="3038" b="1">
              <a:solidFill>
                <a:srgbClr val="1B3957"/>
              </a:solidFill>
              <a:latin typeface="Cambria Bold"/>
              <a:ea typeface="Cambria Bold"/>
              <a:cs typeface="Cambria Bold"/>
              <a:sym typeface="Cambria Bold"/>
            </a:endParaRPr>
          </a:p>
        </p:txBody>
      </p:sp>
      <p:sp>
        <p:nvSpPr>
          <p:cNvPr id="10" name="TextBox 10"/>
          <p:cNvSpPr txBox="1"/>
          <p:nvPr/>
        </p:nvSpPr>
        <p:spPr>
          <a:xfrm>
            <a:off x="951915" y="5067514"/>
            <a:ext cx="13349582" cy="44767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Cambria Bold"/>
                <a:ea typeface="Cambria Bold"/>
                <a:cs typeface="Cambria Bold"/>
                <a:sym typeface="Cambria Bold"/>
              </a:rPr>
              <a:t>Validation &amp; Evaluation </a:t>
            </a:r>
          </a:p>
        </p:txBody>
      </p:sp>
      <p:sp>
        <p:nvSpPr>
          <p:cNvPr id="11" name="TextBox 11"/>
          <p:cNvSpPr txBox="1"/>
          <p:nvPr/>
        </p:nvSpPr>
        <p:spPr>
          <a:xfrm>
            <a:off x="951915" y="5658065"/>
            <a:ext cx="14990778" cy="1065834"/>
          </a:xfrm>
          <a:prstGeom prst="rect">
            <a:avLst/>
          </a:prstGeom>
        </p:spPr>
        <p:txBody>
          <a:bodyPr lIns="0" tIns="0" rIns="0" bIns="0" rtlCol="0" anchor="t">
            <a:spAutoFit/>
          </a:bodyPr>
          <a:lstStyle/>
          <a:p>
            <a:pPr marL="655908" lvl="1" indent="-327954" algn="l">
              <a:lnSpc>
                <a:spcPts val="4253"/>
              </a:lnSpc>
              <a:buFont typeface="Arial"/>
              <a:buChar char="•"/>
            </a:pPr>
            <a:r>
              <a:rPr lang="en-US" sz="3038" b="1">
                <a:solidFill>
                  <a:srgbClr val="1B3957"/>
                </a:solidFill>
                <a:latin typeface="Cambria Bold"/>
                <a:ea typeface="Cambria Bold"/>
                <a:cs typeface="Cambria Bold"/>
                <a:sym typeface="Cambria Bold"/>
              </a:rPr>
              <a:t>Model Evaluation :Dataset Split ,Training – 70% , Validation – 15% , Testing – 15% ,Evaluation Metrics , Accuracy , Precision</a:t>
            </a:r>
          </a:p>
        </p:txBody>
      </p:sp>
      <p:sp>
        <p:nvSpPr>
          <p:cNvPr id="12" name="TextBox 12"/>
          <p:cNvSpPr txBox="1"/>
          <p:nvPr/>
        </p:nvSpPr>
        <p:spPr>
          <a:xfrm>
            <a:off x="1058279" y="6895350"/>
            <a:ext cx="13349582" cy="44767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Cambria Bold"/>
                <a:ea typeface="Cambria Bold"/>
                <a:cs typeface="Cambria Bold"/>
                <a:sym typeface="Cambria Bold"/>
              </a:rPr>
              <a:t>Data Availability</a:t>
            </a:r>
          </a:p>
        </p:txBody>
      </p:sp>
      <p:sp>
        <p:nvSpPr>
          <p:cNvPr id="13" name="TextBox 13"/>
          <p:cNvSpPr txBox="1"/>
          <p:nvPr/>
        </p:nvSpPr>
        <p:spPr>
          <a:xfrm>
            <a:off x="951915" y="7266828"/>
            <a:ext cx="14759370" cy="2132634"/>
          </a:xfrm>
          <a:prstGeom prst="rect">
            <a:avLst/>
          </a:prstGeom>
        </p:spPr>
        <p:txBody>
          <a:bodyPr lIns="0" tIns="0" rIns="0" bIns="0" rtlCol="0" anchor="t">
            <a:spAutoFit/>
          </a:bodyPr>
          <a:lstStyle/>
          <a:p>
            <a:pPr marL="655908" lvl="1" indent="-327954" algn="l">
              <a:lnSpc>
                <a:spcPts val="4253"/>
              </a:lnSpc>
              <a:buFont typeface="Arial"/>
              <a:buChar char="•"/>
            </a:pPr>
            <a:r>
              <a:rPr lang="en-US" sz="3038">
                <a:solidFill>
                  <a:srgbClr val="1B3957"/>
                </a:solidFill>
                <a:latin typeface="Cambria"/>
                <a:ea typeface="Cambria"/>
                <a:cs typeface="Cambria"/>
                <a:sym typeface="Cambria"/>
              </a:rPr>
              <a:t> Dataset generated from controlled water samples</a:t>
            </a:r>
          </a:p>
          <a:p>
            <a:pPr marL="655908" lvl="1" indent="-327954" algn="l">
              <a:lnSpc>
                <a:spcPts val="4253"/>
              </a:lnSpc>
              <a:buFont typeface="Arial"/>
              <a:buChar char="•"/>
            </a:pPr>
            <a:r>
              <a:rPr lang="en-US" sz="3038">
                <a:solidFill>
                  <a:srgbClr val="1B3957"/>
                </a:solidFill>
                <a:latin typeface="Cambria"/>
                <a:ea typeface="Cambria"/>
                <a:cs typeface="Cambria"/>
                <a:sym typeface="Cambria"/>
              </a:rPr>
              <a:t> No personal or sensitive data involved</a:t>
            </a:r>
          </a:p>
          <a:p>
            <a:pPr marL="655908" lvl="1" indent="-327954" algn="l">
              <a:lnSpc>
                <a:spcPts val="4253"/>
              </a:lnSpc>
              <a:buFont typeface="Arial"/>
              <a:buChar char="•"/>
            </a:pPr>
            <a:r>
              <a:rPr lang="en-US" sz="3038">
                <a:solidFill>
                  <a:srgbClr val="1B3957"/>
                </a:solidFill>
                <a:latin typeface="Cambria"/>
                <a:ea typeface="Cambria"/>
                <a:cs typeface="Cambria"/>
                <a:sym typeface="Cambria"/>
              </a:rPr>
              <a:t> Data used only for research purposes</a:t>
            </a:r>
          </a:p>
          <a:p>
            <a:pPr marL="655908" lvl="1" indent="-327954" algn="l">
              <a:lnSpc>
                <a:spcPts val="4253"/>
              </a:lnSpc>
              <a:buFont typeface="Arial"/>
              <a:buChar char="•"/>
            </a:pPr>
            <a:r>
              <a:rPr lang="en-US" sz="3038">
                <a:solidFill>
                  <a:srgbClr val="1B3957"/>
                </a:solidFill>
                <a:latin typeface="Cambria"/>
                <a:ea typeface="Cambria"/>
                <a:cs typeface="Cambria"/>
                <a:sym typeface="Cambria"/>
              </a:rPr>
              <a:t> Research conducted according to academic ethical guidelines</a:t>
            </a:r>
          </a:p>
        </p:txBody>
      </p:sp>
      <p:grpSp>
        <p:nvGrpSpPr>
          <p:cNvPr id="14" name="Group 14"/>
          <p:cNvGrpSpPr/>
          <p:nvPr/>
        </p:nvGrpSpPr>
        <p:grpSpPr>
          <a:xfrm>
            <a:off x="4781846" y="8768302"/>
            <a:ext cx="10224545" cy="1980251"/>
            <a:chOff x="0" y="0"/>
            <a:chExt cx="13632726" cy="2640335"/>
          </a:xfrm>
        </p:grpSpPr>
        <p:sp>
          <p:nvSpPr>
            <p:cNvPr id="15" name="Freeform 15"/>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6" name="TextBox 16"/>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7" name="TextBox 17"/>
          <p:cNvSpPr txBox="1"/>
          <p:nvPr/>
        </p:nvSpPr>
        <p:spPr>
          <a:xfrm>
            <a:off x="11620448" y="355596"/>
            <a:ext cx="6363176"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DIFFERENT TYPES OF WATER IDENTIFIER – ML &amp; AI</a:t>
            </a:r>
          </a:p>
        </p:txBody>
      </p:sp>
      <p:sp>
        <p:nvSpPr>
          <p:cNvPr id="18" name="TextBox 18"/>
          <p:cNvSpPr txBox="1"/>
          <p:nvPr/>
        </p:nvSpPr>
        <p:spPr>
          <a:xfrm>
            <a:off x="1028700" y="979859"/>
            <a:ext cx="13349582" cy="447678"/>
          </a:xfrm>
          <a:prstGeom prst="rect">
            <a:avLst/>
          </a:prstGeom>
        </p:spPr>
        <p:txBody>
          <a:bodyPr lIns="0" tIns="0" rIns="0" bIns="0" rtlCol="0" anchor="t">
            <a:spAutoFit/>
          </a:bodyPr>
          <a:lstStyle/>
          <a:p>
            <a:pPr marL="0" lvl="0" indent="0" algn="l">
              <a:lnSpc>
                <a:spcPts val="3300"/>
              </a:lnSpc>
              <a:spcBef>
                <a:spcPct val="0"/>
              </a:spcBef>
            </a:pPr>
            <a:r>
              <a:rPr lang="en-US" sz="3000" b="1">
                <a:solidFill>
                  <a:srgbClr val="06728A"/>
                </a:solidFill>
                <a:latin typeface="Cambria Bold"/>
                <a:ea typeface="Cambria Bold"/>
                <a:cs typeface="Cambria Bold"/>
                <a:sym typeface="Cambria Bold"/>
              </a:rPr>
              <a:t>Domains</a:t>
            </a:r>
          </a:p>
        </p:txBody>
      </p:sp>
      <p:sp>
        <p:nvSpPr>
          <p:cNvPr id="19" name="TextBox 19"/>
          <p:cNvSpPr txBox="1"/>
          <p:nvPr/>
        </p:nvSpPr>
        <p:spPr>
          <a:xfrm>
            <a:off x="1028700" y="1545197"/>
            <a:ext cx="15660089" cy="1599234"/>
          </a:xfrm>
          <a:prstGeom prst="rect">
            <a:avLst/>
          </a:prstGeom>
        </p:spPr>
        <p:txBody>
          <a:bodyPr lIns="0" tIns="0" rIns="0" bIns="0" rtlCol="0" anchor="t">
            <a:spAutoFit/>
          </a:bodyPr>
          <a:lstStyle/>
          <a:p>
            <a:pPr marL="655908" lvl="1" indent="-327954" algn="l">
              <a:lnSpc>
                <a:spcPts val="4253"/>
              </a:lnSpc>
              <a:buFont typeface="Arial"/>
              <a:buChar char="•"/>
            </a:pPr>
            <a:r>
              <a:rPr lang="en-US" sz="3038" b="1">
                <a:solidFill>
                  <a:srgbClr val="1B3957"/>
                </a:solidFill>
                <a:latin typeface="Cambria Bold"/>
                <a:ea typeface="Cambria Bold"/>
                <a:cs typeface="Cambria Bold"/>
                <a:sym typeface="Cambria Bold"/>
              </a:rPr>
              <a:t>Knowledge Domain : Artificial Intelligence</a:t>
            </a:r>
          </a:p>
          <a:p>
            <a:pPr marL="655908" lvl="1" indent="-327954" algn="l">
              <a:lnSpc>
                <a:spcPts val="4253"/>
              </a:lnSpc>
              <a:buFont typeface="Arial"/>
              <a:buChar char="•"/>
            </a:pPr>
            <a:r>
              <a:rPr lang="en-US" sz="3038" b="1">
                <a:solidFill>
                  <a:srgbClr val="1B3957"/>
                </a:solidFill>
                <a:latin typeface="Cambria Bold"/>
                <a:ea typeface="Cambria Bold"/>
                <a:cs typeface="Cambria Bold"/>
                <a:sym typeface="Cambria Bold"/>
              </a:rPr>
              <a:t>Subdomains :   Machine Learning, Environmental Data Analysis, Sensor-Based Monitoring Systems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2469208" y="1273922"/>
            <a:ext cx="13349582" cy="857252"/>
          </a:xfrm>
          <a:prstGeom prst="rect">
            <a:avLst/>
          </a:prstGeom>
        </p:spPr>
        <p:txBody>
          <a:bodyPr lIns="0" tIns="0" rIns="0" bIns="0" rtlCol="0" anchor="t">
            <a:spAutoFit/>
          </a:bodyPr>
          <a:lstStyle/>
          <a:p>
            <a:pPr marL="0" lvl="0" indent="0" algn="ctr">
              <a:lnSpc>
                <a:spcPts val="6600"/>
              </a:lnSpc>
              <a:spcBef>
                <a:spcPct val="0"/>
              </a:spcBef>
            </a:pPr>
            <a:r>
              <a:rPr lang="en-US" sz="6000" b="1" dirty="0">
                <a:solidFill>
                  <a:srgbClr val="06728A"/>
                </a:solidFill>
                <a:latin typeface="Garet Bold"/>
                <a:ea typeface="Garet Bold"/>
                <a:cs typeface="Garet Bold"/>
                <a:sym typeface="Garet Bold"/>
              </a:rPr>
              <a:t>SYSTEM DIAGRAM</a:t>
            </a:r>
          </a:p>
        </p:txBody>
      </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7" name="TextBox 7"/>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grpSp>
        <p:nvGrpSpPr>
          <p:cNvPr id="8" name="Group 8"/>
          <p:cNvGrpSpPr/>
          <p:nvPr/>
        </p:nvGrpSpPr>
        <p:grpSpPr>
          <a:xfrm>
            <a:off x="4781846" y="8768302"/>
            <a:ext cx="10224545" cy="1980251"/>
            <a:chOff x="0" y="0"/>
            <a:chExt cx="13632726" cy="2640335"/>
          </a:xfrm>
        </p:grpSpPr>
        <p:sp>
          <p:nvSpPr>
            <p:cNvPr id="9" name="Freeform 9"/>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0" name="TextBox 10"/>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2" name="TextBox 12"/>
          <p:cNvSpPr txBox="1"/>
          <p:nvPr/>
        </p:nvSpPr>
        <p:spPr>
          <a:xfrm>
            <a:off x="11620448" y="355596"/>
            <a:ext cx="6363176"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DIFFERENT TYPES OF WATER IDENTIFIER – ML &amp; AI</a:t>
            </a:r>
          </a:p>
        </p:txBody>
      </p:sp>
      <p:pic>
        <p:nvPicPr>
          <p:cNvPr id="14" name="Picture 13">
            <a:extLst>
              <a:ext uri="{FF2B5EF4-FFF2-40B4-BE49-F238E27FC236}">
                <a16:creationId xmlns:a16="http://schemas.microsoft.com/office/drawing/2014/main" id="{0F02D497-5968-E496-F5A9-9BF07BF47D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29677" y="2409172"/>
            <a:ext cx="9828645" cy="643983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202662" y="1361801"/>
            <a:ext cx="13349582" cy="784225"/>
          </a:xfrm>
          <a:prstGeom prst="rect">
            <a:avLst/>
          </a:prstGeom>
        </p:spPr>
        <p:txBody>
          <a:bodyPr lIns="0" tIns="0" rIns="0" bIns="0" rtlCol="0" anchor="t">
            <a:spAutoFit/>
          </a:bodyPr>
          <a:lstStyle/>
          <a:p>
            <a:pPr marL="0" lvl="0" indent="0" algn="l">
              <a:lnSpc>
                <a:spcPts val="6049"/>
              </a:lnSpc>
              <a:spcBef>
                <a:spcPct val="0"/>
              </a:spcBef>
            </a:pPr>
            <a:r>
              <a:rPr lang="en-US" sz="5499" b="1" dirty="0">
                <a:solidFill>
                  <a:srgbClr val="06728A"/>
                </a:solidFill>
                <a:latin typeface="Cambria Bold"/>
                <a:ea typeface="Cambria Bold"/>
                <a:cs typeface="Cambria Bold"/>
                <a:sym typeface="Cambria Bold"/>
              </a:rPr>
              <a:t>DEPENDENCIES</a:t>
            </a:r>
          </a:p>
        </p:txBody>
      </p:sp>
      <p:sp>
        <p:nvSpPr>
          <p:cNvPr id="5" name="TextBox 5"/>
          <p:cNvSpPr txBox="1"/>
          <p:nvPr/>
        </p:nvSpPr>
        <p:spPr>
          <a:xfrm>
            <a:off x="1501950" y="2131548"/>
            <a:ext cx="11629045" cy="3988656"/>
          </a:xfrm>
          <a:prstGeom prst="rect">
            <a:avLst/>
          </a:prstGeom>
        </p:spPr>
        <p:txBody>
          <a:bodyPr lIns="0" tIns="0" rIns="0" bIns="0" rtlCol="0" anchor="t">
            <a:spAutoFit/>
          </a:bodyPr>
          <a:lstStyle/>
          <a:p>
            <a:pPr algn="just">
              <a:lnSpc>
                <a:spcPts val="4480"/>
              </a:lnSpc>
            </a:pPr>
            <a:r>
              <a:rPr lang="en-US" sz="3200" b="1" dirty="0">
                <a:solidFill>
                  <a:srgbClr val="1B3957"/>
                </a:solidFill>
                <a:latin typeface="Cambria Bold"/>
                <a:ea typeface="Cambria Bold"/>
                <a:cs typeface="Cambria Bold"/>
                <a:sym typeface="Cambria Bold"/>
              </a:rPr>
              <a:t>Hardware Dependencies</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Water quality sensor modules</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ESP32 microcontroller</a:t>
            </a:r>
          </a:p>
          <a:p>
            <a:pPr algn="just">
              <a:lnSpc>
                <a:spcPts val="4480"/>
              </a:lnSpc>
            </a:pPr>
            <a:r>
              <a:rPr lang="en-US" sz="3200" b="1" dirty="0">
                <a:solidFill>
                  <a:srgbClr val="1B3957"/>
                </a:solidFill>
                <a:latin typeface="Cambria Bold"/>
                <a:ea typeface="Cambria Bold"/>
                <a:cs typeface="Cambria Bold"/>
                <a:sym typeface="Cambria Bold"/>
              </a:rPr>
              <a:t>Software Dependencies</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Data preprocessing module</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 Machine learning classification model</a:t>
            </a:r>
          </a:p>
          <a:p>
            <a:pPr marL="690881" lvl="1" indent="-345440" algn="l">
              <a:lnSpc>
                <a:spcPts val="4480"/>
              </a:lnSpc>
              <a:buFont typeface="Arial"/>
              <a:buChar char="•"/>
            </a:pPr>
            <a:r>
              <a:rPr lang="en-US" sz="3200" dirty="0">
                <a:solidFill>
                  <a:srgbClr val="1B3957"/>
                </a:solidFill>
                <a:latin typeface="Cambria"/>
                <a:ea typeface="Cambria"/>
                <a:cs typeface="Cambria"/>
                <a:sym typeface="Cambria"/>
              </a:rPr>
              <a:t> Visualization dashboard</a:t>
            </a: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grpSp>
        <p:nvGrpSpPr>
          <p:cNvPr id="9" name="Group 9"/>
          <p:cNvGrpSpPr/>
          <p:nvPr/>
        </p:nvGrpSpPr>
        <p:grpSpPr>
          <a:xfrm>
            <a:off x="4781846" y="8768302"/>
            <a:ext cx="10224545" cy="1980251"/>
            <a:chOff x="0" y="0"/>
            <a:chExt cx="13632726" cy="2640335"/>
          </a:xfrm>
        </p:grpSpPr>
        <p:sp>
          <p:nvSpPr>
            <p:cNvPr id="10" name="Freeform 10"/>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1" name="TextBox 11"/>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2" name="TextBox 12"/>
          <p:cNvSpPr txBox="1"/>
          <p:nvPr/>
        </p:nvSpPr>
        <p:spPr>
          <a:xfrm>
            <a:off x="1501950" y="6613761"/>
            <a:ext cx="9839809" cy="2795270"/>
          </a:xfrm>
          <a:prstGeom prst="rect">
            <a:avLst/>
          </a:prstGeom>
        </p:spPr>
        <p:txBody>
          <a:bodyPr lIns="0" tIns="0" rIns="0" bIns="0" rtlCol="0" anchor="t">
            <a:spAutoFit/>
          </a:bodyPr>
          <a:lstStyle/>
          <a:p>
            <a:pPr algn="just">
              <a:lnSpc>
                <a:spcPts val="4480"/>
              </a:lnSpc>
            </a:pPr>
            <a:endParaRPr/>
          </a:p>
          <a:p>
            <a:pPr marL="690881" lvl="1" indent="-345440" algn="just">
              <a:lnSpc>
                <a:spcPts val="4480"/>
              </a:lnSpc>
              <a:buFont typeface="Arial"/>
              <a:buChar char="•"/>
            </a:pPr>
            <a:r>
              <a:rPr lang="en-US" sz="3200">
                <a:solidFill>
                  <a:srgbClr val="1B3957"/>
                </a:solidFill>
                <a:latin typeface="Cambria"/>
                <a:ea typeface="Cambria"/>
                <a:cs typeface="Cambria"/>
                <a:sym typeface="Cambria"/>
              </a:rPr>
              <a:t>Sensor data acquisition system</a:t>
            </a:r>
          </a:p>
          <a:p>
            <a:pPr marL="690881" lvl="1" indent="-345440" algn="just">
              <a:lnSpc>
                <a:spcPts val="4480"/>
              </a:lnSpc>
              <a:buFont typeface="Arial"/>
              <a:buChar char="•"/>
            </a:pPr>
            <a:r>
              <a:rPr lang="en-US" sz="3200">
                <a:solidFill>
                  <a:srgbClr val="1B3957"/>
                </a:solidFill>
                <a:latin typeface="Cambria"/>
                <a:ea typeface="Cambria"/>
                <a:cs typeface="Cambria"/>
                <a:sym typeface="Cambria"/>
              </a:rPr>
              <a:t> Dataset generation module</a:t>
            </a:r>
          </a:p>
          <a:p>
            <a:pPr marL="690881" lvl="1" indent="-345440" algn="just">
              <a:lnSpc>
                <a:spcPts val="4480"/>
              </a:lnSpc>
              <a:buFont typeface="Arial"/>
              <a:buChar char="•"/>
            </a:pPr>
            <a:r>
              <a:rPr lang="en-US" sz="3200">
                <a:solidFill>
                  <a:srgbClr val="1B3957"/>
                </a:solidFill>
                <a:latin typeface="Cambria"/>
                <a:ea typeface="Cambria"/>
                <a:cs typeface="Cambria"/>
                <a:sym typeface="Cambria"/>
              </a:rPr>
              <a:t> User interface dashboard</a:t>
            </a:r>
          </a:p>
          <a:p>
            <a:pPr algn="just">
              <a:lnSpc>
                <a:spcPts val="4480"/>
              </a:lnSpc>
            </a:pPr>
            <a:endParaRPr lang="en-US" sz="3200">
              <a:solidFill>
                <a:srgbClr val="1B3957"/>
              </a:solidFill>
              <a:latin typeface="Cambria"/>
              <a:ea typeface="Cambria"/>
              <a:cs typeface="Cambria"/>
              <a:sym typeface="Cambria"/>
            </a:endParaRPr>
          </a:p>
        </p:txBody>
      </p:sp>
      <p:sp>
        <p:nvSpPr>
          <p:cNvPr id="13" name="TextBox 13"/>
          <p:cNvSpPr txBox="1"/>
          <p:nvPr/>
        </p:nvSpPr>
        <p:spPr>
          <a:xfrm>
            <a:off x="1202662" y="6338635"/>
            <a:ext cx="13349582" cy="784225"/>
          </a:xfrm>
          <a:prstGeom prst="rect">
            <a:avLst/>
          </a:prstGeom>
        </p:spPr>
        <p:txBody>
          <a:bodyPr lIns="0" tIns="0" rIns="0" bIns="0" rtlCol="0" anchor="t">
            <a:spAutoFit/>
          </a:bodyPr>
          <a:lstStyle/>
          <a:p>
            <a:pPr marL="0" lvl="0" indent="0" algn="l">
              <a:lnSpc>
                <a:spcPts val="6049"/>
              </a:lnSpc>
              <a:spcBef>
                <a:spcPct val="0"/>
              </a:spcBef>
            </a:pPr>
            <a:r>
              <a:rPr lang="en-US" sz="5499" b="1" dirty="0">
                <a:solidFill>
                  <a:srgbClr val="06728A"/>
                </a:solidFill>
                <a:latin typeface="Cambria Bold"/>
                <a:ea typeface="Cambria Bold"/>
                <a:cs typeface="Cambria Bold"/>
                <a:sym typeface="Cambria Bold"/>
              </a:rPr>
              <a:t>COMMON COMPONENTS</a:t>
            </a:r>
          </a:p>
        </p:txBody>
      </p:sp>
      <p:sp>
        <p:nvSpPr>
          <p:cNvPr id="14" name="TextBox 14"/>
          <p:cNvSpPr txBox="1"/>
          <p:nvPr/>
        </p:nvSpPr>
        <p:spPr>
          <a:xfrm>
            <a:off x="11620448" y="355596"/>
            <a:ext cx="6363176"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DIFFERENT TYPES OF WATER IDENTIFIER – ML &amp; AI</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1280114" y="1320369"/>
            <a:ext cx="13349582" cy="784225"/>
          </a:xfrm>
          <a:prstGeom prst="rect">
            <a:avLst/>
          </a:prstGeom>
        </p:spPr>
        <p:txBody>
          <a:bodyPr lIns="0" tIns="0" rIns="0" bIns="0" rtlCol="0" anchor="t">
            <a:spAutoFit/>
          </a:bodyPr>
          <a:lstStyle/>
          <a:p>
            <a:pPr marL="0" lvl="0" indent="0" algn="l">
              <a:lnSpc>
                <a:spcPts val="6049"/>
              </a:lnSpc>
              <a:spcBef>
                <a:spcPct val="0"/>
              </a:spcBef>
            </a:pPr>
            <a:r>
              <a:rPr lang="en-US" sz="5499" b="1" dirty="0">
                <a:solidFill>
                  <a:srgbClr val="06728A"/>
                </a:solidFill>
                <a:latin typeface="Cambria Bold"/>
                <a:ea typeface="Cambria Bold"/>
                <a:cs typeface="Cambria Bold"/>
                <a:sym typeface="Cambria Bold"/>
              </a:rPr>
              <a:t>FUNCTIONAL REQUIREMENTS</a:t>
            </a:r>
          </a:p>
        </p:txBody>
      </p:sp>
      <p:sp>
        <p:nvSpPr>
          <p:cNvPr id="5" name="TextBox 5"/>
          <p:cNvSpPr txBox="1"/>
          <p:nvPr/>
        </p:nvSpPr>
        <p:spPr>
          <a:xfrm>
            <a:off x="1501950" y="2257754"/>
            <a:ext cx="15553586" cy="3357245"/>
          </a:xfrm>
          <a:prstGeom prst="rect">
            <a:avLst/>
          </a:prstGeom>
        </p:spPr>
        <p:txBody>
          <a:bodyPr lIns="0" tIns="0" rIns="0" bIns="0" rtlCol="0" anchor="t">
            <a:spAutoFit/>
          </a:bodyPr>
          <a:lstStyle/>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Collect water quality parameters (pH, turbidity, TDS, conductivity, temperature).</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Preprocess and normalize sensor data for analysis.</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Apply machine learning model to classify water types.</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Display identified water type and sensor readings on a dashboard.</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Store collected data for future analysis and model training.</a:t>
            </a:r>
          </a:p>
          <a:p>
            <a:pPr algn="l">
              <a:lnSpc>
                <a:spcPts val="4480"/>
              </a:lnSpc>
            </a:pPr>
            <a:endParaRPr lang="en-US" sz="3200" dirty="0">
              <a:solidFill>
                <a:srgbClr val="1B3957"/>
              </a:solidFill>
              <a:latin typeface="Cambria"/>
              <a:ea typeface="Cambria"/>
              <a:cs typeface="Cambria"/>
              <a:sym typeface="Cambria"/>
            </a:endParaRP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sp>
        <p:nvSpPr>
          <p:cNvPr id="8" name="TextBox 8"/>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grpSp>
        <p:nvGrpSpPr>
          <p:cNvPr id="9" name="Group 9"/>
          <p:cNvGrpSpPr/>
          <p:nvPr/>
        </p:nvGrpSpPr>
        <p:grpSpPr>
          <a:xfrm>
            <a:off x="4781846" y="8768302"/>
            <a:ext cx="10224545" cy="1980251"/>
            <a:chOff x="0" y="0"/>
            <a:chExt cx="13632726" cy="2640335"/>
          </a:xfrm>
        </p:grpSpPr>
        <p:sp>
          <p:nvSpPr>
            <p:cNvPr id="10" name="Freeform 10"/>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11" name="TextBox 11"/>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12" name="TextBox 12"/>
          <p:cNvSpPr txBox="1"/>
          <p:nvPr/>
        </p:nvSpPr>
        <p:spPr>
          <a:xfrm>
            <a:off x="1501950" y="6123313"/>
            <a:ext cx="14324998" cy="3357245"/>
          </a:xfrm>
          <a:prstGeom prst="rect">
            <a:avLst/>
          </a:prstGeom>
        </p:spPr>
        <p:txBody>
          <a:bodyPr lIns="0" tIns="0" rIns="0" bIns="0" rtlCol="0" anchor="t">
            <a:spAutoFit/>
          </a:bodyPr>
          <a:lstStyle/>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Accuracy: System should provide reliable water type classification.</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Performance: Results should be generated within a few seconds.</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Usability: Dashboard should be simple and easy to understand.</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Reliability: System should process sensor data consistently.</a:t>
            </a:r>
          </a:p>
          <a:p>
            <a:pPr marL="690881" lvl="1" indent="-345440" algn="just">
              <a:lnSpc>
                <a:spcPts val="4480"/>
              </a:lnSpc>
              <a:buFont typeface="Arial"/>
              <a:buChar char="•"/>
            </a:pPr>
            <a:r>
              <a:rPr lang="en-US" sz="3200" dirty="0">
                <a:solidFill>
                  <a:srgbClr val="1B3957"/>
                </a:solidFill>
                <a:latin typeface="Cambria"/>
                <a:ea typeface="Cambria"/>
                <a:cs typeface="Cambria"/>
                <a:sym typeface="Cambria"/>
              </a:rPr>
              <a:t>Scalability: System should support additional sensors in the future.</a:t>
            </a:r>
          </a:p>
          <a:p>
            <a:pPr algn="just">
              <a:lnSpc>
                <a:spcPts val="4480"/>
              </a:lnSpc>
            </a:pPr>
            <a:endParaRPr lang="en-US" sz="3200" dirty="0">
              <a:solidFill>
                <a:srgbClr val="1B3957"/>
              </a:solidFill>
              <a:latin typeface="Cambria"/>
              <a:ea typeface="Cambria"/>
              <a:cs typeface="Cambria"/>
              <a:sym typeface="Cambria"/>
            </a:endParaRPr>
          </a:p>
        </p:txBody>
      </p:sp>
      <p:sp>
        <p:nvSpPr>
          <p:cNvPr id="13" name="TextBox 13"/>
          <p:cNvSpPr txBox="1"/>
          <p:nvPr/>
        </p:nvSpPr>
        <p:spPr>
          <a:xfrm>
            <a:off x="1142662" y="5244107"/>
            <a:ext cx="13349582" cy="784225"/>
          </a:xfrm>
          <a:prstGeom prst="rect">
            <a:avLst/>
          </a:prstGeom>
        </p:spPr>
        <p:txBody>
          <a:bodyPr lIns="0" tIns="0" rIns="0" bIns="0" rtlCol="0" anchor="t">
            <a:spAutoFit/>
          </a:bodyPr>
          <a:lstStyle/>
          <a:p>
            <a:pPr marL="0" lvl="0" indent="0" algn="l">
              <a:lnSpc>
                <a:spcPts val="6049"/>
              </a:lnSpc>
              <a:spcBef>
                <a:spcPct val="0"/>
              </a:spcBef>
            </a:pPr>
            <a:r>
              <a:rPr lang="en-US" sz="5499" b="1" dirty="0">
                <a:solidFill>
                  <a:srgbClr val="06728A"/>
                </a:solidFill>
                <a:latin typeface="Cambria Bold"/>
                <a:ea typeface="Cambria Bold"/>
                <a:cs typeface="Cambria Bold"/>
                <a:sym typeface="Cambria Bold"/>
              </a:rPr>
              <a:t>NON-FUNCTIONAL REQUIREMENTS</a:t>
            </a:r>
          </a:p>
        </p:txBody>
      </p:sp>
      <p:sp>
        <p:nvSpPr>
          <p:cNvPr id="14" name="TextBox 14"/>
          <p:cNvSpPr txBox="1"/>
          <p:nvPr/>
        </p:nvSpPr>
        <p:spPr>
          <a:xfrm>
            <a:off x="11620448" y="355596"/>
            <a:ext cx="6363176"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DIFFERENT TYPES OF WATER IDENTIFIER – ML &amp; AI</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grpSp>
        <p:nvGrpSpPr>
          <p:cNvPr id="4" name="Group 4"/>
          <p:cNvGrpSpPr/>
          <p:nvPr/>
        </p:nvGrpSpPr>
        <p:grpSpPr>
          <a:xfrm>
            <a:off x="0" y="9559957"/>
            <a:ext cx="3771900" cy="735463"/>
            <a:chOff x="0" y="0"/>
            <a:chExt cx="5029200" cy="980618"/>
          </a:xfrm>
        </p:grpSpPr>
        <p:sp>
          <p:nvSpPr>
            <p:cNvPr id="5" name="Freeform 5"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6" name="Group 6"/>
          <p:cNvGrpSpPr/>
          <p:nvPr/>
        </p:nvGrpSpPr>
        <p:grpSpPr>
          <a:xfrm>
            <a:off x="4781846" y="8768302"/>
            <a:ext cx="10224545" cy="1980251"/>
            <a:chOff x="0" y="0"/>
            <a:chExt cx="13632726" cy="2640335"/>
          </a:xfrm>
        </p:grpSpPr>
        <p:sp>
          <p:nvSpPr>
            <p:cNvPr id="7" name="Freeform 7"/>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8" name="TextBox 8"/>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9" name="Freeform 9"/>
          <p:cNvSpPr/>
          <p:nvPr/>
        </p:nvSpPr>
        <p:spPr>
          <a:xfrm>
            <a:off x="4301106" y="2933700"/>
            <a:ext cx="9685788" cy="5678293"/>
          </a:xfrm>
          <a:custGeom>
            <a:avLst/>
            <a:gdLst/>
            <a:ahLst/>
            <a:cxnLst/>
            <a:rect l="l" t="t" r="r" b="b"/>
            <a:pathLst>
              <a:path w="9685788" h="5678293">
                <a:moveTo>
                  <a:pt x="0" y="0"/>
                </a:moveTo>
                <a:lnTo>
                  <a:pt x="9685787" y="0"/>
                </a:lnTo>
                <a:lnTo>
                  <a:pt x="9685787" y="5678293"/>
                </a:lnTo>
                <a:lnTo>
                  <a:pt x="0" y="5678293"/>
                </a:lnTo>
                <a:lnTo>
                  <a:pt x="0" y="0"/>
                </a:lnTo>
                <a:close/>
              </a:path>
            </a:pathLst>
          </a:custGeom>
          <a:blipFill>
            <a:blip r:embed="rId6"/>
            <a:stretch>
              <a:fillRect/>
            </a:stretch>
          </a:blipFill>
        </p:spPr>
        <p:txBody>
          <a:bodyPr/>
          <a:lstStyle/>
          <a:p>
            <a:endParaRPr lang="en-US"/>
          </a:p>
        </p:txBody>
      </p:sp>
      <p:sp>
        <p:nvSpPr>
          <p:cNvPr id="10" name="TextBox 10"/>
          <p:cNvSpPr txBox="1"/>
          <p:nvPr/>
        </p:nvSpPr>
        <p:spPr>
          <a:xfrm>
            <a:off x="1927422" y="1428614"/>
            <a:ext cx="13349582" cy="982982"/>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Garet Bold"/>
                <a:ea typeface="Garet Bold"/>
                <a:cs typeface="Garet Bold"/>
                <a:sym typeface="Garet Bold"/>
              </a:rPr>
              <a:t>GANTT CHART</a:t>
            </a:r>
          </a:p>
        </p:txBody>
      </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2" name="TextBox 12"/>
          <p:cNvSpPr txBox="1"/>
          <p:nvPr/>
        </p:nvSpPr>
        <p:spPr>
          <a:xfrm>
            <a:off x="11620448" y="355596"/>
            <a:ext cx="6363176"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DIFFERENT TYPES OF WATER IDENTIFIER – ML &amp; AI</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grpSp>
        <p:nvGrpSpPr>
          <p:cNvPr id="4" name="Group 4"/>
          <p:cNvGrpSpPr/>
          <p:nvPr/>
        </p:nvGrpSpPr>
        <p:grpSpPr>
          <a:xfrm>
            <a:off x="0" y="9559957"/>
            <a:ext cx="3771900" cy="735463"/>
            <a:chOff x="0" y="0"/>
            <a:chExt cx="5029200" cy="980618"/>
          </a:xfrm>
        </p:grpSpPr>
        <p:sp>
          <p:nvSpPr>
            <p:cNvPr id="5" name="Freeform 5"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6" name="Group 6"/>
          <p:cNvGrpSpPr/>
          <p:nvPr/>
        </p:nvGrpSpPr>
        <p:grpSpPr>
          <a:xfrm>
            <a:off x="4781846" y="8768302"/>
            <a:ext cx="10224545" cy="1980251"/>
            <a:chOff x="0" y="0"/>
            <a:chExt cx="13632726" cy="2640335"/>
          </a:xfrm>
        </p:grpSpPr>
        <p:sp>
          <p:nvSpPr>
            <p:cNvPr id="7" name="Freeform 7"/>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5">
                <a:alphaModFix amt="0"/>
              </a:blip>
              <a:stretch>
                <a:fillRect t="-86777" b="-14434"/>
              </a:stretch>
            </a:blipFill>
          </p:spPr>
          <p:txBody>
            <a:bodyPr/>
            <a:lstStyle/>
            <a:p>
              <a:endParaRPr lang="en-US"/>
            </a:p>
          </p:txBody>
        </p:sp>
        <p:sp>
          <p:nvSpPr>
            <p:cNvPr id="8" name="TextBox 8"/>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9" name="Freeform 9"/>
          <p:cNvSpPr/>
          <p:nvPr/>
        </p:nvSpPr>
        <p:spPr>
          <a:xfrm>
            <a:off x="3790188" y="2341493"/>
            <a:ext cx="10098932" cy="4708627"/>
          </a:xfrm>
          <a:custGeom>
            <a:avLst/>
            <a:gdLst/>
            <a:ahLst/>
            <a:cxnLst/>
            <a:rect l="l" t="t" r="r" b="b"/>
            <a:pathLst>
              <a:path w="10098932" h="4708627">
                <a:moveTo>
                  <a:pt x="0" y="0"/>
                </a:moveTo>
                <a:lnTo>
                  <a:pt x="10098932" y="0"/>
                </a:lnTo>
                <a:lnTo>
                  <a:pt x="10098932" y="4708627"/>
                </a:lnTo>
                <a:lnTo>
                  <a:pt x="0" y="4708627"/>
                </a:lnTo>
                <a:lnTo>
                  <a:pt x="0" y="0"/>
                </a:lnTo>
                <a:close/>
              </a:path>
            </a:pathLst>
          </a:custGeom>
          <a:blipFill>
            <a:blip r:embed="rId6"/>
            <a:stretch>
              <a:fillRect/>
            </a:stretch>
          </a:blipFill>
        </p:spPr>
        <p:txBody>
          <a:bodyPr/>
          <a:lstStyle/>
          <a:p>
            <a:endParaRPr lang="en-US" dirty="0"/>
          </a:p>
        </p:txBody>
      </p:sp>
      <p:sp>
        <p:nvSpPr>
          <p:cNvPr id="10" name="TextBox 10"/>
          <p:cNvSpPr txBox="1"/>
          <p:nvPr/>
        </p:nvSpPr>
        <p:spPr>
          <a:xfrm>
            <a:off x="2289130" y="1258311"/>
            <a:ext cx="13349582" cy="982982"/>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Garet Bold"/>
                <a:ea typeface="Garet Bold"/>
                <a:cs typeface="Garet Bold"/>
                <a:sym typeface="Garet Bold"/>
              </a:rPr>
              <a:t>BUDGET AND JUSTIFICATION</a:t>
            </a:r>
          </a:p>
        </p:txBody>
      </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2" name="TextBox 12"/>
          <p:cNvSpPr txBox="1"/>
          <p:nvPr/>
        </p:nvSpPr>
        <p:spPr>
          <a:xfrm>
            <a:off x="11620448" y="355596"/>
            <a:ext cx="6363176"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DIFFERENT TYPES OF WATER IDENTIFIER – ML &amp; AI</a:t>
            </a:r>
          </a:p>
        </p:txBody>
      </p:sp>
      <p:sp>
        <p:nvSpPr>
          <p:cNvPr id="13" name="TextBox 13"/>
          <p:cNvSpPr txBox="1"/>
          <p:nvPr/>
        </p:nvSpPr>
        <p:spPr>
          <a:xfrm>
            <a:off x="1441062" y="7346962"/>
            <a:ext cx="14795634" cy="1562391"/>
          </a:xfrm>
          <a:prstGeom prst="rect">
            <a:avLst/>
          </a:prstGeom>
        </p:spPr>
        <p:txBody>
          <a:bodyPr lIns="0" tIns="0" rIns="0" bIns="0" rtlCol="0" anchor="t">
            <a:spAutoFit/>
          </a:bodyPr>
          <a:lstStyle/>
          <a:p>
            <a:pPr algn="just">
              <a:lnSpc>
                <a:spcPts val="4183"/>
              </a:lnSpc>
            </a:pPr>
            <a:r>
              <a:rPr lang="en-US" sz="2988" dirty="0">
                <a:solidFill>
                  <a:srgbClr val="1B3957"/>
                </a:solidFill>
                <a:latin typeface="Cambria"/>
                <a:ea typeface="Cambria"/>
                <a:cs typeface="Cambria"/>
                <a:sym typeface="Cambria"/>
              </a:rPr>
              <a:t>The proposed system aims to develop a cost-effective water identification device. All components were selected based on affordability, availability, and compatibility with microcontroller platforms.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2"/>
            <a:stretch>
              <a:fillRect b="-1914"/>
            </a:stretch>
          </a:blipFill>
        </p:spPr>
        <p:txBody>
          <a:bodyPr/>
          <a:lstStyle/>
          <a:p>
            <a:endParaRPr lang="en-US"/>
          </a:p>
        </p:txBody>
      </p:sp>
      <p:grpSp>
        <p:nvGrpSpPr>
          <p:cNvPr id="3" name="Group 3"/>
          <p:cNvGrpSpPr/>
          <p:nvPr/>
        </p:nvGrpSpPr>
        <p:grpSpPr>
          <a:xfrm>
            <a:off x="0" y="9559957"/>
            <a:ext cx="3771900" cy="735463"/>
            <a:chOff x="0" y="0"/>
            <a:chExt cx="5029200" cy="980618"/>
          </a:xfrm>
        </p:grpSpPr>
        <p:sp>
          <p:nvSpPr>
            <p:cNvPr id="4" name="Freeform 4"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3"/>
              <a:stretch>
                <a:fillRect t="-929488" r="-256844" b="-5"/>
              </a:stretch>
            </a:blipFill>
          </p:spPr>
          <p:txBody>
            <a:bodyPr/>
            <a:lstStyle/>
            <a:p>
              <a:endParaRPr lang="en-US"/>
            </a:p>
          </p:txBody>
        </p:sp>
      </p:grpSp>
      <p:grpSp>
        <p:nvGrpSpPr>
          <p:cNvPr id="5" name="Group 5"/>
          <p:cNvGrpSpPr/>
          <p:nvPr/>
        </p:nvGrpSpPr>
        <p:grpSpPr>
          <a:xfrm>
            <a:off x="4781846" y="8768302"/>
            <a:ext cx="10224545" cy="1980251"/>
            <a:chOff x="0" y="0"/>
            <a:chExt cx="13632726" cy="2640335"/>
          </a:xfrm>
        </p:grpSpPr>
        <p:sp>
          <p:nvSpPr>
            <p:cNvPr id="6" name="Freeform 6"/>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4">
                <a:alphaModFix amt="0"/>
              </a:blip>
              <a:stretch>
                <a:fillRect t="-86777" b="-14434"/>
              </a:stretch>
            </a:blipFill>
          </p:spPr>
          <p:txBody>
            <a:bodyPr/>
            <a:lstStyle/>
            <a:p>
              <a:endParaRPr lang="en-US"/>
            </a:p>
          </p:txBody>
        </p:sp>
        <p:sp>
          <p:nvSpPr>
            <p:cNvPr id="7" name="TextBox 7"/>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8" name="TextBox 8"/>
          <p:cNvSpPr txBox="1"/>
          <p:nvPr/>
        </p:nvSpPr>
        <p:spPr>
          <a:xfrm>
            <a:off x="1640804" y="838575"/>
            <a:ext cx="13349582" cy="992507"/>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Cambria Bold"/>
                <a:ea typeface="Cambria Bold"/>
                <a:cs typeface="Cambria Bold"/>
                <a:sym typeface="Cambria Bold"/>
              </a:rPr>
              <a:t>DATA SETS</a:t>
            </a:r>
          </a:p>
        </p:txBody>
      </p:sp>
      <p:sp>
        <p:nvSpPr>
          <p:cNvPr id="9" name="TextBox 9"/>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0" name="TextBox 10"/>
          <p:cNvSpPr txBox="1"/>
          <p:nvPr/>
        </p:nvSpPr>
        <p:spPr>
          <a:xfrm>
            <a:off x="1028700" y="1807540"/>
            <a:ext cx="14573791" cy="6248861"/>
          </a:xfrm>
          <a:prstGeom prst="rect">
            <a:avLst/>
          </a:prstGeom>
        </p:spPr>
        <p:txBody>
          <a:bodyPr lIns="0" tIns="0" rIns="0" bIns="0" rtlCol="0" anchor="t">
            <a:spAutoFit/>
          </a:bodyPr>
          <a:lstStyle/>
          <a:p>
            <a:pPr algn="l">
              <a:lnSpc>
                <a:spcPts val="3124"/>
              </a:lnSpc>
            </a:pPr>
            <a:r>
              <a:rPr lang="en-US" sz="2231" b="1">
                <a:solidFill>
                  <a:srgbClr val="1B3957"/>
                </a:solidFill>
                <a:latin typeface="Cambria Bold"/>
                <a:ea typeface="Cambria Bold"/>
                <a:cs typeface="Cambria Bold"/>
                <a:sym typeface="Cambria Bold"/>
              </a:rPr>
              <a:t>1. Water Potability Dataset – Kaggle</a:t>
            </a:r>
          </a:p>
          <a:p>
            <a:pPr algn="l">
              <a:lnSpc>
                <a:spcPts val="3124"/>
              </a:lnSpc>
            </a:pPr>
            <a:endParaRPr lang="en-US" sz="2231" b="1">
              <a:solidFill>
                <a:srgbClr val="1B3957"/>
              </a:solidFill>
              <a:latin typeface="Cambria Bold"/>
              <a:ea typeface="Cambria Bold"/>
              <a:cs typeface="Cambria Bold"/>
              <a:sym typeface="Cambria Bold"/>
            </a:endParaRPr>
          </a:p>
          <a:p>
            <a:pPr marL="481858" lvl="1" indent="-240929" algn="l">
              <a:lnSpc>
                <a:spcPts val="3124"/>
              </a:lnSpc>
              <a:buFont typeface="Arial"/>
              <a:buChar char="•"/>
            </a:pPr>
            <a:r>
              <a:rPr lang="en-US" sz="2231" b="1">
                <a:solidFill>
                  <a:srgbClr val="1B3957"/>
                </a:solidFill>
                <a:latin typeface="Cambria Bold"/>
                <a:ea typeface="Cambria Bold"/>
                <a:cs typeface="Cambria Bold"/>
                <a:sym typeface="Cambria Bold"/>
              </a:rPr>
              <a:t>Contains water quality parameters such as pH, hardness, solids, chloramines, sulfate, conductivity, organic carbon, and turbidity.</a:t>
            </a:r>
          </a:p>
          <a:p>
            <a:pPr marL="481858" lvl="1" indent="-240929" algn="l">
              <a:lnSpc>
                <a:spcPts val="3124"/>
              </a:lnSpc>
              <a:buFont typeface="Arial"/>
              <a:buChar char="•"/>
            </a:pPr>
            <a:r>
              <a:rPr lang="en-US" sz="2231" b="1">
                <a:solidFill>
                  <a:srgbClr val="1B3957"/>
                </a:solidFill>
                <a:latin typeface="Cambria Bold"/>
                <a:ea typeface="Cambria Bold"/>
                <a:cs typeface="Cambria Bold"/>
                <a:sym typeface="Cambria Bold"/>
              </a:rPr>
              <a:t>Used for training and testing machine learning classification models.</a:t>
            </a:r>
          </a:p>
          <a:p>
            <a:pPr algn="l">
              <a:lnSpc>
                <a:spcPts val="3124"/>
              </a:lnSpc>
            </a:pPr>
            <a:endParaRPr lang="en-US" sz="2231" b="1">
              <a:solidFill>
                <a:srgbClr val="1B3957"/>
              </a:solidFill>
              <a:latin typeface="Cambria Bold"/>
              <a:ea typeface="Cambria Bold"/>
              <a:cs typeface="Cambria Bold"/>
              <a:sym typeface="Cambria Bold"/>
            </a:endParaRPr>
          </a:p>
          <a:p>
            <a:pPr algn="l">
              <a:lnSpc>
                <a:spcPts val="3124"/>
              </a:lnSpc>
            </a:pPr>
            <a:r>
              <a:rPr lang="en-US" sz="2231" b="1">
                <a:solidFill>
                  <a:srgbClr val="1B3957"/>
                </a:solidFill>
                <a:latin typeface="Cambria Bold"/>
                <a:ea typeface="Cambria Bold"/>
                <a:cs typeface="Cambria Bold"/>
                <a:sym typeface="Cambria Bold"/>
              </a:rPr>
              <a:t>2. Water Quality Dataset – UCI Machine Learning Repository</a:t>
            </a:r>
          </a:p>
          <a:p>
            <a:pPr algn="l">
              <a:lnSpc>
                <a:spcPts val="3124"/>
              </a:lnSpc>
            </a:pPr>
            <a:endParaRPr lang="en-US" sz="2231" b="1">
              <a:solidFill>
                <a:srgbClr val="1B3957"/>
              </a:solidFill>
              <a:latin typeface="Cambria Bold"/>
              <a:ea typeface="Cambria Bold"/>
              <a:cs typeface="Cambria Bold"/>
              <a:sym typeface="Cambria Bold"/>
            </a:endParaRPr>
          </a:p>
          <a:p>
            <a:pPr marL="481858" lvl="1" indent="-240929" algn="l">
              <a:lnSpc>
                <a:spcPts val="3124"/>
              </a:lnSpc>
              <a:buFont typeface="Arial"/>
              <a:buChar char="•"/>
            </a:pPr>
            <a:r>
              <a:rPr lang="en-US" sz="2231" b="1">
                <a:solidFill>
                  <a:srgbClr val="1B3957"/>
                </a:solidFill>
                <a:latin typeface="Cambria Bold"/>
                <a:ea typeface="Cambria Bold"/>
                <a:cs typeface="Cambria Bold"/>
                <a:sym typeface="Cambria Bold"/>
              </a:rPr>
              <a:t>Provides environmental water quality parameters including pH, turbidity, dissolved oxygen, and temperature.</a:t>
            </a:r>
          </a:p>
          <a:p>
            <a:pPr marL="481858" lvl="1" indent="-240929" algn="l">
              <a:lnSpc>
                <a:spcPts val="3124"/>
              </a:lnSpc>
              <a:buFont typeface="Arial"/>
              <a:buChar char="•"/>
            </a:pPr>
            <a:r>
              <a:rPr lang="en-US" sz="2231" b="1">
                <a:solidFill>
                  <a:srgbClr val="1B3957"/>
                </a:solidFill>
                <a:latin typeface="Cambria Bold"/>
                <a:ea typeface="Cambria Bold"/>
                <a:cs typeface="Cambria Bold"/>
                <a:sym typeface="Cambria Bold"/>
              </a:rPr>
              <a:t>Used to support water quality analysis and model validation.</a:t>
            </a:r>
          </a:p>
          <a:p>
            <a:pPr algn="l">
              <a:lnSpc>
                <a:spcPts val="3124"/>
              </a:lnSpc>
            </a:pPr>
            <a:endParaRPr lang="en-US" sz="2231" b="1">
              <a:solidFill>
                <a:srgbClr val="1B3957"/>
              </a:solidFill>
              <a:latin typeface="Cambria Bold"/>
              <a:ea typeface="Cambria Bold"/>
              <a:cs typeface="Cambria Bold"/>
              <a:sym typeface="Cambria Bold"/>
            </a:endParaRPr>
          </a:p>
          <a:p>
            <a:pPr algn="l">
              <a:lnSpc>
                <a:spcPts val="3124"/>
              </a:lnSpc>
            </a:pPr>
            <a:r>
              <a:rPr lang="en-US" sz="2231" b="1">
                <a:solidFill>
                  <a:srgbClr val="1B3957"/>
                </a:solidFill>
                <a:latin typeface="Cambria Bold"/>
                <a:ea typeface="Cambria Bold"/>
                <a:cs typeface="Cambria Bold"/>
                <a:sym typeface="Cambria Bold"/>
              </a:rPr>
              <a:t>3. Sensor-Collected Dataset (Proposed System)</a:t>
            </a:r>
          </a:p>
          <a:p>
            <a:pPr marL="481858" lvl="1" indent="-240929" algn="l">
              <a:lnSpc>
                <a:spcPts val="3124"/>
              </a:lnSpc>
              <a:buFont typeface="Arial"/>
              <a:buChar char="•"/>
            </a:pPr>
            <a:r>
              <a:rPr lang="en-US" sz="2231" b="1">
                <a:solidFill>
                  <a:srgbClr val="1B3957"/>
                </a:solidFill>
                <a:latin typeface="Cambria Bold"/>
                <a:ea typeface="Cambria Bold"/>
                <a:cs typeface="Cambria Bold"/>
                <a:sym typeface="Cambria Bold"/>
              </a:rPr>
              <a:t>Data collected using sensors measuring pH, turbidity, TDS, conductivity, and temperature.</a:t>
            </a:r>
          </a:p>
          <a:p>
            <a:pPr marL="481858" lvl="1" indent="-240929" algn="l">
              <a:lnSpc>
                <a:spcPts val="3124"/>
              </a:lnSpc>
              <a:buFont typeface="Arial"/>
              <a:buChar char="•"/>
            </a:pPr>
            <a:r>
              <a:rPr lang="en-US" sz="2231" b="1">
                <a:solidFill>
                  <a:srgbClr val="1B3957"/>
                </a:solidFill>
                <a:latin typeface="Cambria Bold"/>
                <a:ea typeface="Cambria Bold"/>
                <a:cs typeface="Cambria Bold"/>
                <a:sym typeface="Cambria Bold"/>
              </a:rPr>
              <a:t>Used for real-time water type classification and model evaluation.</a:t>
            </a:r>
          </a:p>
          <a:p>
            <a:pPr algn="l">
              <a:lnSpc>
                <a:spcPts val="3124"/>
              </a:lnSpc>
            </a:pPr>
            <a:endParaRPr lang="en-US" sz="2231" b="1">
              <a:solidFill>
                <a:srgbClr val="1B3957"/>
              </a:solidFill>
              <a:latin typeface="Cambria Bold"/>
              <a:ea typeface="Cambria Bold"/>
              <a:cs typeface="Cambria Bold"/>
              <a:sym typeface="Cambria Bold"/>
            </a:endParaRPr>
          </a:p>
        </p:txBody>
      </p:sp>
      <p:sp>
        <p:nvSpPr>
          <p:cNvPr id="11" name="TextBox 11"/>
          <p:cNvSpPr txBox="1"/>
          <p:nvPr/>
        </p:nvSpPr>
        <p:spPr>
          <a:xfrm>
            <a:off x="11620448" y="355596"/>
            <a:ext cx="6363176"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DIFFERENT TYPES OF WATER IDENTIFIER – ML &amp; AI</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2"/>
            <a:stretch>
              <a:fillRect b="-1914"/>
            </a:stretch>
          </a:blipFill>
        </p:spPr>
        <p:txBody>
          <a:bodyPr/>
          <a:lstStyle/>
          <a:p>
            <a:endParaRPr lang="en-US"/>
          </a:p>
        </p:txBody>
      </p:sp>
      <p:grpSp>
        <p:nvGrpSpPr>
          <p:cNvPr id="3" name="Group 3"/>
          <p:cNvGrpSpPr/>
          <p:nvPr/>
        </p:nvGrpSpPr>
        <p:grpSpPr>
          <a:xfrm>
            <a:off x="0" y="9559957"/>
            <a:ext cx="3771900" cy="735463"/>
            <a:chOff x="0" y="0"/>
            <a:chExt cx="5029200" cy="980618"/>
          </a:xfrm>
        </p:grpSpPr>
        <p:sp>
          <p:nvSpPr>
            <p:cNvPr id="4" name="Freeform 4"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3"/>
              <a:stretch>
                <a:fillRect t="-929488" r="-256844" b="-5"/>
              </a:stretch>
            </a:blipFill>
          </p:spPr>
          <p:txBody>
            <a:bodyPr/>
            <a:lstStyle/>
            <a:p>
              <a:endParaRPr lang="en-US"/>
            </a:p>
          </p:txBody>
        </p:sp>
      </p:grpSp>
      <p:grpSp>
        <p:nvGrpSpPr>
          <p:cNvPr id="5" name="Group 5"/>
          <p:cNvGrpSpPr/>
          <p:nvPr/>
        </p:nvGrpSpPr>
        <p:grpSpPr>
          <a:xfrm>
            <a:off x="4781846" y="8768302"/>
            <a:ext cx="10224545" cy="1980251"/>
            <a:chOff x="0" y="0"/>
            <a:chExt cx="13632726" cy="2640335"/>
          </a:xfrm>
        </p:grpSpPr>
        <p:sp>
          <p:nvSpPr>
            <p:cNvPr id="6" name="Freeform 6"/>
            <p:cNvSpPr/>
            <p:nvPr/>
          </p:nvSpPr>
          <p:spPr>
            <a:xfrm>
              <a:off x="0" y="0"/>
              <a:ext cx="13632731" cy="2640335"/>
            </a:xfrm>
            <a:custGeom>
              <a:avLst/>
              <a:gdLst/>
              <a:ahLst/>
              <a:cxnLst/>
              <a:rect l="l" t="t" r="r" b="b"/>
              <a:pathLst>
                <a:path w="13632731" h="2640335">
                  <a:moveTo>
                    <a:pt x="0" y="0"/>
                  </a:moveTo>
                  <a:lnTo>
                    <a:pt x="13632731" y="0"/>
                  </a:lnTo>
                  <a:lnTo>
                    <a:pt x="13632731" y="2640335"/>
                  </a:lnTo>
                  <a:lnTo>
                    <a:pt x="0" y="2640335"/>
                  </a:lnTo>
                  <a:close/>
                </a:path>
              </a:pathLst>
            </a:custGeom>
            <a:blipFill>
              <a:blip r:embed="rId4">
                <a:alphaModFix amt="0"/>
              </a:blip>
              <a:stretch>
                <a:fillRect t="-86777" b="-14434"/>
              </a:stretch>
            </a:blipFill>
          </p:spPr>
          <p:txBody>
            <a:bodyPr/>
            <a:lstStyle/>
            <a:p>
              <a:endParaRPr lang="en-US"/>
            </a:p>
          </p:txBody>
        </p:sp>
        <p:sp>
          <p:nvSpPr>
            <p:cNvPr id="7" name="TextBox 7"/>
            <p:cNvSpPr txBox="1"/>
            <p:nvPr/>
          </p:nvSpPr>
          <p:spPr>
            <a:xfrm>
              <a:off x="0" y="-19050"/>
              <a:ext cx="13632726" cy="2659385"/>
            </a:xfrm>
            <a:prstGeom prst="rect">
              <a:avLst/>
            </a:prstGeom>
          </p:spPr>
          <p:txBody>
            <a:bodyPr lIns="0" tIns="0" rIns="0" bIns="0" rtlCol="0" anchor="ctr"/>
            <a:lstStyle/>
            <a:p>
              <a:pPr algn="l">
                <a:lnSpc>
                  <a:spcPts val="3240"/>
                </a:lnSpc>
              </a:pPr>
              <a:r>
                <a:rPr lang="en-US" sz="2700" b="1">
                  <a:solidFill>
                    <a:srgbClr val="000000"/>
                  </a:solidFill>
                  <a:latin typeface="Cambria Bold"/>
                  <a:ea typeface="Cambria Bold"/>
                  <a:cs typeface="Cambria Bold"/>
                  <a:sym typeface="Cambria Bold"/>
                </a:rPr>
                <a:t>IT22211750</a:t>
              </a:r>
              <a:r>
                <a:rPr lang="en-US" sz="2700">
                  <a:solidFill>
                    <a:srgbClr val="000000"/>
                  </a:solidFill>
                  <a:latin typeface="Cambria"/>
                  <a:ea typeface="Cambria"/>
                  <a:cs typeface="Cambria"/>
                  <a:sym typeface="Cambria"/>
                </a:rPr>
                <a:t>   |   DE SILVA W.N.N.</a:t>
              </a:r>
              <a:r>
                <a:rPr lang="en-US" sz="2700" b="1">
                  <a:solidFill>
                    <a:srgbClr val="000000"/>
                  </a:solidFill>
                  <a:latin typeface="Cambria Bold"/>
                  <a:ea typeface="Cambria Bold"/>
                  <a:cs typeface="Cambria Bold"/>
                  <a:sym typeface="Cambria Bold"/>
                </a:rPr>
                <a:t/>
              </a:r>
              <a:r>
                <a:rPr lang="en-US" sz="2700">
                  <a:solidFill>
                    <a:srgbClr val="000000"/>
                  </a:solidFill>
                  <a:latin typeface="Cambria"/>
                  <a:ea typeface="Cambria"/>
                  <a:cs typeface="Cambria"/>
                  <a:sym typeface="Cambria"/>
                </a:rPr>
                <a:t>|   R26-IT-005</a:t>
              </a:r>
            </a:p>
          </p:txBody>
        </p:sp>
      </p:grpSp>
      <p:sp>
        <p:nvSpPr>
          <p:cNvPr id="8" name="TextBox 8"/>
          <p:cNvSpPr txBox="1"/>
          <p:nvPr/>
        </p:nvSpPr>
        <p:spPr>
          <a:xfrm>
            <a:off x="2252909" y="1107349"/>
            <a:ext cx="13349582" cy="992507"/>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Cambria Bold"/>
                <a:ea typeface="Cambria Bold"/>
                <a:cs typeface="Cambria Bold"/>
                <a:sym typeface="Cambria Bold"/>
              </a:rPr>
              <a:t>REFERENCES</a:t>
            </a:r>
          </a:p>
        </p:txBody>
      </p:sp>
      <p:sp>
        <p:nvSpPr>
          <p:cNvPr id="9" name="TextBox 9"/>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0" name="TextBox 10"/>
          <p:cNvSpPr txBox="1"/>
          <p:nvPr/>
        </p:nvSpPr>
        <p:spPr>
          <a:xfrm>
            <a:off x="1028700" y="2396823"/>
            <a:ext cx="14573791" cy="5858336"/>
          </a:xfrm>
          <a:prstGeom prst="rect">
            <a:avLst/>
          </a:prstGeom>
        </p:spPr>
        <p:txBody>
          <a:bodyPr lIns="0" tIns="0" rIns="0" bIns="0" rtlCol="0" anchor="t">
            <a:spAutoFit/>
          </a:bodyPr>
          <a:lstStyle/>
          <a:p>
            <a:pPr algn="l">
              <a:lnSpc>
                <a:spcPts val="3124"/>
              </a:lnSpc>
            </a:pPr>
            <a:r>
              <a:rPr lang="en-US" sz="2231" b="1" dirty="0">
                <a:solidFill>
                  <a:srgbClr val="1B3957"/>
                </a:solidFill>
                <a:latin typeface="Cambria Bold"/>
                <a:ea typeface="Cambria Bold"/>
                <a:cs typeface="Cambria Bold"/>
                <a:sym typeface="Cambria Bold"/>
              </a:rPr>
              <a:t>[1] APHA. (2017). Standard Methods for the Examination of Water and Wastewater (23rd ed.). American Public Health Association. (The definitive guide to traditional water testing methods).</a:t>
            </a:r>
          </a:p>
          <a:p>
            <a:pPr algn="l">
              <a:lnSpc>
                <a:spcPts val="3124"/>
              </a:lnSpc>
            </a:pPr>
            <a:r>
              <a:rPr lang="en-US" sz="2231" b="1" dirty="0">
                <a:solidFill>
                  <a:srgbClr val="1B3957"/>
                </a:solidFill>
                <a:latin typeface="Cambria Bold"/>
                <a:ea typeface="Cambria Bold"/>
                <a:cs typeface="Cambria Bold"/>
                <a:sym typeface="Cambria Bold"/>
              </a:rPr>
              <a:t/>
            </a:r>
          </a:p>
          <a:p>
            <a:pPr algn="l">
              <a:lnSpc>
                <a:spcPts val="3124"/>
              </a:lnSpc>
            </a:pPr>
            <a:r>
              <a:rPr lang="en-US" sz="2231" b="1" dirty="0">
                <a:solidFill>
                  <a:srgbClr val="1B3957"/>
                </a:solidFill>
                <a:latin typeface="Cambria Bold"/>
                <a:ea typeface="Cambria Bold"/>
                <a:cs typeface="Cambria Bold"/>
                <a:sym typeface="Cambria Bold"/>
              </a:rPr>
              <a:t>[2] Kumar, R., &amp; Singh, P. (2021). IoT Based Smart Water Quality Monitoring System: A Review. Materials Today: Proceedings. (Overview of IoT systems in the field). </a:t>
            </a:r>
          </a:p>
          <a:p>
            <a:pPr algn="l">
              <a:lnSpc>
                <a:spcPts val="3124"/>
              </a:lnSpc>
            </a:pPr>
            <a:endParaRPr lang="en-US" sz="2231" b="1" dirty="0">
              <a:solidFill>
                <a:srgbClr val="1B3957"/>
              </a:solidFill>
              <a:latin typeface="Cambria Bold"/>
              <a:ea typeface="Cambria Bold"/>
              <a:cs typeface="Cambria Bold"/>
              <a:sym typeface="Cambria Bold"/>
            </a:endParaRPr>
          </a:p>
          <a:p>
            <a:pPr algn="l">
              <a:lnSpc>
                <a:spcPts val="3124"/>
              </a:lnSpc>
            </a:pPr>
            <a:r>
              <a:rPr lang="en-US" sz="2231" b="1" dirty="0">
                <a:solidFill>
                  <a:srgbClr val="1B3957"/>
                </a:solidFill>
                <a:latin typeface="Cambria Bold"/>
                <a:ea typeface="Cambria Bold"/>
                <a:cs typeface="Cambria Bold"/>
                <a:sym typeface="Cambria Bold"/>
              </a:rPr>
              <a:t>[3] Najah, A., et al. (2013). Application of Artificial Neural Networks for Water Quality Prediction. Neural Computing and Applications, 22(1), 187-201. (Example of using ANNs for predicting a specific parameter).</a:t>
            </a:r>
          </a:p>
          <a:p>
            <a:pPr algn="l">
              <a:lnSpc>
                <a:spcPts val="3124"/>
              </a:lnSpc>
            </a:pPr>
            <a:endParaRPr lang="en-US" sz="2231" b="1" dirty="0">
              <a:solidFill>
                <a:srgbClr val="1B3957"/>
              </a:solidFill>
              <a:latin typeface="Cambria Bold"/>
              <a:ea typeface="Cambria Bold"/>
              <a:cs typeface="Cambria Bold"/>
              <a:sym typeface="Cambria Bold"/>
            </a:endParaRPr>
          </a:p>
          <a:p>
            <a:pPr algn="l">
              <a:lnSpc>
                <a:spcPts val="3124"/>
              </a:lnSpc>
            </a:pPr>
            <a:r>
              <a:rPr lang="en-US" sz="2231" b="1" dirty="0">
                <a:solidFill>
                  <a:srgbClr val="1B3957"/>
                </a:solidFill>
                <a:latin typeface="Cambria Bold"/>
                <a:ea typeface="Cambria Bold"/>
                <a:cs typeface="Cambria Bold"/>
                <a:sym typeface="Cambria Bold"/>
              </a:rPr>
              <a:t>[4] Uddin, M. G., et al. (2020). Performance Analysis of Machine Learning Algorithms for Water Quality Index Prediction. Journal of Environmental Informatics, 36(2). (Key paper comparing ML algorithms for water quality tasks). </a:t>
            </a:r>
          </a:p>
          <a:p>
            <a:pPr algn="l">
              <a:lnSpc>
                <a:spcPts val="3124"/>
              </a:lnSpc>
            </a:pPr>
            <a:endParaRPr lang="en-US" sz="2231" b="1" dirty="0">
              <a:solidFill>
                <a:srgbClr val="1B3957"/>
              </a:solidFill>
              <a:latin typeface="Cambria Bold"/>
              <a:ea typeface="Cambria Bold"/>
              <a:cs typeface="Cambria Bold"/>
              <a:sym typeface="Cambria Bold"/>
            </a:endParaRPr>
          </a:p>
          <a:p>
            <a:pPr algn="l">
              <a:lnSpc>
                <a:spcPts val="3124"/>
              </a:lnSpc>
            </a:pPr>
            <a:r>
              <a:rPr lang="en-US" sz="2231" b="1" dirty="0">
                <a:solidFill>
                  <a:srgbClr val="1B3957"/>
                </a:solidFill>
                <a:latin typeface="Cambria Bold"/>
                <a:ea typeface="Cambria Bold"/>
                <a:cs typeface="Cambria Bold"/>
                <a:sym typeface="Cambria Bold"/>
              </a:rPr>
              <a:t>[5] Winquist, F., et al. (2005). An Electronic Tongue in the Food Industry. Sensors and Actuators B: Chemical, 111-112, 299-304. (Background on multi-sensor arrays and pattern recognition for liquid classification). </a:t>
            </a:r>
          </a:p>
        </p:txBody>
      </p:sp>
      <p:sp>
        <p:nvSpPr>
          <p:cNvPr id="11" name="TextBox 11"/>
          <p:cNvSpPr txBox="1"/>
          <p:nvPr/>
        </p:nvSpPr>
        <p:spPr>
          <a:xfrm>
            <a:off x="11620448" y="355596"/>
            <a:ext cx="6363176" cy="282579"/>
          </a:xfrm>
          <a:prstGeom prst="rect">
            <a:avLst/>
          </a:prstGeom>
        </p:spPr>
        <p:txBody>
          <a:bodyPr lIns="0" tIns="0" rIns="0" bIns="0" rtlCol="0" anchor="t">
            <a:spAutoFit/>
          </a:bodyPr>
          <a:lstStyle/>
          <a:p>
            <a:pPr algn="ctr">
              <a:lnSpc>
                <a:spcPts val="2200"/>
              </a:lnSpc>
              <a:spcBef>
                <a:spcPct val="0"/>
              </a:spcBef>
            </a:pPr>
            <a:r>
              <a:rPr lang="en-US" sz="2000" b="1">
                <a:solidFill>
                  <a:srgbClr val="06728A"/>
                </a:solidFill>
                <a:latin typeface="Garet Bold"/>
                <a:ea typeface="Garet Bold"/>
                <a:cs typeface="Garet Bold"/>
                <a:sym typeface="Garet Bold"/>
              </a:rPr>
              <a:t>DIFFERENT TYPES OF WATER IDENTIFIER – ML &amp; AI</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TextBox 4"/>
          <p:cNvSpPr txBox="1"/>
          <p:nvPr/>
        </p:nvSpPr>
        <p:spPr>
          <a:xfrm>
            <a:off x="796738" y="1011664"/>
            <a:ext cx="13349582" cy="586699"/>
          </a:xfrm>
          <a:prstGeom prst="rect">
            <a:avLst/>
          </a:prstGeom>
        </p:spPr>
        <p:txBody>
          <a:bodyPr lIns="0" tIns="0" rIns="0" bIns="0" rtlCol="0" anchor="t">
            <a:spAutoFit/>
          </a:bodyPr>
          <a:lstStyle/>
          <a:p>
            <a:pPr marL="0" lvl="0" indent="0" algn="l">
              <a:lnSpc>
                <a:spcPts val="3740"/>
              </a:lnSpc>
              <a:spcBef>
                <a:spcPct val="0"/>
              </a:spcBef>
            </a:pPr>
            <a:r>
              <a:rPr lang="en-US" sz="6000" b="1" dirty="0">
                <a:solidFill>
                  <a:srgbClr val="06728A"/>
                </a:solidFill>
                <a:latin typeface="Garet Bold"/>
                <a:ea typeface="Garet Bold"/>
                <a:cs typeface="Garet Bold"/>
                <a:sym typeface="Garet Bold"/>
              </a:rPr>
              <a:t>ABILITY OF COMMERCIALIZATION </a:t>
            </a:r>
          </a:p>
        </p:txBody>
      </p:sp>
      <p:grpSp>
        <p:nvGrpSpPr>
          <p:cNvPr id="5" name="Group 5"/>
          <p:cNvGrpSpPr/>
          <p:nvPr/>
        </p:nvGrpSpPr>
        <p:grpSpPr>
          <a:xfrm>
            <a:off x="0" y="9559957"/>
            <a:ext cx="3771900" cy="735463"/>
            <a:chOff x="0" y="0"/>
            <a:chExt cx="5029200" cy="980618"/>
          </a:xfrm>
        </p:grpSpPr>
        <p:sp>
          <p:nvSpPr>
            <p:cNvPr id="6" name="Freeform 6"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7" name="Group 7"/>
          <p:cNvGrpSpPr/>
          <p:nvPr/>
        </p:nvGrpSpPr>
        <p:grpSpPr>
          <a:xfrm>
            <a:off x="3948655" y="9739312"/>
            <a:ext cx="10224545" cy="547688"/>
            <a:chOff x="0" y="0"/>
            <a:chExt cx="13632726" cy="730250"/>
          </a:xfrm>
        </p:grpSpPr>
        <p:sp>
          <p:nvSpPr>
            <p:cNvPr id="8" name="Freeform 8"/>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5">
                <a:alphaModFix amt="0"/>
              </a:blip>
              <a:stretch>
                <a:fillRect t="-313757" b="-313757"/>
              </a:stretch>
            </a:blipFill>
          </p:spPr>
          <p:txBody>
            <a:bodyPr/>
            <a:lstStyle/>
            <a:p>
              <a:endParaRPr lang="en-US"/>
            </a:p>
          </p:txBody>
        </p:sp>
        <p:sp>
          <p:nvSpPr>
            <p:cNvPr id="9" name="TextBox 9"/>
            <p:cNvSpPr txBox="1"/>
            <p:nvPr/>
          </p:nvSpPr>
          <p:spPr>
            <a:xfrm>
              <a:off x="0" y="-19050"/>
              <a:ext cx="13632726" cy="74930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sp>
        <p:nvSpPr>
          <p:cNvPr id="10" name="TextBox 10"/>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1" name="TextBox 11"/>
          <p:cNvSpPr txBox="1"/>
          <p:nvPr/>
        </p:nvSpPr>
        <p:spPr>
          <a:xfrm>
            <a:off x="14654213" y="561943"/>
            <a:ext cx="3195446" cy="288541"/>
          </a:xfrm>
          <a:prstGeom prst="rect">
            <a:avLst/>
          </a:prstGeom>
        </p:spPr>
        <p:txBody>
          <a:bodyPr wrap="square"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WATER PURIFICATION </a:t>
            </a:r>
          </a:p>
        </p:txBody>
      </p:sp>
      <p:sp>
        <p:nvSpPr>
          <p:cNvPr id="12" name="TextBox 12"/>
          <p:cNvSpPr txBox="1"/>
          <p:nvPr/>
        </p:nvSpPr>
        <p:spPr>
          <a:xfrm>
            <a:off x="535197" y="1759542"/>
            <a:ext cx="17244300" cy="7138534"/>
          </a:xfrm>
          <a:prstGeom prst="rect">
            <a:avLst/>
          </a:prstGeom>
        </p:spPr>
        <p:txBody>
          <a:bodyPr lIns="0" tIns="0" rIns="0" bIns="0" rtlCol="0" anchor="t">
            <a:spAutoFit/>
          </a:bodyPr>
          <a:lstStyle/>
          <a:p>
            <a:pPr marL="461288" lvl="1" indent="-230644" algn="just">
              <a:lnSpc>
                <a:spcPts val="2991"/>
              </a:lnSpc>
              <a:buFont typeface="Arial"/>
              <a:buChar char="•"/>
            </a:pPr>
            <a:r>
              <a:rPr lang="en-US" sz="2136" b="1" dirty="0">
                <a:solidFill>
                  <a:srgbClr val="1B3957"/>
                </a:solidFill>
                <a:latin typeface="Signika Bold"/>
                <a:ea typeface="Signika Bold"/>
                <a:cs typeface="Signika Bold"/>
                <a:sym typeface="Signika Bold"/>
              </a:rPr>
              <a:t>High potential as a premium health and wellness home appliance, with a B2B model for the WT Bot (government/environmental agencies).</a:t>
            </a:r>
          </a:p>
          <a:p>
            <a:pPr marL="461288" lvl="1" indent="-230644" algn="just">
              <a:lnSpc>
                <a:spcPts val="2991"/>
              </a:lnSpc>
              <a:buFont typeface="Arial"/>
              <a:buChar char="•"/>
            </a:pPr>
            <a:r>
              <a:rPr lang="en-US" sz="2136" b="1" dirty="0">
                <a:solidFill>
                  <a:srgbClr val="1B3957"/>
                </a:solidFill>
                <a:latin typeface="Signika Bold"/>
                <a:ea typeface="Signika Bold"/>
                <a:cs typeface="Signika Bold"/>
                <a:sym typeface="Signika Bold"/>
              </a:rPr>
              <a:t>Investment/Cost:</a:t>
            </a:r>
          </a:p>
          <a:p>
            <a:pPr algn="just">
              <a:lnSpc>
                <a:spcPts val="2991"/>
              </a:lnSpc>
            </a:pPr>
            <a:endParaRPr lang="en-US" sz="2136" b="1" dirty="0">
              <a:solidFill>
                <a:srgbClr val="1B3957"/>
              </a:solidFill>
              <a:latin typeface="Signika Bold"/>
              <a:ea typeface="Signika Bold"/>
              <a:cs typeface="Signika Bold"/>
              <a:sym typeface="Signika Bold"/>
            </a:endParaRPr>
          </a:p>
          <a:p>
            <a:pPr marL="461288" lvl="1" indent="-230644" algn="just">
              <a:lnSpc>
                <a:spcPts val="2991"/>
              </a:lnSpc>
              <a:buFont typeface="Arial"/>
              <a:buChar char="•"/>
            </a:pPr>
            <a:r>
              <a:rPr lang="en-US" sz="2136" b="1" dirty="0" err="1">
                <a:solidFill>
                  <a:srgbClr val="1B3957"/>
                </a:solidFill>
                <a:latin typeface="Signika Bold"/>
                <a:ea typeface="Signika Bold"/>
                <a:cs typeface="Signika Bold"/>
                <a:sym typeface="Signika Bold"/>
              </a:rPr>
              <a:t>Labour</a:t>
            </a:r>
            <a:r>
              <a:rPr lang="en-US" sz="2136" b="1" dirty="0">
                <a:solidFill>
                  <a:srgbClr val="1B3957"/>
                </a:solidFill>
                <a:latin typeface="Signika Bold"/>
                <a:ea typeface="Signika Bold"/>
                <a:cs typeface="Signika Bold"/>
                <a:sym typeface="Signika Bold"/>
              </a:rPr>
              <a:t>: 4 Final Year Students.</a:t>
            </a:r>
          </a:p>
          <a:p>
            <a:pPr algn="just">
              <a:lnSpc>
                <a:spcPts val="2991"/>
              </a:lnSpc>
            </a:pPr>
            <a:endParaRPr lang="en-US" sz="2136" b="1" dirty="0">
              <a:solidFill>
                <a:srgbClr val="1B3957"/>
              </a:solidFill>
              <a:latin typeface="Signika Bold"/>
              <a:ea typeface="Signika Bold"/>
              <a:cs typeface="Signika Bold"/>
              <a:sym typeface="Signika Bold"/>
            </a:endParaRPr>
          </a:p>
          <a:p>
            <a:pPr marL="461288" lvl="1" indent="-230644" algn="just">
              <a:lnSpc>
                <a:spcPts val="2991"/>
              </a:lnSpc>
              <a:buFont typeface="Arial"/>
              <a:buChar char="•"/>
            </a:pPr>
            <a:r>
              <a:rPr lang="en-US" sz="2136" b="1" dirty="0">
                <a:solidFill>
                  <a:srgbClr val="1B3957"/>
                </a:solidFill>
                <a:latin typeface="Signika Bold"/>
                <a:ea typeface="Signika Bold"/>
                <a:cs typeface="Signika Bold"/>
                <a:sym typeface="Signika Bold"/>
              </a:rPr>
              <a:t>Material: Prototyping cost: LKR 200,000 (sensors, microcontrollers, pumps, chassis).</a:t>
            </a:r>
          </a:p>
          <a:p>
            <a:pPr algn="just">
              <a:lnSpc>
                <a:spcPts val="2991"/>
              </a:lnSpc>
            </a:pPr>
            <a:endParaRPr lang="en-US" sz="2136" b="1" dirty="0">
              <a:solidFill>
                <a:srgbClr val="1B3957"/>
              </a:solidFill>
              <a:latin typeface="Signika Bold"/>
              <a:ea typeface="Signika Bold"/>
              <a:cs typeface="Signika Bold"/>
              <a:sym typeface="Signika Bold"/>
            </a:endParaRPr>
          </a:p>
          <a:p>
            <a:pPr marL="461288" lvl="1" indent="-230644" algn="just">
              <a:lnSpc>
                <a:spcPts val="2991"/>
              </a:lnSpc>
              <a:buFont typeface="Arial"/>
              <a:buChar char="•"/>
            </a:pPr>
            <a:r>
              <a:rPr lang="en-US" sz="2136" b="1" dirty="0">
                <a:solidFill>
                  <a:srgbClr val="1B3957"/>
                </a:solidFill>
                <a:latin typeface="Signika Bold"/>
                <a:ea typeface="Signika Bold"/>
                <a:cs typeface="Signika Bold"/>
                <a:sym typeface="Signika Bold"/>
              </a:rPr>
              <a:t>Cost Recovery (Pricing):</a:t>
            </a:r>
          </a:p>
          <a:p>
            <a:pPr algn="just">
              <a:lnSpc>
                <a:spcPts val="2991"/>
              </a:lnSpc>
            </a:pPr>
            <a:endParaRPr lang="en-US" sz="2136" b="1" dirty="0">
              <a:solidFill>
                <a:srgbClr val="1B3957"/>
              </a:solidFill>
              <a:latin typeface="Signika Bold"/>
              <a:ea typeface="Signika Bold"/>
              <a:cs typeface="Signika Bold"/>
              <a:sym typeface="Signika Bold"/>
            </a:endParaRPr>
          </a:p>
          <a:p>
            <a:pPr marL="461288" lvl="1" indent="-230644" algn="just">
              <a:lnSpc>
                <a:spcPts val="2991"/>
              </a:lnSpc>
              <a:buFont typeface="Arial"/>
              <a:buChar char="•"/>
            </a:pPr>
            <a:r>
              <a:rPr lang="en-US" sz="2136" b="1" dirty="0">
                <a:solidFill>
                  <a:srgbClr val="1B3957"/>
                </a:solidFill>
                <a:latin typeface="Signika Bold"/>
                <a:ea typeface="Signika Bold"/>
                <a:cs typeface="Signika Bold"/>
                <a:sym typeface="Signika Bold"/>
              </a:rPr>
              <a:t>B2C Model: One-time sale of unit (LKR 100,000 - LKR 150,00) with a subscription for mineral refills and AI model updates.</a:t>
            </a:r>
          </a:p>
          <a:p>
            <a:pPr algn="just">
              <a:lnSpc>
                <a:spcPts val="2991"/>
              </a:lnSpc>
            </a:pPr>
            <a:endParaRPr lang="en-US" sz="2136" b="1" dirty="0">
              <a:solidFill>
                <a:srgbClr val="1B3957"/>
              </a:solidFill>
              <a:latin typeface="Signika Bold"/>
              <a:ea typeface="Signika Bold"/>
              <a:cs typeface="Signika Bold"/>
              <a:sym typeface="Signika Bold"/>
            </a:endParaRPr>
          </a:p>
          <a:p>
            <a:pPr marL="461288" lvl="1" indent="-230644" algn="just">
              <a:lnSpc>
                <a:spcPts val="2991"/>
              </a:lnSpc>
              <a:buFont typeface="Arial"/>
              <a:buChar char="•"/>
            </a:pPr>
            <a:r>
              <a:rPr lang="en-US" sz="2136" b="1" dirty="0">
                <a:solidFill>
                  <a:srgbClr val="1B3957"/>
                </a:solidFill>
                <a:latin typeface="Signika Bold"/>
                <a:ea typeface="Signika Bold"/>
                <a:cs typeface="Signika Bold"/>
                <a:sym typeface="Signika Bold"/>
              </a:rPr>
              <a:t>B2G/B2B Model: Service contract for WT Bot monitoring and data analytics.</a:t>
            </a:r>
          </a:p>
          <a:p>
            <a:pPr algn="just">
              <a:lnSpc>
                <a:spcPts val="2991"/>
              </a:lnSpc>
            </a:pPr>
            <a:endParaRPr lang="en-US" sz="2136" b="1" dirty="0">
              <a:solidFill>
                <a:srgbClr val="1B3957"/>
              </a:solidFill>
              <a:latin typeface="Signika Bold"/>
              <a:ea typeface="Signika Bold"/>
              <a:cs typeface="Signika Bold"/>
              <a:sym typeface="Signika Bold"/>
            </a:endParaRPr>
          </a:p>
          <a:p>
            <a:pPr marL="461288" lvl="1" indent="-230644" algn="just">
              <a:lnSpc>
                <a:spcPts val="2991"/>
              </a:lnSpc>
              <a:buFont typeface="Arial"/>
              <a:buChar char="•"/>
            </a:pPr>
            <a:r>
              <a:rPr lang="en-US" sz="2136" b="1" dirty="0">
                <a:solidFill>
                  <a:srgbClr val="1B3957"/>
                </a:solidFill>
                <a:latin typeface="Signika Bold"/>
                <a:ea typeface="Signika Bold"/>
                <a:cs typeface="Signika Bold"/>
                <a:sym typeface="Signika Bold"/>
              </a:rPr>
              <a:t>Target Market: Health-conscious households in urban areas; NGOs and government agencies in </a:t>
            </a:r>
            <a:r>
              <a:rPr lang="en-US" sz="2136" b="1" dirty="0" err="1">
                <a:solidFill>
                  <a:srgbClr val="1B3957"/>
                </a:solidFill>
                <a:latin typeface="Signika Bold"/>
                <a:ea typeface="Signika Bold"/>
                <a:cs typeface="Signika Bold"/>
                <a:sym typeface="Signika Bold"/>
              </a:rPr>
              <a:t>CKDu</a:t>
            </a:r>
            <a:r>
              <a:rPr lang="en-US" sz="2136" b="1" dirty="0">
                <a:solidFill>
                  <a:srgbClr val="1B3957"/>
                </a:solidFill>
                <a:latin typeface="Signika Bold"/>
                <a:ea typeface="Signika Bold"/>
                <a:cs typeface="Signika Bold"/>
                <a:sym typeface="Signika Bold"/>
              </a:rPr>
              <a:t>-affected regions.</a:t>
            </a:r>
          </a:p>
          <a:p>
            <a:pPr algn="just">
              <a:lnSpc>
                <a:spcPts val="2991"/>
              </a:lnSpc>
            </a:pPr>
            <a:endParaRPr lang="en-US" sz="2136" b="1" dirty="0">
              <a:solidFill>
                <a:srgbClr val="1B3957"/>
              </a:solidFill>
              <a:latin typeface="Signika Bold"/>
              <a:ea typeface="Signika Bold"/>
              <a:cs typeface="Signika Bold"/>
              <a:sym typeface="Signika Bold"/>
            </a:endParaRPr>
          </a:p>
          <a:p>
            <a:pPr marL="461288" lvl="1" indent="-230644" algn="just">
              <a:lnSpc>
                <a:spcPts val="2991"/>
              </a:lnSpc>
              <a:buFont typeface="Arial"/>
              <a:buChar char="•"/>
            </a:pPr>
            <a:r>
              <a:rPr lang="en-US" sz="2136" b="1" dirty="0">
                <a:solidFill>
                  <a:srgbClr val="1B3957"/>
                </a:solidFill>
                <a:latin typeface="Signika Bold"/>
                <a:ea typeface="Signika Bold"/>
                <a:cs typeface="Signika Bold"/>
                <a:sym typeface="Signika Bold"/>
              </a:rPr>
              <a:t>Value Proposition: "The only system that thinks before it purifies, ensuring your water is not just clean, but optimally healthy."</a:t>
            </a:r>
          </a:p>
          <a:p>
            <a:pPr algn="just">
              <a:lnSpc>
                <a:spcPts val="2991"/>
              </a:lnSpc>
            </a:pPr>
            <a:endParaRPr lang="en-US" sz="2136" b="1" dirty="0">
              <a:solidFill>
                <a:srgbClr val="1B3957"/>
              </a:solidFill>
              <a:latin typeface="Signika Bold"/>
              <a:ea typeface="Signika Bold"/>
              <a:cs typeface="Signika Bold"/>
              <a:sym typeface="Signika Bold"/>
            </a:endParaRPr>
          </a:p>
          <a:p>
            <a:pPr marL="461288" lvl="1" indent="-230644" algn="just">
              <a:lnSpc>
                <a:spcPts val="2991"/>
              </a:lnSpc>
              <a:buFont typeface="Arial"/>
              <a:buChar char="•"/>
            </a:pPr>
            <a:r>
              <a:rPr lang="en-US" sz="2136" b="1" dirty="0">
                <a:solidFill>
                  <a:srgbClr val="1B3957"/>
                </a:solidFill>
                <a:latin typeface="Signika Bold"/>
                <a:ea typeface="Signika Bold"/>
                <a:cs typeface="Signika Bold"/>
                <a:sym typeface="Signika Bold"/>
              </a:rPr>
              <a:t>Intellectual Property: Potential patent for the "AI-driven adaptive mineral balancing system" and the "integrated water identification and purification logic.</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sp>
        <p:nvSpPr>
          <p:cNvPr id="4" name="Freeform 4"/>
          <p:cNvSpPr/>
          <p:nvPr/>
        </p:nvSpPr>
        <p:spPr>
          <a:xfrm>
            <a:off x="2756466" y="2027429"/>
            <a:ext cx="12775068" cy="6968219"/>
          </a:xfrm>
          <a:custGeom>
            <a:avLst/>
            <a:gdLst/>
            <a:ahLst/>
            <a:cxnLst/>
            <a:rect l="l" t="t" r="r" b="b"/>
            <a:pathLst>
              <a:path w="12775068" h="6968219">
                <a:moveTo>
                  <a:pt x="0" y="0"/>
                </a:moveTo>
                <a:lnTo>
                  <a:pt x="12775068" y="0"/>
                </a:lnTo>
                <a:lnTo>
                  <a:pt x="12775068" y="6968219"/>
                </a:lnTo>
                <a:lnTo>
                  <a:pt x="0" y="6968219"/>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2386136" y="943594"/>
            <a:ext cx="13349582" cy="982982"/>
          </a:xfrm>
          <a:prstGeom prst="rect">
            <a:avLst/>
          </a:prstGeom>
        </p:spPr>
        <p:txBody>
          <a:bodyPr lIns="0" tIns="0" rIns="0" bIns="0" rtlCol="0" anchor="t">
            <a:spAutoFit/>
          </a:bodyPr>
          <a:lstStyle/>
          <a:p>
            <a:pPr marL="0" lvl="0" indent="0" algn="ctr">
              <a:lnSpc>
                <a:spcPts val="7590"/>
              </a:lnSpc>
              <a:spcBef>
                <a:spcPct val="0"/>
              </a:spcBef>
            </a:pPr>
            <a:r>
              <a:rPr lang="en-US" sz="6900" b="1" dirty="0">
                <a:solidFill>
                  <a:srgbClr val="06728A"/>
                </a:solidFill>
                <a:latin typeface="Garet Bold"/>
                <a:ea typeface="Garet Bold"/>
                <a:cs typeface="Garet Bold"/>
                <a:sym typeface="Garet Bold"/>
              </a:rPr>
              <a:t>GANTT CHART</a:t>
            </a:r>
          </a:p>
        </p:txBody>
      </p:sp>
      <p:grpSp>
        <p:nvGrpSpPr>
          <p:cNvPr id="6" name="Group 6"/>
          <p:cNvGrpSpPr/>
          <p:nvPr/>
        </p:nvGrpSpPr>
        <p:grpSpPr>
          <a:xfrm>
            <a:off x="0" y="9559957"/>
            <a:ext cx="3771900" cy="735463"/>
            <a:chOff x="0" y="0"/>
            <a:chExt cx="5029200" cy="980618"/>
          </a:xfrm>
        </p:grpSpPr>
        <p:sp>
          <p:nvSpPr>
            <p:cNvPr id="7" name="Freeform 7"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5"/>
              <a:stretch>
                <a:fillRect t="-929488" r="-256844" b="-5"/>
              </a:stretch>
            </a:blipFill>
          </p:spPr>
          <p:txBody>
            <a:bodyPr/>
            <a:lstStyle/>
            <a:p>
              <a:endParaRPr lang="en-US"/>
            </a:p>
          </p:txBody>
        </p:sp>
      </p:grpSp>
      <p:grpSp>
        <p:nvGrpSpPr>
          <p:cNvPr id="8" name="Group 8"/>
          <p:cNvGrpSpPr/>
          <p:nvPr/>
        </p:nvGrpSpPr>
        <p:grpSpPr>
          <a:xfrm>
            <a:off x="3948655" y="9739312"/>
            <a:ext cx="10224545" cy="547688"/>
            <a:chOff x="0" y="0"/>
            <a:chExt cx="13632726" cy="730250"/>
          </a:xfrm>
        </p:grpSpPr>
        <p:sp>
          <p:nvSpPr>
            <p:cNvPr id="9" name="Freeform 9"/>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6">
                <a:alphaModFix amt="0"/>
              </a:blip>
              <a:stretch>
                <a:fillRect t="-313757" b="-313757"/>
              </a:stretch>
            </a:blipFill>
          </p:spPr>
          <p:txBody>
            <a:bodyPr/>
            <a:lstStyle/>
            <a:p>
              <a:endParaRPr lang="en-US"/>
            </a:p>
          </p:txBody>
        </p:sp>
        <p:sp>
          <p:nvSpPr>
            <p:cNvPr id="10" name="TextBox 10"/>
            <p:cNvSpPr txBox="1"/>
            <p:nvPr/>
          </p:nvSpPr>
          <p:spPr>
            <a:xfrm>
              <a:off x="0" y="-19050"/>
              <a:ext cx="13632726" cy="74930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2" name="TextBox 12"/>
          <p:cNvSpPr txBox="1"/>
          <p:nvPr/>
        </p:nvSpPr>
        <p:spPr>
          <a:xfrm>
            <a:off x="14601650" y="521326"/>
            <a:ext cx="3257900" cy="288541"/>
          </a:xfrm>
          <a:prstGeom prst="rect">
            <a:avLst/>
          </a:prstGeom>
        </p:spPr>
        <p:txBody>
          <a:bodyPr wrap="square"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WATER PURIFICATION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Freeform 3"/>
          <p:cNvSpPr/>
          <p:nvPr/>
        </p:nvSpPr>
        <p:spPr>
          <a:xfrm rot="9551415" flipH="1">
            <a:off x="15235454" y="1087656"/>
            <a:ext cx="3982806" cy="5390338"/>
          </a:xfrm>
          <a:custGeom>
            <a:avLst/>
            <a:gdLst/>
            <a:ahLst/>
            <a:cxnLst/>
            <a:rect l="l" t="t" r="r" b="b"/>
            <a:pathLst>
              <a:path w="3982806" h="5390338">
                <a:moveTo>
                  <a:pt x="3982806" y="0"/>
                </a:moveTo>
                <a:lnTo>
                  <a:pt x="0" y="0"/>
                </a:lnTo>
                <a:lnTo>
                  <a:pt x="0" y="5390338"/>
                </a:lnTo>
                <a:lnTo>
                  <a:pt x="3982806" y="5390338"/>
                </a:lnTo>
                <a:lnTo>
                  <a:pt x="3982806" y="0"/>
                </a:lnTo>
                <a:close/>
              </a:path>
            </a:pathLst>
          </a:custGeom>
          <a:blipFill>
            <a:blip r:embed="rId3"/>
            <a:stretch>
              <a:fillRect b="-1914"/>
            </a:stretch>
          </a:blipFill>
        </p:spPr>
        <p:txBody>
          <a:bodyPr/>
          <a:lstStyle/>
          <a:p>
            <a:endParaRPr lang="en-US"/>
          </a:p>
        </p:txBody>
      </p:sp>
      <p:grpSp>
        <p:nvGrpSpPr>
          <p:cNvPr id="4" name="Group 4"/>
          <p:cNvGrpSpPr/>
          <p:nvPr/>
        </p:nvGrpSpPr>
        <p:grpSpPr>
          <a:xfrm>
            <a:off x="0" y="9559957"/>
            <a:ext cx="3771900" cy="735463"/>
            <a:chOff x="0" y="0"/>
            <a:chExt cx="5029200" cy="980618"/>
          </a:xfrm>
        </p:grpSpPr>
        <p:sp>
          <p:nvSpPr>
            <p:cNvPr id="5" name="Freeform 5" descr="A picture containing photo, table, person, monitor  Description automatically generated"/>
            <p:cNvSpPr/>
            <p:nvPr/>
          </p:nvSpPr>
          <p:spPr>
            <a:xfrm>
              <a:off x="0" y="0"/>
              <a:ext cx="5029200" cy="980567"/>
            </a:xfrm>
            <a:custGeom>
              <a:avLst/>
              <a:gdLst/>
              <a:ahLst/>
              <a:cxnLst/>
              <a:rect l="l" t="t" r="r" b="b"/>
              <a:pathLst>
                <a:path w="5029200" h="980567">
                  <a:moveTo>
                    <a:pt x="0" y="0"/>
                  </a:moveTo>
                  <a:lnTo>
                    <a:pt x="5029200" y="0"/>
                  </a:lnTo>
                  <a:lnTo>
                    <a:pt x="5029200" y="980567"/>
                  </a:lnTo>
                  <a:lnTo>
                    <a:pt x="0" y="980567"/>
                  </a:lnTo>
                  <a:lnTo>
                    <a:pt x="0" y="0"/>
                  </a:lnTo>
                  <a:close/>
                </a:path>
              </a:pathLst>
            </a:custGeom>
            <a:blipFill>
              <a:blip r:embed="rId4"/>
              <a:stretch>
                <a:fillRect t="-929488" r="-256844" b="-5"/>
              </a:stretch>
            </a:blipFill>
          </p:spPr>
          <p:txBody>
            <a:bodyPr/>
            <a:lstStyle/>
            <a:p>
              <a:endParaRPr lang="en-US"/>
            </a:p>
          </p:txBody>
        </p:sp>
      </p:grpSp>
      <p:grpSp>
        <p:nvGrpSpPr>
          <p:cNvPr id="6" name="Group 6"/>
          <p:cNvGrpSpPr/>
          <p:nvPr/>
        </p:nvGrpSpPr>
        <p:grpSpPr>
          <a:xfrm>
            <a:off x="3948655" y="9739312"/>
            <a:ext cx="10224545" cy="547688"/>
            <a:chOff x="0" y="0"/>
            <a:chExt cx="13632726" cy="730250"/>
          </a:xfrm>
        </p:grpSpPr>
        <p:sp>
          <p:nvSpPr>
            <p:cNvPr id="7" name="Freeform 7"/>
            <p:cNvSpPr/>
            <p:nvPr/>
          </p:nvSpPr>
          <p:spPr>
            <a:xfrm>
              <a:off x="0" y="0"/>
              <a:ext cx="13632731" cy="730250"/>
            </a:xfrm>
            <a:custGeom>
              <a:avLst/>
              <a:gdLst/>
              <a:ahLst/>
              <a:cxnLst/>
              <a:rect l="l" t="t" r="r" b="b"/>
              <a:pathLst>
                <a:path w="13632731" h="730250">
                  <a:moveTo>
                    <a:pt x="0" y="0"/>
                  </a:moveTo>
                  <a:lnTo>
                    <a:pt x="13632731" y="0"/>
                  </a:lnTo>
                  <a:lnTo>
                    <a:pt x="13632731" y="730250"/>
                  </a:lnTo>
                  <a:lnTo>
                    <a:pt x="0" y="730250"/>
                  </a:lnTo>
                  <a:close/>
                </a:path>
              </a:pathLst>
            </a:custGeom>
            <a:blipFill>
              <a:blip r:embed="rId5">
                <a:alphaModFix amt="0"/>
              </a:blip>
              <a:stretch>
                <a:fillRect t="-313757" b="-313757"/>
              </a:stretch>
            </a:blipFill>
          </p:spPr>
          <p:txBody>
            <a:bodyPr/>
            <a:lstStyle/>
            <a:p>
              <a:endParaRPr lang="en-US"/>
            </a:p>
          </p:txBody>
        </p:sp>
        <p:sp>
          <p:nvSpPr>
            <p:cNvPr id="8" name="TextBox 8"/>
            <p:cNvSpPr txBox="1"/>
            <p:nvPr/>
          </p:nvSpPr>
          <p:spPr>
            <a:xfrm>
              <a:off x="0" y="-19050"/>
              <a:ext cx="13632726" cy="749300"/>
            </a:xfrm>
            <a:prstGeom prst="rect">
              <a:avLst/>
            </a:prstGeom>
          </p:spPr>
          <p:txBody>
            <a:bodyPr lIns="0" tIns="0" rIns="0" bIns="0" rtlCol="0" anchor="ctr"/>
            <a:lstStyle/>
            <a:p>
              <a:pPr algn="ctr">
                <a:lnSpc>
                  <a:spcPts val="3240"/>
                </a:lnSpc>
              </a:pPr>
              <a:r>
                <a:rPr lang="en-US" sz="2700">
                  <a:solidFill>
                    <a:srgbClr val="000000"/>
                  </a:solidFill>
                  <a:latin typeface="Cambria"/>
                  <a:ea typeface="Cambria"/>
                  <a:cs typeface="Cambria"/>
                  <a:sym typeface="Cambria"/>
                </a:rPr>
                <a:t>R26-IT-005</a:t>
              </a:r>
            </a:p>
          </p:txBody>
        </p:sp>
      </p:grpSp>
      <p:sp>
        <p:nvSpPr>
          <p:cNvPr id="9" name="Freeform 9"/>
          <p:cNvSpPr/>
          <p:nvPr/>
        </p:nvSpPr>
        <p:spPr>
          <a:xfrm>
            <a:off x="3019543" y="2481881"/>
            <a:ext cx="12082769" cy="6776419"/>
          </a:xfrm>
          <a:custGeom>
            <a:avLst/>
            <a:gdLst/>
            <a:ahLst/>
            <a:cxnLst/>
            <a:rect l="l" t="t" r="r" b="b"/>
            <a:pathLst>
              <a:path w="12082769" h="6776419">
                <a:moveTo>
                  <a:pt x="0" y="0"/>
                </a:moveTo>
                <a:lnTo>
                  <a:pt x="12082769" y="0"/>
                </a:lnTo>
                <a:lnTo>
                  <a:pt x="12082769" y="6776419"/>
                </a:lnTo>
                <a:lnTo>
                  <a:pt x="0" y="6776419"/>
                </a:lnTo>
                <a:lnTo>
                  <a:pt x="0" y="0"/>
                </a:lnTo>
                <a:close/>
              </a:path>
            </a:pathLst>
          </a:custGeom>
          <a:blipFill>
            <a:blip r:embed="rId6"/>
            <a:stretch>
              <a:fillRect/>
            </a:stretch>
          </a:blipFill>
        </p:spPr>
        <p:txBody>
          <a:bodyPr/>
          <a:lstStyle/>
          <a:p>
            <a:endParaRPr lang="en-US"/>
          </a:p>
        </p:txBody>
      </p:sp>
      <p:sp>
        <p:nvSpPr>
          <p:cNvPr id="10" name="TextBox 10"/>
          <p:cNvSpPr txBox="1"/>
          <p:nvPr/>
        </p:nvSpPr>
        <p:spPr>
          <a:xfrm>
            <a:off x="3019543" y="1279703"/>
            <a:ext cx="13114921" cy="806132"/>
          </a:xfrm>
          <a:prstGeom prst="rect">
            <a:avLst/>
          </a:prstGeom>
        </p:spPr>
        <p:txBody>
          <a:bodyPr lIns="0" tIns="0" rIns="0" bIns="0" rtlCol="0" anchor="t">
            <a:spAutoFit/>
          </a:bodyPr>
          <a:lstStyle/>
          <a:p>
            <a:pPr marL="0" lvl="0" indent="0" algn="l">
              <a:lnSpc>
                <a:spcPts val="6297"/>
              </a:lnSpc>
              <a:spcBef>
                <a:spcPct val="0"/>
              </a:spcBef>
            </a:pPr>
            <a:r>
              <a:rPr lang="en-US" sz="5724" b="1" dirty="0">
                <a:solidFill>
                  <a:srgbClr val="06728A"/>
                </a:solidFill>
                <a:latin typeface="Garet Bold"/>
                <a:ea typeface="Garet Bold"/>
                <a:cs typeface="Garet Bold"/>
                <a:sym typeface="Garet Bold"/>
              </a:rPr>
              <a:t>WORK BREAKDOWN STRUCTURE </a:t>
            </a:r>
          </a:p>
        </p:txBody>
      </p:sp>
      <p:sp>
        <p:nvSpPr>
          <p:cNvPr id="11" name="TextBox 11"/>
          <p:cNvSpPr txBox="1"/>
          <p:nvPr/>
        </p:nvSpPr>
        <p:spPr>
          <a:xfrm>
            <a:off x="15521940" y="9841601"/>
            <a:ext cx="1417320" cy="276225"/>
          </a:xfrm>
          <a:prstGeom prst="rect">
            <a:avLst/>
          </a:prstGeom>
        </p:spPr>
        <p:txBody>
          <a:bodyPr lIns="0" tIns="0" rIns="0" bIns="0" rtlCol="0" anchor="t">
            <a:spAutoFit/>
          </a:bodyPr>
          <a:lstStyle/>
          <a:p>
            <a:pPr algn="l">
              <a:lnSpc>
                <a:spcPts val="2160"/>
              </a:lnSpc>
            </a:pPr>
            <a:r>
              <a:rPr lang="en-US" sz="1800" b="1">
                <a:solidFill>
                  <a:srgbClr val="000000"/>
                </a:solidFill>
                <a:latin typeface="Cambria Bold"/>
                <a:ea typeface="Cambria Bold"/>
                <a:cs typeface="Cambria Bold"/>
                <a:sym typeface="Cambria Bold"/>
              </a:rPr>
              <a:t>2026/03/16</a:t>
            </a:r>
          </a:p>
        </p:txBody>
      </p:sp>
      <p:sp>
        <p:nvSpPr>
          <p:cNvPr id="12" name="TextBox 12"/>
          <p:cNvSpPr txBox="1"/>
          <p:nvPr/>
        </p:nvSpPr>
        <p:spPr>
          <a:xfrm>
            <a:off x="14863954" y="560163"/>
            <a:ext cx="2966846" cy="288541"/>
          </a:xfrm>
          <a:prstGeom prst="rect">
            <a:avLst/>
          </a:prstGeom>
        </p:spPr>
        <p:txBody>
          <a:bodyPr wrap="square" lIns="0" tIns="0" rIns="0" bIns="0" rtlCol="0" anchor="t">
            <a:spAutoFit/>
          </a:bodyPr>
          <a:lstStyle/>
          <a:p>
            <a:pPr algn="ctr">
              <a:lnSpc>
                <a:spcPts val="2200"/>
              </a:lnSpc>
              <a:spcBef>
                <a:spcPct val="0"/>
              </a:spcBef>
            </a:pPr>
            <a:r>
              <a:rPr lang="en-US" sz="2000" b="1" dirty="0">
                <a:solidFill>
                  <a:srgbClr val="06728A"/>
                </a:solidFill>
                <a:latin typeface="Garet Bold"/>
                <a:ea typeface="Garet Bold"/>
                <a:cs typeface="Garet Bold"/>
                <a:sym typeface="Garet Bold"/>
              </a:rPr>
              <a:t>WATER PURIFICATION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902" t="-16393" r="-3237" b="-10731"/>
            </a:stretch>
          </a:blipFill>
        </p:spPr>
        <p:txBody>
          <a:bodyPr/>
          <a:lstStyle/>
          <a:p>
            <a:endParaRPr lang="en-US"/>
          </a:p>
        </p:txBody>
      </p:sp>
      <p:sp>
        <p:nvSpPr>
          <p:cNvPr id="3" name="TextBox 3"/>
          <p:cNvSpPr txBox="1"/>
          <p:nvPr/>
        </p:nvSpPr>
        <p:spPr>
          <a:xfrm>
            <a:off x="10615172" y="3292426"/>
            <a:ext cx="4229488" cy="2496546"/>
          </a:xfrm>
          <a:prstGeom prst="rect">
            <a:avLst/>
          </a:prstGeom>
        </p:spPr>
        <p:txBody>
          <a:bodyPr lIns="0" tIns="0" rIns="0" bIns="0" rtlCol="0" anchor="t">
            <a:spAutoFit/>
          </a:bodyPr>
          <a:lstStyle/>
          <a:p>
            <a:pPr marL="0" lvl="0" indent="0" algn="r">
              <a:lnSpc>
                <a:spcPts val="20418"/>
              </a:lnSpc>
              <a:spcBef>
                <a:spcPct val="0"/>
              </a:spcBef>
            </a:pPr>
            <a:r>
              <a:rPr lang="en-US" sz="14584" b="1">
                <a:solidFill>
                  <a:srgbClr val="1B3957"/>
                </a:solidFill>
                <a:latin typeface="Garet Bold"/>
                <a:ea typeface="Garet Bold"/>
                <a:cs typeface="Garet Bold"/>
                <a:sym typeface="Garet Bold"/>
              </a:rPr>
              <a:t>YOU</a:t>
            </a:r>
          </a:p>
        </p:txBody>
      </p:sp>
      <p:sp>
        <p:nvSpPr>
          <p:cNvPr id="4" name="TextBox 4"/>
          <p:cNvSpPr txBox="1"/>
          <p:nvPr/>
        </p:nvSpPr>
        <p:spPr>
          <a:xfrm>
            <a:off x="3443340" y="3292426"/>
            <a:ext cx="6808568" cy="2496546"/>
          </a:xfrm>
          <a:prstGeom prst="rect">
            <a:avLst/>
          </a:prstGeom>
        </p:spPr>
        <p:txBody>
          <a:bodyPr lIns="0" tIns="0" rIns="0" bIns="0" rtlCol="0" anchor="t">
            <a:spAutoFit/>
          </a:bodyPr>
          <a:lstStyle/>
          <a:p>
            <a:pPr marL="0" lvl="0" indent="0" algn="l">
              <a:lnSpc>
                <a:spcPts val="20418"/>
              </a:lnSpc>
              <a:spcBef>
                <a:spcPct val="0"/>
              </a:spcBef>
            </a:pPr>
            <a:r>
              <a:rPr lang="en-US" sz="14584" b="1">
                <a:solidFill>
                  <a:srgbClr val="06728A"/>
                </a:solidFill>
                <a:latin typeface="Garet Bold"/>
                <a:ea typeface="Garet Bold"/>
                <a:cs typeface="Garet Bold"/>
                <a:sym typeface="Garet Bold"/>
              </a:rPr>
              <a:t>THANK </a:t>
            </a:r>
          </a:p>
        </p:txBody>
      </p:sp>
      <p:grpSp>
        <p:nvGrpSpPr>
          <p:cNvPr id="5" name="Group 5"/>
          <p:cNvGrpSpPr/>
          <p:nvPr/>
        </p:nvGrpSpPr>
        <p:grpSpPr>
          <a:xfrm>
            <a:off x="4026719" y="6027920"/>
            <a:ext cx="10530798" cy="967072"/>
            <a:chOff x="0" y="0"/>
            <a:chExt cx="3251764" cy="298618"/>
          </a:xfrm>
        </p:grpSpPr>
        <p:sp>
          <p:nvSpPr>
            <p:cNvPr id="6" name="Freeform 6"/>
            <p:cNvSpPr/>
            <p:nvPr/>
          </p:nvSpPr>
          <p:spPr>
            <a:xfrm>
              <a:off x="0" y="0"/>
              <a:ext cx="3251764" cy="298618"/>
            </a:xfrm>
            <a:custGeom>
              <a:avLst/>
              <a:gdLst/>
              <a:ahLst/>
              <a:cxnLst/>
              <a:rect l="l" t="t" r="r" b="b"/>
              <a:pathLst>
                <a:path w="3251764" h="298618">
                  <a:moveTo>
                    <a:pt x="51462" y="0"/>
                  </a:moveTo>
                  <a:lnTo>
                    <a:pt x="3200303" y="0"/>
                  </a:lnTo>
                  <a:cubicBezTo>
                    <a:pt x="3228724" y="0"/>
                    <a:pt x="3251764" y="23040"/>
                    <a:pt x="3251764" y="51462"/>
                  </a:cubicBezTo>
                  <a:lnTo>
                    <a:pt x="3251764" y="247157"/>
                  </a:lnTo>
                  <a:cubicBezTo>
                    <a:pt x="3251764" y="275578"/>
                    <a:pt x="3228724" y="298618"/>
                    <a:pt x="3200303" y="298618"/>
                  </a:cubicBezTo>
                  <a:lnTo>
                    <a:pt x="51462" y="298618"/>
                  </a:lnTo>
                  <a:cubicBezTo>
                    <a:pt x="23040" y="298618"/>
                    <a:pt x="0" y="275578"/>
                    <a:pt x="0" y="247157"/>
                  </a:cubicBezTo>
                  <a:lnTo>
                    <a:pt x="0" y="51462"/>
                  </a:lnTo>
                  <a:cubicBezTo>
                    <a:pt x="0" y="23040"/>
                    <a:pt x="23040" y="0"/>
                    <a:pt x="51462" y="0"/>
                  </a:cubicBezTo>
                  <a:close/>
                </a:path>
              </a:pathLst>
            </a:custGeom>
            <a:solidFill>
              <a:srgbClr val="06728A"/>
            </a:solidFill>
          </p:spPr>
          <p:txBody>
            <a:bodyPr/>
            <a:lstStyle/>
            <a:p>
              <a:endParaRPr lang="en-US"/>
            </a:p>
          </p:txBody>
        </p:sp>
        <p:sp>
          <p:nvSpPr>
            <p:cNvPr id="7" name="TextBox 7"/>
            <p:cNvSpPr txBox="1"/>
            <p:nvPr/>
          </p:nvSpPr>
          <p:spPr>
            <a:xfrm>
              <a:off x="0" y="-28575"/>
              <a:ext cx="3251764" cy="327193"/>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4308532" y="6177983"/>
            <a:ext cx="9967170" cy="679152"/>
          </a:xfrm>
          <a:prstGeom prst="rect">
            <a:avLst/>
          </a:prstGeom>
        </p:spPr>
        <p:txBody>
          <a:bodyPr lIns="0" tIns="0" rIns="0" bIns="0" rtlCol="0" anchor="t">
            <a:spAutoFit/>
          </a:bodyPr>
          <a:lstStyle/>
          <a:p>
            <a:pPr marL="0" lvl="0" indent="0" algn="ctr">
              <a:lnSpc>
                <a:spcPts val="5616"/>
              </a:lnSpc>
              <a:spcBef>
                <a:spcPct val="0"/>
              </a:spcBef>
            </a:pPr>
            <a:r>
              <a:rPr lang="en-US" sz="4011" b="1">
                <a:solidFill>
                  <a:srgbClr val="FFFFFF"/>
                </a:solidFill>
                <a:latin typeface="Glacial Indifference Bold"/>
                <a:ea typeface="Glacial Indifference Bold"/>
                <a:cs typeface="Glacial Indifference Bold"/>
                <a:sym typeface="Glacial Indifference Bold"/>
              </a:rPr>
              <a:t>ANY QUESTIONS ?</a:t>
            </a:r>
          </a:p>
        </p:txBody>
      </p:sp>
      <p:sp>
        <p:nvSpPr>
          <p:cNvPr id="9" name="Freeform 9"/>
          <p:cNvSpPr/>
          <p:nvPr/>
        </p:nvSpPr>
        <p:spPr>
          <a:xfrm rot="-2700000" flipH="1">
            <a:off x="12234759" y="-2607832"/>
            <a:ext cx="4998315" cy="6764729"/>
          </a:xfrm>
          <a:custGeom>
            <a:avLst/>
            <a:gdLst/>
            <a:ahLst/>
            <a:cxnLst/>
            <a:rect l="l" t="t" r="r" b="b"/>
            <a:pathLst>
              <a:path w="4998315" h="6764729">
                <a:moveTo>
                  <a:pt x="4998314" y="0"/>
                </a:moveTo>
                <a:lnTo>
                  <a:pt x="0" y="0"/>
                </a:lnTo>
                <a:lnTo>
                  <a:pt x="0" y="6764729"/>
                </a:lnTo>
                <a:lnTo>
                  <a:pt x="4998314" y="6764729"/>
                </a:lnTo>
                <a:lnTo>
                  <a:pt x="4998314" y="0"/>
                </a:lnTo>
                <a:close/>
              </a:path>
            </a:pathLst>
          </a:custGeom>
          <a:blipFill>
            <a:blip r:embed="rId3"/>
            <a:stretch>
              <a:fillRect b="-1914"/>
            </a:stretch>
          </a:blipFill>
        </p:spPr>
        <p:txBody>
          <a:bodyPr/>
          <a:lstStyle/>
          <a:p>
            <a:endParaRPr lang="en-US"/>
          </a:p>
        </p:txBody>
      </p:sp>
      <p:sp>
        <p:nvSpPr>
          <p:cNvPr id="10" name="Freeform 10"/>
          <p:cNvSpPr/>
          <p:nvPr/>
        </p:nvSpPr>
        <p:spPr>
          <a:xfrm rot="7263322" flipH="1">
            <a:off x="-1281504" y="5252098"/>
            <a:ext cx="4095430" cy="5542764"/>
          </a:xfrm>
          <a:custGeom>
            <a:avLst/>
            <a:gdLst/>
            <a:ahLst/>
            <a:cxnLst/>
            <a:rect l="l" t="t" r="r" b="b"/>
            <a:pathLst>
              <a:path w="4095430" h="5542764">
                <a:moveTo>
                  <a:pt x="4095430" y="0"/>
                </a:moveTo>
                <a:lnTo>
                  <a:pt x="0" y="0"/>
                </a:lnTo>
                <a:lnTo>
                  <a:pt x="0" y="5542763"/>
                </a:lnTo>
                <a:lnTo>
                  <a:pt x="4095430" y="5542763"/>
                </a:lnTo>
                <a:lnTo>
                  <a:pt x="4095430" y="0"/>
                </a:lnTo>
                <a:close/>
              </a:path>
            </a:pathLst>
          </a:custGeom>
          <a:blipFill>
            <a:blip r:embed="rId3"/>
            <a:stretch>
              <a:fillRect b="-1914"/>
            </a:stretch>
          </a:blipFill>
        </p:spPr>
        <p:txBody>
          <a:bodyPr/>
          <a:lstStyle/>
          <a:p>
            <a:endParaRPr lang="en-US"/>
          </a:p>
        </p:txBody>
      </p:sp>
      <p:sp>
        <p:nvSpPr>
          <p:cNvPr id="11" name="Freeform 11"/>
          <p:cNvSpPr/>
          <p:nvPr/>
        </p:nvSpPr>
        <p:spPr>
          <a:xfrm rot="-3562859" flipH="1">
            <a:off x="3437493" y="8103108"/>
            <a:ext cx="2664348" cy="4367784"/>
          </a:xfrm>
          <a:custGeom>
            <a:avLst/>
            <a:gdLst/>
            <a:ahLst/>
            <a:cxnLst/>
            <a:rect l="l" t="t" r="r" b="b"/>
            <a:pathLst>
              <a:path w="2664348" h="4367784">
                <a:moveTo>
                  <a:pt x="2664348" y="0"/>
                </a:moveTo>
                <a:lnTo>
                  <a:pt x="0" y="0"/>
                </a:lnTo>
                <a:lnTo>
                  <a:pt x="0" y="4367784"/>
                </a:lnTo>
                <a:lnTo>
                  <a:pt x="2664348" y="4367784"/>
                </a:lnTo>
                <a:lnTo>
                  <a:pt x="2664348" y="0"/>
                </a:lnTo>
                <a:close/>
              </a:path>
            </a:pathLst>
          </a:custGeom>
          <a:blipFill>
            <a:blip r:embed="rId4"/>
            <a:stretch>
              <a:fillRect/>
            </a:stretch>
          </a:blipFill>
        </p:spPr>
        <p:txBody>
          <a:bodyPr/>
          <a:lstStyle/>
          <a:p>
            <a:endParaRPr lang="en-US"/>
          </a:p>
        </p:txBody>
      </p:sp>
      <p:sp>
        <p:nvSpPr>
          <p:cNvPr id="12" name="Freeform 12"/>
          <p:cNvSpPr/>
          <p:nvPr/>
        </p:nvSpPr>
        <p:spPr>
          <a:xfrm rot="-1515959">
            <a:off x="15112177" y="8307569"/>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13" name="Freeform 13"/>
          <p:cNvSpPr/>
          <p:nvPr/>
        </p:nvSpPr>
        <p:spPr>
          <a:xfrm rot="672052">
            <a:off x="3024835" y="1674973"/>
            <a:ext cx="486621" cy="486621"/>
          </a:xfrm>
          <a:custGeom>
            <a:avLst/>
            <a:gdLst/>
            <a:ahLst/>
            <a:cxnLst/>
            <a:rect l="l" t="t" r="r" b="b"/>
            <a:pathLst>
              <a:path w="486621" h="486621">
                <a:moveTo>
                  <a:pt x="0" y="0"/>
                </a:moveTo>
                <a:lnTo>
                  <a:pt x="486621" y="0"/>
                </a:lnTo>
                <a:lnTo>
                  <a:pt x="486621" y="486621"/>
                </a:lnTo>
                <a:lnTo>
                  <a:pt x="0" y="486621"/>
                </a:lnTo>
                <a:lnTo>
                  <a:pt x="0" y="0"/>
                </a:lnTo>
                <a:close/>
              </a:path>
            </a:pathLst>
          </a:custGeom>
          <a:blipFill>
            <a:blip>
              <a:alphaModFix amt="50000"/>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TotalTime>
  <Words>4678</Words>
  <Application>Microsoft Office PowerPoint</Application>
  <PresentationFormat>Custom</PresentationFormat>
  <Paragraphs>481</Paragraphs>
  <Slides>51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Cambria Bold</vt:lpstr>
      <vt:lpstr>Signika Bold</vt:lpstr>
      <vt:lpstr>Arial</vt:lpstr>
      <vt:lpstr>Arimo Bold</vt:lpstr>
      <vt:lpstr>Cambria</vt:lpstr>
      <vt:lpstr>Garet Bold</vt:lpstr>
      <vt:lpstr>Open Sauce Bold</vt:lpstr>
      <vt:lpstr>Garet</vt:lpstr>
      <vt:lpstr>Calibri</vt:lpstr>
      <vt:lpstr>Glacial Indifference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purification</dc:title>
  <cp:lastModifiedBy>WIJESINHA W.A.S.P.D. it22295460</cp:lastModifiedBy>
  <cp:revision>5</cp:revision>
  <dcterms:created xsi:type="dcterms:W3CDTF">2006-08-16T00:00:00Z</dcterms:created>
  <dcterms:modified xsi:type="dcterms:W3CDTF">2026-10-10T05:16:37Z</dcterms:modified>
  <dc:identifier>DAHDPdpfYNA</dc:identifier>
</cp:coreProperties>
</file>
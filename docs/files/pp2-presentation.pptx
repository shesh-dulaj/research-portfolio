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4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manda Rathnayake" userId="74f6288d55dc6935" providerId="LiveId" clId="{D44EBF66-A5FA-42F0-9E07-08F7C76FAF1E}"/>
    <pc:docChg chg="modSld">
      <pc:chgData name="Amanda Rathnayake" userId="74f6288d55dc6935" providerId="LiveId" clId="{D44EBF66-A5FA-42F0-9E07-08F7C76FAF1E}" dt="2026-10-09T15:25:55.515" v="10" actId="14100"/>
      <pc:docMkLst>
        <pc:docMk/>
      </pc:docMkLst>
      <pc:sldChg chg="modSp mod">
        <pc:chgData name="Amanda Rathnayake" userId="74f6288d55dc6935" providerId="LiveId" clId="{D44EBF66-A5FA-42F0-9E07-08F7C76FAF1E}" dt="2026-10-09T15:24:56.920" v="2" actId="14100"/>
        <pc:sldMkLst>
          <pc:docMk/>
          <pc:sldMk cId="0" sldId="261"/>
        </pc:sldMkLst>
        <pc:spChg chg="mod">
          <ac:chgData name="Amanda Rathnayake" userId="74f6288d55dc6935" providerId="LiveId" clId="{D44EBF66-A5FA-42F0-9E07-08F7C76FAF1E}" dt="2026-10-09T15:24:56.920" v="2" actId="14100"/>
          <ac:spMkLst>
            <pc:docMk/>
            <pc:sldMk cId="0" sldId="261"/>
            <ac:spMk id="6" creationId="{00000000-0000-0000-0000-000000000000}"/>
          </ac:spMkLst>
        </pc:spChg>
      </pc:sldChg>
      <pc:sldChg chg="modSp mod">
        <pc:chgData name="Amanda Rathnayake" userId="74f6288d55dc6935" providerId="LiveId" clId="{D44EBF66-A5FA-42F0-9E07-08F7C76FAF1E}" dt="2026-10-09T15:25:16.196" v="5" actId="14100"/>
        <pc:sldMkLst>
          <pc:docMk/>
          <pc:sldMk cId="0" sldId="262"/>
        </pc:sldMkLst>
        <pc:spChg chg="mod">
          <ac:chgData name="Amanda Rathnayake" userId="74f6288d55dc6935" providerId="LiveId" clId="{D44EBF66-A5FA-42F0-9E07-08F7C76FAF1E}" dt="2026-10-09T15:25:16.196" v="5" actId="14100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Amanda Rathnayake" userId="74f6288d55dc6935" providerId="LiveId" clId="{D44EBF66-A5FA-42F0-9E07-08F7C76FAF1E}" dt="2026-10-09T15:25:24.827" v="6" actId="14100"/>
        <pc:sldMkLst>
          <pc:docMk/>
          <pc:sldMk cId="0" sldId="263"/>
        </pc:sldMkLst>
        <pc:spChg chg="mod">
          <ac:chgData name="Amanda Rathnayake" userId="74f6288d55dc6935" providerId="LiveId" clId="{D44EBF66-A5FA-42F0-9E07-08F7C76FAF1E}" dt="2026-10-09T15:25:24.827" v="6" actId="14100"/>
          <ac:spMkLst>
            <pc:docMk/>
            <pc:sldMk cId="0" sldId="263"/>
            <ac:spMk id="14" creationId="{00000000-0000-0000-0000-000000000000}"/>
          </ac:spMkLst>
        </pc:spChg>
      </pc:sldChg>
      <pc:sldChg chg="modSp mod">
        <pc:chgData name="Amanda Rathnayake" userId="74f6288d55dc6935" providerId="LiveId" clId="{D44EBF66-A5FA-42F0-9E07-08F7C76FAF1E}" dt="2026-10-09T15:25:35.866" v="7" actId="14100"/>
        <pc:sldMkLst>
          <pc:docMk/>
          <pc:sldMk cId="0" sldId="265"/>
        </pc:sldMkLst>
        <pc:spChg chg="mod">
          <ac:chgData name="Amanda Rathnayake" userId="74f6288d55dc6935" providerId="LiveId" clId="{D44EBF66-A5FA-42F0-9E07-08F7C76FAF1E}" dt="2026-10-09T15:25:35.866" v="7" actId="14100"/>
          <ac:spMkLst>
            <pc:docMk/>
            <pc:sldMk cId="0" sldId="265"/>
            <ac:spMk id="14" creationId="{00000000-0000-0000-0000-000000000000}"/>
          </ac:spMkLst>
        </pc:spChg>
      </pc:sldChg>
      <pc:sldChg chg="modSp mod">
        <pc:chgData name="Amanda Rathnayake" userId="74f6288d55dc6935" providerId="LiveId" clId="{D44EBF66-A5FA-42F0-9E07-08F7C76FAF1E}" dt="2026-10-09T15:25:55.515" v="10" actId="14100"/>
        <pc:sldMkLst>
          <pc:docMk/>
          <pc:sldMk cId="0" sldId="267"/>
        </pc:sldMkLst>
        <pc:spChg chg="mod">
          <ac:chgData name="Amanda Rathnayake" userId="74f6288d55dc6935" providerId="LiveId" clId="{D44EBF66-A5FA-42F0-9E07-08F7C76FAF1E}" dt="2026-10-09T15:25:55.515" v="10" actId="14100"/>
          <ac:spMkLst>
            <pc:docMk/>
            <pc:sldMk cId="0" sldId="267"/>
            <ac:spMk id="14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2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jpeg"/><Relationship Id="rId5" Type="http://schemas.openxmlformats.org/officeDocument/2006/relationships/image" Target="../media/image7.png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1.png"/><Relationship Id="rId7" Type="http://schemas.openxmlformats.org/officeDocument/2006/relationships/image" Target="../media/image2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9.jpe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9.jpe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.jpe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9.jpe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3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jpeg"/><Relationship Id="rId5" Type="http://schemas.openxmlformats.org/officeDocument/2006/relationships/image" Target="../media/image7.png"/><Relationship Id="rId4" Type="http://schemas.openxmlformats.org/officeDocument/2006/relationships/image" Target="../media/image9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jpeg"/><Relationship Id="rId5" Type="http://schemas.openxmlformats.org/officeDocument/2006/relationships/image" Target="../media/image7.png"/><Relationship Id="rId4" Type="http://schemas.openxmlformats.org/officeDocument/2006/relationships/image" Target="../media/image9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5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jpeg"/><Relationship Id="rId5" Type="http://schemas.openxmlformats.org/officeDocument/2006/relationships/image" Target="../media/image7.png"/><Relationship Id="rId4" Type="http://schemas.openxmlformats.org/officeDocument/2006/relationships/image" Target="../media/image9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jpeg"/><Relationship Id="rId5" Type="http://schemas.openxmlformats.org/officeDocument/2006/relationships/image" Target="../media/image7.png"/><Relationship Id="rId4" Type="http://schemas.openxmlformats.org/officeDocument/2006/relationships/image" Target="../media/image9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.jpe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9.jpe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jpeg"/><Relationship Id="rId5" Type="http://schemas.openxmlformats.org/officeDocument/2006/relationships/image" Target="../media/image7.png"/><Relationship Id="rId4" Type="http://schemas.openxmlformats.org/officeDocument/2006/relationships/image" Target="../media/image9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jpeg"/><Relationship Id="rId5" Type="http://schemas.openxmlformats.org/officeDocument/2006/relationships/image" Target="../media/image7.png"/><Relationship Id="rId4" Type="http://schemas.openxmlformats.org/officeDocument/2006/relationships/image" Target="../media/image9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.jpe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9.jpe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6.png"/><Relationship Id="rId7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jpeg"/><Relationship Id="rId11" Type="http://schemas.openxmlformats.org/officeDocument/2006/relationships/image" Target="../media/image25.png"/><Relationship Id="rId5" Type="http://schemas.openxmlformats.org/officeDocument/2006/relationships/image" Target="../media/image7.png"/><Relationship Id="rId10" Type="http://schemas.openxmlformats.org/officeDocument/2006/relationships/image" Target="../media/image24.png"/><Relationship Id="rId4" Type="http://schemas.openxmlformats.org/officeDocument/2006/relationships/image" Target="../media/image9.jpeg"/><Relationship Id="rId9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842280">
            <a:off x="10911430" y="82467"/>
            <a:ext cx="6002464" cy="8123749"/>
            <a:chOff x="0" y="0"/>
            <a:chExt cx="8003286" cy="10831665"/>
          </a:xfrm>
        </p:grpSpPr>
        <p:sp>
          <p:nvSpPr>
            <p:cNvPr id="3" name="Freeform 3"/>
            <p:cNvSpPr/>
            <p:nvPr/>
          </p:nvSpPr>
          <p:spPr>
            <a:xfrm flipH="1">
              <a:off x="0" y="0"/>
              <a:ext cx="8003286" cy="10831703"/>
            </a:xfrm>
            <a:custGeom>
              <a:avLst/>
              <a:gdLst/>
              <a:ahLst/>
              <a:cxnLst/>
              <a:rect l="l" t="t" r="r" b="b"/>
              <a:pathLst>
                <a:path w="8003286" h="10831703">
                  <a:moveTo>
                    <a:pt x="8003286" y="0"/>
                  </a:moveTo>
                  <a:lnTo>
                    <a:pt x="0" y="0"/>
                  </a:lnTo>
                  <a:lnTo>
                    <a:pt x="0" y="10831703"/>
                  </a:lnTo>
                  <a:lnTo>
                    <a:pt x="8003286" y="10831703"/>
                  </a:lnTo>
                  <a:lnTo>
                    <a:pt x="8003286" y="0"/>
                  </a:lnTo>
                  <a:close/>
                </a:path>
              </a:pathLst>
            </a:custGeom>
            <a:blipFill>
              <a:blip r:embed="rId2"/>
              <a:stretch>
                <a:fillRect t="-914" b="-91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2724176" y="6642529"/>
            <a:ext cx="7822032" cy="1965171"/>
            <a:chOff x="0" y="0"/>
            <a:chExt cx="8193968" cy="205861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93921" cy="2058677"/>
            </a:xfrm>
            <a:custGeom>
              <a:avLst/>
              <a:gdLst/>
              <a:ahLst/>
              <a:cxnLst/>
              <a:rect l="l" t="t" r="r" b="b"/>
              <a:pathLst>
                <a:path w="8193921" h="2058677">
                  <a:moveTo>
                    <a:pt x="380848" y="0"/>
                  </a:moveTo>
                  <a:lnTo>
                    <a:pt x="7813190" y="0"/>
                  </a:lnTo>
                  <a:cubicBezTo>
                    <a:pt x="8023495" y="0"/>
                    <a:pt x="8193921" y="306259"/>
                    <a:pt x="8193921" y="683923"/>
                  </a:cubicBezTo>
                  <a:lnTo>
                    <a:pt x="8193921" y="1374797"/>
                  </a:lnTo>
                  <a:cubicBezTo>
                    <a:pt x="8193921" y="1752460"/>
                    <a:pt x="8023495" y="2058677"/>
                    <a:pt x="7813190" y="2058677"/>
                  </a:cubicBezTo>
                  <a:lnTo>
                    <a:pt x="380848" y="2058677"/>
                  </a:lnTo>
                  <a:cubicBezTo>
                    <a:pt x="170543" y="2058677"/>
                    <a:pt x="0" y="1752460"/>
                    <a:pt x="0" y="1374796"/>
                  </a:cubicBezTo>
                  <a:lnTo>
                    <a:pt x="0" y="683923"/>
                  </a:lnTo>
                  <a:cubicBezTo>
                    <a:pt x="0" y="306259"/>
                    <a:pt x="170543" y="0"/>
                    <a:pt x="380848" y="0"/>
                  </a:cubicBezTo>
                  <a:close/>
                </a:path>
              </a:pathLst>
            </a:custGeom>
            <a:solidFill>
              <a:srgbClr val="508EAD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3308138" y="6826058"/>
            <a:ext cx="6654108" cy="1560555"/>
            <a:chOff x="0" y="0"/>
            <a:chExt cx="8872144" cy="208074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872145" cy="2080741"/>
            </a:xfrm>
            <a:custGeom>
              <a:avLst/>
              <a:gdLst/>
              <a:ahLst/>
              <a:cxnLst/>
              <a:rect l="l" t="t" r="r" b="b"/>
              <a:pathLst>
                <a:path w="8872145" h="2080741">
                  <a:moveTo>
                    <a:pt x="0" y="0"/>
                  </a:moveTo>
                  <a:lnTo>
                    <a:pt x="8872145" y="0"/>
                  </a:lnTo>
                  <a:lnTo>
                    <a:pt x="8872145" y="2080741"/>
                  </a:lnTo>
                  <a:lnTo>
                    <a:pt x="0" y="208074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2827" b="-2333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85725"/>
              <a:ext cx="8872144" cy="21664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018"/>
                </a:lnSpc>
              </a:pPr>
              <a:r>
                <a:rPr lang="en-US" sz="4299" b="1" spc="-167">
                  <a:solidFill>
                    <a:srgbClr val="FFFFFF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R26-IT-005</a:t>
              </a:r>
            </a:p>
            <a:p>
              <a:pPr algn="ctr">
                <a:lnSpc>
                  <a:spcPts val="6018"/>
                </a:lnSpc>
              </a:pPr>
              <a:r>
                <a:rPr lang="en-US" sz="4299" b="1" spc="-171">
                  <a:solidFill>
                    <a:srgbClr val="FFFFFF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Progress Presentation 2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 rot="1031400">
            <a:off x="9509169" y="7186660"/>
            <a:ext cx="3244110" cy="5318217"/>
            <a:chOff x="0" y="0"/>
            <a:chExt cx="4325480" cy="7090956"/>
          </a:xfrm>
        </p:grpSpPr>
        <p:sp>
          <p:nvSpPr>
            <p:cNvPr id="10" name="Freeform 10"/>
            <p:cNvSpPr/>
            <p:nvPr/>
          </p:nvSpPr>
          <p:spPr>
            <a:xfrm flipH="1">
              <a:off x="0" y="0"/>
              <a:ext cx="4325493" cy="7090918"/>
            </a:xfrm>
            <a:custGeom>
              <a:avLst/>
              <a:gdLst/>
              <a:ahLst/>
              <a:cxnLst/>
              <a:rect l="l" t="t" r="r" b="b"/>
              <a:pathLst>
                <a:path w="4325493" h="7090918">
                  <a:moveTo>
                    <a:pt x="4325493" y="0"/>
                  </a:moveTo>
                  <a:lnTo>
                    <a:pt x="0" y="0"/>
                  </a:lnTo>
                  <a:lnTo>
                    <a:pt x="0" y="7090918"/>
                  </a:lnTo>
                  <a:lnTo>
                    <a:pt x="4325493" y="7090918"/>
                  </a:lnTo>
                  <a:lnTo>
                    <a:pt x="4325493" y="0"/>
                  </a:lnTo>
                  <a:close/>
                </a:path>
              </a:pathLst>
            </a:custGeom>
            <a:blipFill>
              <a:blip r:embed="rId4"/>
              <a:stretch>
                <a:fillRect l="-17" r="-17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" name="Freeform 11"/>
          <p:cNvSpPr/>
          <p:nvPr/>
        </p:nvSpPr>
        <p:spPr>
          <a:xfrm rot="577740">
            <a:off x="15945526" y="8364388"/>
            <a:ext cx="486623" cy="486623"/>
          </a:xfrm>
          <a:custGeom>
            <a:avLst/>
            <a:gdLst/>
            <a:ahLst/>
            <a:cxnLst/>
            <a:rect l="l" t="t" r="r" b="b"/>
            <a:pathLst>
              <a:path w="486623" h="486623">
                <a:moveTo>
                  <a:pt x="0" y="0"/>
                </a:moveTo>
                <a:lnTo>
                  <a:pt x="486623" y="0"/>
                </a:lnTo>
                <a:lnTo>
                  <a:pt x="486623" y="486623"/>
                </a:lnTo>
                <a:lnTo>
                  <a:pt x="0" y="4866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 rot="248760">
            <a:off x="7179612" y="1292847"/>
            <a:ext cx="486623" cy="486623"/>
          </a:xfrm>
          <a:custGeom>
            <a:avLst/>
            <a:gdLst/>
            <a:ahLst/>
            <a:cxnLst/>
            <a:rect l="l" t="t" r="r" b="b"/>
            <a:pathLst>
              <a:path w="486623" h="486623">
                <a:moveTo>
                  <a:pt x="0" y="0"/>
                </a:moveTo>
                <a:lnTo>
                  <a:pt x="486622" y="0"/>
                </a:lnTo>
                <a:lnTo>
                  <a:pt x="486622" y="486623"/>
                </a:lnTo>
                <a:lnTo>
                  <a:pt x="0" y="4866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 rot="-409800">
            <a:off x="1913159" y="7318305"/>
            <a:ext cx="486623" cy="486623"/>
          </a:xfrm>
          <a:custGeom>
            <a:avLst/>
            <a:gdLst/>
            <a:ahLst/>
            <a:cxnLst/>
            <a:rect l="l" t="t" r="r" b="b"/>
            <a:pathLst>
              <a:path w="486623" h="486623">
                <a:moveTo>
                  <a:pt x="0" y="0"/>
                </a:moveTo>
                <a:lnTo>
                  <a:pt x="486623" y="0"/>
                </a:lnTo>
                <a:lnTo>
                  <a:pt x="486623" y="486623"/>
                </a:lnTo>
                <a:lnTo>
                  <a:pt x="0" y="4866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4"/>
          <p:cNvSpPr txBox="1"/>
          <p:nvPr/>
        </p:nvSpPr>
        <p:spPr>
          <a:xfrm>
            <a:off x="348720" y="3619924"/>
            <a:ext cx="14148406" cy="27709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18"/>
              </a:lnSpc>
            </a:pPr>
            <a:r>
              <a:rPr lang="en-US" sz="14583" b="1">
                <a:solidFill>
                  <a:srgbClr val="1B3957"/>
                </a:solidFill>
                <a:latin typeface="Garet Bold"/>
                <a:ea typeface="Garet Bold"/>
                <a:cs typeface="Garet Bold"/>
                <a:sym typeface="Garet Bold"/>
              </a:rPr>
              <a:t>PURIFICATION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02256" y="1780481"/>
            <a:ext cx="8541744" cy="27709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18"/>
              </a:lnSpc>
            </a:pPr>
            <a:r>
              <a:rPr lang="en-US" sz="14583" b="1">
                <a:solidFill>
                  <a:srgbClr val="06728A"/>
                </a:solidFill>
                <a:latin typeface="Garet Bold"/>
                <a:ea typeface="Garet Bold"/>
                <a:cs typeface="Garet Bold"/>
                <a:sym typeface="Garet Bold"/>
              </a:rPr>
              <a:t>WATER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0" y="9559957"/>
            <a:ext cx="3771900" cy="735425"/>
            <a:chOff x="0" y="0"/>
            <a:chExt cx="5029200" cy="980567"/>
          </a:xfrm>
        </p:grpSpPr>
        <p:sp>
          <p:nvSpPr>
            <p:cNvPr id="17" name="Freeform 17" descr="A picture containing photo, table, person, monitor  Description automatically generated"/>
            <p:cNvSpPr/>
            <p:nvPr/>
          </p:nvSpPr>
          <p:spPr>
            <a:xfrm>
              <a:off x="0" y="0"/>
              <a:ext cx="5029200" cy="980567"/>
            </a:xfrm>
            <a:custGeom>
              <a:avLst/>
              <a:gdLst/>
              <a:ahLst/>
              <a:cxnLst/>
              <a:rect l="l" t="t" r="r" b="b"/>
              <a:pathLst>
                <a:path w="5029200" h="980567">
                  <a:moveTo>
                    <a:pt x="0" y="0"/>
                  </a:moveTo>
                  <a:lnTo>
                    <a:pt x="5029200" y="0"/>
                  </a:lnTo>
                  <a:lnTo>
                    <a:pt x="5029200" y="980567"/>
                  </a:lnTo>
                  <a:lnTo>
                    <a:pt x="0" y="980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94249" b="-9424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5521940" y="9832076"/>
            <a:ext cx="1314252" cy="276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2026/08/31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0" y="9551575"/>
            <a:ext cx="3771900" cy="735425"/>
            <a:chOff x="0" y="0"/>
            <a:chExt cx="5029200" cy="980567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5029200" cy="980567"/>
            </a:xfrm>
            <a:custGeom>
              <a:avLst/>
              <a:gdLst/>
              <a:ahLst/>
              <a:cxnLst/>
              <a:rect l="l" t="t" r="r" b="b"/>
              <a:pathLst>
                <a:path w="5029200" h="980567">
                  <a:moveTo>
                    <a:pt x="0" y="0"/>
                  </a:moveTo>
                  <a:lnTo>
                    <a:pt x="5029200" y="0"/>
                  </a:lnTo>
                  <a:lnTo>
                    <a:pt x="5029200" y="980567"/>
                  </a:lnTo>
                  <a:lnTo>
                    <a:pt x="0" y="980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t="-128" b="-12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8795" b="-879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Freeform 4"/>
          <p:cNvSpPr/>
          <p:nvPr/>
        </p:nvSpPr>
        <p:spPr>
          <a:xfrm rot="-557640">
            <a:off x="505976" y="703599"/>
            <a:ext cx="486623" cy="486623"/>
          </a:xfrm>
          <a:custGeom>
            <a:avLst/>
            <a:gdLst/>
            <a:ahLst/>
            <a:cxnLst/>
            <a:rect l="l" t="t" r="r" b="b"/>
            <a:pathLst>
              <a:path w="486623" h="486623">
                <a:moveTo>
                  <a:pt x="0" y="0"/>
                </a:moveTo>
                <a:lnTo>
                  <a:pt x="486623" y="0"/>
                </a:lnTo>
                <a:lnTo>
                  <a:pt x="486623" y="486622"/>
                </a:lnTo>
                <a:lnTo>
                  <a:pt x="0" y="4866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 rot="248760">
            <a:off x="17501487" y="9415710"/>
            <a:ext cx="486623" cy="486623"/>
          </a:xfrm>
          <a:custGeom>
            <a:avLst/>
            <a:gdLst/>
            <a:ahLst/>
            <a:cxnLst/>
            <a:rect l="l" t="t" r="r" b="b"/>
            <a:pathLst>
              <a:path w="486623" h="486623">
                <a:moveTo>
                  <a:pt x="0" y="0"/>
                </a:moveTo>
                <a:lnTo>
                  <a:pt x="486623" y="0"/>
                </a:lnTo>
                <a:lnTo>
                  <a:pt x="486623" y="486623"/>
                </a:lnTo>
                <a:lnTo>
                  <a:pt x="0" y="4866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948036" y="1885315"/>
          <a:ext cx="16391928" cy="7658202"/>
        </p:xfrm>
        <a:graphic>
          <a:graphicData uri="http://schemas.openxmlformats.org/drawingml/2006/table">
            <a:tbl>
              <a:tblPr/>
              <a:tblGrid>
                <a:gridCol w="25875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10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933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81075">
                <a:tc>
                  <a:txBody>
                    <a:bodyPr/>
                    <a:lstStyle/>
                    <a:p>
                      <a:pPr algn="ctr">
                        <a:lnSpc>
                          <a:spcPts val="2238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STUDENT’S NAME &amp; ID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7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8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COMMENTS FOR THE PP1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72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38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HOW YOU/TEAM ADDRESSED THEM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72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4689">
                <a:tc>
                  <a:txBody>
                    <a:bodyPr/>
                    <a:lstStyle/>
                    <a:p>
                      <a:pPr algn="ctr">
                        <a:lnSpc>
                          <a:spcPts val="2238"/>
                        </a:lnSpc>
                        <a:defRPr/>
                      </a:pPr>
                      <a:r>
                        <a:rPr lang="en-US" sz="1599" b="1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R.M.N.A. RATHNAYAKE</a:t>
                      </a:r>
                      <a:endParaRPr lang="en-US" sz="1100"/>
                    </a:p>
                    <a:p>
                      <a:pPr algn="ctr">
                        <a:lnSpc>
                          <a:spcPts val="2238"/>
                        </a:lnSpc>
                      </a:pPr>
                      <a:r>
                        <a:rPr lang="en-US" sz="1599" b="1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IT22193940</a:t>
                      </a:r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5E7"/>
                    </a:solidFill>
                  </a:tcPr>
                </a:tc>
                <a:tc>
                  <a:txBody>
                    <a:bodyPr/>
                    <a:lstStyle/>
                    <a:p>
                      <a:pPr marL="345439" lvl="1" indent="-172720" algn="l">
                        <a:lnSpc>
                          <a:spcPts val="2239"/>
                        </a:lnSpc>
                        <a:buFont typeface="Arial"/>
                        <a:buChar char="•"/>
                        <a:defRPr/>
                      </a:pPr>
                      <a:r>
                        <a:rPr lang="en-US" sz="1599" b="1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Only have brought the device, but the device also doesn't work.</a:t>
                      </a:r>
                      <a:endParaRPr lang="en-US" sz="1100"/>
                    </a:p>
                    <a:p>
                      <a:pPr marL="345439" lvl="1" indent="-172720" algn="l">
                        <a:lnSpc>
                          <a:spcPts val="2240"/>
                        </a:lnSpc>
                        <a:buFont typeface="Arial"/>
                        <a:buChar char="•"/>
                      </a:pPr>
                      <a:r>
                        <a:rPr lang="en-US" sz="1599" b="1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No software implementation, needs to discuss with supervisor</a:t>
                      </a:r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5E7"/>
                    </a:solidFill>
                  </a:tcPr>
                </a:tc>
                <a:tc>
                  <a:txBody>
                    <a:bodyPr/>
                    <a:lstStyle/>
                    <a:p>
                      <a:pPr marL="345439" lvl="1" indent="-172720" algn="just">
                        <a:lnSpc>
                          <a:spcPts val="2240"/>
                        </a:lnSpc>
                        <a:buFont typeface="Arial"/>
                        <a:buChar char="•"/>
                        <a:defRPr/>
                      </a:pPr>
                      <a:r>
                        <a:rPr lang="en-US" sz="1599" b="1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Developed a software solution to analyse water quality inputs and provide automated results, addressing the lack of software implementation.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5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4709"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W.N.N. DE SILVA</a:t>
                      </a:r>
                      <a:endParaRPr lang="en-US" sz="1100"/>
                    </a:p>
                    <a:p>
                      <a:pPr algn="ctr">
                        <a:lnSpc>
                          <a:spcPts val="2240"/>
                        </a:lnSpc>
                      </a:pPr>
                      <a:r>
                        <a:rPr lang="en-US" sz="1599" b="1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IT22211750</a:t>
                      </a:r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5E7"/>
                    </a:solidFill>
                  </a:tcPr>
                </a:tc>
                <a:tc>
                  <a:txBody>
                    <a:bodyPr/>
                    <a:lstStyle/>
                    <a:p>
                      <a:pPr marL="345439" lvl="1" indent="-172720" algn="l">
                        <a:lnSpc>
                          <a:spcPts val="2239"/>
                        </a:lnSpc>
                        <a:buFont typeface="Arial"/>
                        <a:buChar char="•"/>
                        <a:defRPr/>
                      </a:pPr>
                      <a:r>
                        <a:rPr lang="en-US" sz="1599" b="1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Have trained only 1 model, better to train 2 models and do a comparison on model performance.</a:t>
                      </a:r>
                      <a:endParaRPr lang="en-US" sz="1100"/>
                    </a:p>
                    <a:p>
                      <a:pPr marL="345439" lvl="1" indent="-172720" algn="l">
                        <a:lnSpc>
                          <a:spcPts val="2240"/>
                        </a:lnSpc>
                        <a:buFont typeface="Arial"/>
                        <a:buChar char="•"/>
                      </a:pPr>
                      <a:r>
                        <a:rPr lang="en-US" sz="1599" b="1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4 Quality classifications with water samples and test the water</a:t>
                      </a:r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5E7"/>
                    </a:solidFill>
                  </a:tcPr>
                </a:tc>
                <a:tc>
                  <a:txBody>
                    <a:bodyPr/>
                    <a:lstStyle/>
                    <a:p>
                      <a:pPr marL="345439" lvl="1" indent="-172720" algn="just">
                        <a:lnSpc>
                          <a:spcPts val="2240"/>
                        </a:lnSpc>
                        <a:buFont typeface="Arial"/>
                        <a:buChar char="•"/>
                        <a:defRPr/>
                      </a:pPr>
                      <a:r>
                        <a:rPr lang="en-US" sz="1599" b="1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Trained two machine learning models, compared their performance using evaluation metrics, and selected the better-performing model for water quality classification.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5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33525"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D. DODANWELA </a:t>
                      </a:r>
                      <a:endParaRPr lang="en-US" sz="1100"/>
                    </a:p>
                    <a:p>
                      <a:pPr algn="ctr">
                        <a:lnSpc>
                          <a:spcPts val="2240"/>
                        </a:lnSpc>
                      </a:pPr>
                      <a:r>
                        <a:rPr lang="en-US" sz="1599" b="1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IT22212122</a:t>
                      </a:r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5E7"/>
                    </a:solidFill>
                  </a:tcPr>
                </a:tc>
                <a:tc>
                  <a:txBody>
                    <a:bodyPr/>
                    <a:lstStyle/>
                    <a:p>
                      <a:pPr marL="345439" lvl="1" indent="-172720" algn="l">
                        <a:lnSpc>
                          <a:spcPts val="2239"/>
                        </a:lnSpc>
                        <a:buFont typeface="Arial"/>
                        <a:buChar char="•"/>
                        <a:defRPr/>
                      </a:pPr>
                      <a:r>
                        <a:rPr lang="en-US" sz="1599" b="1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Only have brought the device, but the device also doesn't work.</a:t>
                      </a:r>
                      <a:endParaRPr lang="en-US" sz="1100"/>
                    </a:p>
                    <a:p>
                      <a:pPr marL="345439" lvl="1" indent="-172720" algn="l">
                        <a:lnSpc>
                          <a:spcPts val="2240"/>
                        </a:lnSpc>
                        <a:buFont typeface="Arial"/>
                        <a:buChar char="•"/>
                      </a:pPr>
                      <a:r>
                        <a:rPr lang="en-US" sz="1599" b="1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No software implementation, needs to discuss with supervisor</a:t>
                      </a:r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5E7"/>
                    </a:solidFill>
                  </a:tcPr>
                </a:tc>
                <a:tc>
                  <a:txBody>
                    <a:bodyPr/>
                    <a:lstStyle/>
                    <a:p>
                      <a:pPr marL="345226" lvl="1" indent="-172613" algn="just">
                        <a:lnSpc>
                          <a:spcPts val="2238"/>
                        </a:lnSpc>
                        <a:buFont typeface="Arial"/>
                        <a:buChar char="•"/>
                        <a:defRPr/>
                      </a:pPr>
                      <a:r>
                        <a:rPr lang="en-US" sz="1599" b="1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Developed the required software component to analyse water quality data and provide automated results.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5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4204">
                <a:tc>
                  <a:txBody>
                    <a:bodyPr/>
                    <a:lstStyle/>
                    <a:p>
                      <a:pPr algn="ctr">
                        <a:lnSpc>
                          <a:spcPts val="223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W.A.S.P.D. WIJESINGHA </a:t>
                      </a:r>
                      <a:endParaRPr lang="en-US" sz="1100"/>
                    </a:p>
                    <a:p>
                      <a:pPr algn="ctr">
                        <a:lnSpc>
                          <a:spcPts val="2239"/>
                        </a:lnSpc>
                      </a:pPr>
                      <a:r>
                        <a:rPr lang="en-US" sz="1599" b="1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IT22295460</a:t>
                      </a:r>
                    </a:p>
                    <a:p>
                      <a:pPr algn="ctr">
                        <a:lnSpc>
                          <a:spcPts val="2240"/>
                        </a:lnSpc>
                      </a:pPr>
                      <a:endParaRPr lang="en-US" sz="1599" b="1">
                        <a:solidFill>
                          <a:srgbClr val="000000"/>
                        </a:solidFill>
                        <a:latin typeface="Arimo Bold"/>
                        <a:ea typeface="Arimo Bold"/>
                        <a:cs typeface="Arimo Bold"/>
                        <a:sym typeface="Arimo Bold"/>
                      </a:endParaRPr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5E7"/>
                    </a:solidFill>
                  </a:tcPr>
                </a:tc>
                <a:tc>
                  <a:txBody>
                    <a:bodyPr/>
                    <a:lstStyle/>
                    <a:p>
                      <a:pPr marL="345439" lvl="1" indent="-172720" algn="l">
                        <a:lnSpc>
                          <a:spcPts val="2239"/>
                        </a:lnSpc>
                        <a:buFont typeface="Arial"/>
                        <a:buChar char="•"/>
                        <a:defRPr/>
                      </a:pPr>
                      <a:r>
                        <a:rPr lang="en-US" sz="1599" b="1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Only have brought the device, but the device also doesn't work.</a:t>
                      </a:r>
                      <a:endParaRPr lang="en-US" sz="1100"/>
                    </a:p>
                    <a:p>
                      <a:pPr marL="345439" lvl="1" indent="-172720" algn="l">
                        <a:lnSpc>
                          <a:spcPts val="2240"/>
                        </a:lnSpc>
                        <a:buFont typeface="Arial"/>
                        <a:buChar char="•"/>
                      </a:pPr>
                      <a:r>
                        <a:rPr lang="en-US" sz="1599" b="1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No software implementation, needs to discuss with supervisor</a:t>
                      </a:r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5E7"/>
                    </a:solidFill>
                  </a:tcPr>
                </a:tc>
                <a:tc>
                  <a:txBody>
                    <a:bodyPr/>
                    <a:lstStyle/>
                    <a:p>
                      <a:pPr marL="345226" lvl="1" indent="-172613" algn="just">
                        <a:lnSpc>
                          <a:spcPts val="2238"/>
                        </a:lnSpc>
                        <a:buFont typeface="Arial"/>
                        <a:buChar char="•"/>
                        <a:defRPr/>
                      </a:pPr>
                      <a:r>
                        <a:rPr lang="en-US" sz="1599" b="1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Implemented the software component for automated water contamination detection and analysis.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5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7" name="Group 7"/>
          <p:cNvGrpSpPr/>
          <p:nvPr/>
        </p:nvGrpSpPr>
        <p:grpSpPr>
          <a:xfrm>
            <a:off x="0" y="9551575"/>
            <a:ext cx="3771900" cy="735425"/>
            <a:chOff x="0" y="0"/>
            <a:chExt cx="5029200" cy="98056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029200" cy="980567"/>
            </a:xfrm>
            <a:custGeom>
              <a:avLst/>
              <a:gdLst/>
              <a:ahLst/>
              <a:cxnLst/>
              <a:rect l="l" t="t" r="r" b="b"/>
              <a:pathLst>
                <a:path w="5029200" h="980567">
                  <a:moveTo>
                    <a:pt x="0" y="0"/>
                  </a:moveTo>
                  <a:lnTo>
                    <a:pt x="5029200" y="0"/>
                  </a:lnTo>
                  <a:lnTo>
                    <a:pt x="5029200" y="980567"/>
                  </a:lnTo>
                  <a:lnTo>
                    <a:pt x="0" y="980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128" b="-12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3948655" y="9739312"/>
            <a:ext cx="10224545" cy="547688"/>
            <a:chOff x="0" y="0"/>
            <a:chExt cx="13632726" cy="73025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3632687" cy="730250"/>
            </a:xfrm>
            <a:custGeom>
              <a:avLst/>
              <a:gdLst/>
              <a:ahLst/>
              <a:cxnLst/>
              <a:rect l="l" t="t" r="r" b="b"/>
              <a:pathLst>
                <a:path w="13632687" h="730250">
                  <a:moveTo>
                    <a:pt x="0" y="0"/>
                  </a:moveTo>
                  <a:lnTo>
                    <a:pt x="13632687" y="0"/>
                  </a:lnTo>
                  <a:lnTo>
                    <a:pt x="13632687" y="730250"/>
                  </a:lnTo>
                  <a:lnTo>
                    <a:pt x="0" y="73025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313504" b="-31350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3948655" y="9725025"/>
            <a:ext cx="10224545" cy="561975"/>
            <a:chOff x="0" y="0"/>
            <a:chExt cx="13632726" cy="7493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3632726" cy="749301"/>
            </a:xfrm>
            <a:custGeom>
              <a:avLst/>
              <a:gdLst/>
              <a:ahLst/>
              <a:cxnLst/>
              <a:rect l="l" t="t" r="r" b="b"/>
              <a:pathLst>
                <a:path w="13632726" h="749301">
                  <a:moveTo>
                    <a:pt x="0" y="0"/>
                  </a:moveTo>
                  <a:lnTo>
                    <a:pt x="13632726" y="0"/>
                  </a:lnTo>
                  <a:lnTo>
                    <a:pt x="13632726" y="749301"/>
                  </a:lnTo>
                  <a:lnTo>
                    <a:pt x="0" y="749301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t="-304509" b="-30450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19050"/>
              <a:ext cx="13632726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mbria"/>
                  <a:ea typeface="Cambria"/>
                  <a:cs typeface="Cambria"/>
                  <a:sym typeface="Cambria"/>
                </a:rPr>
                <a:t>R26-IT-005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726406" y="1066800"/>
            <a:ext cx="14835188" cy="16751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80"/>
              </a:lnSpc>
            </a:pPr>
            <a:r>
              <a:rPr lang="en-US" sz="3800" b="1">
                <a:solidFill>
                  <a:srgbClr val="06728A"/>
                </a:solidFill>
                <a:latin typeface="Garet Bold"/>
                <a:ea typeface="Garet Bold"/>
                <a:cs typeface="Garet Bold"/>
                <a:sym typeface="Garet Bold"/>
              </a:rPr>
              <a:t>Comments for the PP1 and how you/team addressed them</a:t>
            </a:r>
          </a:p>
          <a:p>
            <a:pPr algn="ctr">
              <a:lnSpc>
                <a:spcPts val="8800"/>
              </a:lnSpc>
            </a:pPr>
            <a:endParaRPr lang="en-US" sz="3800" b="1">
              <a:solidFill>
                <a:srgbClr val="06728A"/>
              </a:solidFill>
              <a:latin typeface="Garet Bold"/>
              <a:ea typeface="Garet Bold"/>
              <a:cs typeface="Garet Bold"/>
              <a:sym typeface="Garet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5521940" y="9832076"/>
            <a:ext cx="1314252" cy="276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2026/08/31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557500" y="384923"/>
            <a:ext cx="8447564" cy="282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00"/>
              </a:lnSpc>
            </a:pPr>
            <a:r>
              <a:rPr lang="en-US" sz="2000" b="1">
                <a:solidFill>
                  <a:srgbClr val="06728A"/>
                </a:solidFill>
                <a:latin typeface="Garet Bold"/>
                <a:ea typeface="Garet Bold"/>
                <a:cs typeface="Garet Bold"/>
                <a:sym typeface="Garet Bold"/>
              </a:rPr>
              <a:t>Automated Water Quality &amp; Contamination Detection System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8795" b="-879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 rot="9551400">
            <a:off x="15235457" y="1087660"/>
            <a:ext cx="3982803" cy="5390340"/>
            <a:chOff x="0" y="0"/>
            <a:chExt cx="5310403" cy="7187120"/>
          </a:xfrm>
        </p:grpSpPr>
        <p:sp>
          <p:nvSpPr>
            <p:cNvPr id="5" name="Freeform 5"/>
            <p:cNvSpPr/>
            <p:nvPr/>
          </p:nvSpPr>
          <p:spPr>
            <a:xfrm flipH="1">
              <a:off x="0" y="0"/>
              <a:ext cx="5310378" cy="7187057"/>
            </a:xfrm>
            <a:custGeom>
              <a:avLst/>
              <a:gdLst/>
              <a:ahLst/>
              <a:cxnLst/>
              <a:rect l="l" t="t" r="r" b="b"/>
              <a:pathLst>
                <a:path w="5310378" h="7187057">
                  <a:moveTo>
                    <a:pt x="5310378" y="0"/>
                  </a:moveTo>
                  <a:lnTo>
                    <a:pt x="0" y="0"/>
                  </a:lnTo>
                  <a:lnTo>
                    <a:pt x="0" y="7187057"/>
                  </a:lnTo>
                  <a:lnTo>
                    <a:pt x="5310378" y="7187057"/>
                  </a:lnTo>
                  <a:lnTo>
                    <a:pt x="5310378" y="0"/>
                  </a:lnTo>
                  <a:close/>
                </a:path>
              </a:pathLst>
            </a:custGeom>
            <a:blipFill>
              <a:blip r:embed="rId3"/>
              <a:stretch>
                <a:fillRect t="-914" b="-91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594597" y="1927929"/>
            <a:ext cx="2548632" cy="14865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49"/>
              </a:lnSpc>
            </a:pPr>
            <a:r>
              <a:rPr lang="en-US" sz="4499" b="1">
                <a:solidFill>
                  <a:srgbClr val="06728A"/>
                </a:solidFill>
                <a:latin typeface="Garet Bold"/>
                <a:ea typeface="Garet Bold"/>
                <a:cs typeface="Garet Bold"/>
                <a:sym typeface="Garet Bold"/>
              </a:rPr>
              <a:t>Problem</a:t>
            </a:r>
          </a:p>
          <a:p>
            <a:pPr algn="l">
              <a:lnSpc>
                <a:spcPts val="6709"/>
              </a:lnSpc>
            </a:pPr>
            <a:endParaRPr lang="en-US" sz="4499" b="1">
              <a:solidFill>
                <a:srgbClr val="06728A"/>
              </a:solidFill>
              <a:latin typeface="Garet Bold"/>
              <a:ea typeface="Garet Bold"/>
              <a:cs typeface="Garet Bold"/>
              <a:sym typeface="Garet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594597" y="2896332"/>
            <a:ext cx="12709084" cy="21379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29174" lvl="1" indent="-264587" algn="l">
              <a:lnSpc>
                <a:spcPts val="3431"/>
              </a:lnSpc>
              <a:buFont typeface="Arial"/>
              <a:buChar char="•"/>
            </a:pPr>
            <a:r>
              <a:rPr lang="en-US" sz="2451" b="1">
                <a:solidFill>
                  <a:srgbClr val="1B3957"/>
                </a:solidFill>
                <a:latin typeface="Arimo Bold"/>
                <a:ea typeface="Arimo Bold"/>
                <a:cs typeface="Arimo Bold"/>
                <a:sym typeface="Arimo Bold"/>
              </a:rPr>
              <a:t>Unsafe water causes health risks and waterborne diseases. </a:t>
            </a:r>
          </a:p>
          <a:p>
            <a:pPr marL="529174" lvl="1" indent="-264587" algn="l">
              <a:lnSpc>
                <a:spcPts val="3431"/>
              </a:lnSpc>
              <a:buFont typeface="Arial"/>
              <a:buChar char="•"/>
            </a:pPr>
            <a:r>
              <a:rPr lang="en-US" sz="2451" b="1">
                <a:solidFill>
                  <a:srgbClr val="1B3957"/>
                </a:solidFill>
                <a:latin typeface="Arimo Bold"/>
                <a:ea typeface="Arimo Bold"/>
                <a:cs typeface="Arimo Bold"/>
                <a:sym typeface="Arimo Bold"/>
              </a:rPr>
              <a:t>Water testing often requires laboratory equipment and trained personnel. </a:t>
            </a:r>
          </a:p>
          <a:p>
            <a:pPr marL="529174" lvl="1" indent="-264587" algn="l">
              <a:lnSpc>
                <a:spcPts val="3431"/>
              </a:lnSpc>
              <a:buFont typeface="Arial"/>
              <a:buChar char="•"/>
            </a:pPr>
            <a:r>
              <a:rPr lang="en-US" sz="2451" b="1">
                <a:solidFill>
                  <a:srgbClr val="1B3957"/>
                </a:solidFill>
                <a:latin typeface="Arimo Bold"/>
                <a:ea typeface="Arimo Bold"/>
                <a:cs typeface="Arimo Bold"/>
                <a:sym typeface="Arimo Bold"/>
              </a:rPr>
              <a:t>Existing methods can be costly and time-consuming. </a:t>
            </a:r>
          </a:p>
          <a:p>
            <a:pPr marL="529174" lvl="1" indent="-264587" algn="l">
              <a:lnSpc>
                <a:spcPts val="3431"/>
              </a:lnSpc>
              <a:buFont typeface="Arial"/>
              <a:buChar char="•"/>
            </a:pPr>
            <a:r>
              <a:rPr lang="en-US" sz="2451" b="1">
                <a:solidFill>
                  <a:srgbClr val="1B3957"/>
                </a:solidFill>
                <a:latin typeface="Arimo Bold"/>
                <a:ea typeface="Arimo Bold"/>
                <a:cs typeface="Arimo Bold"/>
                <a:sym typeface="Arimo Bold"/>
              </a:rPr>
              <a:t>Many users cannot easily identify contamination in water. </a:t>
            </a:r>
          </a:p>
          <a:p>
            <a:pPr algn="l">
              <a:lnSpc>
                <a:spcPts val="3431"/>
              </a:lnSpc>
            </a:pPr>
            <a:endParaRPr lang="en-US" sz="2451" b="1">
              <a:solidFill>
                <a:srgbClr val="1B3957"/>
              </a:solidFill>
              <a:latin typeface="Arimo Bold"/>
              <a:ea typeface="Arimo Bold"/>
              <a:cs typeface="Arimo Bold"/>
              <a:sym typeface="Arimo Bold"/>
            </a:endParaRPr>
          </a:p>
        </p:txBody>
      </p:sp>
      <p:grpSp>
        <p:nvGrpSpPr>
          <p:cNvPr id="8" name="Group 8"/>
          <p:cNvGrpSpPr/>
          <p:nvPr/>
        </p:nvGrpSpPr>
        <p:grpSpPr>
          <a:xfrm>
            <a:off x="0" y="9559957"/>
            <a:ext cx="3771900" cy="735425"/>
            <a:chOff x="0" y="0"/>
            <a:chExt cx="5029200" cy="980567"/>
          </a:xfrm>
        </p:grpSpPr>
        <p:sp>
          <p:nvSpPr>
            <p:cNvPr id="9" name="Freeform 9" descr="A picture containing photo, table, person, monitor  Description automatically generated"/>
            <p:cNvSpPr/>
            <p:nvPr/>
          </p:nvSpPr>
          <p:spPr>
            <a:xfrm>
              <a:off x="0" y="0"/>
              <a:ext cx="5029200" cy="980567"/>
            </a:xfrm>
            <a:custGeom>
              <a:avLst/>
              <a:gdLst/>
              <a:ahLst/>
              <a:cxnLst/>
              <a:rect l="l" t="t" r="r" b="b"/>
              <a:pathLst>
                <a:path w="5029200" h="980567">
                  <a:moveTo>
                    <a:pt x="0" y="0"/>
                  </a:moveTo>
                  <a:lnTo>
                    <a:pt x="5029200" y="0"/>
                  </a:lnTo>
                  <a:lnTo>
                    <a:pt x="5029200" y="980567"/>
                  </a:lnTo>
                  <a:lnTo>
                    <a:pt x="0" y="980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94249" b="-9424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594597" y="5386746"/>
            <a:ext cx="4008537" cy="638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50"/>
              </a:lnSpc>
            </a:pPr>
            <a:r>
              <a:rPr lang="en-US" sz="4500" b="1">
                <a:solidFill>
                  <a:srgbClr val="06728A"/>
                </a:solidFill>
                <a:latin typeface="Garet Bold"/>
                <a:ea typeface="Garet Bold"/>
                <a:cs typeface="Garet Bold"/>
                <a:sym typeface="Garet Bold"/>
              </a:rPr>
              <a:t>Stakeholders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594597" y="6263046"/>
            <a:ext cx="14191669" cy="29952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28956" lvl="1" indent="-264478" algn="l">
              <a:lnSpc>
                <a:spcPts val="3430"/>
              </a:lnSpc>
              <a:buFont typeface="Arial"/>
              <a:buChar char="•"/>
            </a:pPr>
            <a:r>
              <a:rPr lang="en-US" sz="2450" b="1">
                <a:solidFill>
                  <a:srgbClr val="1B3957"/>
                </a:solidFill>
                <a:latin typeface="Arimo Bold"/>
                <a:ea typeface="Arimo Bold"/>
                <a:cs typeface="Arimo Bold"/>
                <a:sym typeface="Arimo Bold"/>
              </a:rPr>
              <a:t>Households </a:t>
            </a:r>
          </a:p>
          <a:p>
            <a:pPr marL="528956" lvl="1" indent="-264478" algn="l">
              <a:lnSpc>
                <a:spcPts val="3430"/>
              </a:lnSpc>
              <a:buFont typeface="Arial"/>
              <a:buChar char="•"/>
            </a:pPr>
            <a:r>
              <a:rPr lang="en-US" sz="2450" b="1">
                <a:solidFill>
                  <a:srgbClr val="1B3957"/>
                </a:solidFill>
                <a:latin typeface="Arimo Bold"/>
                <a:ea typeface="Arimo Bold"/>
                <a:cs typeface="Arimo Bold"/>
                <a:sym typeface="Arimo Bold"/>
              </a:rPr>
              <a:t>Rural communities </a:t>
            </a:r>
          </a:p>
          <a:p>
            <a:pPr marL="528956" lvl="1" indent="-264478" algn="l">
              <a:lnSpc>
                <a:spcPts val="3430"/>
              </a:lnSpc>
              <a:buFont typeface="Arial"/>
              <a:buChar char="•"/>
            </a:pPr>
            <a:r>
              <a:rPr lang="en-US" sz="2450" b="1">
                <a:solidFill>
                  <a:srgbClr val="1B3957"/>
                </a:solidFill>
                <a:latin typeface="Arimo Bold"/>
                <a:ea typeface="Arimo Bold"/>
                <a:cs typeface="Arimo Bold"/>
                <a:sym typeface="Arimo Bold"/>
              </a:rPr>
              <a:t>Water treatment authorities </a:t>
            </a:r>
          </a:p>
          <a:p>
            <a:pPr marL="528956" lvl="1" indent="-264478" algn="l">
              <a:lnSpc>
                <a:spcPts val="3430"/>
              </a:lnSpc>
              <a:buFont typeface="Arial"/>
              <a:buChar char="•"/>
            </a:pPr>
            <a:r>
              <a:rPr lang="en-US" sz="2450" b="1">
                <a:solidFill>
                  <a:srgbClr val="1B3957"/>
                </a:solidFill>
                <a:latin typeface="Arimo Bold"/>
                <a:ea typeface="Arimo Bold"/>
                <a:cs typeface="Arimo Bold"/>
                <a:sym typeface="Arimo Bold"/>
              </a:rPr>
              <a:t>Environmental organizations </a:t>
            </a:r>
          </a:p>
          <a:p>
            <a:pPr marL="528956" lvl="1" indent="-264478" algn="l">
              <a:lnSpc>
                <a:spcPts val="3430"/>
              </a:lnSpc>
              <a:buFont typeface="Arial"/>
              <a:buChar char="•"/>
            </a:pPr>
            <a:r>
              <a:rPr lang="en-US" sz="2450" b="1">
                <a:solidFill>
                  <a:srgbClr val="1B3957"/>
                </a:solidFill>
                <a:latin typeface="Arimo Bold"/>
                <a:ea typeface="Arimo Bold"/>
                <a:cs typeface="Arimo Bold"/>
                <a:sym typeface="Arimo Bold"/>
              </a:rPr>
              <a:t>Schools and universities </a:t>
            </a:r>
          </a:p>
          <a:p>
            <a:pPr marL="528956" lvl="1" indent="-264478" algn="l">
              <a:lnSpc>
                <a:spcPts val="3430"/>
              </a:lnSpc>
              <a:buFont typeface="Arial"/>
              <a:buChar char="•"/>
            </a:pPr>
            <a:r>
              <a:rPr lang="en-US" sz="2450" b="1">
                <a:solidFill>
                  <a:srgbClr val="1B3957"/>
                </a:solidFill>
                <a:latin typeface="Arimo Bold"/>
                <a:ea typeface="Arimo Bold"/>
                <a:cs typeface="Arimo Bold"/>
                <a:sym typeface="Arimo Bold"/>
              </a:rPr>
              <a:t>Researchers </a:t>
            </a:r>
          </a:p>
          <a:p>
            <a:pPr algn="l">
              <a:lnSpc>
                <a:spcPts val="3430"/>
              </a:lnSpc>
            </a:pPr>
            <a:endParaRPr lang="en-US" sz="2450" b="1">
              <a:solidFill>
                <a:srgbClr val="1B3957"/>
              </a:solidFill>
              <a:latin typeface="Arimo Bold"/>
              <a:ea typeface="Arimo Bold"/>
              <a:cs typeface="Arimo Bold"/>
              <a:sym typeface="Arimo Bold"/>
            </a:endParaRPr>
          </a:p>
        </p:txBody>
      </p:sp>
      <p:grpSp>
        <p:nvGrpSpPr>
          <p:cNvPr id="12" name="Group 12"/>
          <p:cNvGrpSpPr/>
          <p:nvPr/>
        </p:nvGrpSpPr>
        <p:grpSpPr>
          <a:xfrm>
            <a:off x="4781845" y="8768305"/>
            <a:ext cx="10224545" cy="1980248"/>
            <a:chOff x="0" y="0"/>
            <a:chExt cx="13632726" cy="264033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3632687" cy="2640330"/>
            </a:xfrm>
            <a:custGeom>
              <a:avLst/>
              <a:gdLst/>
              <a:ahLst/>
              <a:cxnLst/>
              <a:rect l="l" t="t" r="r" b="b"/>
              <a:pathLst>
                <a:path w="13632687" h="2640330">
                  <a:moveTo>
                    <a:pt x="0" y="0"/>
                  </a:moveTo>
                  <a:lnTo>
                    <a:pt x="13632687" y="0"/>
                  </a:lnTo>
                  <a:lnTo>
                    <a:pt x="13632687" y="2640330"/>
                  </a:lnTo>
                  <a:lnTo>
                    <a:pt x="0" y="264033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50536" b="-5053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0443791" y="488947"/>
            <a:ext cx="7844209" cy="558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00"/>
              </a:lnSpc>
            </a:pPr>
            <a:r>
              <a:rPr lang="en-US" sz="2000" b="1">
                <a:solidFill>
                  <a:srgbClr val="06728A"/>
                </a:solidFill>
                <a:latin typeface="Garet Bold"/>
                <a:ea typeface="Garet Bold"/>
                <a:cs typeface="Garet Bold"/>
                <a:sym typeface="Garet Bold"/>
              </a:rPr>
              <a:t>Automated Water Quality &amp; Contamination Detection System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0" y="9551575"/>
            <a:ext cx="3771900" cy="735425"/>
            <a:chOff x="0" y="0"/>
            <a:chExt cx="5029200" cy="980567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029200" cy="980567"/>
            </a:xfrm>
            <a:custGeom>
              <a:avLst/>
              <a:gdLst/>
              <a:ahLst/>
              <a:cxnLst/>
              <a:rect l="l" t="t" r="r" b="b"/>
              <a:pathLst>
                <a:path w="5029200" h="980567">
                  <a:moveTo>
                    <a:pt x="0" y="0"/>
                  </a:moveTo>
                  <a:lnTo>
                    <a:pt x="5029200" y="0"/>
                  </a:lnTo>
                  <a:lnTo>
                    <a:pt x="5029200" y="980567"/>
                  </a:lnTo>
                  <a:lnTo>
                    <a:pt x="0" y="980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128" b="-12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5521940" y="9832076"/>
            <a:ext cx="1314252" cy="276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2026/08/31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3948655" y="9725025"/>
            <a:ext cx="10224545" cy="561975"/>
            <a:chOff x="0" y="0"/>
            <a:chExt cx="13632726" cy="7493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3632726" cy="749301"/>
            </a:xfrm>
            <a:custGeom>
              <a:avLst/>
              <a:gdLst/>
              <a:ahLst/>
              <a:cxnLst/>
              <a:rect l="l" t="t" r="r" b="b"/>
              <a:pathLst>
                <a:path w="13632726" h="749301">
                  <a:moveTo>
                    <a:pt x="0" y="0"/>
                  </a:moveTo>
                  <a:lnTo>
                    <a:pt x="13632726" y="0"/>
                  </a:lnTo>
                  <a:lnTo>
                    <a:pt x="13632726" y="749301"/>
                  </a:lnTo>
                  <a:lnTo>
                    <a:pt x="0" y="749301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t="-304509" b="-30450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19050"/>
              <a:ext cx="13632726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mbria"/>
                  <a:ea typeface="Cambria"/>
                  <a:cs typeface="Cambria"/>
                  <a:sym typeface="Cambria"/>
                </a:rPr>
                <a:t>R26-IT-005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2073551" y="4679890"/>
            <a:ext cx="2932839" cy="4088415"/>
            <a:chOff x="0" y="0"/>
            <a:chExt cx="6656159" cy="9278772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6656197" cy="9278874"/>
            </a:xfrm>
            <a:custGeom>
              <a:avLst/>
              <a:gdLst/>
              <a:ahLst/>
              <a:cxnLst/>
              <a:rect l="l" t="t" r="r" b="b"/>
              <a:pathLst>
                <a:path w="6656197" h="9278874">
                  <a:moveTo>
                    <a:pt x="934339" y="0"/>
                  </a:moveTo>
                  <a:lnTo>
                    <a:pt x="5721858" y="0"/>
                  </a:lnTo>
                  <a:cubicBezTo>
                    <a:pt x="5969635" y="0"/>
                    <a:pt x="6207252" y="98425"/>
                    <a:pt x="6382512" y="273685"/>
                  </a:cubicBezTo>
                  <a:cubicBezTo>
                    <a:pt x="6557772" y="448945"/>
                    <a:pt x="6656197" y="686562"/>
                    <a:pt x="6656197" y="934339"/>
                  </a:cubicBezTo>
                  <a:lnTo>
                    <a:pt x="6656197" y="8344535"/>
                  </a:lnTo>
                  <a:cubicBezTo>
                    <a:pt x="6656197" y="8860536"/>
                    <a:pt x="6237859" y="9278874"/>
                    <a:pt x="5721985" y="9278874"/>
                  </a:cubicBezTo>
                  <a:lnTo>
                    <a:pt x="934339" y="9278874"/>
                  </a:lnTo>
                  <a:cubicBezTo>
                    <a:pt x="418338" y="9278747"/>
                    <a:pt x="0" y="8860536"/>
                    <a:pt x="0" y="8344535"/>
                  </a:cubicBezTo>
                  <a:lnTo>
                    <a:pt x="0" y="934339"/>
                  </a:lnTo>
                  <a:cubicBezTo>
                    <a:pt x="0" y="418338"/>
                    <a:pt x="418338" y="0"/>
                    <a:pt x="934339" y="0"/>
                  </a:cubicBezTo>
                  <a:close/>
                </a:path>
              </a:pathLst>
            </a:custGeom>
            <a:blipFill>
              <a:blip r:embed="rId8"/>
              <a:stretch>
                <a:fillRect l="-54550" r="-54550"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74253" y="2119736"/>
            <a:ext cx="15373350" cy="7138564"/>
            <a:chOff x="0" y="0"/>
            <a:chExt cx="37711058" cy="1751100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7711059" cy="17511006"/>
            </a:xfrm>
            <a:custGeom>
              <a:avLst/>
              <a:gdLst/>
              <a:ahLst/>
              <a:cxnLst/>
              <a:rect l="l" t="t" r="r" b="b"/>
              <a:pathLst>
                <a:path w="37711059" h="17511006">
                  <a:moveTo>
                    <a:pt x="0" y="0"/>
                  </a:moveTo>
                  <a:lnTo>
                    <a:pt x="37711059" y="0"/>
                  </a:lnTo>
                  <a:lnTo>
                    <a:pt x="37711059" y="17511006"/>
                  </a:lnTo>
                  <a:lnTo>
                    <a:pt x="0" y="175110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76" r="-7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 rot="9551400">
            <a:off x="15235457" y="1087660"/>
            <a:ext cx="3982803" cy="5390340"/>
            <a:chOff x="0" y="0"/>
            <a:chExt cx="5310403" cy="7187120"/>
          </a:xfrm>
        </p:grpSpPr>
        <p:sp>
          <p:nvSpPr>
            <p:cNvPr id="5" name="Freeform 5"/>
            <p:cNvSpPr/>
            <p:nvPr/>
          </p:nvSpPr>
          <p:spPr>
            <a:xfrm flipH="1">
              <a:off x="0" y="0"/>
              <a:ext cx="5310378" cy="7187057"/>
            </a:xfrm>
            <a:custGeom>
              <a:avLst/>
              <a:gdLst/>
              <a:ahLst/>
              <a:cxnLst/>
              <a:rect l="l" t="t" r="r" b="b"/>
              <a:pathLst>
                <a:path w="5310378" h="7187057">
                  <a:moveTo>
                    <a:pt x="5310378" y="0"/>
                  </a:moveTo>
                  <a:lnTo>
                    <a:pt x="0" y="0"/>
                  </a:lnTo>
                  <a:lnTo>
                    <a:pt x="0" y="7187057"/>
                  </a:lnTo>
                  <a:lnTo>
                    <a:pt x="5310378" y="7187057"/>
                  </a:lnTo>
                  <a:lnTo>
                    <a:pt x="5310378" y="0"/>
                  </a:lnTo>
                  <a:close/>
                </a:path>
              </a:pathLst>
            </a:custGeom>
            <a:blipFill>
              <a:blip r:embed="rId3"/>
              <a:stretch>
                <a:fillRect t="-914" b="-91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9559957"/>
            <a:ext cx="3771900" cy="735425"/>
            <a:chOff x="0" y="0"/>
            <a:chExt cx="5029200" cy="980567"/>
          </a:xfrm>
        </p:grpSpPr>
        <p:sp>
          <p:nvSpPr>
            <p:cNvPr id="7" name="Freeform 7" descr="A picture containing photo, table, person, monitor  Description automatically generated"/>
            <p:cNvSpPr/>
            <p:nvPr/>
          </p:nvSpPr>
          <p:spPr>
            <a:xfrm>
              <a:off x="0" y="0"/>
              <a:ext cx="5029200" cy="980567"/>
            </a:xfrm>
            <a:custGeom>
              <a:avLst/>
              <a:gdLst/>
              <a:ahLst/>
              <a:cxnLst/>
              <a:rect l="l" t="t" r="r" b="b"/>
              <a:pathLst>
                <a:path w="5029200" h="980567">
                  <a:moveTo>
                    <a:pt x="0" y="0"/>
                  </a:moveTo>
                  <a:lnTo>
                    <a:pt x="5029200" y="0"/>
                  </a:lnTo>
                  <a:lnTo>
                    <a:pt x="5029200" y="980567"/>
                  </a:lnTo>
                  <a:lnTo>
                    <a:pt x="0" y="980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94249" b="-9424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4781845" y="8768305"/>
            <a:ext cx="10224545" cy="1980248"/>
            <a:chOff x="0" y="0"/>
            <a:chExt cx="13632726" cy="264033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3632687" cy="2640330"/>
            </a:xfrm>
            <a:custGeom>
              <a:avLst/>
              <a:gdLst/>
              <a:ahLst/>
              <a:cxnLst/>
              <a:rect l="l" t="t" r="r" b="b"/>
              <a:pathLst>
                <a:path w="13632687" h="2640330">
                  <a:moveTo>
                    <a:pt x="0" y="0"/>
                  </a:moveTo>
                  <a:lnTo>
                    <a:pt x="13632687" y="0"/>
                  </a:lnTo>
                  <a:lnTo>
                    <a:pt x="13632687" y="2640330"/>
                  </a:lnTo>
                  <a:lnTo>
                    <a:pt x="0" y="264033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50536" b="-5053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0" y="9551575"/>
            <a:ext cx="3771900" cy="735425"/>
            <a:chOff x="0" y="0"/>
            <a:chExt cx="5029200" cy="980567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5029200" cy="980567"/>
            </a:xfrm>
            <a:custGeom>
              <a:avLst/>
              <a:gdLst/>
              <a:ahLst/>
              <a:cxnLst/>
              <a:rect l="l" t="t" r="r" b="b"/>
              <a:pathLst>
                <a:path w="5029200" h="980567">
                  <a:moveTo>
                    <a:pt x="0" y="0"/>
                  </a:moveTo>
                  <a:lnTo>
                    <a:pt x="5029200" y="0"/>
                  </a:lnTo>
                  <a:lnTo>
                    <a:pt x="5029200" y="980567"/>
                  </a:lnTo>
                  <a:lnTo>
                    <a:pt x="0" y="980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128" b="-12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948655" y="9725025"/>
            <a:ext cx="10224545" cy="561975"/>
            <a:chOff x="0" y="0"/>
            <a:chExt cx="13632726" cy="7493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3632726" cy="749301"/>
            </a:xfrm>
            <a:custGeom>
              <a:avLst/>
              <a:gdLst/>
              <a:ahLst/>
              <a:cxnLst/>
              <a:rect l="l" t="t" r="r" b="b"/>
              <a:pathLst>
                <a:path w="13632726" h="749301">
                  <a:moveTo>
                    <a:pt x="0" y="0"/>
                  </a:moveTo>
                  <a:lnTo>
                    <a:pt x="13632726" y="0"/>
                  </a:lnTo>
                  <a:lnTo>
                    <a:pt x="13632726" y="749301"/>
                  </a:lnTo>
                  <a:lnTo>
                    <a:pt x="0" y="749301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t="-304509" b="-30450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19050"/>
              <a:ext cx="13632726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mbria"/>
                  <a:ea typeface="Cambria"/>
                  <a:cs typeface="Cambria"/>
                  <a:sym typeface="Cambria"/>
                </a:rPr>
                <a:t>R26-IT-005</a:t>
              </a:r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374253" y="1293229"/>
            <a:ext cx="10389989" cy="628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49"/>
              </a:lnSpc>
            </a:pPr>
            <a:r>
              <a:rPr lang="en-US" sz="4499" b="1">
                <a:solidFill>
                  <a:srgbClr val="06728A"/>
                </a:solidFill>
                <a:latin typeface="Garet Bold"/>
                <a:ea typeface="Garet Bold"/>
                <a:cs typeface="Garet Bold"/>
                <a:sym typeface="Garet Bold"/>
              </a:rPr>
              <a:t>Impact and Measurable Pain Point 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443791" y="488947"/>
            <a:ext cx="7844209" cy="558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00"/>
              </a:lnSpc>
            </a:pPr>
            <a:r>
              <a:rPr lang="en-US" sz="2000" b="1">
                <a:solidFill>
                  <a:srgbClr val="06728A"/>
                </a:solidFill>
                <a:latin typeface="Garet Bold"/>
                <a:ea typeface="Garet Bold"/>
                <a:cs typeface="Garet Bold"/>
                <a:sym typeface="Garet Bold"/>
              </a:rPr>
              <a:t>Automated Water Quality &amp; Contamination Detection System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5521940" y="9832076"/>
            <a:ext cx="1314252" cy="276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2026/08/31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243505" y="2024422"/>
            <a:ext cx="12706490" cy="7398043"/>
            <a:chOff x="0" y="0"/>
            <a:chExt cx="28734013" cy="1672967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8734014" cy="16729677"/>
            </a:xfrm>
            <a:custGeom>
              <a:avLst/>
              <a:gdLst/>
              <a:ahLst/>
              <a:cxnLst/>
              <a:rect l="l" t="t" r="r" b="b"/>
              <a:pathLst>
                <a:path w="28734014" h="16729677">
                  <a:moveTo>
                    <a:pt x="0" y="0"/>
                  </a:moveTo>
                  <a:lnTo>
                    <a:pt x="28734014" y="0"/>
                  </a:lnTo>
                  <a:lnTo>
                    <a:pt x="28734014" y="16729677"/>
                  </a:lnTo>
                  <a:lnTo>
                    <a:pt x="0" y="167296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1307" b="-1307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 rot="9551400">
            <a:off x="15235457" y="1087660"/>
            <a:ext cx="3982803" cy="5390340"/>
            <a:chOff x="0" y="0"/>
            <a:chExt cx="5310403" cy="7187120"/>
          </a:xfrm>
        </p:grpSpPr>
        <p:sp>
          <p:nvSpPr>
            <p:cNvPr id="5" name="Freeform 5"/>
            <p:cNvSpPr/>
            <p:nvPr/>
          </p:nvSpPr>
          <p:spPr>
            <a:xfrm flipH="1">
              <a:off x="0" y="0"/>
              <a:ext cx="5310378" cy="7187057"/>
            </a:xfrm>
            <a:custGeom>
              <a:avLst/>
              <a:gdLst/>
              <a:ahLst/>
              <a:cxnLst/>
              <a:rect l="l" t="t" r="r" b="b"/>
              <a:pathLst>
                <a:path w="5310378" h="7187057">
                  <a:moveTo>
                    <a:pt x="5310378" y="0"/>
                  </a:moveTo>
                  <a:lnTo>
                    <a:pt x="0" y="0"/>
                  </a:lnTo>
                  <a:lnTo>
                    <a:pt x="0" y="7187057"/>
                  </a:lnTo>
                  <a:lnTo>
                    <a:pt x="5310378" y="7187057"/>
                  </a:lnTo>
                  <a:lnTo>
                    <a:pt x="5310378" y="0"/>
                  </a:lnTo>
                  <a:close/>
                </a:path>
              </a:pathLst>
            </a:custGeom>
            <a:blipFill>
              <a:blip r:embed="rId3"/>
              <a:stretch>
                <a:fillRect t="-914" b="-91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673275" y="1231607"/>
            <a:ext cx="5637972" cy="6443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949"/>
              </a:lnSpc>
            </a:pPr>
            <a:r>
              <a:rPr lang="en-US" sz="4499" b="1" dirty="0">
                <a:solidFill>
                  <a:srgbClr val="06728A"/>
                </a:solidFill>
                <a:latin typeface="Garet Bold"/>
                <a:ea typeface="Garet Bold"/>
                <a:cs typeface="Garet Bold"/>
                <a:sym typeface="Garet Bold"/>
              </a:rPr>
              <a:t>Research Gap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0" y="9559957"/>
            <a:ext cx="3771900" cy="735425"/>
            <a:chOff x="0" y="0"/>
            <a:chExt cx="5029200" cy="980567"/>
          </a:xfrm>
        </p:grpSpPr>
        <p:sp>
          <p:nvSpPr>
            <p:cNvPr id="8" name="Freeform 8" descr="A picture containing photo, table, person, monitor  Description automatically generated"/>
            <p:cNvSpPr/>
            <p:nvPr/>
          </p:nvSpPr>
          <p:spPr>
            <a:xfrm>
              <a:off x="0" y="0"/>
              <a:ext cx="5029200" cy="980567"/>
            </a:xfrm>
            <a:custGeom>
              <a:avLst/>
              <a:gdLst/>
              <a:ahLst/>
              <a:cxnLst/>
              <a:rect l="l" t="t" r="r" b="b"/>
              <a:pathLst>
                <a:path w="5029200" h="980567">
                  <a:moveTo>
                    <a:pt x="0" y="0"/>
                  </a:moveTo>
                  <a:lnTo>
                    <a:pt x="5029200" y="0"/>
                  </a:lnTo>
                  <a:lnTo>
                    <a:pt x="5029200" y="980567"/>
                  </a:lnTo>
                  <a:lnTo>
                    <a:pt x="0" y="980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94249" b="-9424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4781845" y="8768305"/>
            <a:ext cx="10224545" cy="1980248"/>
            <a:chOff x="0" y="0"/>
            <a:chExt cx="13632726" cy="264033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3632687" cy="2640330"/>
            </a:xfrm>
            <a:custGeom>
              <a:avLst/>
              <a:gdLst/>
              <a:ahLst/>
              <a:cxnLst/>
              <a:rect l="l" t="t" r="r" b="b"/>
              <a:pathLst>
                <a:path w="13632687" h="2640330">
                  <a:moveTo>
                    <a:pt x="0" y="0"/>
                  </a:moveTo>
                  <a:lnTo>
                    <a:pt x="13632687" y="0"/>
                  </a:lnTo>
                  <a:lnTo>
                    <a:pt x="13632687" y="2640330"/>
                  </a:lnTo>
                  <a:lnTo>
                    <a:pt x="0" y="264033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50536" b="-5053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443791" y="488947"/>
            <a:ext cx="7844209" cy="558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00"/>
              </a:lnSpc>
            </a:pPr>
            <a:r>
              <a:rPr lang="en-US" sz="2000" b="1">
                <a:solidFill>
                  <a:srgbClr val="06728A"/>
                </a:solidFill>
                <a:latin typeface="Garet Bold"/>
                <a:ea typeface="Garet Bold"/>
                <a:cs typeface="Garet Bold"/>
                <a:sym typeface="Garet Bold"/>
              </a:rPr>
              <a:t>Automated Water Quality &amp; Contamination Detection System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0" y="9551575"/>
            <a:ext cx="3771900" cy="735425"/>
            <a:chOff x="0" y="0"/>
            <a:chExt cx="5029200" cy="980567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5029200" cy="980567"/>
            </a:xfrm>
            <a:custGeom>
              <a:avLst/>
              <a:gdLst/>
              <a:ahLst/>
              <a:cxnLst/>
              <a:rect l="l" t="t" r="r" b="b"/>
              <a:pathLst>
                <a:path w="5029200" h="980567">
                  <a:moveTo>
                    <a:pt x="0" y="0"/>
                  </a:moveTo>
                  <a:lnTo>
                    <a:pt x="5029200" y="0"/>
                  </a:lnTo>
                  <a:lnTo>
                    <a:pt x="5029200" y="980567"/>
                  </a:lnTo>
                  <a:lnTo>
                    <a:pt x="0" y="980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128" b="-12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5521940" y="9832076"/>
            <a:ext cx="1314252" cy="276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2026/08/31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3948655" y="9725025"/>
            <a:ext cx="10224545" cy="561975"/>
            <a:chOff x="0" y="0"/>
            <a:chExt cx="13632726" cy="7493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3632726" cy="749301"/>
            </a:xfrm>
            <a:custGeom>
              <a:avLst/>
              <a:gdLst/>
              <a:ahLst/>
              <a:cxnLst/>
              <a:rect l="l" t="t" r="r" b="b"/>
              <a:pathLst>
                <a:path w="13632726" h="749301">
                  <a:moveTo>
                    <a:pt x="0" y="0"/>
                  </a:moveTo>
                  <a:lnTo>
                    <a:pt x="13632726" y="0"/>
                  </a:lnTo>
                  <a:lnTo>
                    <a:pt x="13632726" y="749301"/>
                  </a:lnTo>
                  <a:lnTo>
                    <a:pt x="0" y="749301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t="-304509" b="-30450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19050"/>
              <a:ext cx="13632726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mbria"/>
                  <a:ea typeface="Cambria"/>
                  <a:cs typeface="Cambria"/>
                  <a:sym typeface="Cambria"/>
                </a:rPr>
                <a:t>R26-IT-005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9551400">
            <a:off x="15235457" y="1087660"/>
            <a:ext cx="3982803" cy="5390340"/>
            <a:chOff x="0" y="0"/>
            <a:chExt cx="5310403" cy="7187120"/>
          </a:xfrm>
        </p:grpSpPr>
        <p:sp>
          <p:nvSpPr>
            <p:cNvPr id="3" name="Freeform 3"/>
            <p:cNvSpPr/>
            <p:nvPr/>
          </p:nvSpPr>
          <p:spPr>
            <a:xfrm flipH="1">
              <a:off x="0" y="0"/>
              <a:ext cx="5310378" cy="7187057"/>
            </a:xfrm>
            <a:custGeom>
              <a:avLst/>
              <a:gdLst/>
              <a:ahLst/>
              <a:cxnLst/>
              <a:rect l="l" t="t" r="r" b="b"/>
              <a:pathLst>
                <a:path w="5310378" h="7187057">
                  <a:moveTo>
                    <a:pt x="5310378" y="0"/>
                  </a:moveTo>
                  <a:lnTo>
                    <a:pt x="0" y="0"/>
                  </a:lnTo>
                  <a:lnTo>
                    <a:pt x="0" y="7187057"/>
                  </a:lnTo>
                  <a:lnTo>
                    <a:pt x="5310378" y="7187057"/>
                  </a:lnTo>
                  <a:lnTo>
                    <a:pt x="5310378" y="0"/>
                  </a:lnTo>
                  <a:close/>
                </a:path>
              </a:pathLst>
            </a:custGeom>
            <a:blipFill>
              <a:blip r:embed="rId2"/>
              <a:stretch>
                <a:fillRect t="-914" b="-91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9559957"/>
            <a:ext cx="3771900" cy="735425"/>
            <a:chOff x="0" y="0"/>
            <a:chExt cx="5029200" cy="980567"/>
          </a:xfrm>
        </p:grpSpPr>
        <p:sp>
          <p:nvSpPr>
            <p:cNvPr id="5" name="Freeform 5" descr="A picture containing photo, table, person, monitor  Description automatically generated"/>
            <p:cNvSpPr/>
            <p:nvPr/>
          </p:nvSpPr>
          <p:spPr>
            <a:xfrm>
              <a:off x="0" y="0"/>
              <a:ext cx="5029200" cy="980567"/>
            </a:xfrm>
            <a:custGeom>
              <a:avLst/>
              <a:gdLst/>
              <a:ahLst/>
              <a:cxnLst/>
              <a:rect l="l" t="t" r="r" b="b"/>
              <a:pathLst>
                <a:path w="5029200" h="980567">
                  <a:moveTo>
                    <a:pt x="0" y="0"/>
                  </a:moveTo>
                  <a:lnTo>
                    <a:pt x="5029200" y="0"/>
                  </a:lnTo>
                  <a:lnTo>
                    <a:pt x="5029200" y="980567"/>
                  </a:lnTo>
                  <a:lnTo>
                    <a:pt x="0" y="980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94249" b="-9424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517350" y="1948772"/>
            <a:ext cx="3664250" cy="654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950"/>
              </a:lnSpc>
            </a:pPr>
            <a:r>
              <a:rPr lang="en-US" sz="4500" b="1" dirty="0">
                <a:solidFill>
                  <a:srgbClr val="06728A"/>
                </a:solidFill>
                <a:latin typeface="Garet Bold"/>
                <a:ea typeface="Garet Bold"/>
                <a:cs typeface="Garet Bold"/>
                <a:sym typeface="Garet Bold"/>
              </a:rPr>
              <a:t>Objectives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330271" y="3596137"/>
            <a:ext cx="14191669" cy="25666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28956" lvl="1" indent="-264478" algn="l">
              <a:lnSpc>
                <a:spcPts val="3430"/>
              </a:lnSpc>
              <a:buAutoNum type="arabicPeriod"/>
            </a:pPr>
            <a:r>
              <a:rPr lang="en-US" sz="2450" b="1">
                <a:solidFill>
                  <a:srgbClr val="1B3957"/>
                </a:solidFill>
                <a:latin typeface="Arimo Bold"/>
                <a:ea typeface="Arimo Bold"/>
                <a:cs typeface="Arimo Bold"/>
                <a:sym typeface="Arimo Bold"/>
              </a:rPr>
              <a:t>Detect visible contaminants in water samples. </a:t>
            </a:r>
          </a:p>
          <a:p>
            <a:pPr marL="528956" lvl="1" indent="-264478" algn="l">
              <a:lnSpc>
                <a:spcPts val="3430"/>
              </a:lnSpc>
              <a:buAutoNum type="arabicPeriod"/>
            </a:pPr>
            <a:r>
              <a:rPr lang="en-US" sz="2450" b="1">
                <a:solidFill>
                  <a:srgbClr val="1B3957"/>
                </a:solidFill>
                <a:latin typeface="Arimo Bold"/>
                <a:ea typeface="Arimo Bold"/>
                <a:cs typeface="Arimo Bold"/>
                <a:sym typeface="Arimo Bold"/>
              </a:rPr>
              <a:t>Classify water quality using measured parameters. </a:t>
            </a:r>
          </a:p>
          <a:p>
            <a:pPr marL="528956" lvl="1" indent="-264478" algn="l">
              <a:lnSpc>
                <a:spcPts val="3430"/>
              </a:lnSpc>
              <a:buAutoNum type="arabicPeriod"/>
            </a:pPr>
            <a:r>
              <a:rPr lang="en-US" sz="2450" b="1">
                <a:solidFill>
                  <a:srgbClr val="1B3957"/>
                </a:solidFill>
                <a:latin typeface="Arimo Bold"/>
                <a:ea typeface="Arimo Bold"/>
                <a:cs typeface="Arimo Bold"/>
                <a:sym typeface="Arimo Bold"/>
              </a:rPr>
              <a:t>Detect microorganisms from microscope images. </a:t>
            </a:r>
          </a:p>
          <a:p>
            <a:pPr marL="528956" lvl="1" indent="-264478" algn="l">
              <a:lnSpc>
                <a:spcPts val="3430"/>
              </a:lnSpc>
              <a:buAutoNum type="arabicPeriod"/>
            </a:pPr>
            <a:r>
              <a:rPr lang="en-US" sz="2450" b="1">
                <a:solidFill>
                  <a:srgbClr val="1B3957"/>
                </a:solidFill>
                <a:latin typeface="Arimo Bold"/>
                <a:ea typeface="Arimo Bold"/>
                <a:cs typeface="Arimo Bold"/>
                <a:sym typeface="Arimo Bold"/>
              </a:rPr>
              <a:t>Generate an automated water safety report. </a:t>
            </a:r>
          </a:p>
          <a:p>
            <a:pPr marL="528956" lvl="1" indent="-264478" algn="l">
              <a:lnSpc>
                <a:spcPts val="3430"/>
              </a:lnSpc>
              <a:buAutoNum type="arabicPeriod"/>
            </a:pPr>
            <a:r>
              <a:rPr lang="en-US" sz="2450" b="1">
                <a:solidFill>
                  <a:srgbClr val="1B3957"/>
                </a:solidFill>
                <a:latin typeface="Arimo Bold"/>
                <a:ea typeface="Arimo Bold"/>
                <a:cs typeface="Arimo Bold"/>
                <a:sym typeface="Arimo Bold"/>
              </a:rPr>
              <a:t>Recommend suitable purification methods. </a:t>
            </a:r>
          </a:p>
          <a:p>
            <a:pPr algn="l">
              <a:lnSpc>
                <a:spcPts val="3430"/>
              </a:lnSpc>
            </a:pPr>
            <a:endParaRPr lang="en-US" sz="2450" b="1">
              <a:solidFill>
                <a:srgbClr val="1B3957"/>
              </a:solidFill>
              <a:latin typeface="Arimo Bold"/>
              <a:ea typeface="Arimo Bold"/>
              <a:cs typeface="Arimo Bold"/>
              <a:sym typeface="Arimo Bold"/>
            </a:endParaRPr>
          </a:p>
        </p:txBody>
      </p:sp>
      <p:grpSp>
        <p:nvGrpSpPr>
          <p:cNvPr id="8" name="Group 8"/>
          <p:cNvGrpSpPr/>
          <p:nvPr/>
        </p:nvGrpSpPr>
        <p:grpSpPr>
          <a:xfrm>
            <a:off x="4781845" y="8768305"/>
            <a:ext cx="10224545" cy="1980248"/>
            <a:chOff x="0" y="0"/>
            <a:chExt cx="13632726" cy="264033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3632687" cy="2640330"/>
            </a:xfrm>
            <a:custGeom>
              <a:avLst/>
              <a:gdLst/>
              <a:ahLst/>
              <a:cxnLst/>
              <a:rect l="l" t="t" r="r" b="b"/>
              <a:pathLst>
                <a:path w="13632687" h="2640330">
                  <a:moveTo>
                    <a:pt x="0" y="0"/>
                  </a:moveTo>
                  <a:lnTo>
                    <a:pt x="13632687" y="0"/>
                  </a:lnTo>
                  <a:lnTo>
                    <a:pt x="13632687" y="2640330"/>
                  </a:lnTo>
                  <a:lnTo>
                    <a:pt x="0" y="26403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0536" b="-5053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0443791" y="488947"/>
            <a:ext cx="7844209" cy="558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00"/>
              </a:lnSpc>
            </a:pPr>
            <a:r>
              <a:rPr lang="en-US" sz="2000" b="1">
                <a:solidFill>
                  <a:srgbClr val="06728A"/>
                </a:solidFill>
                <a:latin typeface="Garet Bold"/>
                <a:ea typeface="Garet Bold"/>
                <a:cs typeface="Garet Bold"/>
                <a:sym typeface="Garet Bold"/>
              </a:rPr>
              <a:t>Automated Water Quality &amp; Contamination Detection System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0" y="9551575"/>
            <a:ext cx="3771900" cy="735425"/>
            <a:chOff x="0" y="0"/>
            <a:chExt cx="5029200" cy="98056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029200" cy="980567"/>
            </a:xfrm>
            <a:custGeom>
              <a:avLst/>
              <a:gdLst/>
              <a:ahLst/>
              <a:cxnLst/>
              <a:rect l="l" t="t" r="r" b="b"/>
              <a:pathLst>
                <a:path w="5029200" h="980567">
                  <a:moveTo>
                    <a:pt x="0" y="0"/>
                  </a:moveTo>
                  <a:lnTo>
                    <a:pt x="5029200" y="0"/>
                  </a:lnTo>
                  <a:lnTo>
                    <a:pt x="5029200" y="980567"/>
                  </a:lnTo>
                  <a:lnTo>
                    <a:pt x="0" y="980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128" b="-12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5521940" y="9832076"/>
            <a:ext cx="1314252" cy="276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2026/08/31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3948655" y="9725025"/>
            <a:ext cx="10224545" cy="561975"/>
            <a:chOff x="0" y="0"/>
            <a:chExt cx="13632726" cy="7493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3632726" cy="749301"/>
            </a:xfrm>
            <a:custGeom>
              <a:avLst/>
              <a:gdLst/>
              <a:ahLst/>
              <a:cxnLst/>
              <a:rect l="l" t="t" r="r" b="b"/>
              <a:pathLst>
                <a:path w="13632726" h="749301">
                  <a:moveTo>
                    <a:pt x="0" y="0"/>
                  </a:moveTo>
                  <a:lnTo>
                    <a:pt x="13632726" y="0"/>
                  </a:lnTo>
                  <a:lnTo>
                    <a:pt x="13632726" y="749301"/>
                  </a:lnTo>
                  <a:lnTo>
                    <a:pt x="0" y="749301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304509" b="-30450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13632726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mbria"/>
                  <a:ea typeface="Cambria"/>
                  <a:cs typeface="Cambria"/>
                  <a:sym typeface="Cambria"/>
                </a:rPr>
                <a:t>R26-IT-005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0443791" y="5620866"/>
            <a:ext cx="5582309" cy="3147440"/>
            <a:chOff x="0" y="0"/>
            <a:chExt cx="5848261" cy="329739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5848350" cy="3297428"/>
            </a:xfrm>
            <a:custGeom>
              <a:avLst/>
              <a:gdLst/>
              <a:ahLst/>
              <a:cxnLst/>
              <a:rect l="l" t="t" r="r" b="b"/>
              <a:pathLst>
                <a:path w="5848350" h="3297428">
                  <a:moveTo>
                    <a:pt x="702056" y="0"/>
                  </a:moveTo>
                  <a:lnTo>
                    <a:pt x="5146294" y="0"/>
                  </a:lnTo>
                  <a:cubicBezTo>
                    <a:pt x="5534025" y="0"/>
                    <a:pt x="5848350" y="314325"/>
                    <a:pt x="5848350" y="702056"/>
                  </a:cubicBezTo>
                  <a:lnTo>
                    <a:pt x="5848350" y="2595372"/>
                  </a:lnTo>
                  <a:cubicBezTo>
                    <a:pt x="5848350" y="2781554"/>
                    <a:pt x="5774436" y="2960116"/>
                    <a:pt x="5642737" y="3091815"/>
                  </a:cubicBezTo>
                  <a:cubicBezTo>
                    <a:pt x="5511038" y="3223514"/>
                    <a:pt x="5332476" y="3297428"/>
                    <a:pt x="5146294" y="3297428"/>
                  </a:cubicBezTo>
                  <a:lnTo>
                    <a:pt x="702056" y="3297428"/>
                  </a:lnTo>
                  <a:cubicBezTo>
                    <a:pt x="314325" y="3297428"/>
                    <a:pt x="0" y="2983103"/>
                    <a:pt x="0" y="2595372"/>
                  </a:cubicBezTo>
                  <a:lnTo>
                    <a:pt x="0" y="702056"/>
                  </a:lnTo>
                  <a:cubicBezTo>
                    <a:pt x="0" y="515874"/>
                    <a:pt x="73914" y="337312"/>
                    <a:pt x="205613" y="205613"/>
                  </a:cubicBezTo>
                  <a:cubicBezTo>
                    <a:pt x="337312" y="73914"/>
                    <a:pt x="515874" y="0"/>
                    <a:pt x="702056" y="0"/>
                  </a:cubicBezTo>
                  <a:close/>
                </a:path>
              </a:pathLst>
            </a:custGeom>
            <a:blipFill>
              <a:blip r:embed="rId7"/>
              <a:stretch>
                <a:fillRect t="-9139" r="1" b="-913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9551400">
            <a:off x="15235457" y="1087660"/>
            <a:ext cx="3982803" cy="5390340"/>
            <a:chOff x="0" y="0"/>
            <a:chExt cx="5310403" cy="7187120"/>
          </a:xfrm>
        </p:grpSpPr>
        <p:sp>
          <p:nvSpPr>
            <p:cNvPr id="3" name="Freeform 3"/>
            <p:cNvSpPr/>
            <p:nvPr/>
          </p:nvSpPr>
          <p:spPr>
            <a:xfrm flipH="1">
              <a:off x="0" y="0"/>
              <a:ext cx="5310378" cy="7187057"/>
            </a:xfrm>
            <a:custGeom>
              <a:avLst/>
              <a:gdLst/>
              <a:ahLst/>
              <a:cxnLst/>
              <a:rect l="l" t="t" r="r" b="b"/>
              <a:pathLst>
                <a:path w="5310378" h="7187057">
                  <a:moveTo>
                    <a:pt x="5310378" y="0"/>
                  </a:moveTo>
                  <a:lnTo>
                    <a:pt x="0" y="0"/>
                  </a:lnTo>
                  <a:lnTo>
                    <a:pt x="0" y="7187057"/>
                  </a:lnTo>
                  <a:lnTo>
                    <a:pt x="5310378" y="7187057"/>
                  </a:lnTo>
                  <a:lnTo>
                    <a:pt x="5310378" y="0"/>
                  </a:lnTo>
                  <a:close/>
                </a:path>
              </a:pathLst>
            </a:custGeom>
            <a:blipFill>
              <a:blip r:embed="rId2"/>
              <a:stretch>
                <a:fillRect t="-914" b="-91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9559957"/>
            <a:ext cx="3771900" cy="735425"/>
            <a:chOff x="0" y="0"/>
            <a:chExt cx="5029200" cy="980567"/>
          </a:xfrm>
        </p:grpSpPr>
        <p:sp>
          <p:nvSpPr>
            <p:cNvPr id="5" name="Freeform 5" descr="A picture containing photo, table, person, monitor  Description automatically generated"/>
            <p:cNvSpPr/>
            <p:nvPr/>
          </p:nvSpPr>
          <p:spPr>
            <a:xfrm>
              <a:off x="0" y="0"/>
              <a:ext cx="5029200" cy="980567"/>
            </a:xfrm>
            <a:custGeom>
              <a:avLst/>
              <a:gdLst/>
              <a:ahLst/>
              <a:cxnLst/>
              <a:rect l="l" t="t" r="r" b="b"/>
              <a:pathLst>
                <a:path w="5029200" h="980567">
                  <a:moveTo>
                    <a:pt x="0" y="0"/>
                  </a:moveTo>
                  <a:lnTo>
                    <a:pt x="5029200" y="0"/>
                  </a:lnTo>
                  <a:lnTo>
                    <a:pt x="5029200" y="980567"/>
                  </a:lnTo>
                  <a:lnTo>
                    <a:pt x="0" y="980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94249" b="-9424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4781845" y="8768305"/>
            <a:ext cx="10224545" cy="1980248"/>
            <a:chOff x="0" y="0"/>
            <a:chExt cx="13632726" cy="264033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3632687" cy="2640330"/>
            </a:xfrm>
            <a:custGeom>
              <a:avLst/>
              <a:gdLst/>
              <a:ahLst/>
              <a:cxnLst/>
              <a:rect l="l" t="t" r="r" b="b"/>
              <a:pathLst>
                <a:path w="13632687" h="2640330">
                  <a:moveTo>
                    <a:pt x="0" y="0"/>
                  </a:moveTo>
                  <a:lnTo>
                    <a:pt x="13632687" y="0"/>
                  </a:lnTo>
                  <a:lnTo>
                    <a:pt x="13632687" y="2640330"/>
                  </a:lnTo>
                  <a:lnTo>
                    <a:pt x="0" y="26403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0536" b="-5053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551575"/>
            <a:ext cx="3771900" cy="735425"/>
            <a:chOff x="0" y="0"/>
            <a:chExt cx="5029200" cy="9805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029200" cy="980567"/>
            </a:xfrm>
            <a:custGeom>
              <a:avLst/>
              <a:gdLst/>
              <a:ahLst/>
              <a:cxnLst/>
              <a:rect l="l" t="t" r="r" b="b"/>
              <a:pathLst>
                <a:path w="5029200" h="980567">
                  <a:moveTo>
                    <a:pt x="0" y="0"/>
                  </a:moveTo>
                  <a:lnTo>
                    <a:pt x="5029200" y="0"/>
                  </a:lnTo>
                  <a:lnTo>
                    <a:pt x="5029200" y="980567"/>
                  </a:lnTo>
                  <a:lnTo>
                    <a:pt x="0" y="980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128" b="-12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3948655" y="9725025"/>
            <a:ext cx="10224545" cy="561975"/>
            <a:chOff x="0" y="0"/>
            <a:chExt cx="13632726" cy="7493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3632726" cy="749301"/>
            </a:xfrm>
            <a:custGeom>
              <a:avLst/>
              <a:gdLst/>
              <a:ahLst/>
              <a:cxnLst/>
              <a:rect l="l" t="t" r="r" b="b"/>
              <a:pathLst>
                <a:path w="13632726" h="749301">
                  <a:moveTo>
                    <a:pt x="0" y="0"/>
                  </a:moveTo>
                  <a:lnTo>
                    <a:pt x="13632726" y="0"/>
                  </a:lnTo>
                  <a:lnTo>
                    <a:pt x="13632726" y="749301"/>
                  </a:lnTo>
                  <a:lnTo>
                    <a:pt x="0" y="749301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304509" b="-30450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13632726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mbria"/>
                  <a:ea typeface="Cambria"/>
                  <a:cs typeface="Cambria"/>
                  <a:sym typeface="Cambria"/>
                </a:rPr>
                <a:t>R26-IT-005</a:t>
              </a:r>
            </a:p>
          </p:txBody>
        </p:sp>
      </p:grpSp>
      <p:sp>
        <p:nvSpPr>
          <p:cNvPr id="13" name="Freeform 13"/>
          <p:cNvSpPr/>
          <p:nvPr/>
        </p:nvSpPr>
        <p:spPr>
          <a:xfrm>
            <a:off x="5065882" y="1988721"/>
            <a:ext cx="7990092" cy="7431529"/>
          </a:xfrm>
          <a:custGeom>
            <a:avLst/>
            <a:gdLst/>
            <a:ahLst/>
            <a:cxnLst/>
            <a:rect l="l" t="t" r="r" b="b"/>
            <a:pathLst>
              <a:path w="7990092" h="7431529">
                <a:moveTo>
                  <a:pt x="0" y="0"/>
                </a:moveTo>
                <a:lnTo>
                  <a:pt x="7990092" y="0"/>
                </a:lnTo>
                <a:lnTo>
                  <a:pt x="7990092" y="7431529"/>
                </a:lnTo>
                <a:lnTo>
                  <a:pt x="0" y="74315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835" t="-2678" r="-1971" b="-176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4"/>
          <p:cNvSpPr txBox="1"/>
          <p:nvPr/>
        </p:nvSpPr>
        <p:spPr>
          <a:xfrm>
            <a:off x="1028700" y="1095372"/>
            <a:ext cx="10858500" cy="1272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949"/>
              </a:lnSpc>
            </a:pPr>
            <a:r>
              <a:rPr lang="en-US" sz="4499" b="1" dirty="0">
                <a:solidFill>
                  <a:srgbClr val="06728A"/>
                </a:solidFill>
                <a:latin typeface="Garet Bold"/>
                <a:ea typeface="Garet Bold"/>
                <a:cs typeface="Garet Bold"/>
                <a:sym typeface="Garet Bold"/>
              </a:rPr>
              <a:t>Solution Overview + Architecture</a:t>
            </a:r>
          </a:p>
          <a:p>
            <a:pPr algn="l">
              <a:lnSpc>
                <a:spcPts val="4949"/>
              </a:lnSpc>
            </a:pPr>
            <a:endParaRPr lang="en-US" sz="4499" b="1" dirty="0">
              <a:solidFill>
                <a:srgbClr val="06728A"/>
              </a:solidFill>
              <a:latin typeface="Garet Bold"/>
              <a:ea typeface="Garet Bold"/>
              <a:cs typeface="Garet Bold"/>
              <a:sym typeface="Garet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0443791" y="488947"/>
            <a:ext cx="7844209" cy="558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00"/>
              </a:lnSpc>
            </a:pPr>
            <a:r>
              <a:rPr lang="en-US" sz="2000" b="1">
                <a:solidFill>
                  <a:srgbClr val="06728A"/>
                </a:solidFill>
                <a:latin typeface="Garet Bold"/>
                <a:ea typeface="Garet Bold"/>
                <a:cs typeface="Garet Bold"/>
                <a:sym typeface="Garet Bold"/>
              </a:rPr>
              <a:t>Automated Water Quality &amp; Contamination Detection System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5521940" y="9832076"/>
            <a:ext cx="1314252" cy="276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2026/08/31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8795" b="-879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9559957"/>
            <a:ext cx="3771900" cy="735425"/>
            <a:chOff x="0" y="0"/>
            <a:chExt cx="5029200" cy="980567"/>
          </a:xfrm>
        </p:grpSpPr>
        <p:sp>
          <p:nvSpPr>
            <p:cNvPr id="5" name="Freeform 5" descr="A picture containing photo, table, person, monitor  Description automatically generated"/>
            <p:cNvSpPr/>
            <p:nvPr/>
          </p:nvSpPr>
          <p:spPr>
            <a:xfrm>
              <a:off x="0" y="0"/>
              <a:ext cx="5029200" cy="980567"/>
            </a:xfrm>
            <a:custGeom>
              <a:avLst/>
              <a:gdLst/>
              <a:ahLst/>
              <a:cxnLst/>
              <a:rect l="l" t="t" r="r" b="b"/>
              <a:pathLst>
                <a:path w="5029200" h="980567">
                  <a:moveTo>
                    <a:pt x="0" y="0"/>
                  </a:moveTo>
                  <a:lnTo>
                    <a:pt x="5029200" y="0"/>
                  </a:lnTo>
                  <a:lnTo>
                    <a:pt x="5029200" y="980567"/>
                  </a:lnTo>
                  <a:lnTo>
                    <a:pt x="0" y="980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94249" b="-9424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4781845" y="8768305"/>
            <a:ext cx="10224545" cy="1980248"/>
            <a:chOff x="0" y="0"/>
            <a:chExt cx="13632726" cy="264033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3632687" cy="2640330"/>
            </a:xfrm>
            <a:custGeom>
              <a:avLst/>
              <a:gdLst/>
              <a:ahLst/>
              <a:cxnLst/>
              <a:rect l="l" t="t" r="r" b="b"/>
              <a:pathLst>
                <a:path w="13632687" h="2640330">
                  <a:moveTo>
                    <a:pt x="0" y="0"/>
                  </a:moveTo>
                  <a:lnTo>
                    <a:pt x="13632687" y="0"/>
                  </a:lnTo>
                  <a:lnTo>
                    <a:pt x="13632687" y="2640330"/>
                  </a:lnTo>
                  <a:lnTo>
                    <a:pt x="0" y="26403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0536" b="-5053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551575"/>
            <a:ext cx="3771900" cy="735425"/>
            <a:chOff x="0" y="0"/>
            <a:chExt cx="5029200" cy="9805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029200" cy="980567"/>
            </a:xfrm>
            <a:custGeom>
              <a:avLst/>
              <a:gdLst/>
              <a:ahLst/>
              <a:cxnLst/>
              <a:rect l="l" t="t" r="r" b="b"/>
              <a:pathLst>
                <a:path w="5029200" h="980567">
                  <a:moveTo>
                    <a:pt x="0" y="0"/>
                  </a:moveTo>
                  <a:lnTo>
                    <a:pt x="5029200" y="0"/>
                  </a:lnTo>
                  <a:lnTo>
                    <a:pt x="5029200" y="980567"/>
                  </a:lnTo>
                  <a:lnTo>
                    <a:pt x="0" y="980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128" b="-12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3948655" y="9725025"/>
            <a:ext cx="10224545" cy="561975"/>
            <a:chOff x="0" y="0"/>
            <a:chExt cx="13632726" cy="7493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3632726" cy="749301"/>
            </a:xfrm>
            <a:custGeom>
              <a:avLst/>
              <a:gdLst/>
              <a:ahLst/>
              <a:cxnLst/>
              <a:rect l="l" t="t" r="r" b="b"/>
              <a:pathLst>
                <a:path w="13632726" h="749301">
                  <a:moveTo>
                    <a:pt x="0" y="0"/>
                  </a:moveTo>
                  <a:lnTo>
                    <a:pt x="13632726" y="0"/>
                  </a:lnTo>
                  <a:lnTo>
                    <a:pt x="13632726" y="749301"/>
                  </a:lnTo>
                  <a:lnTo>
                    <a:pt x="0" y="749301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304509" b="-30450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13632726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mbria"/>
                  <a:ea typeface="Cambria"/>
                  <a:cs typeface="Cambria"/>
                  <a:sym typeface="Cambria"/>
                </a:rPr>
                <a:t>R26-IT-005</a:t>
              </a:r>
            </a:p>
          </p:txBody>
        </p:sp>
      </p:grpSp>
      <p:sp>
        <p:nvSpPr>
          <p:cNvPr id="13" name="Freeform 13"/>
          <p:cNvSpPr/>
          <p:nvPr/>
        </p:nvSpPr>
        <p:spPr>
          <a:xfrm>
            <a:off x="5157934" y="1320925"/>
            <a:ext cx="7753881" cy="7819919"/>
          </a:xfrm>
          <a:custGeom>
            <a:avLst/>
            <a:gdLst/>
            <a:ahLst/>
            <a:cxnLst/>
            <a:rect l="l" t="t" r="r" b="b"/>
            <a:pathLst>
              <a:path w="7753881" h="7819919">
                <a:moveTo>
                  <a:pt x="0" y="0"/>
                </a:moveTo>
                <a:lnTo>
                  <a:pt x="7753881" y="0"/>
                </a:lnTo>
                <a:lnTo>
                  <a:pt x="7753881" y="7819919"/>
                </a:lnTo>
                <a:lnTo>
                  <a:pt x="0" y="78199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b="-499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4"/>
          <p:cNvSpPr txBox="1"/>
          <p:nvPr/>
        </p:nvSpPr>
        <p:spPr>
          <a:xfrm>
            <a:off x="10443791" y="488947"/>
            <a:ext cx="7844209" cy="558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00"/>
              </a:lnSpc>
            </a:pPr>
            <a:r>
              <a:rPr lang="en-US" sz="2000" b="1">
                <a:solidFill>
                  <a:srgbClr val="06728A"/>
                </a:solidFill>
                <a:latin typeface="Garet Bold"/>
                <a:ea typeface="Garet Bold"/>
                <a:cs typeface="Garet Bold"/>
                <a:sym typeface="Garet Bold"/>
              </a:rPr>
              <a:t>Automated Water Quality &amp; Contamination Detection System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5521940" y="9832076"/>
            <a:ext cx="1314252" cy="276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2026/08/31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9551400">
            <a:off x="15235457" y="1087660"/>
            <a:ext cx="3982803" cy="5390340"/>
            <a:chOff x="0" y="0"/>
            <a:chExt cx="5310403" cy="7187120"/>
          </a:xfrm>
        </p:grpSpPr>
        <p:sp>
          <p:nvSpPr>
            <p:cNvPr id="3" name="Freeform 3"/>
            <p:cNvSpPr/>
            <p:nvPr/>
          </p:nvSpPr>
          <p:spPr>
            <a:xfrm flipH="1">
              <a:off x="0" y="0"/>
              <a:ext cx="5310378" cy="7187057"/>
            </a:xfrm>
            <a:custGeom>
              <a:avLst/>
              <a:gdLst/>
              <a:ahLst/>
              <a:cxnLst/>
              <a:rect l="l" t="t" r="r" b="b"/>
              <a:pathLst>
                <a:path w="5310378" h="7187057">
                  <a:moveTo>
                    <a:pt x="5310378" y="0"/>
                  </a:moveTo>
                  <a:lnTo>
                    <a:pt x="0" y="0"/>
                  </a:lnTo>
                  <a:lnTo>
                    <a:pt x="0" y="7187057"/>
                  </a:lnTo>
                  <a:lnTo>
                    <a:pt x="5310378" y="7187057"/>
                  </a:lnTo>
                  <a:lnTo>
                    <a:pt x="5310378" y="0"/>
                  </a:lnTo>
                  <a:close/>
                </a:path>
              </a:pathLst>
            </a:custGeom>
            <a:blipFill>
              <a:blip r:embed="rId2"/>
              <a:stretch>
                <a:fillRect t="-914" b="-91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9559957"/>
            <a:ext cx="3771900" cy="735425"/>
            <a:chOff x="0" y="0"/>
            <a:chExt cx="5029200" cy="980567"/>
          </a:xfrm>
        </p:grpSpPr>
        <p:sp>
          <p:nvSpPr>
            <p:cNvPr id="5" name="Freeform 5" descr="A picture containing photo, table, person, monitor  Description automatically generated"/>
            <p:cNvSpPr/>
            <p:nvPr/>
          </p:nvSpPr>
          <p:spPr>
            <a:xfrm>
              <a:off x="0" y="0"/>
              <a:ext cx="5029200" cy="980567"/>
            </a:xfrm>
            <a:custGeom>
              <a:avLst/>
              <a:gdLst/>
              <a:ahLst/>
              <a:cxnLst/>
              <a:rect l="l" t="t" r="r" b="b"/>
              <a:pathLst>
                <a:path w="5029200" h="980567">
                  <a:moveTo>
                    <a:pt x="0" y="0"/>
                  </a:moveTo>
                  <a:lnTo>
                    <a:pt x="5029200" y="0"/>
                  </a:lnTo>
                  <a:lnTo>
                    <a:pt x="5029200" y="980567"/>
                  </a:lnTo>
                  <a:lnTo>
                    <a:pt x="0" y="980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94249" b="-9424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4781845" y="8768305"/>
            <a:ext cx="10224545" cy="1980248"/>
            <a:chOff x="0" y="0"/>
            <a:chExt cx="13632726" cy="264033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3632687" cy="2640330"/>
            </a:xfrm>
            <a:custGeom>
              <a:avLst/>
              <a:gdLst/>
              <a:ahLst/>
              <a:cxnLst/>
              <a:rect l="l" t="t" r="r" b="b"/>
              <a:pathLst>
                <a:path w="13632687" h="2640330">
                  <a:moveTo>
                    <a:pt x="0" y="0"/>
                  </a:moveTo>
                  <a:lnTo>
                    <a:pt x="13632687" y="0"/>
                  </a:lnTo>
                  <a:lnTo>
                    <a:pt x="13632687" y="2640330"/>
                  </a:lnTo>
                  <a:lnTo>
                    <a:pt x="0" y="26403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0536" b="-5053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551575"/>
            <a:ext cx="3771900" cy="735425"/>
            <a:chOff x="0" y="0"/>
            <a:chExt cx="5029200" cy="9805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029200" cy="980567"/>
            </a:xfrm>
            <a:custGeom>
              <a:avLst/>
              <a:gdLst/>
              <a:ahLst/>
              <a:cxnLst/>
              <a:rect l="l" t="t" r="r" b="b"/>
              <a:pathLst>
                <a:path w="5029200" h="980567">
                  <a:moveTo>
                    <a:pt x="0" y="0"/>
                  </a:moveTo>
                  <a:lnTo>
                    <a:pt x="5029200" y="0"/>
                  </a:lnTo>
                  <a:lnTo>
                    <a:pt x="5029200" y="980567"/>
                  </a:lnTo>
                  <a:lnTo>
                    <a:pt x="0" y="980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128" b="-12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3948655" y="9725025"/>
            <a:ext cx="10224545" cy="561975"/>
            <a:chOff x="0" y="0"/>
            <a:chExt cx="13632726" cy="7493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3632726" cy="749301"/>
            </a:xfrm>
            <a:custGeom>
              <a:avLst/>
              <a:gdLst/>
              <a:ahLst/>
              <a:cxnLst/>
              <a:rect l="l" t="t" r="r" b="b"/>
              <a:pathLst>
                <a:path w="13632726" h="749301">
                  <a:moveTo>
                    <a:pt x="0" y="0"/>
                  </a:moveTo>
                  <a:lnTo>
                    <a:pt x="13632726" y="0"/>
                  </a:lnTo>
                  <a:lnTo>
                    <a:pt x="13632726" y="749301"/>
                  </a:lnTo>
                  <a:lnTo>
                    <a:pt x="0" y="749301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304509" b="-30450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13632726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mbria"/>
                  <a:ea typeface="Cambria"/>
                  <a:cs typeface="Cambria"/>
                  <a:sym typeface="Cambria"/>
                </a:rPr>
                <a:t>R26-IT-005</a:t>
              </a:r>
            </a:p>
          </p:txBody>
        </p:sp>
      </p:grpSp>
      <p:sp>
        <p:nvSpPr>
          <p:cNvPr id="13" name="Freeform 13"/>
          <p:cNvSpPr/>
          <p:nvPr/>
        </p:nvSpPr>
        <p:spPr>
          <a:xfrm>
            <a:off x="2613621" y="2078332"/>
            <a:ext cx="13060759" cy="7473242"/>
          </a:xfrm>
          <a:custGeom>
            <a:avLst/>
            <a:gdLst/>
            <a:ahLst/>
            <a:cxnLst/>
            <a:rect l="l" t="t" r="r" b="b"/>
            <a:pathLst>
              <a:path w="13060759" h="7473242">
                <a:moveTo>
                  <a:pt x="0" y="0"/>
                </a:moveTo>
                <a:lnTo>
                  <a:pt x="13060758" y="0"/>
                </a:lnTo>
                <a:lnTo>
                  <a:pt x="13060758" y="7473243"/>
                </a:lnTo>
                <a:lnTo>
                  <a:pt x="0" y="747324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2261" t="-441" r="-226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4"/>
          <p:cNvSpPr txBox="1"/>
          <p:nvPr/>
        </p:nvSpPr>
        <p:spPr>
          <a:xfrm>
            <a:off x="1028700" y="1076325"/>
            <a:ext cx="11087100" cy="1272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949"/>
              </a:lnSpc>
            </a:pPr>
            <a:r>
              <a:rPr lang="en-US" sz="4499" b="1" dirty="0">
                <a:solidFill>
                  <a:srgbClr val="06728A"/>
                </a:solidFill>
                <a:latin typeface="Garet Bold"/>
                <a:ea typeface="Garet Bold"/>
                <a:cs typeface="Garet Bold"/>
                <a:sym typeface="Garet Bold"/>
              </a:rPr>
              <a:t>Integration and Completion Status</a:t>
            </a:r>
          </a:p>
          <a:p>
            <a:pPr algn="l">
              <a:lnSpc>
                <a:spcPts val="4949"/>
              </a:lnSpc>
            </a:pPr>
            <a:endParaRPr lang="en-US" sz="4499" b="1" dirty="0">
              <a:solidFill>
                <a:srgbClr val="06728A"/>
              </a:solidFill>
              <a:latin typeface="Garet Bold"/>
              <a:ea typeface="Garet Bold"/>
              <a:cs typeface="Garet Bold"/>
              <a:sym typeface="Garet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0443791" y="488947"/>
            <a:ext cx="7844209" cy="558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00"/>
              </a:lnSpc>
            </a:pPr>
            <a:r>
              <a:rPr lang="en-US" sz="2000" b="1">
                <a:solidFill>
                  <a:srgbClr val="06728A"/>
                </a:solidFill>
                <a:latin typeface="Garet Bold"/>
                <a:ea typeface="Garet Bold"/>
                <a:cs typeface="Garet Bold"/>
                <a:sym typeface="Garet Bold"/>
              </a:rPr>
              <a:t>Automated Water Quality &amp; Contamination Detection System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5521940" y="9832076"/>
            <a:ext cx="1314252" cy="276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2026/08/31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434611" y="1798613"/>
            <a:ext cx="15252634" cy="7752962"/>
            <a:chOff x="0" y="0"/>
            <a:chExt cx="26983898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983897" cy="13716000"/>
            </a:xfrm>
            <a:custGeom>
              <a:avLst/>
              <a:gdLst/>
              <a:ahLst/>
              <a:cxnLst/>
              <a:rect l="l" t="t" r="r" b="b"/>
              <a:pathLst>
                <a:path w="26983897" h="13716000">
                  <a:moveTo>
                    <a:pt x="0" y="0"/>
                  </a:moveTo>
                  <a:lnTo>
                    <a:pt x="26983897" y="0"/>
                  </a:lnTo>
                  <a:lnTo>
                    <a:pt x="26983897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1410" b="-141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 rot="9551400">
            <a:off x="15235457" y="1087660"/>
            <a:ext cx="3982803" cy="5390340"/>
            <a:chOff x="0" y="0"/>
            <a:chExt cx="5310403" cy="7187120"/>
          </a:xfrm>
        </p:grpSpPr>
        <p:sp>
          <p:nvSpPr>
            <p:cNvPr id="5" name="Freeform 5"/>
            <p:cNvSpPr/>
            <p:nvPr/>
          </p:nvSpPr>
          <p:spPr>
            <a:xfrm flipH="1">
              <a:off x="0" y="0"/>
              <a:ext cx="5310378" cy="7187057"/>
            </a:xfrm>
            <a:custGeom>
              <a:avLst/>
              <a:gdLst/>
              <a:ahLst/>
              <a:cxnLst/>
              <a:rect l="l" t="t" r="r" b="b"/>
              <a:pathLst>
                <a:path w="5310378" h="7187057">
                  <a:moveTo>
                    <a:pt x="5310378" y="0"/>
                  </a:moveTo>
                  <a:lnTo>
                    <a:pt x="0" y="0"/>
                  </a:lnTo>
                  <a:lnTo>
                    <a:pt x="0" y="7187057"/>
                  </a:lnTo>
                  <a:lnTo>
                    <a:pt x="5310378" y="7187057"/>
                  </a:lnTo>
                  <a:lnTo>
                    <a:pt x="5310378" y="0"/>
                  </a:lnTo>
                  <a:close/>
                </a:path>
              </a:pathLst>
            </a:custGeom>
            <a:blipFill>
              <a:blip r:embed="rId3"/>
              <a:stretch>
                <a:fillRect t="-914" b="-91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9559957"/>
            <a:ext cx="3771900" cy="735425"/>
            <a:chOff x="0" y="0"/>
            <a:chExt cx="5029200" cy="980567"/>
          </a:xfrm>
        </p:grpSpPr>
        <p:sp>
          <p:nvSpPr>
            <p:cNvPr id="7" name="Freeform 7" descr="A picture containing photo, table, person, monitor  Description automatically generated"/>
            <p:cNvSpPr/>
            <p:nvPr/>
          </p:nvSpPr>
          <p:spPr>
            <a:xfrm>
              <a:off x="0" y="0"/>
              <a:ext cx="5029200" cy="980567"/>
            </a:xfrm>
            <a:custGeom>
              <a:avLst/>
              <a:gdLst/>
              <a:ahLst/>
              <a:cxnLst/>
              <a:rect l="l" t="t" r="r" b="b"/>
              <a:pathLst>
                <a:path w="5029200" h="980567">
                  <a:moveTo>
                    <a:pt x="0" y="0"/>
                  </a:moveTo>
                  <a:lnTo>
                    <a:pt x="5029200" y="0"/>
                  </a:lnTo>
                  <a:lnTo>
                    <a:pt x="5029200" y="980567"/>
                  </a:lnTo>
                  <a:lnTo>
                    <a:pt x="0" y="980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94249" b="-9424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4781845" y="8768305"/>
            <a:ext cx="10224545" cy="1980248"/>
            <a:chOff x="0" y="0"/>
            <a:chExt cx="13632726" cy="264033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3632687" cy="2640330"/>
            </a:xfrm>
            <a:custGeom>
              <a:avLst/>
              <a:gdLst/>
              <a:ahLst/>
              <a:cxnLst/>
              <a:rect l="l" t="t" r="r" b="b"/>
              <a:pathLst>
                <a:path w="13632687" h="2640330">
                  <a:moveTo>
                    <a:pt x="0" y="0"/>
                  </a:moveTo>
                  <a:lnTo>
                    <a:pt x="13632687" y="0"/>
                  </a:lnTo>
                  <a:lnTo>
                    <a:pt x="13632687" y="2640330"/>
                  </a:lnTo>
                  <a:lnTo>
                    <a:pt x="0" y="264033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50536" b="-5053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0" y="9551575"/>
            <a:ext cx="3771900" cy="735425"/>
            <a:chOff x="0" y="0"/>
            <a:chExt cx="5029200" cy="980567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5029200" cy="980567"/>
            </a:xfrm>
            <a:custGeom>
              <a:avLst/>
              <a:gdLst/>
              <a:ahLst/>
              <a:cxnLst/>
              <a:rect l="l" t="t" r="r" b="b"/>
              <a:pathLst>
                <a:path w="5029200" h="980567">
                  <a:moveTo>
                    <a:pt x="0" y="0"/>
                  </a:moveTo>
                  <a:lnTo>
                    <a:pt x="5029200" y="0"/>
                  </a:lnTo>
                  <a:lnTo>
                    <a:pt x="5029200" y="980567"/>
                  </a:lnTo>
                  <a:lnTo>
                    <a:pt x="0" y="980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128" b="-12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948655" y="9725025"/>
            <a:ext cx="10224545" cy="561975"/>
            <a:chOff x="0" y="0"/>
            <a:chExt cx="13632726" cy="7493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3632726" cy="749301"/>
            </a:xfrm>
            <a:custGeom>
              <a:avLst/>
              <a:gdLst/>
              <a:ahLst/>
              <a:cxnLst/>
              <a:rect l="l" t="t" r="r" b="b"/>
              <a:pathLst>
                <a:path w="13632726" h="749301">
                  <a:moveTo>
                    <a:pt x="0" y="0"/>
                  </a:moveTo>
                  <a:lnTo>
                    <a:pt x="13632726" y="0"/>
                  </a:lnTo>
                  <a:lnTo>
                    <a:pt x="13632726" y="749301"/>
                  </a:lnTo>
                  <a:lnTo>
                    <a:pt x="0" y="749301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t="-304509" b="-30450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19050"/>
              <a:ext cx="13632726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mbria"/>
                  <a:ea typeface="Cambria"/>
                  <a:cs typeface="Cambria"/>
                  <a:sym typeface="Cambria"/>
                </a:rPr>
                <a:t>R26-IT-005</a:t>
              </a:r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680614" y="757234"/>
            <a:ext cx="6202462" cy="628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49"/>
              </a:lnSpc>
            </a:pPr>
            <a:r>
              <a:rPr lang="en-US" sz="4499" b="1">
                <a:solidFill>
                  <a:srgbClr val="06728A"/>
                </a:solidFill>
                <a:latin typeface="Garet Bold"/>
                <a:ea typeface="Garet Bold"/>
                <a:cs typeface="Garet Bold"/>
                <a:sym typeface="Garet Bold"/>
              </a:rPr>
              <a:t>Evaluation Evidence 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443791" y="488947"/>
            <a:ext cx="7844209" cy="558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00"/>
              </a:lnSpc>
            </a:pPr>
            <a:r>
              <a:rPr lang="en-US" sz="2000" b="1">
                <a:solidFill>
                  <a:srgbClr val="06728A"/>
                </a:solidFill>
                <a:latin typeface="Garet Bold"/>
                <a:ea typeface="Garet Bold"/>
                <a:cs typeface="Garet Bold"/>
                <a:sym typeface="Garet Bold"/>
              </a:rPr>
              <a:t>Automated Water Quality &amp; Contamination Detection System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5521940" y="9832076"/>
            <a:ext cx="1314252" cy="276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2026/08/31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9551400">
            <a:off x="15235457" y="1087660"/>
            <a:ext cx="3982803" cy="5390340"/>
            <a:chOff x="0" y="0"/>
            <a:chExt cx="5310403" cy="7187120"/>
          </a:xfrm>
        </p:grpSpPr>
        <p:sp>
          <p:nvSpPr>
            <p:cNvPr id="3" name="Freeform 3"/>
            <p:cNvSpPr/>
            <p:nvPr/>
          </p:nvSpPr>
          <p:spPr>
            <a:xfrm flipH="1">
              <a:off x="0" y="0"/>
              <a:ext cx="5310378" cy="7187057"/>
            </a:xfrm>
            <a:custGeom>
              <a:avLst/>
              <a:gdLst/>
              <a:ahLst/>
              <a:cxnLst/>
              <a:rect l="l" t="t" r="r" b="b"/>
              <a:pathLst>
                <a:path w="5310378" h="7187057">
                  <a:moveTo>
                    <a:pt x="5310378" y="0"/>
                  </a:moveTo>
                  <a:lnTo>
                    <a:pt x="0" y="0"/>
                  </a:lnTo>
                  <a:lnTo>
                    <a:pt x="0" y="7187057"/>
                  </a:lnTo>
                  <a:lnTo>
                    <a:pt x="5310378" y="7187057"/>
                  </a:lnTo>
                  <a:lnTo>
                    <a:pt x="5310378" y="0"/>
                  </a:lnTo>
                  <a:close/>
                </a:path>
              </a:pathLst>
            </a:custGeom>
            <a:blipFill>
              <a:blip r:embed="rId2"/>
              <a:stretch>
                <a:fillRect t="-914" b="-91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9559957"/>
            <a:ext cx="3771900" cy="735425"/>
            <a:chOff x="0" y="0"/>
            <a:chExt cx="5029200" cy="980567"/>
          </a:xfrm>
        </p:grpSpPr>
        <p:sp>
          <p:nvSpPr>
            <p:cNvPr id="5" name="Freeform 5" descr="A picture containing photo, table, person, monitor  Description automatically generated"/>
            <p:cNvSpPr/>
            <p:nvPr/>
          </p:nvSpPr>
          <p:spPr>
            <a:xfrm>
              <a:off x="0" y="0"/>
              <a:ext cx="5029200" cy="980567"/>
            </a:xfrm>
            <a:custGeom>
              <a:avLst/>
              <a:gdLst/>
              <a:ahLst/>
              <a:cxnLst/>
              <a:rect l="l" t="t" r="r" b="b"/>
              <a:pathLst>
                <a:path w="5029200" h="980567">
                  <a:moveTo>
                    <a:pt x="0" y="0"/>
                  </a:moveTo>
                  <a:lnTo>
                    <a:pt x="5029200" y="0"/>
                  </a:lnTo>
                  <a:lnTo>
                    <a:pt x="5029200" y="980567"/>
                  </a:lnTo>
                  <a:lnTo>
                    <a:pt x="0" y="980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94249" b="-9424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4781845" y="8768305"/>
            <a:ext cx="10224545" cy="1980248"/>
            <a:chOff x="0" y="0"/>
            <a:chExt cx="13632726" cy="264033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3632687" cy="2640330"/>
            </a:xfrm>
            <a:custGeom>
              <a:avLst/>
              <a:gdLst/>
              <a:ahLst/>
              <a:cxnLst/>
              <a:rect l="l" t="t" r="r" b="b"/>
              <a:pathLst>
                <a:path w="13632687" h="2640330">
                  <a:moveTo>
                    <a:pt x="0" y="0"/>
                  </a:moveTo>
                  <a:lnTo>
                    <a:pt x="13632687" y="0"/>
                  </a:lnTo>
                  <a:lnTo>
                    <a:pt x="13632687" y="2640330"/>
                  </a:lnTo>
                  <a:lnTo>
                    <a:pt x="0" y="26403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0536" b="-5053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551575"/>
            <a:ext cx="3771900" cy="735425"/>
            <a:chOff x="0" y="0"/>
            <a:chExt cx="5029200" cy="9805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029200" cy="980567"/>
            </a:xfrm>
            <a:custGeom>
              <a:avLst/>
              <a:gdLst/>
              <a:ahLst/>
              <a:cxnLst/>
              <a:rect l="l" t="t" r="r" b="b"/>
              <a:pathLst>
                <a:path w="5029200" h="980567">
                  <a:moveTo>
                    <a:pt x="0" y="0"/>
                  </a:moveTo>
                  <a:lnTo>
                    <a:pt x="5029200" y="0"/>
                  </a:lnTo>
                  <a:lnTo>
                    <a:pt x="5029200" y="980567"/>
                  </a:lnTo>
                  <a:lnTo>
                    <a:pt x="0" y="980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128" b="-12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3948655" y="9725025"/>
            <a:ext cx="10224545" cy="561975"/>
            <a:chOff x="0" y="0"/>
            <a:chExt cx="13632726" cy="7493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3632726" cy="749301"/>
            </a:xfrm>
            <a:custGeom>
              <a:avLst/>
              <a:gdLst/>
              <a:ahLst/>
              <a:cxnLst/>
              <a:rect l="l" t="t" r="r" b="b"/>
              <a:pathLst>
                <a:path w="13632726" h="749301">
                  <a:moveTo>
                    <a:pt x="0" y="0"/>
                  </a:moveTo>
                  <a:lnTo>
                    <a:pt x="13632726" y="0"/>
                  </a:lnTo>
                  <a:lnTo>
                    <a:pt x="13632726" y="749301"/>
                  </a:lnTo>
                  <a:lnTo>
                    <a:pt x="0" y="749301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304509" b="-30450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13632726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mbria"/>
                  <a:ea typeface="Cambria"/>
                  <a:cs typeface="Cambria"/>
                  <a:sym typeface="Cambria"/>
                </a:rPr>
                <a:t>R26-IT-005</a:t>
              </a:r>
            </a:p>
          </p:txBody>
        </p:sp>
      </p:grpSp>
      <p:sp>
        <p:nvSpPr>
          <p:cNvPr id="13" name="Freeform 13"/>
          <p:cNvSpPr/>
          <p:nvPr/>
        </p:nvSpPr>
        <p:spPr>
          <a:xfrm>
            <a:off x="3375162" y="2240633"/>
            <a:ext cx="11537676" cy="6968055"/>
          </a:xfrm>
          <a:custGeom>
            <a:avLst/>
            <a:gdLst/>
            <a:ahLst/>
            <a:cxnLst/>
            <a:rect l="l" t="t" r="r" b="b"/>
            <a:pathLst>
              <a:path w="11537676" h="6968055">
                <a:moveTo>
                  <a:pt x="0" y="0"/>
                </a:moveTo>
                <a:lnTo>
                  <a:pt x="11537676" y="0"/>
                </a:lnTo>
                <a:lnTo>
                  <a:pt x="11537676" y="6968055"/>
                </a:lnTo>
                <a:lnTo>
                  <a:pt x="0" y="696805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5153" b="-523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4"/>
          <p:cNvSpPr txBox="1"/>
          <p:nvPr/>
        </p:nvSpPr>
        <p:spPr>
          <a:xfrm>
            <a:off x="1382440" y="1269096"/>
            <a:ext cx="10047560" cy="6443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949"/>
              </a:lnSpc>
            </a:pPr>
            <a:r>
              <a:rPr lang="en-US" sz="4499" b="1" dirty="0">
                <a:solidFill>
                  <a:srgbClr val="06728A"/>
                </a:solidFill>
                <a:latin typeface="Garet Bold"/>
                <a:ea typeface="Garet Bold"/>
                <a:cs typeface="Garet Bold"/>
                <a:sym typeface="Garet Bold"/>
              </a:rPr>
              <a:t>Non-Functional Requirements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443791" y="488947"/>
            <a:ext cx="7844209" cy="558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00"/>
              </a:lnSpc>
            </a:pPr>
            <a:r>
              <a:rPr lang="en-US" sz="2000" b="1">
                <a:solidFill>
                  <a:srgbClr val="06728A"/>
                </a:solidFill>
                <a:latin typeface="Garet Bold"/>
                <a:ea typeface="Garet Bold"/>
                <a:cs typeface="Garet Bold"/>
                <a:sym typeface="Garet Bold"/>
              </a:rPr>
              <a:t>Automated Water Quality &amp; Contamination Detection System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5521940" y="9832076"/>
            <a:ext cx="1314252" cy="276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2026/08/31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9551400">
            <a:off x="15235457" y="1087660"/>
            <a:ext cx="3982803" cy="5390340"/>
            <a:chOff x="0" y="0"/>
            <a:chExt cx="5310403" cy="7187120"/>
          </a:xfrm>
        </p:grpSpPr>
        <p:sp>
          <p:nvSpPr>
            <p:cNvPr id="3" name="Freeform 3"/>
            <p:cNvSpPr/>
            <p:nvPr/>
          </p:nvSpPr>
          <p:spPr>
            <a:xfrm flipH="1">
              <a:off x="0" y="0"/>
              <a:ext cx="5310378" cy="7187057"/>
            </a:xfrm>
            <a:custGeom>
              <a:avLst/>
              <a:gdLst/>
              <a:ahLst/>
              <a:cxnLst/>
              <a:rect l="l" t="t" r="r" b="b"/>
              <a:pathLst>
                <a:path w="5310378" h="7187057">
                  <a:moveTo>
                    <a:pt x="5310378" y="0"/>
                  </a:moveTo>
                  <a:lnTo>
                    <a:pt x="0" y="0"/>
                  </a:lnTo>
                  <a:lnTo>
                    <a:pt x="0" y="7187057"/>
                  </a:lnTo>
                  <a:lnTo>
                    <a:pt x="5310378" y="7187057"/>
                  </a:lnTo>
                  <a:lnTo>
                    <a:pt x="5310378" y="0"/>
                  </a:lnTo>
                  <a:close/>
                </a:path>
              </a:pathLst>
            </a:custGeom>
            <a:blipFill>
              <a:blip r:embed="rId2"/>
              <a:stretch>
                <a:fillRect t="-914" b="-91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9559957"/>
            <a:ext cx="3771900" cy="735425"/>
            <a:chOff x="0" y="0"/>
            <a:chExt cx="5029200" cy="980567"/>
          </a:xfrm>
        </p:grpSpPr>
        <p:sp>
          <p:nvSpPr>
            <p:cNvPr id="5" name="Freeform 5" descr="A picture containing photo, table, person, monitor  Description automatically generated"/>
            <p:cNvSpPr/>
            <p:nvPr/>
          </p:nvSpPr>
          <p:spPr>
            <a:xfrm>
              <a:off x="0" y="0"/>
              <a:ext cx="5029200" cy="980567"/>
            </a:xfrm>
            <a:custGeom>
              <a:avLst/>
              <a:gdLst/>
              <a:ahLst/>
              <a:cxnLst/>
              <a:rect l="l" t="t" r="r" b="b"/>
              <a:pathLst>
                <a:path w="5029200" h="980567">
                  <a:moveTo>
                    <a:pt x="0" y="0"/>
                  </a:moveTo>
                  <a:lnTo>
                    <a:pt x="5029200" y="0"/>
                  </a:lnTo>
                  <a:lnTo>
                    <a:pt x="5029200" y="980567"/>
                  </a:lnTo>
                  <a:lnTo>
                    <a:pt x="0" y="980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94249" b="-9424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4781845" y="8768305"/>
            <a:ext cx="10224545" cy="1980248"/>
            <a:chOff x="0" y="0"/>
            <a:chExt cx="13632726" cy="264033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3632687" cy="2640330"/>
            </a:xfrm>
            <a:custGeom>
              <a:avLst/>
              <a:gdLst/>
              <a:ahLst/>
              <a:cxnLst/>
              <a:rect l="l" t="t" r="r" b="b"/>
              <a:pathLst>
                <a:path w="13632687" h="2640330">
                  <a:moveTo>
                    <a:pt x="0" y="0"/>
                  </a:moveTo>
                  <a:lnTo>
                    <a:pt x="13632687" y="0"/>
                  </a:lnTo>
                  <a:lnTo>
                    <a:pt x="13632687" y="2640330"/>
                  </a:lnTo>
                  <a:lnTo>
                    <a:pt x="0" y="26403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0536" b="-5053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551575"/>
            <a:ext cx="3771900" cy="735425"/>
            <a:chOff x="0" y="0"/>
            <a:chExt cx="5029200" cy="9805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029200" cy="980567"/>
            </a:xfrm>
            <a:custGeom>
              <a:avLst/>
              <a:gdLst/>
              <a:ahLst/>
              <a:cxnLst/>
              <a:rect l="l" t="t" r="r" b="b"/>
              <a:pathLst>
                <a:path w="5029200" h="980567">
                  <a:moveTo>
                    <a:pt x="0" y="0"/>
                  </a:moveTo>
                  <a:lnTo>
                    <a:pt x="5029200" y="0"/>
                  </a:lnTo>
                  <a:lnTo>
                    <a:pt x="5029200" y="980567"/>
                  </a:lnTo>
                  <a:lnTo>
                    <a:pt x="0" y="980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128" b="-12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3948655" y="9725025"/>
            <a:ext cx="10224545" cy="561975"/>
            <a:chOff x="0" y="0"/>
            <a:chExt cx="13632726" cy="7493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3632726" cy="749301"/>
            </a:xfrm>
            <a:custGeom>
              <a:avLst/>
              <a:gdLst/>
              <a:ahLst/>
              <a:cxnLst/>
              <a:rect l="l" t="t" r="r" b="b"/>
              <a:pathLst>
                <a:path w="13632726" h="749301">
                  <a:moveTo>
                    <a:pt x="0" y="0"/>
                  </a:moveTo>
                  <a:lnTo>
                    <a:pt x="13632726" y="0"/>
                  </a:lnTo>
                  <a:lnTo>
                    <a:pt x="13632726" y="749301"/>
                  </a:lnTo>
                  <a:lnTo>
                    <a:pt x="0" y="749301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304509" b="-30450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13632726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mbria"/>
                  <a:ea typeface="Cambria"/>
                  <a:cs typeface="Cambria"/>
                  <a:sym typeface="Cambria"/>
                </a:rPr>
                <a:t>R26-IT-005</a:t>
              </a:r>
            </a:p>
          </p:txBody>
        </p:sp>
      </p:grpSp>
      <p:sp>
        <p:nvSpPr>
          <p:cNvPr id="13" name="Freeform 13"/>
          <p:cNvSpPr/>
          <p:nvPr/>
        </p:nvSpPr>
        <p:spPr>
          <a:xfrm>
            <a:off x="2327364" y="2143610"/>
            <a:ext cx="12679026" cy="6947443"/>
          </a:xfrm>
          <a:custGeom>
            <a:avLst/>
            <a:gdLst/>
            <a:ahLst/>
            <a:cxnLst/>
            <a:rect l="l" t="t" r="r" b="b"/>
            <a:pathLst>
              <a:path w="12679026" h="6947443">
                <a:moveTo>
                  <a:pt x="0" y="0"/>
                </a:moveTo>
                <a:lnTo>
                  <a:pt x="12679026" y="0"/>
                </a:lnTo>
                <a:lnTo>
                  <a:pt x="12679026" y="6947443"/>
                </a:lnTo>
                <a:lnTo>
                  <a:pt x="0" y="694744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368" r="-139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4"/>
          <p:cNvSpPr txBox="1"/>
          <p:nvPr/>
        </p:nvSpPr>
        <p:spPr>
          <a:xfrm>
            <a:off x="1759195" y="1076325"/>
            <a:ext cx="6045300" cy="628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49"/>
              </a:lnSpc>
            </a:pPr>
            <a:r>
              <a:rPr lang="en-US" sz="4499" b="1">
                <a:solidFill>
                  <a:srgbClr val="06728A"/>
                </a:solidFill>
                <a:latin typeface="Garet Bold"/>
                <a:ea typeface="Garet Bold"/>
                <a:cs typeface="Garet Bold"/>
                <a:sym typeface="Garet Bold"/>
              </a:rPr>
              <a:t>Commercialization</a:t>
            </a:r>
            <a:r>
              <a:rPr lang="en-US" sz="4499">
                <a:solidFill>
                  <a:srgbClr val="06728A"/>
                </a:solidFill>
                <a:latin typeface="Garet"/>
                <a:ea typeface="Garet"/>
                <a:cs typeface="Garet"/>
                <a:sym typeface="Garet"/>
              </a:rPr>
              <a:t>  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443791" y="488947"/>
            <a:ext cx="7844209" cy="558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00"/>
              </a:lnSpc>
            </a:pPr>
            <a:r>
              <a:rPr lang="en-US" sz="2000" b="1">
                <a:solidFill>
                  <a:srgbClr val="06728A"/>
                </a:solidFill>
                <a:latin typeface="Garet Bold"/>
                <a:ea typeface="Garet Bold"/>
                <a:cs typeface="Garet Bold"/>
                <a:sym typeface="Garet Bold"/>
              </a:rPr>
              <a:t>Automated Water Quality &amp; Contamination Detection System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5521940" y="9832076"/>
            <a:ext cx="1314252" cy="276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2026/08/31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196477" y="1812966"/>
            <a:ext cx="13817039" cy="7772085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747" b="-747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 rot="9551400">
            <a:off x="15235457" y="1087660"/>
            <a:ext cx="3982803" cy="5390340"/>
            <a:chOff x="0" y="0"/>
            <a:chExt cx="5310403" cy="7187120"/>
          </a:xfrm>
        </p:grpSpPr>
        <p:sp>
          <p:nvSpPr>
            <p:cNvPr id="5" name="Freeform 5"/>
            <p:cNvSpPr/>
            <p:nvPr/>
          </p:nvSpPr>
          <p:spPr>
            <a:xfrm flipH="1">
              <a:off x="0" y="0"/>
              <a:ext cx="5310378" cy="7187057"/>
            </a:xfrm>
            <a:custGeom>
              <a:avLst/>
              <a:gdLst/>
              <a:ahLst/>
              <a:cxnLst/>
              <a:rect l="l" t="t" r="r" b="b"/>
              <a:pathLst>
                <a:path w="5310378" h="7187057">
                  <a:moveTo>
                    <a:pt x="5310378" y="0"/>
                  </a:moveTo>
                  <a:lnTo>
                    <a:pt x="0" y="0"/>
                  </a:lnTo>
                  <a:lnTo>
                    <a:pt x="0" y="7187057"/>
                  </a:lnTo>
                  <a:lnTo>
                    <a:pt x="5310378" y="7187057"/>
                  </a:lnTo>
                  <a:lnTo>
                    <a:pt x="5310378" y="0"/>
                  </a:lnTo>
                  <a:close/>
                </a:path>
              </a:pathLst>
            </a:custGeom>
            <a:blipFill>
              <a:blip r:embed="rId3"/>
              <a:stretch>
                <a:fillRect t="-914" b="-91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550886" y="1041441"/>
            <a:ext cx="4795540" cy="628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49"/>
              </a:lnSpc>
            </a:pPr>
            <a:r>
              <a:rPr lang="en-US" sz="4499" b="1">
                <a:solidFill>
                  <a:srgbClr val="06728A"/>
                </a:solidFill>
                <a:latin typeface="Garet Bold"/>
                <a:ea typeface="Garet Bold"/>
                <a:cs typeface="Garet Bold"/>
                <a:sym typeface="Garet Bold"/>
              </a:rPr>
              <a:t>Demo Roadmap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0" y="9559957"/>
            <a:ext cx="3771900" cy="735425"/>
            <a:chOff x="0" y="0"/>
            <a:chExt cx="5029200" cy="980567"/>
          </a:xfrm>
        </p:grpSpPr>
        <p:sp>
          <p:nvSpPr>
            <p:cNvPr id="8" name="Freeform 8" descr="A picture containing photo, table, person, monitor  Description automatically generated"/>
            <p:cNvSpPr/>
            <p:nvPr/>
          </p:nvSpPr>
          <p:spPr>
            <a:xfrm>
              <a:off x="0" y="0"/>
              <a:ext cx="5029200" cy="980567"/>
            </a:xfrm>
            <a:custGeom>
              <a:avLst/>
              <a:gdLst/>
              <a:ahLst/>
              <a:cxnLst/>
              <a:rect l="l" t="t" r="r" b="b"/>
              <a:pathLst>
                <a:path w="5029200" h="980567">
                  <a:moveTo>
                    <a:pt x="0" y="0"/>
                  </a:moveTo>
                  <a:lnTo>
                    <a:pt x="5029200" y="0"/>
                  </a:lnTo>
                  <a:lnTo>
                    <a:pt x="5029200" y="980567"/>
                  </a:lnTo>
                  <a:lnTo>
                    <a:pt x="0" y="980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94249" b="-9424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4781845" y="8768305"/>
            <a:ext cx="10224545" cy="1980248"/>
            <a:chOff x="0" y="0"/>
            <a:chExt cx="13632726" cy="264033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3632687" cy="2640330"/>
            </a:xfrm>
            <a:custGeom>
              <a:avLst/>
              <a:gdLst/>
              <a:ahLst/>
              <a:cxnLst/>
              <a:rect l="l" t="t" r="r" b="b"/>
              <a:pathLst>
                <a:path w="13632687" h="2640330">
                  <a:moveTo>
                    <a:pt x="0" y="0"/>
                  </a:moveTo>
                  <a:lnTo>
                    <a:pt x="13632687" y="0"/>
                  </a:lnTo>
                  <a:lnTo>
                    <a:pt x="13632687" y="2640330"/>
                  </a:lnTo>
                  <a:lnTo>
                    <a:pt x="0" y="2640330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50536" b="-5053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443791" y="488947"/>
            <a:ext cx="7844209" cy="558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00"/>
              </a:lnSpc>
            </a:pPr>
            <a:r>
              <a:rPr lang="en-US" sz="2000" b="1">
                <a:solidFill>
                  <a:srgbClr val="06728A"/>
                </a:solidFill>
                <a:latin typeface="Garet Bold"/>
                <a:ea typeface="Garet Bold"/>
                <a:cs typeface="Garet Bold"/>
                <a:sym typeface="Garet Bold"/>
              </a:rPr>
              <a:t>Automated Water Quality &amp; Contamination Detection System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0" y="9551575"/>
            <a:ext cx="3771900" cy="735425"/>
            <a:chOff x="0" y="0"/>
            <a:chExt cx="5029200" cy="980567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5029200" cy="980567"/>
            </a:xfrm>
            <a:custGeom>
              <a:avLst/>
              <a:gdLst/>
              <a:ahLst/>
              <a:cxnLst/>
              <a:rect l="l" t="t" r="r" b="b"/>
              <a:pathLst>
                <a:path w="5029200" h="980567">
                  <a:moveTo>
                    <a:pt x="0" y="0"/>
                  </a:moveTo>
                  <a:lnTo>
                    <a:pt x="5029200" y="0"/>
                  </a:lnTo>
                  <a:lnTo>
                    <a:pt x="5029200" y="980567"/>
                  </a:lnTo>
                  <a:lnTo>
                    <a:pt x="0" y="980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128" b="-12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5521940" y="9832076"/>
            <a:ext cx="1314252" cy="276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2026/08/31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3948655" y="9725025"/>
            <a:ext cx="10224545" cy="561975"/>
            <a:chOff x="0" y="0"/>
            <a:chExt cx="13632726" cy="7493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3632726" cy="749301"/>
            </a:xfrm>
            <a:custGeom>
              <a:avLst/>
              <a:gdLst/>
              <a:ahLst/>
              <a:cxnLst/>
              <a:rect l="l" t="t" r="r" b="b"/>
              <a:pathLst>
                <a:path w="13632726" h="749301">
                  <a:moveTo>
                    <a:pt x="0" y="0"/>
                  </a:moveTo>
                  <a:lnTo>
                    <a:pt x="13632726" y="0"/>
                  </a:lnTo>
                  <a:lnTo>
                    <a:pt x="13632726" y="749301"/>
                  </a:lnTo>
                  <a:lnTo>
                    <a:pt x="0" y="749301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t="-304509" b="-30450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19050"/>
              <a:ext cx="13632726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mbria"/>
                  <a:ea typeface="Cambria"/>
                  <a:cs typeface="Cambria"/>
                  <a:sym typeface="Cambria"/>
                </a:rPr>
                <a:t>R26-IT-005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9551400">
            <a:off x="15235457" y="1087660"/>
            <a:ext cx="3982803" cy="5390340"/>
            <a:chOff x="0" y="0"/>
            <a:chExt cx="5310403" cy="7187120"/>
          </a:xfrm>
        </p:grpSpPr>
        <p:sp>
          <p:nvSpPr>
            <p:cNvPr id="3" name="Freeform 3"/>
            <p:cNvSpPr/>
            <p:nvPr/>
          </p:nvSpPr>
          <p:spPr>
            <a:xfrm flipH="1">
              <a:off x="0" y="0"/>
              <a:ext cx="5310378" cy="7187057"/>
            </a:xfrm>
            <a:custGeom>
              <a:avLst/>
              <a:gdLst/>
              <a:ahLst/>
              <a:cxnLst/>
              <a:rect l="l" t="t" r="r" b="b"/>
              <a:pathLst>
                <a:path w="5310378" h="7187057">
                  <a:moveTo>
                    <a:pt x="5310378" y="0"/>
                  </a:moveTo>
                  <a:lnTo>
                    <a:pt x="0" y="0"/>
                  </a:lnTo>
                  <a:lnTo>
                    <a:pt x="0" y="7187057"/>
                  </a:lnTo>
                  <a:lnTo>
                    <a:pt x="5310378" y="7187057"/>
                  </a:lnTo>
                  <a:lnTo>
                    <a:pt x="5310378" y="0"/>
                  </a:lnTo>
                  <a:close/>
                </a:path>
              </a:pathLst>
            </a:custGeom>
            <a:blipFill>
              <a:blip r:embed="rId2"/>
              <a:stretch>
                <a:fillRect t="-914" b="-91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9559957"/>
            <a:ext cx="3771900" cy="735425"/>
            <a:chOff x="0" y="0"/>
            <a:chExt cx="5029200" cy="980567"/>
          </a:xfrm>
        </p:grpSpPr>
        <p:sp>
          <p:nvSpPr>
            <p:cNvPr id="5" name="Freeform 5" descr="A picture containing photo, table, person, monitor  Description automatically generated"/>
            <p:cNvSpPr/>
            <p:nvPr/>
          </p:nvSpPr>
          <p:spPr>
            <a:xfrm>
              <a:off x="0" y="0"/>
              <a:ext cx="5029200" cy="980567"/>
            </a:xfrm>
            <a:custGeom>
              <a:avLst/>
              <a:gdLst/>
              <a:ahLst/>
              <a:cxnLst/>
              <a:rect l="l" t="t" r="r" b="b"/>
              <a:pathLst>
                <a:path w="5029200" h="980567">
                  <a:moveTo>
                    <a:pt x="0" y="0"/>
                  </a:moveTo>
                  <a:lnTo>
                    <a:pt x="5029200" y="0"/>
                  </a:lnTo>
                  <a:lnTo>
                    <a:pt x="5029200" y="980567"/>
                  </a:lnTo>
                  <a:lnTo>
                    <a:pt x="0" y="980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94249" b="-9424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4781845" y="8768305"/>
            <a:ext cx="10224545" cy="1980248"/>
            <a:chOff x="0" y="0"/>
            <a:chExt cx="13632726" cy="264033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3632687" cy="2640330"/>
            </a:xfrm>
            <a:custGeom>
              <a:avLst/>
              <a:gdLst/>
              <a:ahLst/>
              <a:cxnLst/>
              <a:rect l="l" t="t" r="r" b="b"/>
              <a:pathLst>
                <a:path w="13632687" h="2640330">
                  <a:moveTo>
                    <a:pt x="0" y="0"/>
                  </a:moveTo>
                  <a:lnTo>
                    <a:pt x="13632687" y="0"/>
                  </a:lnTo>
                  <a:lnTo>
                    <a:pt x="13632687" y="2640330"/>
                  </a:lnTo>
                  <a:lnTo>
                    <a:pt x="0" y="264033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50536" b="-5053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551575"/>
            <a:ext cx="3771900" cy="735425"/>
            <a:chOff x="0" y="0"/>
            <a:chExt cx="5029200" cy="9805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029200" cy="980567"/>
            </a:xfrm>
            <a:custGeom>
              <a:avLst/>
              <a:gdLst/>
              <a:ahLst/>
              <a:cxnLst/>
              <a:rect l="l" t="t" r="r" b="b"/>
              <a:pathLst>
                <a:path w="5029200" h="980567">
                  <a:moveTo>
                    <a:pt x="0" y="0"/>
                  </a:moveTo>
                  <a:lnTo>
                    <a:pt x="5029200" y="0"/>
                  </a:lnTo>
                  <a:lnTo>
                    <a:pt x="5029200" y="980567"/>
                  </a:lnTo>
                  <a:lnTo>
                    <a:pt x="0" y="980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128" b="-12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3948655" y="9725025"/>
            <a:ext cx="10224545" cy="561975"/>
            <a:chOff x="0" y="0"/>
            <a:chExt cx="13632726" cy="7493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3632726" cy="749301"/>
            </a:xfrm>
            <a:custGeom>
              <a:avLst/>
              <a:gdLst/>
              <a:ahLst/>
              <a:cxnLst/>
              <a:rect l="l" t="t" r="r" b="b"/>
              <a:pathLst>
                <a:path w="13632726" h="749301">
                  <a:moveTo>
                    <a:pt x="0" y="0"/>
                  </a:moveTo>
                  <a:lnTo>
                    <a:pt x="13632726" y="0"/>
                  </a:lnTo>
                  <a:lnTo>
                    <a:pt x="13632726" y="749301"/>
                  </a:lnTo>
                  <a:lnTo>
                    <a:pt x="0" y="749301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304509" b="-30450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13632726" cy="7683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000000"/>
                  </a:solidFill>
                  <a:latin typeface="Cambria"/>
                  <a:ea typeface="Cambria"/>
                  <a:cs typeface="Cambria"/>
                  <a:sym typeface="Cambria"/>
                </a:rPr>
                <a:t>R26-IT-005</a:t>
              </a:r>
            </a:p>
          </p:txBody>
        </p:sp>
      </p:grpSp>
      <p:sp>
        <p:nvSpPr>
          <p:cNvPr id="13" name="Freeform 13"/>
          <p:cNvSpPr/>
          <p:nvPr/>
        </p:nvSpPr>
        <p:spPr>
          <a:xfrm>
            <a:off x="1296451" y="1699379"/>
            <a:ext cx="6351557" cy="3628327"/>
          </a:xfrm>
          <a:custGeom>
            <a:avLst/>
            <a:gdLst/>
            <a:ahLst/>
            <a:cxnLst/>
            <a:rect l="l" t="t" r="r" b="b"/>
            <a:pathLst>
              <a:path w="6351557" h="3628327">
                <a:moveTo>
                  <a:pt x="0" y="0"/>
                </a:moveTo>
                <a:lnTo>
                  <a:pt x="6351557" y="0"/>
                </a:lnTo>
                <a:lnTo>
                  <a:pt x="6351557" y="3628327"/>
                </a:lnTo>
                <a:lnTo>
                  <a:pt x="0" y="36283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8092888" y="1515173"/>
            <a:ext cx="6996480" cy="3996739"/>
          </a:xfrm>
          <a:custGeom>
            <a:avLst/>
            <a:gdLst/>
            <a:ahLst/>
            <a:cxnLst/>
            <a:rect l="l" t="t" r="r" b="b"/>
            <a:pathLst>
              <a:path w="6996480" h="3996739">
                <a:moveTo>
                  <a:pt x="0" y="0"/>
                </a:moveTo>
                <a:lnTo>
                  <a:pt x="6996480" y="0"/>
                </a:lnTo>
                <a:lnTo>
                  <a:pt x="6996480" y="3996739"/>
                </a:lnTo>
                <a:lnTo>
                  <a:pt x="0" y="3996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280648" y="5879582"/>
            <a:ext cx="5921082" cy="3378718"/>
          </a:xfrm>
          <a:custGeom>
            <a:avLst/>
            <a:gdLst/>
            <a:ahLst/>
            <a:cxnLst/>
            <a:rect l="l" t="t" r="r" b="b"/>
            <a:pathLst>
              <a:path w="5921082" h="3378718">
                <a:moveTo>
                  <a:pt x="0" y="0"/>
                </a:moveTo>
                <a:lnTo>
                  <a:pt x="5921083" y="0"/>
                </a:lnTo>
                <a:lnTo>
                  <a:pt x="5921083" y="3378718"/>
                </a:lnTo>
                <a:lnTo>
                  <a:pt x="0" y="33787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Freeform 16"/>
          <p:cNvSpPr/>
          <p:nvPr/>
        </p:nvSpPr>
        <p:spPr>
          <a:xfrm>
            <a:off x="6201731" y="5793247"/>
            <a:ext cx="5718394" cy="3266632"/>
          </a:xfrm>
          <a:custGeom>
            <a:avLst/>
            <a:gdLst/>
            <a:ahLst/>
            <a:cxnLst/>
            <a:rect l="l" t="t" r="r" b="b"/>
            <a:pathLst>
              <a:path w="5718394" h="3266632">
                <a:moveTo>
                  <a:pt x="0" y="0"/>
                </a:moveTo>
                <a:lnTo>
                  <a:pt x="5718394" y="0"/>
                </a:lnTo>
                <a:lnTo>
                  <a:pt x="5718394" y="3266632"/>
                </a:lnTo>
                <a:lnTo>
                  <a:pt x="0" y="32666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Freeform 17"/>
          <p:cNvSpPr/>
          <p:nvPr/>
        </p:nvSpPr>
        <p:spPr>
          <a:xfrm>
            <a:off x="11591128" y="5347825"/>
            <a:ext cx="6830523" cy="3910475"/>
          </a:xfrm>
          <a:custGeom>
            <a:avLst/>
            <a:gdLst/>
            <a:ahLst/>
            <a:cxnLst/>
            <a:rect l="l" t="t" r="r" b="b"/>
            <a:pathLst>
              <a:path w="6830523" h="3910475">
                <a:moveTo>
                  <a:pt x="0" y="0"/>
                </a:moveTo>
                <a:lnTo>
                  <a:pt x="6830523" y="0"/>
                </a:lnTo>
                <a:lnTo>
                  <a:pt x="6830523" y="3910475"/>
                </a:lnTo>
                <a:lnTo>
                  <a:pt x="0" y="391047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8" name="TextBox 18"/>
          <p:cNvSpPr txBox="1"/>
          <p:nvPr/>
        </p:nvSpPr>
        <p:spPr>
          <a:xfrm>
            <a:off x="10443791" y="488947"/>
            <a:ext cx="7844209" cy="558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00"/>
              </a:lnSpc>
            </a:pPr>
            <a:r>
              <a:rPr lang="en-US" sz="2000" b="1">
                <a:solidFill>
                  <a:srgbClr val="06728A"/>
                </a:solidFill>
                <a:latin typeface="Garet Bold"/>
                <a:ea typeface="Garet Bold"/>
                <a:cs typeface="Garet Bold"/>
                <a:sym typeface="Garet Bold"/>
              </a:rPr>
              <a:t>Automated Water Quality &amp; Contamination Detection System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5521940" y="9832076"/>
            <a:ext cx="1314252" cy="276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1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2026/08/31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8795" b="-879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0615174" y="3016206"/>
            <a:ext cx="4229491" cy="2772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0418"/>
              </a:lnSpc>
            </a:pPr>
            <a:r>
              <a:rPr lang="en-US" sz="14583" b="1">
                <a:solidFill>
                  <a:srgbClr val="1B3957"/>
                </a:solidFill>
                <a:latin typeface="Garet Bold"/>
                <a:ea typeface="Garet Bold"/>
                <a:cs typeface="Garet Bold"/>
                <a:sym typeface="Garet Bold"/>
              </a:rPr>
              <a:t>YOU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3443345" y="3016206"/>
            <a:ext cx="6808565" cy="2772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18"/>
              </a:lnSpc>
            </a:pPr>
            <a:r>
              <a:rPr lang="en-US" sz="14583" b="1">
                <a:solidFill>
                  <a:srgbClr val="06728A"/>
                </a:solidFill>
                <a:latin typeface="Garet Bold"/>
                <a:ea typeface="Garet Bold"/>
                <a:cs typeface="Garet Bold"/>
                <a:sym typeface="Garet Bold"/>
              </a:rPr>
              <a:t>THANK </a:t>
            </a:r>
          </a:p>
        </p:txBody>
      </p:sp>
      <p:grpSp>
        <p:nvGrpSpPr>
          <p:cNvPr id="6" name="Group 6"/>
          <p:cNvGrpSpPr/>
          <p:nvPr/>
        </p:nvGrpSpPr>
        <p:grpSpPr>
          <a:xfrm rot="-2700000">
            <a:off x="12234758" y="-2607831"/>
            <a:ext cx="4998310" cy="6764731"/>
            <a:chOff x="0" y="0"/>
            <a:chExt cx="6664414" cy="9019642"/>
          </a:xfrm>
        </p:grpSpPr>
        <p:sp>
          <p:nvSpPr>
            <p:cNvPr id="7" name="Freeform 7"/>
            <p:cNvSpPr/>
            <p:nvPr/>
          </p:nvSpPr>
          <p:spPr>
            <a:xfrm flipH="1">
              <a:off x="0" y="0"/>
              <a:ext cx="6664452" cy="9019667"/>
            </a:xfrm>
            <a:custGeom>
              <a:avLst/>
              <a:gdLst/>
              <a:ahLst/>
              <a:cxnLst/>
              <a:rect l="l" t="t" r="r" b="b"/>
              <a:pathLst>
                <a:path w="6664452" h="9019667">
                  <a:moveTo>
                    <a:pt x="6664452" y="0"/>
                  </a:moveTo>
                  <a:lnTo>
                    <a:pt x="0" y="0"/>
                  </a:lnTo>
                  <a:lnTo>
                    <a:pt x="0" y="9019667"/>
                  </a:lnTo>
                  <a:lnTo>
                    <a:pt x="6664452" y="9019667"/>
                  </a:lnTo>
                  <a:lnTo>
                    <a:pt x="6664452" y="0"/>
                  </a:lnTo>
                  <a:close/>
                </a:path>
              </a:pathLst>
            </a:custGeom>
            <a:blipFill>
              <a:blip r:embed="rId3"/>
              <a:stretch>
                <a:fillRect t="-914" b="-91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 rot="7263300">
            <a:off x="-1281503" y="5252095"/>
            <a:ext cx="4095426" cy="5542759"/>
            <a:chOff x="0" y="0"/>
            <a:chExt cx="5460568" cy="7390346"/>
          </a:xfrm>
        </p:grpSpPr>
        <p:sp>
          <p:nvSpPr>
            <p:cNvPr id="9" name="Freeform 9"/>
            <p:cNvSpPr/>
            <p:nvPr/>
          </p:nvSpPr>
          <p:spPr>
            <a:xfrm flipH="1">
              <a:off x="0" y="0"/>
              <a:ext cx="5460619" cy="7390384"/>
            </a:xfrm>
            <a:custGeom>
              <a:avLst/>
              <a:gdLst/>
              <a:ahLst/>
              <a:cxnLst/>
              <a:rect l="l" t="t" r="r" b="b"/>
              <a:pathLst>
                <a:path w="5460619" h="7390384">
                  <a:moveTo>
                    <a:pt x="5460619" y="0"/>
                  </a:moveTo>
                  <a:lnTo>
                    <a:pt x="0" y="0"/>
                  </a:lnTo>
                  <a:lnTo>
                    <a:pt x="0" y="7390384"/>
                  </a:lnTo>
                  <a:lnTo>
                    <a:pt x="5460619" y="7390384"/>
                  </a:lnTo>
                  <a:lnTo>
                    <a:pt x="5460619" y="0"/>
                  </a:lnTo>
                  <a:close/>
                </a:path>
              </a:pathLst>
            </a:custGeom>
            <a:blipFill>
              <a:blip r:embed="rId3"/>
              <a:stretch>
                <a:fillRect t="-914" b="-91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 rot="-3562860">
            <a:off x="3437496" y="8103108"/>
            <a:ext cx="2664352" cy="4367784"/>
            <a:chOff x="0" y="0"/>
            <a:chExt cx="3552469" cy="5823712"/>
          </a:xfrm>
        </p:grpSpPr>
        <p:sp>
          <p:nvSpPr>
            <p:cNvPr id="11" name="Freeform 11"/>
            <p:cNvSpPr/>
            <p:nvPr/>
          </p:nvSpPr>
          <p:spPr>
            <a:xfrm flipH="1">
              <a:off x="0" y="0"/>
              <a:ext cx="3552444" cy="5823712"/>
            </a:xfrm>
            <a:custGeom>
              <a:avLst/>
              <a:gdLst/>
              <a:ahLst/>
              <a:cxnLst/>
              <a:rect l="l" t="t" r="r" b="b"/>
              <a:pathLst>
                <a:path w="3552444" h="5823712">
                  <a:moveTo>
                    <a:pt x="3552444" y="0"/>
                  </a:moveTo>
                  <a:lnTo>
                    <a:pt x="0" y="0"/>
                  </a:lnTo>
                  <a:lnTo>
                    <a:pt x="0" y="5823712"/>
                  </a:lnTo>
                  <a:lnTo>
                    <a:pt x="3552444" y="5823712"/>
                  </a:lnTo>
                  <a:lnTo>
                    <a:pt x="3552444" y="0"/>
                  </a:lnTo>
                  <a:close/>
                </a:path>
              </a:pathLst>
            </a:custGeom>
            <a:blipFill>
              <a:blip r:embed="rId4"/>
              <a:stretch>
                <a:fillRect l="-17" r="-17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2" name="Freeform 12"/>
          <p:cNvSpPr/>
          <p:nvPr/>
        </p:nvSpPr>
        <p:spPr>
          <a:xfrm rot="-1515960">
            <a:off x="15112174" y="8307572"/>
            <a:ext cx="486623" cy="486623"/>
          </a:xfrm>
          <a:custGeom>
            <a:avLst/>
            <a:gdLst/>
            <a:ahLst/>
            <a:cxnLst/>
            <a:rect l="l" t="t" r="r" b="b"/>
            <a:pathLst>
              <a:path w="486623" h="486623">
                <a:moveTo>
                  <a:pt x="0" y="0"/>
                </a:moveTo>
                <a:lnTo>
                  <a:pt x="486623" y="0"/>
                </a:lnTo>
                <a:lnTo>
                  <a:pt x="486623" y="486622"/>
                </a:lnTo>
                <a:lnTo>
                  <a:pt x="0" y="48662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 rot="672060">
            <a:off x="3024835" y="1674971"/>
            <a:ext cx="486623" cy="486623"/>
          </a:xfrm>
          <a:custGeom>
            <a:avLst/>
            <a:gdLst/>
            <a:ahLst/>
            <a:cxnLst/>
            <a:rect l="l" t="t" r="r" b="b"/>
            <a:pathLst>
              <a:path w="486623" h="486623">
                <a:moveTo>
                  <a:pt x="0" y="0"/>
                </a:moveTo>
                <a:lnTo>
                  <a:pt x="486623" y="0"/>
                </a:lnTo>
                <a:lnTo>
                  <a:pt x="486623" y="486623"/>
                </a:lnTo>
                <a:lnTo>
                  <a:pt x="0" y="4866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4" name="Group 14"/>
          <p:cNvGrpSpPr/>
          <p:nvPr/>
        </p:nvGrpSpPr>
        <p:grpSpPr>
          <a:xfrm>
            <a:off x="6108805" y="6086253"/>
            <a:ext cx="6621115" cy="987890"/>
            <a:chOff x="0" y="0"/>
            <a:chExt cx="1743833" cy="260185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743833" cy="260185"/>
            </a:xfrm>
            <a:custGeom>
              <a:avLst/>
              <a:gdLst/>
              <a:ahLst/>
              <a:cxnLst/>
              <a:rect l="l" t="t" r="r" b="b"/>
              <a:pathLst>
                <a:path w="1743833" h="260185">
                  <a:moveTo>
                    <a:pt x="19878" y="0"/>
                  </a:moveTo>
                  <a:lnTo>
                    <a:pt x="1723955" y="0"/>
                  </a:lnTo>
                  <a:cubicBezTo>
                    <a:pt x="1729227" y="0"/>
                    <a:pt x="1734283" y="2094"/>
                    <a:pt x="1738011" y="5822"/>
                  </a:cubicBezTo>
                  <a:cubicBezTo>
                    <a:pt x="1741738" y="9550"/>
                    <a:pt x="1743833" y="14606"/>
                    <a:pt x="1743833" y="19878"/>
                  </a:cubicBezTo>
                  <a:lnTo>
                    <a:pt x="1743833" y="240307"/>
                  </a:lnTo>
                  <a:cubicBezTo>
                    <a:pt x="1743833" y="245579"/>
                    <a:pt x="1741738" y="250635"/>
                    <a:pt x="1738011" y="254363"/>
                  </a:cubicBezTo>
                  <a:cubicBezTo>
                    <a:pt x="1734283" y="258091"/>
                    <a:pt x="1729227" y="260185"/>
                    <a:pt x="1723955" y="260185"/>
                  </a:cubicBezTo>
                  <a:lnTo>
                    <a:pt x="19878" y="260185"/>
                  </a:lnTo>
                  <a:cubicBezTo>
                    <a:pt x="14606" y="260185"/>
                    <a:pt x="9550" y="258091"/>
                    <a:pt x="5822" y="254363"/>
                  </a:cubicBezTo>
                  <a:cubicBezTo>
                    <a:pt x="2094" y="250635"/>
                    <a:pt x="0" y="245579"/>
                    <a:pt x="0" y="240307"/>
                  </a:cubicBezTo>
                  <a:lnTo>
                    <a:pt x="0" y="19878"/>
                  </a:lnTo>
                  <a:cubicBezTo>
                    <a:pt x="0" y="14606"/>
                    <a:pt x="2094" y="9550"/>
                    <a:pt x="5822" y="5822"/>
                  </a:cubicBezTo>
                  <a:cubicBezTo>
                    <a:pt x="9550" y="2094"/>
                    <a:pt x="14606" y="0"/>
                    <a:pt x="19878" y="0"/>
                  </a:cubicBezTo>
                  <a:close/>
                </a:path>
              </a:pathLst>
            </a:custGeom>
            <a:solidFill>
              <a:srgbClr val="06728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9525"/>
              <a:ext cx="1743833" cy="2697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60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4435777" y="6202551"/>
            <a:ext cx="9967170" cy="6790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16"/>
              </a:lnSpc>
            </a:pPr>
            <a:r>
              <a:rPr lang="en-US" sz="4011" b="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ANY 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460</Words>
  <Application>Microsoft Office PowerPoint</Application>
  <PresentationFormat>Custom</PresentationFormat>
  <Paragraphs>97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5" baseType="lpstr">
      <vt:lpstr>Arial</vt:lpstr>
      <vt:lpstr>Cambria</vt:lpstr>
      <vt:lpstr>Glacial Indifference Bold</vt:lpstr>
      <vt:lpstr>Garet</vt:lpstr>
      <vt:lpstr>Cambria Bold</vt:lpstr>
      <vt:lpstr>Arimo Bold</vt:lpstr>
      <vt:lpstr>Garet Bold</vt:lpstr>
      <vt:lpstr>Open Sauce 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R26-IT-005_PP2_Presentation </dc:title>
  <cp:lastModifiedBy>WIJESINHA W.A.S.P.D. it22295460</cp:lastModifiedBy>
  <cp:revision>2</cp:revision>
  <dcterms:created xsi:type="dcterms:W3CDTF">2006-08-16T00:00:00Z</dcterms:created>
  <dcterms:modified xsi:type="dcterms:W3CDTF">2026-10-10T05:16:17Z</dcterms:modified>
  <dc:identifier>DAHTf2OwPBY</dc:identifier>
</cp:coreProperties>
</file>
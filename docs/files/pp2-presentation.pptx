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Rathnayake" userId="74f6288d55dc6935" providerId="LiveId" clId="{D44EBF66-A5FA-42F0-9E07-08F7C76FAF1E}"/>
    <pc:docChg chg="modSld">
      <pc:chgData name="Amanda Rathnayake" userId="74f6288d55dc6935" providerId="LiveId" clId="{D44EBF66-A5FA-42F0-9E07-08F7C76FAF1E}" dt="2026-10-09T15:25:55.515" v="10" actId="14100"/>
      <pc:docMkLst>
        <pc:docMk/>
      </pc:docMkLst>
      <pc:sldChg chg="modSp mod">
        <pc:chgData name="Amanda Rathnayake" userId="74f6288d55dc6935" providerId="LiveId" clId="{D44EBF66-A5FA-42F0-9E07-08F7C76FAF1E}" dt="2026-10-09T15:24:56.920" v="2" actId="14100"/>
        <pc:sldMkLst>
          <pc:docMk/>
          <pc:sldMk cId="0" sldId="261"/>
        </pc:sldMkLst>
        <pc:spChg chg="mod">
          <ac:chgData name="Amanda Rathnayake" userId="74f6288d55dc6935" providerId="LiveId" clId="{D44EBF66-A5FA-42F0-9E07-08F7C76FAF1E}" dt="2026-10-09T15:24:56.920" v="2" actId="14100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Amanda Rathnayake" userId="74f6288d55dc6935" providerId="LiveId" clId="{D44EBF66-A5FA-42F0-9E07-08F7C76FAF1E}" dt="2026-10-09T15:25:16.196" v="5" actId="14100"/>
        <pc:sldMkLst>
          <pc:docMk/>
          <pc:sldMk cId="0" sldId="262"/>
        </pc:sldMkLst>
        <pc:spChg chg="mod">
          <ac:chgData name="Amanda Rathnayake" userId="74f6288d55dc6935" providerId="LiveId" clId="{D44EBF66-A5FA-42F0-9E07-08F7C76FAF1E}" dt="2026-10-09T15:25:16.196" v="5" actId="14100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Amanda Rathnayake" userId="74f6288d55dc6935" providerId="LiveId" clId="{D44EBF66-A5FA-42F0-9E07-08F7C76FAF1E}" dt="2026-10-09T15:25:24.827" v="6" actId="14100"/>
        <pc:sldMkLst>
          <pc:docMk/>
          <pc:sldMk cId="0" sldId="263"/>
        </pc:sldMkLst>
        <pc:spChg chg="mod">
          <ac:chgData name="Amanda Rathnayake" userId="74f6288d55dc6935" providerId="LiveId" clId="{D44EBF66-A5FA-42F0-9E07-08F7C76FAF1E}" dt="2026-10-09T15:25:24.827" v="6" actId="14100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Amanda Rathnayake" userId="74f6288d55dc6935" providerId="LiveId" clId="{D44EBF66-A5FA-42F0-9E07-08F7C76FAF1E}" dt="2026-10-09T15:25:35.866" v="7" actId="14100"/>
        <pc:sldMkLst>
          <pc:docMk/>
          <pc:sldMk cId="0" sldId="265"/>
        </pc:sldMkLst>
        <pc:spChg chg="mod">
          <ac:chgData name="Amanda Rathnayake" userId="74f6288d55dc6935" providerId="LiveId" clId="{D44EBF66-A5FA-42F0-9E07-08F7C76FAF1E}" dt="2026-10-09T15:25:35.866" v="7" actId="14100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Amanda Rathnayake" userId="74f6288d55dc6935" providerId="LiveId" clId="{D44EBF66-A5FA-42F0-9E07-08F7C76FAF1E}" dt="2026-10-09T15:25:55.515" v="10" actId="14100"/>
        <pc:sldMkLst>
          <pc:docMk/>
          <pc:sldMk cId="0" sldId="267"/>
        </pc:sldMkLst>
        <pc:spChg chg="mod">
          <ac:chgData name="Amanda Rathnayake" userId="74f6288d55dc6935" providerId="LiveId" clId="{D44EBF66-A5FA-42F0-9E07-08F7C76FAF1E}" dt="2026-10-09T15:25:55.515" v="10" actId="14100"/>
          <ac:spMkLst>
            <pc:docMk/>
            <pc:sldMk cId="0" sldId="267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9.jpe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42280">
            <a:off x="10911430" y="82467"/>
            <a:ext cx="6002464" cy="8123749"/>
            <a:chOff x="0" y="0"/>
            <a:chExt cx="8003286" cy="1083166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8003286" cy="10831703"/>
            </a:xfrm>
            <a:custGeom>
              <a:avLst/>
              <a:gdLst/>
              <a:ahLst/>
              <a:cxnLst/>
              <a:rect l="l" t="t" r="r" b="b"/>
              <a:pathLst>
                <a:path w="8003286" h="10831703">
                  <a:moveTo>
                    <a:pt x="8003286" y="0"/>
                  </a:moveTo>
                  <a:lnTo>
                    <a:pt x="0" y="0"/>
                  </a:lnTo>
                  <a:lnTo>
                    <a:pt x="0" y="10831703"/>
                  </a:lnTo>
                  <a:lnTo>
                    <a:pt x="8003286" y="10831703"/>
                  </a:lnTo>
                  <a:lnTo>
                    <a:pt x="8003286" y="0"/>
                  </a:lnTo>
                  <a:close/>
                </a:path>
              </a:pathLst>
            </a:custGeom>
            <a:blipFill>
              <a:blip r:embed="rId2"/>
              <a:stretch>
                <a:fillRect t="-914" b="-9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724176" y="6642529"/>
            <a:ext cx="7822032" cy="1965171"/>
            <a:chOff x="0" y="0"/>
            <a:chExt cx="8193968" cy="2058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93921" cy="2058677"/>
            </a:xfrm>
            <a:custGeom>
              <a:avLst/>
              <a:gdLst/>
              <a:ahLst/>
              <a:cxnLst/>
              <a:rect l="l" t="t" r="r" b="b"/>
              <a:pathLst>
                <a:path w="8193921" h="2058677">
                  <a:moveTo>
                    <a:pt x="380848" y="0"/>
                  </a:moveTo>
                  <a:lnTo>
                    <a:pt x="7813190" y="0"/>
                  </a:lnTo>
                  <a:cubicBezTo>
                    <a:pt x="8023495" y="0"/>
                    <a:pt x="8193921" y="306259"/>
                    <a:pt x="8193921" y="683923"/>
                  </a:cubicBezTo>
                  <a:lnTo>
                    <a:pt x="8193921" y="1374797"/>
                  </a:lnTo>
                  <a:cubicBezTo>
                    <a:pt x="8193921" y="1752460"/>
                    <a:pt x="8023495" y="2058677"/>
                    <a:pt x="7813190" y="2058677"/>
                  </a:cubicBezTo>
                  <a:lnTo>
                    <a:pt x="380848" y="2058677"/>
                  </a:lnTo>
                  <a:cubicBezTo>
                    <a:pt x="170543" y="2058677"/>
                    <a:pt x="0" y="1752460"/>
                    <a:pt x="0" y="1374796"/>
                  </a:cubicBezTo>
                  <a:lnTo>
                    <a:pt x="0" y="683923"/>
                  </a:lnTo>
                  <a:cubicBezTo>
                    <a:pt x="0" y="306259"/>
                    <a:pt x="170543" y="0"/>
                    <a:pt x="380848" y="0"/>
                  </a:cubicBezTo>
                  <a:close/>
                </a:path>
              </a:pathLst>
            </a:custGeom>
            <a:solidFill>
              <a:srgbClr val="508EA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08138" y="6826058"/>
            <a:ext cx="6654108" cy="1560555"/>
            <a:chOff x="0" y="0"/>
            <a:chExt cx="8872144" cy="2080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72145" cy="2080741"/>
            </a:xfrm>
            <a:custGeom>
              <a:avLst/>
              <a:gdLst/>
              <a:ahLst/>
              <a:cxnLst/>
              <a:rect l="l" t="t" r="r" b="b"/>
              <a:pathLst>
                <a:path w="8872145" h="2080741">
                  <a:moveTo>
                    <a:pt x="0" y="0"/>
                  </a:moveTo>
                  <a:lnTo>
                    <a:pt x="8872145" y="0"/>
                  </a:lnTo>
                  <a:lnTo>
                    <a:pt x="8872145" y="2080741"/>
                  </a:lnTo>
                  <a:lnTo>
                    <a:pt x="0" y="2080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827" b="-233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8872144" cy="216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018"/>
                </a:lnSpc>
              </a:pPr>
              <a:r>
                <a:rPr lang="en-US" sz="4299" b="1" spc="-167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R26-IT-005</a:t>
              </a:r>
            </a:p>
            <a:p>
              <a:pPr algn="ctr">
                <a:lnSpc>
                  <a:spcPts val="6018"/>
                </a:lnSpc>
              </a:pPr>
              <a:r>
                <a:rPr lang="en-US" sz="4299" b="1" spc="-17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Progress Presentation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1031400">
            <a:off x="9509169" y="7186660"/>
            <a:ext cx="3244110" cy="5318217"/>
            <a:chOff x="0" y="0"/>
            <a:chExt cx="4325480" cy="7090956"/>
          </a:xfrm>
        </p:grpSpPr>
        <p:sp>
          <p:nvSpPr>
            <p:cNvPr id="10" name="Freeform 10"/>
            <p:cNvSpPr/>
            <p:nvPr/>
          </p:nvSpPr>
          <p:spPr>
            <a:xfrm flipH="1">
              <a:off x="0" y="0"/>
              <a:ext cx="4325493" cy="7090918"/>
            </a:xfrm>
            <a:custGeom>
              <a:avLst/>
              <a:gdLst/>
              <a:ahLst/>
              <a:cxnLst/>
              <a:rect l="l" t="t" r="r" b="b"/>
              <a:pathLst>
                <a:path w="4325493" h="7090918">
                  <a:moveTo>
                    <a:pt x="4325493" y="0"/>
                  </a:moveTo>
                  <a:lnTo>
                    <a:pt x="0" y="0"/>
                  </a:lnTo>
                  <a:lnTo>
                    <a:pt x="0" y="7090918"/>
                  </a:lnTo>
                  <a:lnTo>
                    <a:pt x="4325493" y="7090918"/>
                  </a:lnTo>
                  <a:lnTo>
                    <a:pt x="4325493" y="0"/>
                  </a:lnTo>
                  <a:close/>
                </a:path>
              </a:pathLst>
            </a:custGeom>
            <a:blipFill>
              <a:blip r:embed="rId4"/>
              <a:stretch>
                <a:fillRect l="-17" r="-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 rot="577740">
            <a:off x="15945526" y="8364388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3" y="0"/>
                </a:lnTo>
                <a:lnTo>
                  <a:pt x="486623" y="486623"/>
                </a:lnTo>
                <a:lnTo>
                  <a:pt x="0" y="486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248760">
            <a:off x="7179612" y="1292847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2" y="0"/>
                </a:lnTo>
                <a:lnTo>
                  <a:pt x="486622" y="486623"/>
                </a:lnTo>
                <a:lnTo>
                  <a:pt x="0" y="486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409800">
            <a:off x="1913159" y="7318305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3" y="0"/>
                </a:lnTo>
                <a:lnTo>
                  <a:pt x="486623" y="486623"/>
                </a:lnTo>
                <a:lnTo>
                  <a:pt x="0" y="486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48720" y="3619924"/>
            <a:ext cx="14148406" cy="277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8"/>
              </a:lnSpc>
            </a:pPr>
            <a:r>
              <a:rPr lang="en-US" sz="14583" b="1">
                <a:solidFill>
                  <a:srgbClr val="1B3957"/>
                </a:solidFill>
                <a:latin typeface="Garet Bold"/>
                <a:ea typeface="Garet Bold"/>
                <a:cs typeface="Garet Bold"/>
                <a:sym typeface="Garet Bold"/>
              </a:rPr>
              <a:t>PURIFICATION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2256" y="1780481"/>
            <a:ext cx="8541744" cy="277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8"/>
              </a:lnSpc>
            </a:pPr>
            <a:r>
              <a:rPr lang="en-US" sz="14583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WATER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17" name="Freeform 17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795" b="-87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 rot="-557640">
            <a:off x="505976" y="703599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3" y="0"/>
                </a:lnTo>
                <a:lnTo>
                  <a:pt x="486623" y="486622"/>
                </a:lnTo>
                <a:lnTo>
                  <a:pt x="0" y="486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248760">
            <a:off x="17501487" y="9415710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3" y="0"/>
                </a:lnTo>
                <a:lnTo>
                  <a:pt x="486623" y="486623"/>
                </a:lnTo>
                <a:lnTo>
                  <a:pt x="0" y="486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48036" y="1885315"/>
          <a:ext cx="16391928" cy="7658202"/>
        </p:xfrm>
        <a:graphic>
          <a:graphicData uri="http://schemas.openxmlformats.org/drawingml/2006/table">
            <a:tbl>
              <a:tblPr/>
              <a:tblGrid>
                <a:gridCol w="2587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3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238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STUDENT’S NAME &amp; 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7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8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COMMENTS FOR THE PP1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7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8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HOW YOU/TEAM ADDRESSED THEM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7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4689">
                <a:tc>
                  <a:txBody>
                    <a:bodyPr/>
                    <a:lstStyle/>
                    <a:p>
                      <a:pPr algn="ctr">
                        <a:lnSpc>
                          <a:spcPts val="2238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R.M.N.A. RATHNAYAKE</a:t>
                      </a:r>
                      <a:endParaRPr lang="en-US" sz="1100"/>
                    </a:p>
                    <a:p>
                      <a:pPr algn="ctr">
                        <a:lnSpc>
                          <a:spcPts val="2238"/>
                        </a:lnSpc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IT22193940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l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Only have brought the device, but the device also doesn't work.</a:t>
                      </a:r>
                      <a:endParaRPr lang="en-US" sz="1100"/>
                    </a:p>
                    <a:p>
                      <a:pPr marL="345439" lvl="1" indent="-172720" algn="l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 software implementation, needs to discuss with supervisor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Developed a software solution to analyse water quality inputs and provide automated results, addressing the lack of software implementation.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4709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W.N.N. DE SILVA</a:t>
                      </a:r>
                      <a:endParaRPr lang="en-US" sz="1100"/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IT22211750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l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Have trained only 1 model, better to train 2 models and do a comparison on model performance.</a:t>
                      </a:r>
                      <a:endParaRPr lang="en-US" sz="1100"/>
                    </a:p>
                    <a:p>
                      <a:pPr marL="345439" lvl="1" indent="-172720" algn="l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 Quality classifications with water samples and test the water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Trained two machine learning models, compared their performance using evaluation metrics, and selected the better-performing model for water quality classification.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3525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D. DODANWELA </a:t>
                      </a:r>
                      <a:endParaRPr lang="en-US" sz="1100"/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IT22212122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l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Only have brought the device, but the device also doesn't work.</a:t>
                      </a:r>
                      <a:endParaRPr lang="en-US" sz="1100"/>
                    </a:p>
                    <a:p>
                      <a:pPr marL="345439" lvl="1" indent="-172720" algn="l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 software implementation, needs to discuss with supervisor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226" lvl="1" indent="-172613" algn="just">
                        <a:lnSpc>
                          <a:spcPts val="2238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Developed the required software component to analyse water quality data and provide automated results.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4204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W.A.S.P.D. WIJESINGHA 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IT22295460</a:t>
                      </a:r>
                    </a:p>
                    <a:p>
                      <a:pPr algn="ctr">
                        <a:lnSpc>
                          <a:spcPts val="2240"/>
                        </a:lnSpc>
                      </a:pPr>
                      <a:endParaRPr lang="en-US" sz="1599" b="1">
                        <a:solidFill>
                          <a:srgbClr val="000000"/>
                        </a:solidFill>
                        <a:latin typeface="Arimo Bold"/>
                        <a:ea typeface="Arimo Bold"/>
                        <a:cs typeface="Arimo Bold"/>
                        <a:sym typeface="Arimo Bold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l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Only have brought the device, but the device also doesn't work.</a:t>
                      </a:r>
                      <a:endParaRPr lang="en-US" sz="1100"/>
                    </a:p>
                    <a:p>
                      <a:pPr marL="345439" lvl="1" indent="-172720" algn="l">
                        <a:lnSpc>
                          <a:spcPts val="2240"/>
                        </a:lnSpc>
                        <a:buFont typeface="Arial"/>
                        <a:buChar char="•"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 software implementation, needs to discuss with supervisor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tc>
                  <a:txBody>
                    <a:bodyPr/>
                    <a:lstStyle/>
                    <a:p>
                      <a:pPr marL="345226" lvl="1" indent="-172613" algn="just">
                        <a:lnSpc>
                          <a:spcPts val="2238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Implemented the software component for automated water contamination detection and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Group 7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48655" y="9739312"/>
            <a:ext cx="10224545" cy="547688"/>
            <a:chOff x="0" y="0"/>
            <a:chExt cx="1363272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2687" cy="730250"/>
            </a:xfrm>
            <a:custGeom>
              <a:avLst/>
              <a:gdLst/>
              <a:ahLst/>
              <a:cxnLst/>
              <a:rect l="l" t="t" r="r" b="b"/>
              <a:pathLst>
                <a:path w="13632687" h="730250">
                  <a:moveTo>
                    <a:pt x="0" y="0"/>
                  </a:moveTo>
                  <a:lnTo>
                    <a:pt x="13632687" y="0"/>
                  </a:lnTo>
                  <a:lnTo>
                    <a:pt x="13632687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13504" b="-3135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26406" y="1066800"/>
            <a:ext cx="14835188" cy="167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0"/>
              </a:lnSpc>
            </a:pPr>
            <a:r>
              <a:rPr lang="en-US" sz="38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Comments for the PP1 and how you/team addressed them</a:t>
            </a:r>
          </a:p>
          <a:p>
            <a:pPr algn="ctr">
              <a:lnSpc>
                <a:spcPts val="8800"/>
              </a:lnSpc>
            </a:pPr>
            <a:endParaRPr lang="en-US" sz="3800" b="1">
              <a:solidFill>
                <a:srgbClr val="06728A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57500" y="384923"/>
            <a:ext cx="8447564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795" b="-87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3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94597" y="1927929"/>
            <a:ext cx="2548632" cy="148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Problem</a:t>
            </a:r>
          </a:p>
          <a:p>
            <a:pPr algn="l">
              <a:lnSpc>
                <a:spcPts val="6709"/>
              </a:lnSpc>
            </a:pPr>
            <a:endParaRPr lang="en-US" sz="4499" b="1">
              <a:solidFill>
                <a:srgbClr val="06728A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4597" y="2896332"/>
            <a:ext cx="12709084" cy="213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174" lvl="1" indent="-264587" algn="l">
              <a:lnSpc>
                <a:spcPts val="3431"/>
              </a:lnSpc>
              <a:buFont typeface="Arial"/>
              <a:buChar char="•"/>
            </a:pPr>
            <a:r>
              <a:rPr lang="en-US" sz="2451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Unsafe water causes health risks and waterborne diseases. </a:t>
            </a:r>
          </a:p>
          <a:p>
            <a:pPr marL="529174" lvl="1" indent="-264587" algn="l">
              <a:lnSpc>
                <a:spcPts val="3431"/>
              </a:lnSpc>
              <a:buFont typeface="Arial"/>
              <a:buChar char="•"/>
            </a:pPr>
            <a:r>
              <a:rPr lang="en-US" sz="2451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Water testing often requires laboratory equipment and trained personnel. </a:t>
            </a:r>
          </a:p>
          <a:p>
            <a:pPr marL="529174" lvl="1" indent="-264587" algn="l">
              <a:lnSpc>
                <a:spcPts val="3431"/>
              </a:lnSpc>
              <a:buFont typeface="Arial"/>
              <a:buChar char="•"/>
            </a:pPr>
            <a:r>
              <a:rPr lang="en-US" sz="2451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Existing methods can be costly and time-consuming. </a:t>
            </a:r>
          </a:p>
          <a:p>
            <a:pPr marL="529174" lvl="1" indent="-264587" algn="l">
              <a:lnSpc>
                <a:spcPts val="3431"/>
              </a:lnSpc>
              <a:buFont typeface="Arial"/>
              <a:buChar char="•"/>
            </a:pPr>
            <a:r>
              <a:rPr lang="en-US" sz="2451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Many users cannot easily identify contamination in water. </a:t>
            </a:r>
          </a:p>
          <a:p>
            <a:pPr algn="l">
              <a:lnSpc>
                <a:spcPts val="3431"/>
              </a:lnSpc>
            </a:pPr>
            <a:endParaRPr lang="en-US" sz="2451" b="1">
              <a:solidFill>
                <a:srgbClr val="1B3957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9" name="Freeform 9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94597" y="5386746"/>
            <a:ext cx="4008537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Stakeholders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4597" y="6263046"/>
            <a:ext cx="14191669" cy="299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956" lvl="1" indent="-264478" algn="l">
              <a:lnSpc>
                <a:spcPts val="3430"/>
              </a:lnSpc>
              <a:buFont typeface="Arial"/>
              <a:buChar char="•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Households </a:t>
            </a:r>
          </a:p>
          <a:p>
            <a:pPr marL="528956" lvl="1" indent="-264478" algn="l">
              <a:lnSpc>
                <a:spcPts val="3430"/>
              </a:lnSpc>
              <a:buFont typeface="Arial"/>
              <a:buChar char="•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Rural communities </a:t>
            </a:r>
          </a:p>
          <a:p>
            <a:pPr marL="528956" lvl="1" indent="-264478" algn="l">
              <a:lnSpc>
                <a:spcPts val="3430"/>
              </a:lnSpc>
              <a:buFont typeface="Arial"/>
              <a:buChar char="•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Water treatment authorities </a:t>
            </a:r>
          </a:p>
          <a:p>
            <a:pPr marL="528956" lvl="1" indent="-264478" algn="l">
              <a:lnSpc>
                <a:spcPts val="3430"/>
              </a:lnSpc>
              <a:buFont typeface="Arial"/>
              <a:buChar char="•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Environmental organizations </a:t>
            </a:r>
          </a:p>
          <a:p>
            <a:pPr marL="528956" lvl="1" indent="-264478" algn="l">
              <a:lnSpc>
                <a:spcPts val="3430"/>
              </a:lnSpc>
              <a:buFont typeface="Arial"/>
              <a:buChar char="•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Schools and universities </a:t>
            </a:r>
          </a:p>
          <a:p>
            <a:pPr marL="528956" lvl="1" indent="-264478" algn="l">
              <a:lnSpc>
                <a:spcPts val="3430"/>
              </a:lnSpc>
              <a:buFont typeface="Arial"/>
              <a:buChar char="•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Researchers </a:t>
            </a:r>
          </a:p>
          <a:p>
            <a:pPr algn="l">
              <a:lnSpc>
                <a:spcPts val="3430"/>
              </a:lnSpc>
            </a:pPr>
            <a:endParaRPr lang="en-US" sz="2450" b="1">
              <a:solidFill>
                <a:srgbClr val="1B3957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73551" y="4679890"/>
            <a:ext cx="2932839" cy="4088415"/>
            <a:chOff x="0" y="0"/>
            <a:chExt cx="6656159" cy="92787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56197" cy="9278874"/>
            </a:xfrm>
            <a:custGeom>
              <a:avLst/>
              <a:gdLst/>
              <a:ahLst/>
              <a:cxnLst/>
              <a:rect l="l" t="t" r="r" b="b"/>
              <a:pathLst>
                <a:path w="6656197" h="9278874">
                  <a:moveTo>
                    <a:pt x="934339" y="0"/>
                  </a:moveTo>
                  <a:lnTo>
                    <a:pt x="5721858" y="0"/>
                  </a:lnTo>
                  <a:cubicBezTo>
                    <a:pt x="5969635" y="0"/>
                    <a:pt x="6207252" y="98425"/>
                    <a:pt x="6382512" y="273685"/>
                  </a:cubicBezTo>
                  <a:cubicBezTo>
                    <a:pt x="6557772" y="448945"/>
                    <a:pt x="6656197" y="686562"/>
                    <a:pt x="6656197" y="934339"/>
                  </a:cubicBezTo>
                  <a:lnTo>
                    <a:pt x="6656197" y="8344535"/>
                  </a:lnTo>
                  <a:cubicBezTo>
                    <a:pt x="6656197" y="8860536"/>
                    <a:pt x="6237859" y="9278874"/>
                    <a:pt x="5721985" y="9278874"/>
                  </a:cubicBezTo>
                  <a:lnTo>
                    <a:pt x="934339" y="9278874"/>
                  </a:lnTo>
                  <a:cubicBezTo>
                    <a:pt x="418338" y="9278747"/>
                    <a:pt x="0" y="8860536"/>
                    <a:pt x="0" y="8344535"/>
                  </a:cubicBezTo>
                  <a:lnTo>
                    <a:pt x="0" y="934339"/>
                  </a:lnTo>
                  <a:cubicBezTo>
                    <a:pt x="0" y="418338"/>
                    <a:pt x="418338" y="0"/>
                    <a:pt x="934339" y="0"/>
                  </a:cubicBezTo>
                  <a:close/>
                </a:path>
              </a:pathLst>
            </a:custGeom>
            <a:blipFill>
              <a:blip r:embed="rId8"/>
              <a:stretch>
                <a:fillRect l="-54550" r="-54550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4253" y="2119736"/>
            <a:ext cx="15373350" cy="7138564"/>
            <a:chOff x="0" y="0"/>
            <a:chExt cx="37711058" cy="175110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711059" cy="17511006"/>
            </a:xfrm>
            <a:custGeom>
              <a:avLst/>
              <a:gdLst/>
              <a:ahLst/>
              <a:cxnLst/>
              <a:rect l="l" t="t" r="r" b="b"/>
              <a:pathLst>
                <a:path w="37711059" h="17511006">
                  <a:moveTo>
                    <a:pt x="0" y="0"/>
                  </a:moveTo>
                  <a:lnTo>
                    <a:pt x="37711059" y="0"/>
                  </a:lnTo>
                  <a:lnTo>
                    <a:pt x="37711059" y="17511006"/>
                  </a:lnTo>
                  <a:lnTo>
                    <a:pt x="0" y="17511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6" r="-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3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7" name="Freeform 7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4253" y="1293229"/>
            <a:ext cx="10389989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Impact and Measurable Pain Point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3505" y="2024422"/>
            <a:ext cx="12706490" cy="7398043"/>
            <a:chOff x="0" y="0"/>
            <a:chExt cx="28734013" cy="167296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34014" cy="16729677"/>
            </a:xfrm>
            <a:custGeom>
              <a:avLst/>
              <a:gdLst/>
              <a:ahLst/>
              <a:cxnLst/>
              <a:rect l="l" t="t" r="r" b="b"/>
              <a:pathLst>
                <a:path w="28734014" h="16729677">
                  <a:moveTo>
                    <a:pt x="0" y="0"/>
                  </a:moveTo>
                  <a:lnTo>
                    <a:pt x="28734014" y="0"/>
                  </a:lnTo>
                  <a:lnTo>
                    <a:pt x="28734014" y="16729677"/>
                  </a:lnTo>
                  <a:lnTo>
                    <a:pt x="0" y="16729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07" b="-130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3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3275" y="1231607"/>
            <a:ext cx="5637972" cy="644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 dirty="0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Research Gap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8" name="Freeform 8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2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7350" y="1948772"/>
            <a:ext cx="3664250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dirty="0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0271" y="3596137"/>
            <a:ext cx="14191669" cy="256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956" lvl="1" indent="-264478" algn="l">
              <a:lnSpc>
                <a:spcPts val="3430"/>
              </a:lnSpc>
              <a:buAutoNum type="arabicPeriod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Detect visible contaminants in water samples. </a:t>
            </a:r>
          </a:p>
          <a:p>
            <a:pPr marL="528956" lvl="1" indent="-264478" algn="l">
              <a:lnSpc>
                <a:spcPts val="3430"/>
              </a:lnSpc>
              <a:buAutoNum type="arabicPeriod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Classify water quality using measured parameters. </a:t>
            </a:r>
          </a:p>
          <a:p>
            <a:pPr marL="528956" lvl="1" indent="-264478" algn="l">
              <a:lnSpc>
                <a:spcPts val="3430"/>
              </a:lnSpc>
              <a:buAutoNum type="arabicPeriod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Detect microorganisms from microscope images. </a:t>
            </a:r>
          </a:p>
          <a:p>
            <a:pPr marL="528956" lvl="1" indent="-264478" algn="l">
              <a:lnSpc>
                <a:spcPts val="3430"/>
              </a:lnSpc>
              <a:buAutoNum type="arabicPeriod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Generate an automated water safety report. </a:t>
            </a:r>
          </a:p>
          <a:p>
            <a:pPr marL="528956" lvl="1" indent="-264478" algn="l">
              <a:lnSpc>
                <a:spcPts val="3430"/>
              </a:lnSpc>
              <a:buAutoNum type="arabicPeriod"/>
            </a:pPr>
            <a:r>
              <a:rPr lang="en-US" sz="2450" b="1">
                <a:solidFill>
                  <a:srgbClr val="1B3957"/>
                </a:solidFill>
                <a:latin typeface="Arimo Bold"/>
                <a:ea typeface="Arimo Bold"/>
                <a:cs typeface="Arimo Bold"/>
                <a:sym typeface="Arimo Bold"/>
              </a:rPr>
              <a:t>Recommend suitable purification methods. </a:t>
            </a:r>
          </a:p>
          <a:p>
            <a:pPr algn="l">
              <a:lnSpc>
                <a:spcPts val="3430"/>
              </a:lnSpc>
            </a:pPr>
            <a:endParaRPr lang="en-US" sz="2450" b="1">
              <a:solidFill>
                <a:srgbClr val="1B3957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43791" y="5620866"/>
            <a:ext cx="5582309" cy="3147440"/>
            <a:chOff x="0" y="0"/>
            <a:chExt cx="5848261" cy="32973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848350" cy="3297428"/>
            </a:xfrm>
            <a:custGeom>
              <a:avLst/>
              <a:gdLst/>
              <a:ahLst/>
              <a:cxnLst/>
              <a:rect l="l" t="t" r="r" b="b"/>
              <a:pathLst>
                <a:path w="5848350" h="3297428">
                  <a:moveTo>
                    <a:pt x="702056" y="0"/>
                  </a:moveTo>
                  <a:lnTo>
                    <a:pt x="5146294" y="0"/>
                  </a:lnTo>
                  <a:cubicBezTo>
                    <a:pt x="5534025" y="0"/>
                    <a:pt x="5848350" y="314325"/>
                    <a:pt x="5848350" y="702056"/>
                  </a:cubicBezTo>
                  <a:lnTo>
                    <a:pt x="5848350" y="2595372"/>
                  </a:lnTo>
                  <a:cubicBezTo>
                    <a:pt x="5848350" y="2781554"/>
                    <a:pt x="5774436" y="2960116"/>
                    <a:pt x="5642737" y="3091815"/>
                  </a:cubicBezTo>
                  <a:cubicBezTo>
                    <a:pt x="5511038" y="3223514"/>
                    <a:pt x="5332476" y="3297428"/>
                    <a:pt x="5146294" y="3297428"/>
                  </a:cubicBezTo>
                  <a:lnTo>
                    <a:pt x="702056" y="3297428"/>
                  </a:lnTo>
                  <a:cubicBezTo>
                    <a:pt x="314325" y="3297428"/>
                    <a:pt x="0" y="2983103"/>
                    <a:pt x="0" y="2595372"/>
                  </a:cubicBezTo>
                  <a:lnTo>
                    <a:pt x="0" y="702056"/>
                  </a:lnTo>
                  <a:cubicBezTo>
                    <a:pt x="0" y="515874"/>
                    <a:pt x="73914" y="337312"/>
                    <a:pt x="205613" y="205613"/>
                  </a:cubicBezTo>
                  <a:cubicBezTo>
                    <a:pt x="337312" y="73914"/>
                    <a:pt x="515874" y="0"/>
                    <a:pt x="702056" y="0"/>
                  </a:cubicBezTo>
                  <a:close/>
                </a:path>
              </a:pathLst>
            </a:custGeom>
            <a:blipFill>
              <a:blip r:embed="rId7"/>
              <a:stretch>
                <a:fillRect t="-9139" r="1" b="-91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2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5065882" y="1988721"/>
            <a:ext cx="7990092" cy="7431529"/>
          </a:xfrm>
          <a:custGeom>
            <a:avLst/>
            <a:gdLst/>
            <a:ahLst/>
            <a:cxnLst/>
            <a:rect l="l" t="t" r="r" b="b"/>
            <a:pathLst>
              <a:path w="7990092" h="7431529">
                <a:moveTo>
                  <a:pt x="0" y="0"/>
                </a:moveTo>
                <a:lnTo>
                  <a:pt x="7990092" y="0"/>
                </a:lnTo>
                <a:lnTo>
                  <a:pt x="7990092" y="7431529"/>
                </a:lnTo>
                <a:lnTo>
                  <a:pt x="0" y="74315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35" t="-2678" r="-1971" b="-17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1095372"/>
            <a:ext cx="10858500" cy="1272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 dirty="0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Solution Overview + Architecture</a:t>
            </a:r>
          </a:p>
          <a:p>
            <a:pPr algn="l">
              <a:lnSpc>
                <a:spcPts val="4949"/>
              </a:lnSpc>
            </a:pPr>
            <a:endParaRPr lang="en-US" sz="4499" b="1" dirty="0">
              <a:solidFill>
                <a:srgbClr val="06728A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795" b="-87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5157934" y="1320925"/>
            <a:ext cx="7753881" cy="7819919"/>
          </a:xfrm>
          <a:custGeom>
            <a:avLst/>
            <a:gdLst/>
            <a:ahLst/>
            <a:cxnLst/>
            <a:rect l="l" t="t" r="r" b="b"/>
            <a:pathLst>
              <a:path w="7753881" h="7819919">
                <a:moveTo>
                  <a:pt x="0" y="0"/>
                </a:moveTo>
                <a:lnTo>
                  <a:pt x="7753881" y="0"/>
                </a:lnTo>
                <a:lnTo>
                  <a:pt x="7753881" y="7819919"/>
                </a:lnTo>
                <a:lnTo>
                  <a:pt x="0" y="7819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49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2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613621" y="2078332"/>
            <a:ext cx="13060759" cy="7473242"/>
          </a:xfrm>
          <a:custGeom>
            <a:avLst/>
            <a:gdLst/>
            <a:ahLst/>
            <a:cxnLst/>
            <a:rect l="l" t="t" r="r" b="b"/>
            <a:pathLst>
              <a:path w="13060759" h="7473242">
                <a:moveTo>
                  <a:pt x="0" y="0"/>
                </a:moveTo>
                <a:lnTo>
                  <a:pt x="13060758" y="0"/>
                </a:lnTo>
                <a:lnTo>
                  <a:pt x="13060758" y="7473243"/>
                </a:lnTo>
                <a:lnTo>
                  <a:pt x="0" y="747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61" t="-441" r="-22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1076325"/>
            <a:ext cx="11087100" cy="1272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 dirty="0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Integration and Completion Status</a:t>
            </a:r>
          </a:p>
          <a:p>
            <a:pPr algn="l">
              <a:lnSpc>
                <a:spcPts val="4949"/>
              </a:lnSpc>
            </a:pPr>
            <a:endParaRPr lang="en-US" sz="4499" b="1" dirty="0">
              <a:solidFill>
                <a:srgbClr val="06728A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4611" y="1798613"/>
            <a:ext cx="15252634" cy="7752962"/>
            <a:chOff x="0" y="0"/>
            <a:chExt cx="2698389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83897" cy="13716000"/>
            </a:xfrm>
            <a:custGeom>
              <a:avLst/>
              <a:gdLst/>
              <a:ahLst/>
              <a:cxnLst/>
              <a:rect l="l" t="t" r="r" b="b"/>
              <a:pathLst>
                <a:path w="26983897" h="13716000">
                  <a:moveTo>
                    <a:pt x="0" y="0"/>
                  </a:moveTo>
                  <a:lnTo>
                    <a:pt x="26983897" y="0"/>
                  </a:lnTo>
                  <a:lnTo>
                    <a:pt x="2698389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10" b="-14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3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7" name="Freeform 7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80614" y="757234"/>
            <a:ext cx="620246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Evaluation Evidence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2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3375162" y="2240633"/>
            <a:ext cx="11537676" cy="6968055"/>
          </a:xfrm>
          <a:custGeom>
            <a:avLst/>
            <a:gdLst/>
            <a:ahLst/>
            <a:cxnLst/>
            <a:rect l="l" t="t" r="r" b="b"/>
            <a:pathLst>
              <a:path w="11537676" h="6968055">
                <a:moveTo>
                  <a:pt x="0" y="0"/>
                </a:moveTo>
                <a:lnTo>
                  <a:pt x="11537676" y="0"/>
                </a:lnTo>
                <a:lnTo>
                  <a:pt x="11537676" y="6968055"/>
                </a:lnTo>
                <a:lnTo>
                  <a:pt x="0" y="6968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53" b="-52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82440" y="1269096"/>
            <a:ext cx="10047560" cy="644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 dirty="0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Non-Functional Requirements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2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327364" y="2143610"/>
            <a:ext cx="12679026" cy="6947443"/>
          </a:xfrm>
          <a:custGeom>
            <a:avLst/>
            <a:gdLst/>
            <a:ahLst/>
            <a:cxnLst/>
            <a:rect l="l" t="t" r="r" b="b"/>
            <a:pathLst>
              <a:path w="12679026" h="6947443">
                <a:moveTo>
                  <a:pt x="0" y="0"/>
                </a:moveTo>
                <a:lnTo>
                  <a:pt x="12679026" y="0"/>
                </a:lnTo>
                <a:lnTo>
                  <a:pt x="12679026" y="6947443"/>
                </a:lnTo>
                <a:lnTo>
                  <a:pt x="0" y="6947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8" r="-13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759195" y="1076325"/>
            <a:ext cx="60453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Commercialization</a:t>
            </a:r>
            <a:r>
              <a:rPr lang="en-US" sz="4499">
                <a:solidFill>
                  <a:srgbClr val="06728A"/>
                </a:solidFill>
                <a:latin typeface="Garet"/>
                <a:ea typeface="Garet"/>
                <a:cs typeface="Garet"/>
                <a:sym typeface="Garet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96477" y="1812966"/>
            <a:ext cx="13817039" cy="7772085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47" b="-7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3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50886" y="1041441"/>
            <a:ext cx="479554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Demo Roadmap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8" name="Freeform 8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551400">
            <a:off x="15235457" y="1087660"/>
            <a:ext cx="3982803" cy="5390340"/>
            <a:chOff x="0" y="0"/>
            <a:chExt cx="5310403" cy="718712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5310378" cy="7187057"/>
            </a:xfrm>
            <a:custGeom>
              <a:avLst/>
              <a:gdLst/>
              <a:ahLst/>
              <a:cxnLst/>
              <a:rect l="l" t="t" r="r" b="b"/>
              <a:pathLst>
                <a:path w="5310378" h="7187057">
                  <a:moveTo>
                    <a:pt x="5310378" y="0"/>
                  </a:moveTo>
                  <a:lnTo>
                    <a:pt x="0" y="0"/>
                  </a:lnTo>
                  <a:lnTo>
                    <a:pt x="0" y="7187057"/>
                  </a:lnTo>
                  <a:lnTo>
                    <a:pt x="5310378" y="7187057"/>
                  </a:lnTo>
                  <a:lnTo>
                    <a:pt x="5310378" y="0"/>
                  </a:lnTo>
                  <a:close/>
                </a:path>
              </a:pathLst>
            </a:custGeom>
            <a:blipFill>
              <a:blip r:embed="rId2"/>
              <a:stretch>
                <a:fillRect t="-914" b="-9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25"/>
            <a:chOff x="0" y="0"/>
            <a:chExt cx="5029200" cy="980567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4249" b="-942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81845" y="8768305"/>
            <a:ext cx="10224545" cy="1980248"/>
            <a:chOff x="0" y="0"/>
            <a:chExt cx="13632726" cy="2640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687" cy="2640330"/>
            </a:xfrm>
            <a:custGeom>
              <a:avLst/>
              <a:gdLst/>
              <a:ahLst/>
              <a:cxnLst/>
              <a:rect l="l" t="t" r="r" b="b"/>
              <a:pathLst>
                <a:path w="13632687" h="2640330">
                  <a:moveTo>
                    <a:pt x="0" y="0"/>
                  </a:moveTo>
                  <a:lnTo>
                    <a:pt x="13632687" y="0"/>
                  </a:lnTo>
                  <a:lnTo>
                    <a:pt x="13632687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536" b="-505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551575"/>
            <a:ext cx="3771900" cy="735425"/>
            <a:chOff x="0" y="0"/>
            <a:chExt cx="5029200" cy="9805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48655" y="9725025"/>
            <a:ext cx="10224545" cy="561975"/>
            <a:chOff x="0" y="0"/>
            <a:chExt cx="13632726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32726" cy="749301"/>
            </a:xfrm>
            <a:custGeom>
              <a:avLst/>
              <a:gdLst/>
              <a:ahLst/>
              <a:cxnLst/>
              <a:rect l="l" t="t" r="r" b="b"/>
              <a:pathLst>
                <a:path w="13632726" h="749301">
                  <a:moveTo>
                    <a:pt x="0" y="0"/>
                  </a:moveTo>
                  <a:lnTo>
                    <a:pt x="13632726" y="0"/>
                  </a:lnTo>
                  <a:lnTo>
                    <a:pt x="13632726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04509" b="-3045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632726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R26-IT-005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96451" y="1699379"/>
            <a:ext cx="6351557" cy="3628327"/>
          </a:xfrm>
          <a:custGeom>
            <a:avLst/>
            <a:gdLst/>
            <a:ahLst/>
            <a:cxnLst/>
            <a:rect l="l" t="t" r="r" b="b"/>
            <a:pathLst>
              <a:path w="6351557" h="3628327">
                <a:moveTo>
                  <a:pt x="0" y="0"/>
                </a:moveTo>
                <a:lnTo>
                  <a:pt x="6351557" y="0"/>
                </a:lnTo>
                <a:lnTo>
                  <a:pt x="6351557" y="3628327"/>
                </a:lnTo>
                <a:lnTo>
                  <a:pt x="0" y="362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092888" y="1515173"/>
            <a:ext cx="6996480" cy="3996739"/>
          </a:xfrm>
          <a:custGeom>
            <a:avLst/>
            <a:gdLst/>
            <a:ahLst/>
            <a:cxnLst/>
            <a:rect l="l" t="t" r="r" b="b"/>
            <a:pathLst>
              <a:path w="6996480" h="3996739">
                <a:moveTo>
                  <a:pt x="0" y="0"/>
                </a:moveTo>
                <a:lnTo>
                  <a:pt x="6996480" y="0"/>
                </a:lnTo>
                <a:lnTo>
                  <a:pt x="6996480" y="3996739"/>
                </a:lnTo>
                <a:lnTo>
                  <a:pt x="0" y="3996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80648" y="5879582"/>
            <a:ext cx="5921082" cy="3378718"/>
          </a:xfrm>
          <a:custGeom>
            <a:avLst/>
            <a:gdLst/>
            <a:ahLst/>
            <a:cxnLst/>
            <a:rect l="l" t="t" r="r" b="b"/>
            <a:pathLst>
              <a:path w="5921082" h="3378718">
                <a:moveTo>
                  <a:pt x="0" y="0"/>
                </a:moveTo>
                <a:lnTo>
                  <a:pt x="5921083" y="0"/>
                </a:lnTo>
                <a:lnTo>
                  <a:pt x="5921083" y="3378718"/>
                </a:lnTo>
                <a:lnTo>
                  <a:pt x="0" y="33787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6201731" y="5793247"/>
            <a:ext cx="5718394" cy="3266632"/>
          </a:xfrm>
          <a:custGeom>
            <a:avLst/>
            <a:gdLst/>
            <a:ahLst/>
            <a:cxnLst/>
            <a:rect l="l" t="t" r="r" b="b"/>
            <a:pathLst>
              <a:path w="5718394" h="3266632">
                <a:moveTo>
                  <a:pt x="0" y="0"/>
                </a:moveTo>
                <a:lnTo>
                  <a:pt x="5718394" y="0"/>
                </a:lnTo>
                <a:lnTo>
                  <a:pt x="5718394" y="3266632"/>
                </a:lnTo>
                <a:lnTo>
                  <a:pt x="0" y="3266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591128" y="5347825"/>
            <a:ext cx="6830523" cy="3910475"/>
          </a:xfrm>
          <a:custGeom>
            <a:avLst/>
            <a:gdLst/>
            <a:ahLst/>
            <a:cxnLst/>
            <a:rect l="l" t="t" r="r" b="b"/>
            <a:pathLst>
              <a:path w="6830523" h="3910475">
                <a:moveTo>
                  <a:pt x="0" y="0"/>
                </a:moveTo>
                <a:lnTo>
                  <a:pt x="6830523" y="0"/>
                </a:lnTo>
                <a:lnTo>
                  <a:pt x="6830523" y="3910475"/>
                </a:lnTo>
                <a:lnTo>
                  <a:pt x="0" y="3910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443791" y="488947"/>
            <a:ext cx="7844209" cy="55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Automated Water Quality &amp; Contamination Detection System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21940" y="9832076"/>
            <a:ext cx="13142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2026/08/31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795" b="-87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615174" y="3016206"/>
            <a:ext cx="4229491" cy="277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18"/>
              </a:lnSpc>
            </a:pPr>
            <a:r>
              <a:rPr lang="en-US" sz="14583" b="1">
                <a:solidFill>
                  <a:srgbClr val="1B3957"/>
                </a:solidFill>
                <a:latin typeface="Garet Bold"/>
                <a:ea typeface="Garet Bold"/>
                <a:cs typeface="Garet Bold"/>
                <a:sym typeface="Garet Bold"/>
              </a:rPr>
              <a:t>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43345" y="3016206"/>
            <a:ext cx="6808565" cy="277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8"/>
              </a:lnSpc>
            </a:pPr>
            <a:r>
              <a:rPr lang="en-US" sz="14583" b="1">
                <a:solidFill>
                  <a:srgbClr val="06728A"/>
                </a:solidFill>
                <a:latin typeface="Garet Bold"/>
                <a:ea typeface="Garet Bold"/>
                <a:cs typeface="Garet Bold"/>
                <a:sym typeface="Garet Bold"/>
              </a:rPr>
              <a:t>THANK </a:t>
            </a:r>
          </a:p>
        </p:txBody>
      </p:sp>
      <p:grpSp>
        <p:nvGrpSpPr>
          <p:cNvPr id="6" name="Group 6"/>
          <p:cNvGrpSpPr/>
          <p:nvPr/>
        </p:nvGrpSpPr>
        <p:grpSpPr>
          <a:xfrm rot="-2700000">
            <a:off x="12234758" y="-2607831"/>
            <a:ext cx="4998310" cy="6764731"/>
            <a:chOff x="0" y="0"/>
            <a:chExt cx="6664414" cy="9019642"/>
          </a:xfrm>
        </p:grpSpPr>
        <p:sp>
          <p:nvSpPr>
            <p:cNvPr id="7" name="Freeform 7"/>
            <p:cNvSpPr/>
            <p:nvPr/>
          </p:nvSpPr>
          <p:spPr>
            <a:xfrm flipH="1">
              <a:off x="0" y="0"/>
              <a:ext cx="6664452" cy="9019667"/>
            </a:xfrm>
            <a:custGeom>
              <a:avLst/>
              <a:gdLst/>
              <a:ahLst/>
              <a:cxnLst/>
              <a:rect l="l" t="t" r="r" b="b"/>
              <a:pathLst>
                <a:path w="6664452" h="9019667">
                  <a:moveTo>
                    <a:pt x="6664452" y="0"/>
                  </a:moveTo>
                  <a:lnTo>
                    <a:pt x="0" y="0"/>
                  </a:lnTo>
                  <a:lnTo>
                    <a:pt x="0" y="9019667"/>
                  </a:lnTo>
                  <a:lnTo>
                    <a:pt x="6664452" y="9019667"/>
                  </a:lnTo>
                  <a:lnTo>
                    <a:pt x="6664452" y="0"/>
                  </a:lnTo>
                  <a:close/>
                </a:path>
              </a:pathLst>
            </a:custGeom>
            <a:blipFill>
              <a:blip r:embed="rId3"/>
              <a:stretch>
                <a:fillRect t="-914" b="-9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7263300">
            <a:off x="-1281503" y="5252095"/>
            <a:ext cx="4095426" cy="5542759"/>
            <a:chOff x="0" y="0"/>
            <a:chExt cx="5460568" cy="7390346"/>
          </a:xfrm>
        </p:grpSpPr>
        <p:sp>
          <p:nvSpPr>
            <p:cNvPr id="9" name="Freeform 9"/>
            <p:cNvSpPr/>
            <p:nvPr/>
          </p:nvSpPr>
          <p:spPr>
            <a:xfrm flipH="1">
              <a:off x="0" y="0"/>
              <a:ext cx="5460619" cy="7390384"/>
            </a:xfrm>
            <a:custGeom>
              <a:avLst/>
              <a:gdLst/>
              <a:ahLst/>
              <a:cxnLst/>
              <a:rect l="l" t="t" r="r" b="b"/>
              <a:pathLst>
                <a:path w="5460619" h="7390384">
                  <a:moveTo>
                    <a:pt x="5460619" y="0"/>
                  </a:moveTo>
                  <a:lnTo>
                    <a:pt x="0" y="0"/>
                  </a:lnTo>
                  <a:lnTo>
                    <a:pt x="0" y="7390384"/>
                  </a:lnTo>
                  <a:lnTo>
                    <a:pt x="5460619" y="7390384"/>
                  </a:lnTo>
                  <a:lnTo>
                    <a:pt x="5460619" y="0"/>
                  </a:lnTo>
                  <a:close/>
                </a:path>
              </a:pathLst>
            </a:custGeom>
            <a:blipFill>
              <a:blip r:embed="rId3"/>
              <a:stretch>
                <a:fillRect t="-914" b="-9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3562860">
            <a:off x="3437496" y="8103108"/>
            <a:ext cx="2664352" cy="4367784"/>
            <a:chOff x="0" y="0"/>
            <a:chExt cx="3552469" cy="5823712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3552444" cy="5823712"/>
            </a:xfrm>
            <a:custGeom>
              <a:avLst/>
              <a:gdLst/>
              <a:ahLst/>
              <a:cxnLst/>
              <a:rect l="l" t="t" r="r" b="b"/>
              <a:pathLst>
                <a:path w="3552444" h="5823712">
                  <a:moveTo>
                    <a:pt x="3552444" y="0"/>
                  </a:moveTo>
                  <a:lnTo>
                    <a:pt x="0" y="0"/>
                  </a:lnTo>
                  <a:lnTo>
                    <a:pt x="0" y="5823712"/>
                  </a:lnTo>
                  <a:lnTo>
                    <a:pt x="3552444" y="5823712"/>
                  </a:lnTo>
                  <a:lnTo>
                    <a:pt x="3552444" y="0"/>
                  </a:lnTo>
                  <a:close/>
                </a:path>
              </a:pathLst>
            </a:custGeom>
            <a:blipFill>
              <a:blip r:embed="rId4"/>
              <a:stretch>
                <a:fillRect l="-17" r="-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 rot="-1515960">
            <a:off x="15112174" y="8307572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3" y="0"/>
                </a:lnTo>
                <a:lnTo>
                  <a:pt x="486623" y="486622"/>
                </a:lnTo>
                <a:lnTo>
                  <a:pt x="0" y="486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672060">
            <a:off x="3024835" y="1674971"/>
            <a:ext cx="486623" cy="486623"/>
          </a:xfrm>
          <a:custGeom>
            <a:avLst/>
            <a:gdLst/>
            <a:ahLst/>
            <a:cxnLst/>
            <a:rect l="l" t="t" r="r" b="b"/>
            <a:pathLst>
              <a:path w="486623" h="486623">
                <a:moveTo>
                  <a:pt x="0" y="0"/>
                </a:moveTo>
                <a:lnTo>
                  <a:pt x="486623" y="0"/>
                </a:lnTo>
                <a:lnTo>
                  <a:pt x="486623" y="486623"/>
                </a:lnTo>
                <a:lnTo>
                  <a:pt x="0" y="486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6108805" y="6086253"/>
            <a:ext cx="6621115" cy="987890"/>
            <a:chOff x="0" y="0"/>
            <a:chExt cx="1743833" cy="2601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43833" cy="260185"/>
            </a:xfrm>
            <a:custGeom>
              <a:avLst/>
              <a:gdLst/>
              <a:ahLst/>
              <a:cxnLst/>
              <a:rect l="l" t="t" r="r" b="b"/>
              <a:pathLst>
                <a:path w="1743833" h="260185">
                  <a:moveTo>
                    <a:pt x="19878" y="0"/>
                  </a:moveTo>
                  <a:lnTo>
                    <a:pt x="1723955" y="0"/>
                  </a:lnTo>
                  <a:cubicBezTo>
                    <a:pt x="1729227" y="0"/>
                    <a:pt x="1734283" y="2094"/>
                    <a:pt x="1738011" y="5822"/>
                  </a:cubicBezTo>
                  <a:cubicBezTo>
                    <a:pt x="1741738" y="9550"/>
                    <a:pt x="1743833" y="14606"/>
                    <a:pt x="1743833" y="19878"/>
                  </a:cubicBezTo>
                  <a:lnTo>
                    <a:pt x="1743833" y="240307"/>
                  </a:lnTo>
                  <a:cubicBezTo>
                    <a:pt x="1743833" y="245579"/>
                    <a:pt x="1741738" y="250635"/>
                    <a:pt x="1738011" y="254363"/>
                  </a:cubicBezTo>
                  <a:cubicBezTo>
                    <a:pt x="1734283" y="258091"/>
                    <a:pt x="1729227" y="260185"/>
                    <a:pt x="1723955" y="260185"/>
                  </a:cubicBezTo>
                  <a:lnTo>
                    <a:pt x="19878" y="260185"/>
                  </a:lnTo>
                  <a:cubicBezTo>
                    <a:pt x="14606" y="260185"/>
                    <a:pt x="9550" y="258091"/>
                    <a:pt x="5822" y="254363"/>
                  </a:cubicBezTo>
                  <a:cubicBezTo>
                    <a:pt x="2094" y="250635"/>
                    <a:pt x="0" y="245579"/>
                    <a:pt x="0" y="240307"/>
                  </a:cubicBezTo>
                  <a:lnTo>
                    <a:pt x="0" y="19878"/>
                  </a:lnTo>
                  <a:cubicBezTo>
                    <a:pt x="0" y="14606"/>
                    <a:pt x="2094" y="9550"/>
                    <a:pt x="5822" y="5822"/>
                  </a:cubicBezTo>
                  <a:cubicBezTo>
                    <a:pt x="9550" y="2094"/>
                    <a:pt x="14606" y="0"/>
                    <a:pt x="19878" y="0"/>
                  </a:cubicBezTo>
                  <a:close/>
                </a:path>
              </a:pathLst>
            </a:custGeom>
            <a:solidFill>
              <a:srgbClr val="0672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743833" cy="269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435777" y="6202551"/>
            <a:ext cx="9967170" cy="67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4011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ANY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460</Words>
  <Application>Microsoft Office PowerPoint</Application>
  <PresentationFormat>Custom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Cambria</vt:lpstr>
      <vt:lpstr>Glacial Indifference Bold</vt:lpstr>
      <vt:lpstr>Garet</vt:lpstr>
      <vt:lpstr>Cambria Bold</vt:lpstr>
      <vt:lpstr>Arimo Bold</vt:lpstr>
      <vt:lpstr>Garet Bold</vt:lpstr>
      <vt:lpstr>Open Sauce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R26-IT-005_PP2_Presentation </dc:title>
  <cp:lastModifiedBy>WIJESINHA W.A.S.P.D. it22295460</cp:lastModifiedBy>
  <cp:revision>2</cp:revision>
  <dcterms:created xsi:type="dcterms:W3CDTF">2006-08-16T00:00:00Z</dcterms:created>
  <dcterms:modified xsi:type="dcterms:W3CDTF">2026-10-10T05:16:17Z</dcterms:modified>
  <dc:identifier>DAHTf2OwPBY</dc:identifier>
</cp:coreProperties>
</file>